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26"/>
  </p:notesMasterIdLst>
  <p:handoutMasterIdLst>
    <p:handoutMasterId r:id="rId27"/>
  </p:handoutMasterIdLst>
  <p:sldIdLst>
    <p:sldId id="477" r:id="rId2"/>
    <p:sldId id="466" r:id="rId3"/>
    <p:sldId id="398" r:id="rId4"/>
    <p:sldId id="399" r:id="rId5"/>
    <p:sldId id="443" r:id="rId6"/>
    <p:sldId id="400" r:id="rId7"/>
    <p:sldId id="447" r:id="rId8"/>
    <p:sldId id="445" r:id="rId9"/>
    <p:sldId id="441" r:id="rId10"/>
    <p:sldId id="442" r:id="rId11"/>
    <p:sldId id="457" r:id="rId12"/>
    <p:sldId id="460" r:id="rId13"/>
    <p:sldId id="481" r:id="rId14"/>
    <p:sldId id="436" r:id="rId15"/>
    <p:sldId id="446" r:id="rId16"/>
    <p:sldId id="458" r:id="rId17"/>
    <p:sldId id="479" r:id="rId18"/>
    <p:sldId id="478" r:id="rId19"/>
    <p:sldId id="439" r:id="rId20"/>
    <p:sldId id="448" r:id="rId21"/>
    <p:sldId id="461" r:id="rId22"/>
    <p:sldId id="462" r:id="rId23"/>
    <p:sldId id="480" r:id="rId24"/>
    <p:sldId id="467" r:id="rId25"/>
  </p:sldIdLst>
  <p:sldSz cx="9144000" cy="6858000" type="screen4x3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99FF"/>
    <a:srgbClr val="FF33CC"/>
    <a:srgbClr val="FF9933"/>
    <a:srgbClr val="FF3300"/>
    <a:srgbClr val="FFFF00"/>
    <a:srgbClr val="66CCFF"/>
    <a:srgbClr val="3333CC"/>
    <a:srgbClr val="6600CC"/>
    <a:srgbClr val="FFCC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93" autoAdjust="0"/>
    <p:restoredTop sz="91483" autoAdjust="0"/>
  </p:normalViewPr>
  <p:slideViewPr>
    <p:cSldViewPr snapToGrid="0" showGuides="1">
      <p:cViewPr varScale="1">
        <p:scale>
          <a:sx n="98" d="100"/>
          <a:sy n="98" d="100"/>
        </p:scale>
        <p:origin x="1229" y="86"/>
      </p:cViewPr>
      <p:guideLst>
        <p:guide orient="horz" pos="4319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82"/>
    </p:cViewPr>
  </p:sorterViewPr>
  <p:notesViewPr>
    <p:cSldViewPr snapToGrid="0" showGuides="1">
      <p:cViewPr varScale="1">
        <p:scale>
          <a:sx n="54" d="100"/>
          <a:sy n="54" d="100"/>
        </p:scale>
        <p:origin x="-2880" y="-84"/>
      </p:cViewPr>
      <p:guideLst>
        <p:guide orient="horz" pos="2880"/>
        <p:guide pos="2160"/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fld id="{5CB187EF-F2E1-4A24-9B80-E0AA7D7FAE8B}" type="datetimeFigureOut">
              <a:rPr lang="zh-CN" altLang="en-US"/>
              <a:pPr>
                <a:defRPr/>
              </a:pPr>
              <a:t>2022/9/5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fld id="{B2F4620A-1E7E-4788-A59B-A630177864D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457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93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93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3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101978BE-959E-4CE6-BA40-6738072B63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48764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Last week, we discussed</a:t>
            </a:r>
            <a:r>
              <a:rPr lang="en-US" altLang="zh-CN" baseline="0" dirty="0"/>
              <a:t> Random test, Sample space. Then it led to the important terminology Event. Regarding the Event, we learnt </a:t>
            </a:r>
            <a:r>
              <a:rPr kumimoji="1" lang="en-US" altLang="zh-CN" sz="1200" b="0" i="0" u="none" strike="noStrike" kern="1200" baseline="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Relationship between events and how all the events could be operated in a sample space.</a:t>
            </a:r>
          </a:p>
          <a:p>
            <a:endParaRPr kumimoji="1" lang="en-US" altLang="zh-CN" sz="1200" b="0" i="0" u="none" strike="noStrike" kern="1200" baseline="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0" i="0" u="none" strike="noStrike" kern="1200" baseline="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Today we are going to learn Probability measure ………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01978BE-959E-4CE6-BA40-6738072B6363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6770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01978BE-959E-4CE6-BA40-6738072B6363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6770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9pPr>
          </a:lstStyle>
          <a:p>
            <a:pPr eaLnBrk="1" hangingPunct="1"/>
            <a:fld id="{4100CF5E-E3ED-4BFD-8AB7-6B302916384E}" type="slidenum">
              <a:rPr lang="en-US" altLang="zh-CN" sz="1200" b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pPr eaLnBrk="1" hangingPunct="1"/>
              <a:t>3</a:t>
            </a:fld>
            <a:endParaRPr lang="en-US" altLang="zh-CN" sz="1200" b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-</a:t>
            </a:r>
            <a:r>
              <a:rPr kumimoji="1" lang="zh-CN" altLang="en-US" sz="1200" b="1" dirty="0">
                <a:latin typeface="楷体_GB2312" pitchFamily="49" charset="-122"/>
                <a:ea typeface="楷体_GB2312" pitchFamily="49" charset="-122"/>
                <a:cs typeface="+mn-cs"/>
              </a:rPr>
              <a:t>它是事件固有的</a:t>
            </a:r>
            <a:r>
              <a:rPr kumimoji="1" lang="en-US" altLang="zh-CN" sz="1200" b="1" dirty="0">
                <a:latin typeface="楷体_GB2312" pitchFamily="49" charset="-122"/>
                <a:ea typeface="楷体_GB2312" pitchFamily="49" charset="-122"/>
                <a:cs typeface="+mn-cs"/>
              </a:rPr>
              <a:t>,</a:t>
            </a:r>
            <a:r>
              <a:rPr kumimoji="1" lang="zh-CN" altLang="en-US" sz="1200" b="1" dirty="0">
                <a:latin typeface="楷体_GB2312" pitchFamily="49" charset="-122"/>
                <a:ea typeface="楷体_GB2312" pitchFamily="49" charset="-122"/>
                <a:cs typeface="+mn-cs"/>
              </a:rPr>
              <a:t>不随人们主观意愿而改变</a:t>
            </a:r>
            <a:r>
              <a:rPr kumimoji="1" lang="en-US" altLang="zh-CN" sz="1200" b="1" dirty="0">
                <a:latin typeface="华文新魏" pitchFamily="2" charset="-122"/>
                <a:ea typeface="华文新魏" pitchFamily="2" charset="-122"/>
                <a:cs typeface="+mn-cs"/>
              </a:rPr>
              <a:t>; </a:t>
            </a:r>
            <a:r>
              <a:rPr kumimoji="1" lang="zh-CN" altLang="en-US" sz="1200" b="1" dirty="0">
                <a:latin typeface="楷体_GB2312" pitchFamily="49" charset="-122"/>
                <a:ea typeface="楷体_GB2312" pitchFamily="49" charset="-122"/>
                <a:cs typeface="+mn-cs"/>
              </a:rPr>
              <a:t>可以在相同条件下通过大量重复试验予以识别和检验</a:t>
            </a:r>
            <a:r>
              <a:rPr kumimoji="1" lang="en-US" altLang="zh-CN" sz="1200" b="1" dirty="0">
                <a:latin typeface="楷体_GB2312" pitchFamily="49" charset="-122"/>
                <a:ea typeface="楷体_GB2312" pitchFamily="49" charset="-122"/>
                <a:cs typeface="+mn-cs"/>
              </a:rPr>
              <a:t>;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-</a:t>
            </a:r>
            <a:r>
              <a:rPr kumimoji="1" lang="zh-CN" altLang="en-US" sz="1200" b="1" dirty="0">
                <a:latin typeface="楷体_GB2312" pitchFamily="49" charset="-122"/>
                <a:ea typeface="楷体_GB2312" pitchFamily="49" charset="-122"/>
                <a:cs typeface="+mn-cs"/>
              </a:rPr>
              <a:t>符合常情：事件发生可能性大</a:t>
            </a:r>
            <a:r>
              <a:rPr kumimoji="1" lang="en-US" altLang="zh-CN" sz="1200" b="1" dirty="0">
                <a:latin typeface="楷体_GB2312" pitchFamily="49" charset="-122"/>
                <a:ea typeface="楷体_GB2312" pitchFamily="49" charset="-122"/>
                <a:cs typeface="+mn-cs"/>
              </a:rPr>
              <a:t>,</a:t>
            </a:r>
            <a:r>
              <a:rPr kumimoji="1" lang="zh-CN" altLang="en-US" sz="1200" b="1" dirty="0">
                <a:latin typeface="楷体_GB2312" pitchFamily="49" charset="-122"/>
                <a:ea typeface="楷体_GB2312" pitchFamily="49" charset="-122"/>
                <a:cs typeface="+mn-cs"/>
              </a:rPr>
              <a:t>该值就大</a:t>
            </a:r>
            <a:r>
              <a:rPr kumimoji="1" lang="en-US" altLang="zh-CN" sz="1200" b="1" dirty="0">
                <a:latin typeface="楷体_GB2312" pitchFamily="49" charset="-122"/>
                <a:ea typeface="楷体_GB2312" pitchFamily="49" charset="-122"/>
                <a:cs typeface="+mn-cs"/>
              </a:rPr>
              <a:t>,</a:t>
            </a:r>
            <a:r>
              <a:rPr kumimoji="1" lang="zh-CN" altLang="en-US" sz="1200" b="1" dirty="0">
                <a:latin typeface="楷体_GB2312" pitchFamily="49" charset="-122"/>
                <a:ea typeface="楷体_GB2312" pitchFamily="49" charset="-122"/>
                <a:cs typeface="+mn-cs"/>
              </a:rPr>
              <a:t>反之就小</a:t>
            </a:r>
            <a:r>
              <a:rPr kumimoji="1" lang="en-US" altLang="zh-CN" sz="1200" b="1" dirty="0">
                <a:latin typeface="楷体_GB2312" pitchFamily="49" charset="-122"/>
                <a:ea typeface="楷体_GB2312" pitchFamily="49" charset="-122"/>
                <a:cs typeface="+mn-cs"/>
              </a:rPr>
              <a:t>;</a:t>
            </a:r>
            <a:r>
              <a:rPr kumimoji="1" lang="zh-CN" altLang="en-US" sz="1200" b="1" dirty="0">
                <a:latin typeface="楷体_GB2312" pitchFamily="49" charset="-122"/>
                <a:ea typeface="楷体_GB2312" pitchFamily="49" charset="-122"/>
                <a:cs typeface="+mn-cs"/>
              </a:rPr>
              <a:t>不可能事件的值最小</a:t>
            </a:r>
            <a:r>
              <a:rPr kumimoji="1" lang="en-US" altLang="zh-CN" sz="1200" b="1" dirty="0">
                <a:latin typeface="楷体_GB2312" pitchFamily="49" charset="-122"/>
                <a:ea typeface="楷体_GB2312" pitchFamily="49" charset="-122"/>
                <a:cs typeface="+mn-cs"/>
              </a:rPr>
              <a:t>(0);</a:t>
            </a:r>
            <a:r>
              <a:rPr kumimoji="1" lang="zh-CN" altLang="en-US" sz="1200" b="1" dirty="0">
                <a:latin typeface="楷体_GB2312" pitchFamily="49" charset="-122"/>
                <a:ea typeface="楷体_GB2312" pitchFamily="49" charset="-122"/>
                <a:cs typeface="+mn-cs"/>
              </a:rPr>
              <a:t>必然事件的值最大</a:t>
            </a:r>
            <a:r>
              <a:rPr kumimoji="1" lang="en-US" altLang="zh-CN" sz="1200" b="1" dirty="0">
                <a:latin typeface="楷体_GB2312" pitchFamily="49" charset="-122"/>
                <a:ea typeface="楷体_GB2312" pitchFamily="49" charset="-122"/>
                <a:cs typeface="+mn-cs"/>
              </a:rPr>
              <a:t>(1)</a:t>
            </a:r>
            <a:endParaRPr lang="zh-CN" altLang="zh-CN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1978BE-959E-4CE6-BA40-6738072B6363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6970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01978BE-959E-4CE6-BA40-6738072B6363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9411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下面就是一个简单而巧妙的证明。找一根铁丝弯成一个圆圈，使其直径恰恰等于平行线间的距离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。可以想象得到，对于这样的圆圈来说，不管怎么扔下，都将和平行线有两个交点。因此，如果圆圈扔下的次数为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n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次，那么相交的交点总数必为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2n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。现在设想把圆圈拉直，变成一条长为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πd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的铁丝。显然，这样的铁丝扔下时与平行线相交的情形要比圆圈复杂些，可能有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4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个交点，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3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个交点，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个交点，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个交点，甚至于都不相交。由于圆圈和直线的长度同为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πl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，根据机会均等的原理，当它们投掷次数较多，且相等时，两者与平行线组交点的总数期望也是一样的。这就是说，当长为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πl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的铁丝扔下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n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次时，与平行线相交的交点总数应大致为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2n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。现在转而讨论铁丝长为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l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的情形。当投掷次数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n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增大的时候，这种铁丝跟平行线相交的交点总数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m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应当与长度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l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成正比，因而有：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m=kl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，式中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k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是比例系数。为了求出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k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来，只需注意到，对于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l=πd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的特殊情形，有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m=2n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。于是求得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k=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（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2n)/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（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πd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）。代入前式就有：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m≈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（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2ln)/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（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πd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）从而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π≈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（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2ln)/(dm)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，因此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m/n=(2l)/(dπ),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 当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l=d/2,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 则有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m/n=1/π.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01978BE-959E-4CE6-BA40-6738072B6363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9664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Tx/>
              <a:buChar char="-"/>
              <a:defRPr/>
            </a:pPr>
            <a:r>
              <a:rPr kumimoji="1" lang="zh-CN" altLang="en-US" sz="1200" b="1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3333CC"/>
                </a:solidFill>
                <a:latin typeface="黑体"/>
                <a:ea typeface="黑体"/>
                <a:cs typeface="+mn-cs"/>
              </a:rPr>
              <a:t>这三条性质刻画了频率的本质特征</a:t>
            </a:r>
            <a:r>
              <a:rPr kumimoji="1" lang="en-US" altLang="zh-CN" sz="1200" b="1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3333CC"/>
                </a:solidFill>
                <a:latin typeface="黑体"/>
                <a:ea typeface="黑体"/>
                <a:cs typeface="+mn-cs"/>
              </a:rPr>
              <a:t>, </a:t>
            </a:r>
            <a:r>
              <a:rPr kumimoji="1" lang="zh-CN" altLang="en-US" sz="1200" b="1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3333CC"/>
                </a:solidFill>
                <a:latin typeface="黑体"/>
                <a:ea typeface="黑体"/>
                <a:cs typeface="+mn-cs"/>
              </a:rPr>
              <a:t>启发我们定义事件的概率</a:t>
            </a:r>
            <a:endParaRPr kumimoji="1" lang="en-US" altLang="zh-CN" sz="1200" b="1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solidFill>
                <a:srgbClr val="3333CC"/>
              </a:solidFill>
              <a:latin typeface="黑体"/>
              <a:ea typeface="黑体"/>
              <a:cs typeface="+mn-cs"/>
            </a:endParaRPr>
          </a:p>
          <a:p>
            <a:pPr marL="171450" indent="-171450" algn="l">
              <a:buFontTx/>
              <a:buChar char="-"/>
              <a:defRPr/>
            </a:pPr>
            <a:endParaRPr kumimoji="1" lang="en-US" altLang="zh-CN" sz="1200" b="1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solidFill>
                <a:srgbClr val="3333CC"/>
              </a:solidFill>
              <a:latin typeface="黑体"/>
              <a:ea typeface="黑体"/>
              <a:cs typeface="+mn-cs"/>
            </a:endParaRPr>
          </a:p>
          <a:p>
            <a:pPr marL="171450" indent="-171450" algn="l">
              <a:buFontTx/>
              <a:buChar char="-"/>
              <a:defRPr/>
            </a:pPr>
            <a:endParaRPr kumimoji="1" lang="en-US" altLang="zh-CN" sz="1200" b="1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solidFill>
                <a:srgbClr val="3333CC"/>
              </a:solidFill>
              <a:latin typeface="黑体"/>
              <a:ea typeface="黑体"/>
              <a:cs typeface="+mn-cs"/>
            </a:endParaRPr>
          </a:p>
          <a:p>
            <a:pPr marL="0" indent="0" algn="l">
              <a:buFontTx/>
              <a:buNone/>
              <a:defRPr/>
            </a:pPr>
            <a:r>
              <a:rPr kumimoji="1" lang="en-US" altLang="zh-CN" sz="1200" b="1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3333CC"/>
                </a:solidFill>
                <a:latin typeface="黑体"/>
                <a:ea typeface="黑体"/>
                <a:cs typeface="+mn-cs"/>
              </a:rPr>
              <a:t>Throw a dice, A1 is the event of number 1 coming up; A2 is the event of number 2 coming up……….A6 is the event of number 6 coming up. </a:t>
            </a:r>
            <a:r>
              <a:rPr kumimoji="1" lang="en-US" altLang="zh-CN" sz="1200" b="1" kern="10" dirty="0" err="1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3333CC"/>
                </a:solidFill>
                <a:latin typeface="黑体"/>
                <a:ea typeface="黑体"/>
                <a:cs typeface="+mn-cs"/>
              </a:rPr>
              <a:t>i</a:t>
            </a:r>
            <a:r>
              <a:rPr kumimoji="1" lang="en-US" altLang="zh-CN" sz="1200" b="1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3333CC"/>
                </a:solidFill>
                <a:latin typeface="黑体"/>
                <a:ea typeface="黑体"/>
                <a:cs typeface="+mn-cs"/>
              </a:rPr>
              <a:t>=1, 2,…. 6. </a:t>
            </a:r>
          </a:p>
          <a:p>
            <a:pPr marL="0" indent="0" algn="l">
              <a:buFontTx/>
              <a:buNone/>
              <a:defRPr/>
            </a:pPr>
            <a:r>
              <a:rPr kumimoji="1" lang="en-US" altLang="zh-CN" sz="1200" b="1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3333CC"/>
                </a:solidFill>
                <a:latin typeface="黑体"/>
                <a:ea typeface="黑体"/>
                <a:cs typeface="+mn-cs"/>
              </a:rPr>
              <a:t>Therefore: Properties 2 and 3</a:t>
            </a:r>
            <a:endParaRPr kumimoji="1" lang="zh-CN" altLang="en-US" sz="1200" b="1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solidFill>
                <a:srgbClr val="3333CC"/>
              </a:solidFill>
              <a:latin typeface="黑体"/>
              <a:ea typeface="黑体"/>
              <a:cs typeface="+mn-cs"/>
            </a:endParaRPr>
          </a:p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1978BE-959E-4CE6-BA40-6738072B6363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2983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事件的和的概率， 等于和的事件概率</a:t>
            </a:r>
            <a:endParaRPr lang="en-US" altLang="zh-CN" dirty="0"/>
          </a:p>
          <a:p>
            <a:r>
              <a:rPr lang="en-US" dirty="0"/>
              <a:t>The probability of the sum of the events, is equal to the sum of individual event probability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1978BE-959E-4CE6-BA40-6738072B6363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1955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事件的差的概率， 等于事件概率的差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probability of the difference of two events, is equal to the difference of the two event’s probabilities.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01978BE-959E-4CE6-BA40-6738072B6363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6436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01978BE-959E-4CE6-BA40-6738072B6363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2756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fld id="{3AD9FD6B-9566-4373-AC72-BFE9BE047589}" type="slidenum">
              <a:rPr lang="en-US" altLang="zh-CN" sz="1200" b="0" smtClean="0">
                <a:latin typeface="Times New Roman" pitchFamily="18" charset="0"/>
                <a:ea typeface="宋体" pitchFamily="2" charset="-122"/>
              </a:rPr>
              <a:pPr eaLnBrk="1" hangingPunct="1"/>
              <a:t>22</a:t>
            </a:fld>
            <a:endParaRPr lang="en-US" altLang="zh-CN" sz="1200" b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fld id="{3AD9FD6B-9566-4373-AC72-BFE9BE047589}" type="slidenum">
              <a:rPr lang="en-US" altLang="zh-CN" sz="1200" b="0" smtClean="0">
                <a:latin typeface="Times New Roman" pitchFamily="18" charset="0"/>
                <a:ea typeface="宋体" pitchFamily="2" charset="-122"/>
              </a:rPr>
              <a:pPr eaLnBrk="1" hangingPunct="1"/>
              <a:t>23</a:t>
            </a:fld>
            <a:endParaRPr lang="en-US" altLang="zh-CN" sz="1200" b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27B54-9132-466E-B31F-DF58A7837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ACE207-F5B1-49B8-B335-F0E5333EC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3D35AA-94B3-4983-8F51-2E3507665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F1AEC3-F872-44DF-B412-E05E03D1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9190C6-280A-48A5-B9AA-4E2B45A9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849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33F591-4E8F-44D9-9C4C-459BF1D3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EAEFFF-04B0-42EB-8816-1FBA287E0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C26E5A-EF4E-44BA-B0EA-2110065D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BDFF35-041B-43FF-84FA-2AA9D10B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19C083-6AEF-457E-A9FA-DA6AF59AA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103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31381-32BB-4220-88FD-43CD61ED7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E258BC-1DB2-4ABA-80F3-566CA1BC0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86FAAC-D304-4914-88FC-9F0DD5447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7E73CC-425B-41BB-BDDE-F12F4B4A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4617DD-1B2A-4B14-AA4E-3670BDCC7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598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0C6534-77FE-4609-ABB6-768C81EC0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482455-C464-4020-A129-156621CC1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C39525-8E09-4E6E-A71A-EF27F897E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B1045F-4E7A-4FDD-925E-950B82605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A26ABC-9CBC-46FA-B4CC-44E9F649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4232D0-98CA-4F07-8C66-C40BC9BF7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597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1AB70-4BD3-4962-832A-D1B0FB7B6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A27CD6-E621-4800-A78E-A3C24E2E5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5AF5CB-0921-4F75-A4C4-ED04BAD82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820540-B2C8-4711-BDD9-7D749414B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1D63A9-6EF8-4E82-B8D5-FAE41CD3B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27977A1-5F8D-4B50-97C7-2A32B4C23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6289CE-D640-4B04-B31E-CC9442ECD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02B124-AFCF-48CC-87C8-E308D663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878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43533-0577-44A2-940A-4BA2A1C9D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17D3DD-E0B0-40F7-9616-624A7261C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4AFF2B-1F2C-42F6-9FCF-A36170C54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2B428E-0487-405C-8612-CBDAE2D37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109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D401D2-03A9-4012-9E2F-3FE6649E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398EC6-DF0B-4EF4-9BBA-E16B4A4D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54820B-774E-44F7-B7E5-2CF58D7FB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03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1FF357-98AB-463F-AC13-1B17A664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9E2AD1-CBEB-4B47-B041-C3D8D3E8C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2350F3-C53E-41C9-89CB-435878E72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A2B70B-FF0E-4C2A-971E-3966F8B3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FFC9FB-7AAD-4332-8505-C7E5FA8C5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E7299E-C7B0-4B9E-88D1-82A64157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003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1C2925-14FB-4A22-8806-960759772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879CEFF-7289-450C-A1FA-7C2007E88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CCE62-7167-42AA-A9E7-9BBC493B7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093FD2-A443-492F-80AD-C8B8ADA0F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719813-6F46-4FA5-BC09-0454022E6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436645-54FE-4A27-B89A-380BECBB1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21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8762-75DB-4D45-B476-E1E6EB39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FBC7CB-6C59-4948-8B89-87E011D9E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E219FE-C93A-46AD-97A9-313989BA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471F8E-8775-47CE-B515-E9633098E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569A8D-CFA3-4A19-BCDC-62019A7B0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785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02DFCB-D50B-4F38-B9EE-E47FC10436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D0B79E-6D79-493F-B7D2-A1136BC8B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8B61E8-178A-4203-84B6-7A1F9025F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86066A-448C-4E0E-A504-3CF22F1C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42748D-FEEB-45AE-B2A9-395CA8DEC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253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4504489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D55E09B-2F52-48C4-83A6-A3828923C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6F25A3-8DFF-4D45-A8A2-245D5D7C6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FD9162-5A83-4A39-A4C1-13D80D351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E4B60-023F-4F12-B2F4-B2B5F71CC914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781065-C80E-41C0-B067-9FBDB0A8E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7934A7-2AD8-44F3-B1C9-DDCBF13743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04CD5-CC61-4BBF-9241-D1C608151D70}" type="slidenum">
              <a:rPr lang="zh-CN" altLang="en-US" smtClean="0"/>
              <a:t>‹#›</a:t>
            </a:fld>
            <a:endParaRPr lang="zh-CN" altLang="en-US"/>
          </a:p>
        </p:txBody>
      </p:sp>
      <p:graphicFrame>
        <p:nvGraphicFramePr>
          <p:cNvPr id="7" name="Object 67">
            <a:extLst>
              <a:ext uri="{FF2B5EF4-FFF2-40B4-BE49-F238E27FC236}">
                <a16:creationId xmlns:a16="http://schemas.microsoft.com/office/drawing/2014/main" id="{732729EE-5B6E-49A2-9489-94243A6BA395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8555038" y="5949950"/>
          <a:ext cx="5699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剪辑" r:id="rId14" imgW="3154363" imgH="4708525" progId="MS_ClipArt_Gallery.2">
                  <p:embed/>
                </p:oleObj>
              </mc:Choice>
              <mc:Fallback>
                <p:oleObj name="剪辑" r:id="rId14" imgW="3154363" imgH="4708525" progId="MS_ClipArt_Gallery.2">
                  <p:embed/>
                  <p:pic>
                    <p:nvPicPr>
                      <p:cNvPr id="1026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5038" y="5949950"/>
                        <a:ext cx="5699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4">
            <a:extLst>
              <a:ext uri="{FF2B5EF4-FFF2-40B4-BE49-F238E27FC236}">
                <a16:creationId xmlns:a16="http://schemas.microsoft.com/office/drawing/2014/main" id="{BE461B3F-CA98-4808-9EE6-27E30F6E2E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60795" y="-26988"/>
            <a:ext cx="3384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b="0" dirty="0">
                <a:solidFill>
                  <a:srgbClr val="66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§3 </a:t>
            </a:r>
            <a:r>
              <a:rPr lang="zh-CN" altLang="en-US" b="0" dirty="0">
                <a:solidFill>
                  <a:srgbClr val="66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概率测度</a:t>
            </a:r>
          </a:p>
        </p:txBody>
      </p:sp>
      <p:sp>
        <p:nvSpPr>
          <p:cNvPr id="9" name="Rectangle 81">
            <a:extLst>
              <a:ext uri="{FF2B5EF4-FFF2-40B4-BE49-F238E27FC236}">
                <a16:creationId xmlns:a16="http://schemas.microsoft.com/office/drawing/2014/main" id="{AB414E0F-3FC4-48B1-8F16-3375D607C5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2700" y="511175"/>
            <a:ext cx="9180513" cy="71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9">
            <a:extLst>
              <a:ext uri="{FF2B5EF4-FFF2-40B4-BE49-F238E27FC236}">
                <a16:creationId xmlns:a16="http://schemas.microsoft.com/office/drawing/2014/main" id="{3C00AEF0-0948-4691-85EE-A8EA0CFFF84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7900" y="266700"/>
            <a:ext cx="749300" cy="252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fld id="{5F205D10-2225-43A4-9F74-9776BABD8920}" type="slidenum">
              <a:rPr lang="en-US" altLang="zh-CN" sz="1000" smtClean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pPr algn="l" eaLnBrk="1" hangingPunct="1">
                <a:lnSpc>
                  <a:spcPct val="120000"/>
                </a:lnSpc>
                <a:spcBef>
                  <a:spcPct val="50000"/>
                </a:spcBef>
              </a:pPr>
              <a:t>‹#›</a:t>
            </a:fld>
            <a:endParaRPr lang="en-US" altLang="zh-CN" sz="1000" dirty="0">
              <a:solidFill>
                <a:schemeClr val="folHlin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Rectangle 106">
            <a:extLst>
              <a:ext uri="{FF2B5EF4-FFF2-40B4-BE49-F238E27FC236}">
                <a16:creationId xmlns:a16="http://schemas.microsoft.com/office/drawing/2014/main" id="{F3A4F8AD-665A-40A8-85D1-114948D92F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03550" y="6400800"/>
            <a:ext cx="3219450" cy="41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2000" dirty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7777FF"/>
                    </a:outerShdw>
                  </a:cont>
                  <a:cont type="tree" name="">
                    <a:effect ref="fillLine"/>
                    <a:outerShdw dist="38100" dir="2700000" algn="tl">
                      <a:srgbClr val="1E1E99"/>
                    </a:outerShdw>
                  </a:cont>
                  <a:effect ref="fillLine"/>
                </a:effectDag>
                <a:latin typeface="黑体" pitchFamily="2" charset="-122"/>
                <a:ea typeface="黑体" pitchFamily="2" charset="-122"/>
              </a:rPr>
              <a:t>第一章  概率</a:t>
            </a:r>
            <a:endParaRPr lang="zh-CN" altLang="en-US" sz="2000" b="0" dirty="0"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rgbClr val="7777FF"/>
                  </a:outerShdw>
                </a:cont>
                <a:cont type="tree" name="">
                  <a:effect ref="fillLine"/>
                  <a:outerShdw dist="38100" dir="2700000" algn="tl">
                    <a:srgbClr val="1E1E99"/>
                  </a:outerShdw>
                </a:cont>
                <a:effect ref="fillLine"/>
              </a:effectDag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224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gif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11" Type="http://schemas.openxmlformats.org/officeDocument/2006/relationships/image" Target="../media/image11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emf"/><Relationship Id="rId9" Type="http://schemas.openxmlformats.org/officeDocument/2006/relationships/hyperlink" Target="../&#12298;&#27010;&#29575;&#35770;&#19982;&#25968;&#29702;&#32479;&#35745;&#12299;&#35838;&#20214;/&#27861;&#22269;&#25968;&#23398;&#23478;&#33970;&#20016;.ppt#-1,1,&#24187;&#28783;&#29255; 1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hyperlink" Target="https://en.wikipedia.org/wiki/Buffon's_needle_problem#:~:text=In%20mathematics%2C%20Buffon's%20needle%20problem,Louis%20Leclerc%2C%20Comte%20de%20Buffon%3A&amp;text=This%20can%20be%20used%20to,motivation%20for%20de%20Buffon's%20question." TargetMode="External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emf"/><Relationship Id="rId11" Type="http://schemas.openxmlformats.org/officeDocument/2006/relationships/image" Target="../media/image19.png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8.png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3.gif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6.png"/><Relationship Id="rId5" Type="http://schemas.openxmlformats.org/officeDocument/2006/relationships/image" Target="../media/image15.gif"/><Relationship Id="rId10" Type="http://schemas.openxmlformats.org/officeDocument/2006/relationships/image" Target="../media/image35.png"/><Relationship Id="rId4" Type="http://schemas.openxmlformats.org/officeDocument/2006/relationships/image" Target="../media/image14.gif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5.gif"/><Relationship Id="rId7" Type="http://schemas.openxmlformats.org/officeDocument/2006/relationships/image" Target="../media/image170.png"/><Relationship Id="rId12" Type="http://schemas.openxmlformats.org/officeDocument/2006/relationships/image" Target="../media/image26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39.png"/><Relationship Id="rId5" Type="http://schemas.openxmlformats.org/officeDocument/2006/relationships/image" Target="../media/image171.png"/><Relationship Id="rId10" Type="http://schemas.openxmlformats.org/officeDocument/2006/relationships/image" Target="../media/image38.png"/><Relationship Id="rId4" Type="http://schemas.openxmlformats.org/officeDocument/2006/relationships/image" Target="../media/image14.gif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6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11.png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30.png"/><Relationship Id="rId5" Type="http://schemas.openxmlformats.org/officeDocument/2006/relationships/image" Target="../media/image24.png"/><Relationship Id="rId10" Type="http://schemas.openxmlformats.org/officeDocument/2006/relationships/image" Target="../media/image420.png"/><Relationship Id="rId4" Type="http://schemas.openxmlformats.org/officeDocument/2006/relationships/image" Target="../media/image280.png"/><Relationship Id="rId9" Type="http://schemas.openxmlformats.org/officeDocument/2006/relationships/image" Target="../media/image4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13" Type="http://schemas.openxmlformats.org/officeDocument/2006/relationships/image" Target="../media/image48.png"/><Relationship Id="rId18" Type="http://schemas.openxmlformats.org/officeDocument/2006/relationships/oleObject" Target="../embeddings/oleObject12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47.png"/><Relationship Id="rId17" Type="http://schemas.openxmlformats.org/officeDocument/2006/relationships/oleObject" Target="../embeddings/oleObject11.bin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1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emf"/><Relationship Id="rId11" Type="http://schemas.openxmlformats.org/officeDocument/2006/relationships/image" Target="../media/image46.png"/><Relationship Id="rId5" Type="http://schemas.openxmlformats.org/officeDocument/2006/relationships/oleObject" Target="../embeddings/oleObject9.bin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19" Type="http://schemas.openxmlformats.org/officeDocument/2006/relationships/oleObject" Target="../embeddings/oleObject13.bin"/><Relationship Id="rId4" Type="http://schemas.openxmlformats.org/officeDocument/2006/relationships/image" Target="../media/image44.emf"/><Relationship Id="rId1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4" Type="http://schemas.openxmlformats.org/officeDocument/2006/relationships/image" Target="../media/image53.png"/><Relationship Id="rId33" Type="http://schemas.openxmlformats.org/officeDocument/2006/relationships/image" Target="../media/image47.emf"/><Relationship Id="rId1" Type="http://schemas.openxmlformats.org/officeDocument/2006/relationships/slideLayout" Target="../slideLayouts/slideLayout7.xml"/><Relationship Id="rId32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34" Type="http://schemas.openxmlformats.org/officeDocument/2006/relationships/image" Target="../media/image54.png"/><Relationship Id="rId33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32" Type="http://schemas.openxmlformats.org/officeDocument/2006/relationships/image" Target="../media/image91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0.bin"/><Relationship Id="rId18" Type="http://schemas.openxmlformats.org/officeDocument/2006/relationships/image" Target="../media/image570.emf"/><Relationship Id="rId26" Type="http://schemas.openxmlformats.org/officeDocument/2006/relationships/oleObject" Target="../embeddings/oleObject190.bin"/><Relationship Id="rId39" Type="http://schemas.openxmlformats.org/officeDocument/2006/relationships/image" Target="../media/image65.png"/><Relationship Id="rId3" Type="http://schemas.openxmlformats.org/officeDocument/2006/relationships/image" Target="../media/image55.emf"/><Relationship Id="rId21" Type="http://schemas.openxmlformats.org/officeDocument/2006/relationships/oleObject" Target="../embeddings/oleObject180.bin"/><Relationship Id="rId34" Type="http://schemas.openxmlformats.org/officeDocument/2006/relationships/image" Target="../media/image64.png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56.emf"/><Relationship Id="rId17" Type="http://schemas.openxmlformats.org/officeDocument/2006/relationships/oleObject" Target="../embeddings/oleObject170.bin"/><Relationship Id="rId25" Type="http://schemas.openxmlformats.org/officeDocument/2006/relationships/image" Target="../media/image59.emf"/><Relationship Id="rId33" Type="http://schemas.openxmlformats.org/officeDocument/2006/relationships/image" Target="../media/image92.png"/><Relationship Id="rId38" Type="http://schemas.openxmlformats.org/officeDocument/2006/relationships/image" Target="../media/image61.emf"/><Relationship Id="rId2" Type="http://schemas.openxmlformats.org/officeDocument/2006/relationships/oleObject" Target="../embeddings/oleObject14.bin"/><Relationship Id="rId16" Type="http://schemas.openxmlformats.org/officeDocument/2006/relationships/image" Target="../media/image57.emf"/><Relationship Id="rId20" Type="http://schemas.openxmlformats.org/officeDocument/2006/relationships/image" Target="../media/image5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emf"/><Relationship Id="rId11" Type="http://schemas.openxmlformats.org/officeDocument/2006/relationships/oleObject" Target="../embeddings/oleObject16.bin"/><Relationship Id="rId24" Type="http://schemas.openxmlformats.org/officeDocument/2006/relationships/oleObject" Target="../embeddings/oleObject19.bin"/><Relationship Id="rId32" Type="http://schemas.openxmlformats.org/officeDocument/2006/relationships/image" Target="../media/image91.png"/><Relationship Id="rId37" Type="http://schemas.openxmlformats.org/officeDocument/2006/relationships/image" Target="../media/image60.emf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7.bin"/><Relationship Id="rId23" Type="http://schemas.openxmlformats.org/officeDocument/2006/relationships/image" Target="../media/image540.png"/><Relationship Id="rId36" Type="http://schemas.openxmlformats.org/officeDocument/2006/relationships/image" Target="../media/image641.png"/><Relationship Id="rId10" Type="http://schemas.openxmlformats.org/officeDocument/2006/relationships/image" Target="../media/image56.emf"/><Relationship Id="rId19" Type="http://schemas.openxmlformats.org/officeDocument/2006/relationships/oleObject" Target="../embeddings/oleObject18.bin"/><Relationship Id="rId9" Type="http://schemas.openxmlformats.org/officeDocument/2006/relationships/oleObject" Target="../embeddings/oleObject150.bin"/><Relationship Id="rId14" Type="http://schemas.openxmlformats.org/officeDocument/2006/relationships/image" Target="../media/image57.emf"/><Relationship Id="rId22" Type="http://schemas.openxmlformats.org/officeDocument/2006/relationships/image" Target="../media/image58.wmf"/><Relationship Id="rId27" Type="http://schemas.openxmlformats.org/officeDocument/2006/relationships/image" Target="../media/image59.emf"/><Relationship Id="rId35" Type="http://schemas.openxmlformats.org/officeDocument/2006/relationships/image" Target="../media/image4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22">
            <a:extLst>
              <a:ext uri="{FF2B5EF4-FFF2-40B4-BE49-F238E27FC236}">
                <a16:creationId xmlns:a16="http://schemas.microsoft.com/office/drawing/2014/main" id="{D5DA6B12-5A40-4286-948E-8E831E43A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" y="533401"/>
            <a:ext cx="9142412" cy="76200"/>
          </a:xfrm>
          <a:prstGeom prst="rect">
            <a:avLst/>
          </a:prstGeom>
          <a:gradFill rotWithShape="0">
            <a:gsLst>
              <a:gs pos="0">
                <a:srgbClr val="00CCCC"/>
              </a:gs>
              <a:gs pos="100000">
                <a:srgbClr val="005D5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>
              <a:solidFill>
                <a:srgbClr val="FFFFFF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11" name="WordArt 147">
            <a:extLst>
              <a:ext uri="{FF2B5EF4-FFF2-40B4-BE49-F238E27FC236}">
                <a16:creationId xmlns:a16="http://schemas.microsoft.com/office/drawing/2014/main" id="{FA1D9EC9-917D-4885-BB37-3CF2C16C0BD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52583" y="1182688"/>
            <a:ext cx="4669653" cy="520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Chapter One  Probability</a:t>
            </a:r>
            <a:endParaRPr lang="zh-CN" altLang="en-US" sz="3600" b="1" kern="1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0D573AB-1CCC-49B1-A84B-8A198166BF9D}"/>
              </a:ext>
            </a:extLst>
          </p:cNvPr>
          <p:cNvSpPr txBox="1"/>
          <p:nvPr/>
        </p:nvSpPr>
        <p:spPr>
          <a:xfrm>
            <a:off x="776394" y="2132785"/>
            <a:ext cx="78634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fontAlgn="auto" hangingPunct="1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Sample space</a:t>
            </a:r>
            <a:r>
              <a:rPr lang="zh-CN" altLang="en-US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（样本空间）</a:t>
            </a:r>
            <a:endParaRPr lang="en-US" altLang="zh-CN" sz="3200" kern="10" dirty="0">
              <a:ln w="0"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 eaLnBrk="1" fontAlgn="auto" hangingPunct="1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Probability measure</a:t>
            </a:r>
            <a:r>
              <a:rPr lang="zh-CN" altLang="en-US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（概率测度）</a:t>
            </a:r>
            <a:endParaRPr lang="en-US" altLang="zh-CN" sz="3200" kern="10" dirty="0">
              <a:ln w="0"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 eaLnBrk="1" fontAlgn="auto" hangingPunct="1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Probability computation</a:t>
            </a:r>
            <a:r>
              <a:rPr lang="zh-CN" altLang="en-US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（概率计算）</a:t>
            </a:r>
            <a:endParaRPr lang="en-US" altLang="zh-CN" sz="3200" kern="10" dirty="0">
              <a:ln w="0"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Conditional probability</a:t>
            </a:r>
            <a:r>
              <a:rPr lang="zh-CN" altLang="en-US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（条件概率）</a:t>
            </a:r>
            <a:endParaRPr lang="en-US" altLang="zh-CN" sz="3200" kern="10" dirty="0">
              <a:ln w="0"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Independence</a:t>
            </a:r>
            <a:r>
              <a:rPr lang="zh-CN" altLang="en-US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（独立性）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303057343"/>
      </p:ext>
    </p:extLst>
  </p:cSld>
  <p:clrMapOvr>
    <a:masterClrMapping/>
  </p:clrMapOvr>
  <p:transition spd="med">
    <p:zoom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22">
            <a:extLst>
              <a:ext uri="{FF2B5EF4-FFF2-40B4-BE49-F238E27FC236}">
                <a16:creationId xmlns:a16="http://schemas.microsoft.com/office/drawing/2014/main" id="{D5DA6B12-5A40-4286-948E-8E831E43A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" y="533401"/>
            <a:ext cx="9142412" cy="76200"/>
          </a:xfrm>
          <a:prstGeom prst="rect">
            <a:avLst/>
          </a:prstGeom>
          <a:gradFill rotWithShape="0">
            <a:gsLst>
              <a:gs pos="0">
                <a:srgbClr val="00CCCC"/>
              </a:gs>
              <a:gs pos="100000">
                <a:srgbClr val="005D5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>
              <a:solidFill>
                <a:srgbClr val="FFFFFF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11" name="WordArt 147">
            <a:extLst>
              <a:ext uri="{FF2B5EF4-FFF2-40B4-BE49-F238E27FC236}">
                <a16:creationId xmlns:a16="http://schemas.microsoft.com/office/drawing/2014/main" id="{FA1D9EC9-917D-4885-BB37-3CF2C16C0BD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52583" y="1182688"/>
            <a:ext cx="4669653" cy="520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Chapter One  Probability</a:t>
            </a:r>
            <a:endParaRPr lang="zh-CN" altLang="en-US" sz="3600" b="1" kern="1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0D573AB-1CCC-49B1-A84B-8A198166BF9D}"/>
              </a:ext>
            </a:extLst>
          </p:cNvPr>
          <p:cNvSpPr txBox="1"/>
          <p:nvPr/>
        </p:nvSpPr>
        <p:spPr>
          <a:xfrm>
            <a:off x="776394" y="2132785"/>
            <a:ext cx="78634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fontAlgn="auto" hangingPunct="1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Sample space</a:t>
            </a:r>
            <a:r>
              <a:rPr lang="zh-CN" altLang="en-US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（样本空间）</a:t>
            </a:r>
            <a:endParaRPr lang="en-US" altLang="zh-CN" sz="3200" kern="10" dirty="0">
              <a:ln w="0"/>
              <a:solidFill>
                <a:schemeClr val="bg1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 eaLnBrk="1" fontAlgn="auto" hangingPunct="1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Probability measure</a:t>
            </a:r>
            <a:r>
              <a:rPr lang="zh-CN" altLang="en-US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（概率测度）</a:t>
            </a:r>
            <a:endParaRPr lang="en-US" altLang="zh-CN" sz="3200" kern="10" dirty="0">
              <a:ln w="0"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 eaLnBrk="1" fontAlgn="auto" hangingPunct="1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Probability computation</a:t>
            </a:r>
            <a:r>
              <a:rPr lang="zh-CN" altLang="en-US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（概率计算）</a:t>
            </a:r>
            <a:endParaRPr lang="en-US" altLang="zh-CN" sz="3200" kern="10" dirty="0">
              <a:ln w="0"/>
              <a:solidFill>
                <a:schemeClr val="bg1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Conditional probability</a:t>
            </a:r>
            <a:r>
              <a:rPr lang="zh-CN" altLang="en-US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（条件概率）</a:t>
            </a:r>
            <a:endParaRPr lang="en-US" altLang="zh-CN" sz="3200" kern="10" dirty="0">
              <a:ln w="0"/>
              <a:solidFill>
                <a:schemeClr val="bg1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Independence</a:t>
            </a:r>
            <a:r>
              <a:rPr lang="zh-CN" altLang="en-US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（独立性）</a:t>
            </a:r>
            <a:endParaRPr lang="zh-CN" altLang="en-US" sz="3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948203"/>
      </p:ext>
    </p:extLst>
  </p:cSld>
  <p:clrMapOvr>
    <a:masterClrMapping/>
  </p:clrMapOvr>
  <p:transition spd="med">
    <p:zoom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837" name="Text Box 61"/>
          <p:cNvSpPr txBox="1">
            <a:spLocks noChangeArrowheads="1"/>
          </p:cNvSpPr>
          <p:nvPr/>
        </p:nvSpPr>
        <p:spPr bwMode="auto">
          <a:xfrm>
            <a:off x="1619249" y="4882374"/>
            <a:ext cx="6808059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1. It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is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fixed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value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and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does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not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change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with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individual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desire.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It can be infinitely repeated so as to identify the value. 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1828" name="Text Box 52"/>
          <p:cNvSpPr txBox="1">
            <a:spLocks noChangeArrowheads="1"/>
          </p:cNvSpPr>
          <p:nvPr/>
        </p:nvSpPr>
        <p:spPr bwMode="auto">
          <a:xfrm>
            <a:off x="2202286" y="870038"/>
            <a:ext cx="683868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l" fontAlgn="ctr">
              <a:defRPr/>
            </a:pPr>
            <a:r>
              <a:rPr lang="en-US" altLang="zh-CN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To study the statistical regularity of random events</a:t>
            </a:r>
            <a:r>
              <a: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（随机事件）</a:t>
            </a:r>
          </a:p>
        </p:txBody>
      </p:sp>
      <p:sp>
        <p:nvSpPr>
          <p:cNvPr id="331831" name="Text Box 55"/>
          <p:cNvSpPr txBox="1">
            <a:spLocks noChangeArrowheads="1"/>
          </p:cNvSpPr>
          <p:nvPr/>
        </p:nvSpPr>
        <p:spPr bwMode="auto">
          <a:xfrm>
            <a:off x="2896687" y="1883069"/>
            <a:ext cx="447259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l" fontAlgn="ctr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What is statistical regularity (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统计规律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)?</a:t>
            </a:r>
            <a:endParaRPr lang="zh-CN" altLang="en-US" dirty="0"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1833" name="Text Box 57"/>
          <p:cNvSpPr txBox="1">
            <a:spLocks noChangeArrowheads="1"/>
          </p:cNvSpPr>
          <p:nvPr/>
        </p:nvSpPr>
        <p:spPr bwMode="auto">
          <a:xfrm>
            <a:off x="1619250" y="2558571"/>
            <a:ext cx="7274179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It can be the numerical pattern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demonstrated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by thousands of experiments.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1834" name="Text Box 58"/>
          <p:cNvSpPr txBox="1">
            <a:spLocks noChangeArrowheads="1"/>
          </p:cNvSpPr>
          <p:nvPr/>
        </p:nvSpPr>
        <p:spPr bwMode="auto">
          <a:xfrm>
            <a:off x="1619249" y="4131513"/>
            <a:ext cx="72866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It describes the possibility of random events in a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single experiment, 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1838" name="Text Box 62"/>
          <p:cNvSpPr txBox="1">
            <a:spLocks noChangeArrowheads="1"/>
          </p:cNvSpPr>
          <p:nvPr/>
        </p:nvSpPr>
        <p:spPr bwMode="auto">
          <a:xfrm>
            <a:off x="1671637" y="5556807"/>
            <a:ext cx="647146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just">
              <a:defRPr/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 The value is between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and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1, for which the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larger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 figure the more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likely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event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is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to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happen.</a:t>
            </a:r>
          </a:p>
        </p:txBody>
      </p:sp>
      <p:sp>
        <p:nvSpPr>
          <p:cNvPr id="331850" name="Text Box 74"/>
          <p:cNvSpPr txBox="1">
            <a:spLocks noChangeArrowheads="1"/>
          </p:cNvSpPr>
          <p:nvPr/>
        </p:nvSpPr>
        <p:spPr bwMode="auto">
          <a:xfrm>
            <a:off x="2967037" y="3691712"/>
            <a:ext cx="316756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l" fontAlgn="ctr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What is Probability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概率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)?</a:t>
            </a:r>
            <a:endParaRPr lang="zh-CN" altLang="en-US" dirty="0"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31856" name="Group 80"/>
          <p:cNvGrpSpPr>
            <a:grpSpLocks/>
          </p:cNvGrpSpPr>
          <p:nvPr/>
        </p:nvGrpSpPr>
        <p:grpSpPr bwMode="auto">
          <a:xfrm>
            <a:off x="1047750" y="1644944"/>
            <a:ext cx="1677988" cy="590550"/>
            <a:chOff x="436" y="850"/>
            <a:chExt cx="1057" cy="372"/>
          </a:xfrm>
        </p:grpSpPr>
        <p:sp>
          <p:nvSpPr>
            <p:cNvPr id="8218" name="WordArt 67"/>
            <p:cNvSpPr>
              <a:spLocks noChangeArrowheads="1" noChangeShapeType="1" noTextEdit="1"/>
            </p:cNvSpPr>
            <p:nvPr/>
          </p:nvSpPr>
          <p:spPr bwMode="auto">
            <a:xfrm>
              <a:off x="870" y="1000"/>
              <a:ext cx="623" cy="19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 dirty="0">
                  <a:ln w="15875">
                    <a:solidFill>
                      <a:srgbClr val="3399FF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方正舒体"/>
                  <a:ea typeface="方正舒体"/>
                </a:rPr>
                <a:t>QUESTION     1</a:t>
              </a:r>
              <a:endParaRPr lang="zh-CN" altLang="en-US" sz="3600" kern="10" dirty="0">
                <a:ln w="15875">
                  <a:solidFill>
                    <a:srgbClr val="3399FF"/>
                  </a:solidFill>
                  <a:round/>
                  <a:headEnd/>
                  <a:tailEnd/>
                </a:ln>
                <a:solidFill>
                  <a:schemeClr val="tx1"/>
                </a:soli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/>
                <a:ea typeface="方正舒体"/>
              </a:endParaRPr>
            </a:p>
          </p:txBody>
        </p:sp>
        <p:grpSp>
          <p:nvGrpSpPr>
            <p:cNvPr id="8219" name="Group 79"/>
            <p:cNvGrpSpPr>
              <a:grpSpLocks/>
            </p:cNvGrpSpPr>
            <p:nvPr/>
          </p:nvGrpSpPr>
          <p:grpSpPr bwMode="auto">
            <a:xfrm>
              <a:off x="436" y="850"/>
              <a:ext cx="393" cy="372"/>
              <a:chOff x="436" y="850"/>
              <a:chExt cx="393" cy="372"/>
            </a:xfrm>
          </p:grpSpPr>
          <p:sp>
            <p:nvSpPr>
              <p:cNvPr id="331854" name="Rectangle 78"/>
              <p:cNvSpPr>
                <a:spLocks noChangeArrowheads="1"/>
              </p:cNvSpPr>
              <p:nvPr/>
            </p:nvSpPr>
            <p:spPr bwMode="auto">
              <a:xfrm>
                <a:off x="457" y="869"/>
                <a:ext cx="372" cy="353"/>
              </a:xfrm>
              <a:prstGeom prst="rect">
                <a:avLst/>
              </a:prstGeom>
              <a:solidFill>
                <a:srgbClr val="08080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pic>
            <p:nvPicPr>
              <p:cNvPr id="8221" name="Picture 76" descr="COSMIC08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6" y="853"/>
                <a:ext cx="360" cy="3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31853" name="Rectangle 77"/>
              <p:cNvSpPr>
                <a:spLocks noChangeArrowheads="1"/>
              </p:cNvSpPr>
              <p:nvPr/>
            </p:nvSpPr>
            <p:spPr bwMode="auto">
              <a:xfrm>
                <a:off x="436" y="850"/>
                <a:ext cx="362" cy="342"/>
              </a:xfrm>
              <a:prstGeom prst="rect">
                <a:avLst/>
              </a:prstGeom>
              <a:noFill/>
              <a:ln w="12700" algn="ctr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333333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331857" name="Group 81"/>
          <p:cNvGrpSpPr>
            <a:grpSpLocks/>
          </p:cNvGrpSpPr>
          <p:nvPr/>
        </p:nvGrpSpPr>
        <p:grpSpPr bwMode="auto">
          <a:xfrm>
            <a:off x="1049338" y="3394913"/>
            <a:ext cx="1677987" cy="590550"/>
            <a:chOff x="436" y="850"/>
            <a:chExt cx="1057" cy="372"/>
          </a:xfrm>
        </p:grpSpPr>
        <p:sp>
          <p:nvSpPr>
            <p:cNvPr id="8213" name="WordArt 82"/>
            <p:cNvSpPr>
              <a:spLocks noChangeArrowheads="1" noChangeShapeType="1" noTextEdit="1"/>
            </p:cNvSpPr>
            <p:nvPr/>
          </p:nvSpPr>
          <p:spPr bwMode="auto">
            <a:xfrm>
              <a:off x="870" y="1000"/>
              <a:ext cx="623" cy="19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 dirty="0">
                  <a:ln w="15875">
                    <a:solidFill>
                      <a:srgbClr val="3399FF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方正舒体"/>
                  <a:ea typeface="方正舒体"/>
                </a:rPr>
                <a:t>Question</a:t>
              </a:r>
              <a:r>
                <a:rPr lang="zh-CN" altLang="en-US" sz="3600" kern="10" dirty="0">
                  <a:ln w="15875">
                    <a:solidFill>
                      <a:srgbClr val="3399FF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方正舒体"/>
                  <a:ea typeface="方正舒体"/>
                </a:rPr>
                <a:t> </a:t>
              </a:r>
              <a:r>
                <a:rPr lang="en-US" altLang="zh-CN" sz="3600" kern="10" dirty="0">
                  <a:ln w="15875">
                    <a:solidFill>
                      <a:srgbClr val="3399FF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方正舒体"/>
                  <a:ea typeface="方正舒体"/>
                </a:rPr>
                <a:t>2</a:t>
              </a:r>
              <a:endParaRPr lang="zh-CN" altLang="en-US" sz="3600" kern="10" dirty="0">
                <a:ln w="15875">
                  <a:solidFill>
                    <a:srgbClr val="3399FF"/>
                  </a:solidFill>
                  <a:round/>
                  <a:headEnd/>
                  <a:tailEnd/>
                </a:ln>
                <a:solidFill>
                  <a:schemeClr val="tx1"/>
                </a:soli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/>
                <a:ea typeface="方正舒体"/>
              </a:endParaRPr>
            </a:p>
          </p:txBody>
        </p:sp>
        <p:grpSp>
          <p:nvGrpSpPr>
            <p:cNvPr id="8214" name="Group 83"/>
            <p:cNvGrpSpPr>
              <a:grpSpLocks/>
            </p:cNvGrpSpPr>
            <p:nvPr/>
          </p:nvGrpSpPr>
          <p:grpSpPr bwMode="auto">
            <a:xfrm>
              <a:off x="436" y="850"/>
              <a:ext cx="393" cy="372"/>
              <a:chOff x="436" y="850"/>
              <a:chExt cx="393" cy="372"/>
            </a:xfrm>
          </p:grpSpPr>
          <p:sp>
            <p:nvSpPr>
              <p:cNvPr id="331860" name="Rectangle 84"/>
              <p:cNvSpPr>
                <a:spLocks noChangeArrowheads="1"/>
              </p:cNvSpPr>
              <p:nvPr/>
            </p:nvSpPr>
            <p:spPr bwMode="auto">
              <a:xfrm>
                <a:off x="457" y="869"/>
                <a:ext cx="372" cy="353"/>
              </a:xfrm>
              <a:prstGeom prst="rect">
                <a:avLst/>
              </a:prstGeom>
              <a:solidFill>
                <a:srgbClr val="08080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pic>
            <p:nvPicPr>
              <p:cNvPr id="8216" name="Picture 85" descr="COSMIC08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6" y="853"/>
                <a:ext cx="360" cy="3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31862" name="Rectangle 86"/>
              <p:cNvSpPr>
                <a:spLocks noChangeArrowheads="1"/>
              </p:cNvSpPr>
              <p:nvPr/>
            </p:nvSpPr>
            <p:spPr bwMode="auto">
              <a:xfrm>
                <a:off x="436" y="850"/>
                <a:ext cx="362" cy="342"/>
              </a:xfrm>
              <a:prstGeom prst="rect">
                <a:avLst/>
              </a:prstGeom>
              <a:noFill/>
              <a:ln w="12700" algn="ctr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333333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331867" name="Oval 91"/>
          <p:cNvSpPr>
            <a:spLocks noChangeArrowheads="1"/>
          </p:cNvSpPr>
          <p:nvPr/>
        </p:nvSpPr>
        <p:spPr bwMode="auto">
          <a:xfrm>
            <a:off x="2835667" y="2430388"/>
            <a:ext cx="1859901" cy="546100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zh-CN">
              <a:solidFill>
                <a:srgbClr val="FF33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95AB2F-2878-4623-899A-04F03B81770C}"/>
              </a:ext>
            </a:extLst>
          </p:cNvPr>
          <p:cNvSpPr txBox="1"/>
          <p:nvPr/>
        </p:nvSpPr>
        <p:spPr>
          <a:xfrm>
            <a:off x="12627" y="798234"/>
            <a:ext cx="22765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Probability theory: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1A5F77-057F-4F77-B666-1CF12BC980EF}"/>
              </a:ext>
            </a:extLst>
          </p:cNvPr>
          <p:cNvSpPr txBox="1"/>
          <p:nvPr/>
        </p:nvSpPr>
        <p:spPr>
          <a:xfrm>
            <a:off x="1547331" y="4408512"/>
            <a:ext cx="4097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which satisfies the following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properties: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AutoShape 75">
            <a:extLst>
              <a:ext uri="{FF2B5EF4-FFF2-40B4-BE49-F238E27FC236}">
                <a16:creationId xmlns:a16="http://schemas.microsoft.com/office/drawing/2014/main" id="{B5E533D2-4983-6240-8AA5-F031CB204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2176" y="2995029"/>
            <a:ext cx="3078158" cy="489829"/>
          </a:xfrm>
          <a:prstGeom prst="wedgeRectCallout">
            <a:avLst>
              <a:gd name="adj1" fmla="val -59930"/>
              <a:gd name="adj2" fmla="val -51841"/>
            </a:avLst>
          </a:prstGeom>
          <a:solidFill>
            <a:schemeClr val="bg1"/>
          </a:solidFill>
          <a:ln w="19050">
            <a:solidFill>
              <a:schemeClr val="folHlink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Described</a:t>
            </a:r>
            <a:r>
              <a:rPr lang="zh-CN" altLang="en-US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by</a:t>
            </a:r>
            <a:r>
              <a:rPr lang="zh-CN" altLang="en-US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frequency</a:t>
            </a:r>
            <a:r>
              <a:rPr lang="zh-CN" altLang="en-US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(</a:t>
            </a:r>
            <a:r>
              <a:rPr lang="zh-CN" altLang="en-US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频率</a:t>
            </a:r>
            <a:r>
              <a:rPr lang="en-US" altLang="zh-CN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)</a:t>
            </a:r>
            <a:endParaRPr lang="en-US" altLang="en-US" sz="1700" b="1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18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18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3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1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18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18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31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318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1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3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3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31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31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837" grpId="0"/>
      <p:bldP spid="331831" grpId="0"/>
      <p:bldP spid="331833" grpId="0"/>
      <p:bldP spid="331834" grpId="0"/>
      <p:bldP spid="331838" grpId="0"/>
      <p:bldP spid="331850" grpId="0"/>
      <p:bldP spid="331867" grpId="0" animBg="1"/>
      <p:bldP spid="3" grpId="0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50" name="Text Box 50"/>
          <p:cNvSpPr txBox="1">
            <a:spLocks noChangeArrowheads="1"/>
          </p:cNvSpPr>
          <p:nvPr/>
        </p:nvSpPr>
        <p:spPr bwMode="auto">
          <a:xfrm>
            <a:off x="1108365" y="5946150"/>
            <a:ext cx="64989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l" fontAlgn="ctr">
              <a:defRPr/>
            </a:pP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Is there any statistical regularity for Frequency?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2873" name="Rectangle 73"/>
          <p:cNvSpPr>
            <a:spLocks noChangeArrowheads="1"/>
          </p:cNvSpPr>
          <p:nvPr/>
        </p:nvSpPr>
        <p:spPr bwMode="auto">
          <a:xfrm>
            <a:off x="431518" y="1091072"/>
            <a:ext cx="414048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Suppose </a:t>
            </a:r>
            <a:r>
              <a:rPr lang="en-US" altLang="zh-CN" sz="22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is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 random event</a:t>
            </a:r>
            <a:endParaRPr lang="zh-CN" altLang="en-US" sz="22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2878" name="Text Box 78"/>
          <p:cNvSpPr txBox="1">
            <a:spLocks noChangeArrowheads="1"/>
          </p:cNvSpPr>
          <p:nvPr/>
        </p:nvSpPr>
        <p:spPr bwMode="auto">
          <a:xfrm>
            <a:off x="4125524" y="1131366"/>
            <a:ext cx="472727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and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we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have</a:t>
            </a:r>
            <a:r>
              <a:rPr lang="en-US" altLang="zh-CN" sz="2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en-US" altLang="zh-CN" sz="2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repeating experiments.</a:t>
            </a:r>
            <a:endParaRPr lang="zh-CN" altLang="en-US" sz="22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2886" name="Text Box 86"/>
              <p:cNvSpPr txBox="1">
                <a:spLocks noChangeArrowheads="1"/>
              </p:cNvSpPr>
              <p:nvPr/>
            </p:nvSpPr>
            <p:spPr bwMode="auto">
              <a:xfrm>
                <a:off x="1108188" y="1578493"/>
                <a:ext cx="722935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22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𝐴</m:t>
                        </m:r>
                      </m:sub>
                    </m:sSub>
                    <m:r>
                      <a:rPr lang="en-US" altLang="zh-CN" sz="22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 Math"/>
                        <a:ea typeface="华文新魏" panose="02010800040101010101" pitchFamily="2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solidFill>
                          <a:schemeClr val="tx1"/>
                        </a:solidFill>
                        <a:effectLst/>
                        <a:latin typeface="Cambria Math"/>
                        <a:ea typeface="华文新魏" panose="02010800040101010101" pitchFamily="2" charset="-122"/>
                      </a:rPr>
                      <m:t>is</m:t>
                    </m:r>
                    <m:r>
                      <a:rPr lang="en-US" altLang="zh-CN" sz="2200" b="0" i="0" smtClean="0">
                        <a:solidFill>
                          <a:schemeClr val="tx1"/>
                        </a:solidFill>
                        <a:effectLst/>
                        <a:latin typeface="Cambria Math"/>
                        <a:ea typeface="华文新魏" panose="02010800040101010101" pitchFamily="2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solidFill>
                          <a:schemeClr val="tx1"/>
                        </a:solidFill>
                        <a:effectLst/>
                        <a:latin typeface="Cambria Math"/>
                        <a:ea typeface="华文新魏" panose="02010800040101010101" pitchFamily="2" charset="-122"/>
                      </a:rPr>
                      <m:t>t</m:t>
                    </m:r>
                  </m:oMath>
                </a14:m>
                <a:r>
                  <a:rPr lang="en-US" altLang="zh-CN" sz="22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he number that </a:t>
                </a:r>
                <a:r>
                  <a:rPr lang="en-US" altLang="zh-CN" sz="2200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  <a:r>
                  <a:rPr lang="en-US" altLang="zh-CN" sz="22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happened 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out</a:t>
                </a:r>
                <a:r>
                  <a:rPr lang="zh-CN" altLang="en-US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of</a:t>
                </a:r>
                <a:r>
                  <a:rPr lang="en-US" altLang="zh-CN" sz="22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 </a:t>
                </a:r>
                <a:r>
                  <a:rPr lang="en-US" altLang="zh-CN" sz="2200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 </a:t>
                </a:r>
                <a:r>
                  <a:rPr lang="en-US" altLang="zh-CN" sz="22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experiments    </a:t>
                </a:r>
                <a:endParaRPr lang="zh-CN" altLang="en-US" sz="2200" dirty="0">
                  <a:solidFill>
                    <a:schemeClr val="tx1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32886" name="Text 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08188" y="1578493"/>
                <a:ext cx="7229356" cy="338554"/>
              </a:xfrm>
              <a:prstGeom prst="rect">
                <a:avLst/>
              </a:prstGeom>
              <a:blipFill>
                <a:blip r:embed="rId3"/>
                <a:stretch>
                  <a:fillRect l="-877" t="-25926" r="-4386" b="-4814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862" name="Text Box 62"/>
              <p:cNvSpPr txBox="1">
                <a:spLocks noChangeArrowheads="1"/>
              </p:cNvSpPr>
              <p:nvPr/>
            </p:nvSpPr>
            <p:spPr bwMode="auto">
              <a:xfrm>
                <a:off x="1482847" y="4762211"/>
                <a:ext cx="491193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fontAlgn="ctr">
                  <a:defRPr/>
                </a:pP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</a:t>
                </a:r>
                <a:r>
                  <a:rPr lang="en-US" altLang="zh-CN" sz="22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effectLst/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altLang="zh-CN" sz="2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200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sz="22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would</a:t>
                </a:r>
                <a:r>
                  <a:rPr lang="zh-CN" altLang="en-US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be</a:t>
                </a:r>
                <a:r>
                  <a:rPr lang="en-US" altLang="zh-CN" sz="22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larger as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𝑛</m:t>
                    </m:r>
                  </m:oMath>
                </a14:m>
                <a:r>
                  <a:rPr lang="en-US" altLang="zh-CN" sz="22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increases    </a:t>
                </a:r>
                <a:endParaRPr lang="zh-CN" altLang="en-US" sz="2200" dirty="0">
                  <a:solidFill>
                    <a:schemeClr val="tx1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32862" name="Text 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2847" y="4762211"/>
                <a:ext cx="4911936" cy="338554"/>
              </a:xfrm>
              <a:prstGeom prst="rect">
                <a:avLst/>
              </a:prstGeom>
              <a:blipFill>
                <a:blip r:embed="rId4"/>
                <a:stretch>
                  <a:fillRect l="-3351" t="-21429" b="-428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917" name="Text Box 117"/>
              <p:cNvSpPr txBox="1">
                <a:spLocks noChangeArrowheads="1"/>
              </p:cNvSpPr>
              <p:nvPr/>
            </p:nvSpPr>
            <p:spPr bwMode="auto">
              <a:xfrm>
                <a:off x="1482847" y="4274532"/>
                <a:ext cx="5855833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.</a:t>
                </a:r>
                <a:r>
                  <a:rPr lang="zh-CN" altLang="en-US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200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effectLst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200" i="1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sz="22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22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2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: their values are</a:t>
                </a:r>
                <a:r>
                  <a:rPr lang="zh-CN" altLang="en-US" sz="22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“</a:t>
                </a:r>
                <a:r>
                  <a:rPr lang="en-US" altLang="zh-CN" sz="22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random</a:t>
                </a:r>
                <a:r>
                  <a:rPr lang="zh-CN" altLang="en-US" sz="22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”</a:t>
                </a:r>
              </a:p>
            </p:txBody>
          </p:sp>
        </mc:Choice>
        <mc:Fallback xmlns="">
          <p:sp>
            <p:nvSpPr>
              <p:cNvPr id="332917" name="Text Box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2847" y="4274532"/>
                <a:ext cx="5855833" cy="338554"/>
              </a:xfrm>
              <a:prstGeom prst="rect">
                <a:avLst/>
              </a:prstGeom>
              <a:blipFill>
                <a:blip r:embed="rId5"/>
                <a:stretch>
                  <a:fillRect l="-2814" t="-25000" b="-428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2926" name="Group 126"/>
          <p:cNvGrpSpPr>
            <a:grpSpLocks/>
          </p:cNvGrpSpPr>
          <p:nvPr/>
        </p:nvGrpSpPr>
        <p:grpSpPr bwMode="auto">
          <a:xfrm>
            <a:off x="222731" y="5892453"/>
            <a:ext cx="763587" cy="440055"/>
            <a:chOff x="581" y="1694"/>
            <a:chExt cx="481" cy="252"/>
          </a:xfrm>
        </p:grpSpPr>
        <p:pic>
          <p:nvPicPr>
            <p:cNvPr id="9239" name="Picture 127" descr="4"/>
            <p:cNvPicPr>
              <a:picLocks noChangeAspect="1" noChangeArrowheads="1" noCrop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" y="1715"/>
              <a:ext cx="36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40" name="WordArt 128"/>
            <p:cNvSpPr>
              <a:spLocks noChangeArrowheads="1" noChangeShapeType="1" noTextEdit="1"/>
            </p:cNvSpPr>
            <p:nvPr/>
          </p:nvSpPr>
          <p:spPr bwMode="auto">
            <a:xfrm>
              <a:off x="808" y="1694"/>
              <a:ext cx="254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 dirty="0"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华文新魏"/>
                  <a:ea typeface="华文新魏"/>
                </a:rPr>
                <a:t>？</a:t>
              </a:r>
            </a:p>
          </p:txBody>
        </p:sp>
      </p:grpSp>
      <p:sp>
        <p:nvSpPr>
          <p:cNvPr id="332929" name="WordArt 129"/>
          <p:cNvSpPr>
            <a:spLocks noChangeArrowheads="1" noChangeShapeType="1" noTextEdit="1"/>
          </p:cNvSpPr>
          <p:nvPr/>
        </p:nvSpPr>
        <p:spPr bwMode="auto">
          <a:xfrm>
            <a:off x="4665669" y="6238213"/>
            <a:ext cx="209550" cy="29162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endParaRPr lang="zh-CN" altLang="en-US" sz="3600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/>
              <a:ea typeface="黑体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E81A1F-A8D7-486E-9110-2F0617F8A01C}"/>
              </a:ext>
            </a:extLst>
          </p:cNvPr>
          <p:cNvSpPr txBox="1"/>
          <p:nvPr/>
        </p:nvSpPr>
        <p:spPr>
          <a:xfrm>
            <a:off x="2890012" y="669701"/>
            <a:ext cx="3363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FREQUENCY (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频率</a:t>
            </a:r>
            <a:r>
              <a:rPr lang="en-GB" altLang="zh-CN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A9BBF01-2A21-432E-B869-C77A92DC97FB}"/>
                  </a:ext>
                </a:extLst>
              </p:cNvPr>
              <p:cNvSpPr txBox="1"/>
              <p:nvPr/>
            </p:nvSpPr>
            <p:spPr>
              <a:xfrm>
                <a:off x="3608353" y="2004359"/>
                <a:ext cx="1900793" cy="5798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 </m:t>
                          </m:r>
                          <m:r>
                            <a:rPr lang="en-US" altLang="zh-CN" sz="2200" i="1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200" i="1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200" i="1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200" i="1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𝐴</m:t>
                          </m:r>
                        </m:e>
                      </m:d>
                      <m:r>
                        <a:rPr lang="en-US" altLang="zh-CN" sz="2200" i="1"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200" i="1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200" i="1">
                                  <a:effectLst/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effectLst/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200" i="1">
                                  <a:effectLst/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200" i="1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2200" dirty="0">
                  <a:effectLst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A9BBF01-2A21-432E-B869-C77A92DC9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353" y="2004359"/>
                <a:ext cx="1900793" cy="579839"/>
              </a:xfrm>
              <a:prstGeom prst="rect">
                <a:avLst/>
              </a:prstGeom>
              <a:blipFill>
                <a:blip r:embed="rId7"/>
                <a:stretch>
                  <a:fillRect t="-2128" b="-851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876D4FC-6A3F-444C-B2C8-875DF4FFA689}"/>
                  </a:ext>
                </a:extLst>
              </p:cNvPr>
              <p:cNvSpPr txBox="1"/>
              <p:nvPr/>
            </p:nvSpPr>
            <p:spPr>
              <a:xfrm>
                <a:off x="2212460" y="2662233"/>
                <a:ext cx="488435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zh-CN" altLang="en-US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is called the</a:t>
                </a:r>
                <a:r>
                  <a:rPr lang="zh-CN" altLang="en-US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Frequency count</a:t>
                </a:r>
                <a:r>
                  <a:rPr lang="zh-CN" altLang="en-US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</a:t>
                </a:r>
                <a:r>
                  <a:rPr lang="zh-CN" altLang="en-US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频数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)</a:t>
                </a:r>
                <a:endParaRPr lang="zh-CN" altLang="en-US" sz="22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876D4FC-6A3F-444C-B2C8-875DF4FFA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460" y="2662233"/>
                <a:ext cx="4884350" cy="430887"/>
              </a:xfrm>
              <a:prstGeom prst="rect">
                <a:avLst/>
              </a:prstGeom>
              <a:blipFill>
                <a:blip r:embed="rId8"/>
                <a:stretch>
                  <a:fillRect t="-8571" r="-779" b="-2571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C8F7F4B-5AB2-4D42-8ED3-30C1FD8F9697}"/>
                  </a:ext>
                </a:extLst>
              </p:cNvPr>
              <p:cNvSpPr txBox="1"/>
              <p:nvPr/>
            </p:nvSpPr>
            <p:spPr>
              <a:xfrm>
                <a:off x="2416325" y="3068875"/>
                <a:ext cx="448135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sz="2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is called the </a:t>
                </a:r>
                <a:r>
                  <a:rPr lang="en-US" altLang="zh-CN" sz="22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Frequency(</a:t>
                </a:r>
                <a:r>
                  <a:rPr lang="zh-CN" altLang="en-US" sz="22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频率</a:t>
                </a:r>
                <a:r>
                  <a:rPr lang="en-US" altLang="zh-CN" sz="22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)</a:t>
                </a:r>
                <a:endParaRPr lang="zh-CN" altLang="en-US" sz="22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C8F7F4B-5AB2-4D42-8ED3-30C1FD8F9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325" y="3068875"/>
                <a:ext cx="4481355" cy="430887"/>
              </a:xfrm>
              <a:prstGeom prst="rect">
                <a:avLst/>
              </a:prstGeom>
              <a:blipFill>
                <a:blip r:embed="rId9"/>
                <a:stretch>
                  <a:fillRect l="-847" t="-8571" b="-2571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96CF4A4-D97D-4FD2-B938-3905F8B1106A}"/>
                  </a:ext>
                </a:extLst>
              </p:cNvPr>
              <p:cNvSpPr txBox="1"/>
              <p:nvPr/>
            </p:nvSpPr>
            <p:spPr>
              <a:xfrm>
                <a:off x="1380042" y="5242628"/>
                <a:ext cx="220509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3.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)≤1</m:t>
                    </m:r>
                  </m:oMath>
                </a14:m>
                <a:endParaRPr lang="zh-CN" altLang="en-US" sz="22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96CF4A4-D97D-4FD2-B938-3905F8B11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042" y="5242628"/>
                <a:ext cx="2205091" cy="430887"/>
              </a:xfrm>
              <a:prstGeom prst="rect">
                <a:avLst/>
              </a:prstGeom>
              <a:blipFill>
                <a:blip r:embed="rId10"/>
                <a:stretch>
                  <a:fillRect l="-3429" t="-8571" b="-2571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CC01CE03-A86A-48FB-9EFC-5064E22819D6}"/>
              </a:ext>
            </a:extLst>
          </p:cNvPr>
          <p:cNvSpPr/>
          <p:nvPr/>
        </p:nvSpPr>
        <p:spPr>
          <a:xfrm>
            <a:off x="1214690" y="3763955"/>
            <a:ext cx="146867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In general,</a:t>
            </a:r>
            <a:endParaRPr lang="en-GB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2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2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3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2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32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2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3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50" grpId="0"/>
      <p:bldP spid="332873" grpId="0"/>
      <p:bldP spid="332878" grpId="0"/>
      <p:bldP spid="332886" grpId="0"/>
      <p:bldP spid="332862" grpId="0"/>
      <p:bldP spid="332917" grpId="0"/>
      <p:bldP spid="3" grpId="0"/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Line 2"/>
          <p:cNvSpPr>
            <a:spLocks noChangeShapeType="1"/>
          </p:cNvSpPr>
          <p:nvPr/>
        </p:nvSpPr>
        <p:spPr bwMode="auto">
          <a:xfrm>
            <a:off x="412745" y="3678245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9363" name="Line 3"/>
          <p:cNvSpPr>
            <a:spLocks noChangeShapeType="1"/>
          </p:cNvSpPr>
          <p:nvPr/>
        </p:nvSpPr>
        <p:spPr bwMode="auto">
          <a:xfrm>
            <a:off x="8477245" y="3678245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9364" name="Line 4"/>
          <p:cNvSpPr>
            <a:spLocks noChangeShapeType="1"/>
          </p:cNvSpPr>
          <p:nvPr/>
        </p:nvSpPr>
        <p:spPr bwMode="auto">
          <a:xfrm>
            <a:off x="412745" y="4195770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9365" name="Line 5"/>
          <p:cNvSpPr>
            <a:spLocks noChangeShapeType="1"/>
          </p:cNvSpPr>
          <p:nvPr/>
        </p:nvSpPr>
        <p:spPr bwMode="auto">
          <a:xfrm>
            <a:off x="8477245" y="4195770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9366" name="Line 6"/>
          <p:cNvSpPr>
            <a:spLocks noChangeShapeType="1"/>
          </p:cNvSpPr>
          <p:nvPr/>
        </p:nvSpPr>
        <p:spPr bwMode="auto">
          <a:xfrm>
            <a:off x="412745" y="4713295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9367" name="Line 7"/>
          <p:cNvSpPr>
            <a:spLocks noChangeShapeType="1"/>
          </p:cNvSpPr>
          <p:nvPr/>
        </p:nvSpPr>
        <p:spPr bwMode="auto">
          <a:xfrm>
            <a:off x="8477245" y="4713295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9368" name="Line 8"/>
          <p:cNvSpPr>
            <a:spLocks noChangeShapeType="1"/>
          </p:cNvSpPr>
          <p:nvPr/>
        </p:nvSpPr>
        <p:spPr bwMode="auto">
          <a:xfrm>
            <a:off x="412745" y="5230820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9369" name="Line 9"/>
          <p:cNvSpPr>
            <a:spLocks noChangeShapeType="1"/>
          </p:cNvSpPr>
          <p:nvPr/>
        </p:nvSpPr>
        <p:spPr bwMode="auto">
          <a:xfrm>
            <a:off x="8477245" y="5230820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9370" name="Line 10"/>
          <p:cNvSpPr>
            <a:spLocks noChangeShapeType="1"/>
          </p:cNvSpPr>
          <p:nvPr/>
        </p:nvSpPr>
        <p:spPr bwMode="auto">
          <a:xfrm>
            <a:off x="412745" y="5748345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9371" name="Line 11"/>
          <p:cNvSpPr>
            <a:spLocks noChangeShapeType="1"/>
          </p:cNvSpPr>
          <p:nvPr/>
        </p:nvSpPr>
        <p:spPr bwMode="auto">
          <a:xfrm>
            <a:off x="8477245" y="5748345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99419" name="Group 59"/>
          <p:cNvGrpSpPr>
            <a:grpSpLocks/>
          </p:cNvGrpSpPr>
          <p:nvPr/>
        </p:nvGrpSpPr>
        <p:grpSpPr bwMode="auto">
          <a:xfrm>
            <a:off x="425445" y="3336932"/>
            <a:ext cx="8064500" cy="2601913"/>
            <a:chOff x="340" y="1798"/>
            <a:chExt cx="5080" cy="1639"/>
          </a:xfrm>
        </p:grpSpPr>
        <p:sp>
          <p:nvSpPr>
            <p:cNvPr id="399372" name="Rectangle 12"/>
            <p:cNvSpPr>
              <a:spLocks noChangeArrowheads="1"/>
            </p:cNvSpPr>
            <p:nvPr/>
          </p:nvSpPr>
          <p:spPr bwMode="auto">
            <a:xfrm>
              <a:off x="4286" y="1807"/>
              <a:ext cx="1134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zh-CN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99373" name="Rectangle 13"/>
            <p:cNvSpPr>
              <a:spLocks noChangeArrowheads="1"/>
            </p:cNvSpPr>
            <p:nvPr/>
          </p:nvSpPr>
          <p:spPr bwMode="auto">
            <a:xfrm>
              <a:off x="3061" y="1807"/>
              <a:ext cx="1225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zh-CN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99374" name="Rectangle 14"/>
            <p:cNvSpPr>
              <a:spLocks noChangeArrowheads="1"/>
            </p:cNvSpPr>
            <p:nvPr/>
          </p:nvSpPr>
          <p:spPr bwMode="auto">
            <a:xfrm>
              <a:off x="1791" y="1807"/>
              <a:ext cx="1270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zh-CN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99395" name="Rectangle 35"/>
            <p:cNvSpPr>
              <a:spLocks noChangeArrowheads="1"/>
            </p:cNvSpPr>
            <p:nvPr/>
          </p:nvSpPr>
          <p:spPr bwMode="auto">
            <a:xfrm>
              <a:off x="637" y="1830"/>
              <a:ext cx="1045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dirty="0">
                  <a:latin typeface="Times New Roman" pitchFamily="18" charset="0"/>
                </a:rPr>
                <a:t>Experimenter</a:t>
              </a:r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399396" name="Line 36"/>
            <p:cNvSpPr>
              <a:spLocks noChangeShapeType="1"/>
            </p:cNvSpPr>
            <p:nvPr/>
          </p:nvSpPr>
          <p:spPr bwMode="auto">
            <a:xfrm>
              <a:off x="340" y="1807"/>
              <a:ext cx="50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99397" name="Line 37"/>
            <p:cNvSpPr>
              <a:spLocks noChangeShapeType="1"/>
            </p:cNvSpPr>
            <p:nvPr/>
          </p:nvSpPr>
          <p:spPr bwMode="auto">
            <a:xfrm>
              <a:off x="340" y="3437"/>
              <a:ext cx="50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99398" name="Line 38"/>
            <p:cNvSpPr>
              <a:spLocks noChangeShapeType="1"/>
            </p:cNvSpPr>
            <p:nvPr/>
          </p:nvSpPr>
          <p:spPr bwMode="auto">
            <a:xfrm>
              <a:off x="340" y="2133"/>
              <a:ext cx="5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99399" name="Line 39"/>
            <p:cNvSpPr>
              <a:spLocks noChangeShapeType="1"/>
            </p:cNvSpPr>
            <p:nvPr/>
          </p:nvSpPr>
          <p:spPr bwMode="auto">
            <a:xfrm>
              <a:off x="340" y="2459"/>
              <a:ext cx="5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99400" name="Line 40"/>
            <p:cNvSpPr>
              <a:spLocks noChangeShapeType="1"/>
            </p:cNvSpPr>
            <p:nvPr/>
          </p:nvSpPr>
          <p:spPr bwMode="auto">
            <a:xfrm>
              <a:off x="340" y="2785"/>
              <a:ext cx="5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99401" name="Line 41"/>
            <p:cNvSpPr>
              <a:spLocks noChangeShapeType="1"/>
            </p:cNvSpPr>
            <p:nvPr/>
          </p:nvSpPr>
          <p:spPr bwMode="auto">
            <a:xfrm>
              <a:off x="340" y="3111"/>
              <a:ext cx="5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99402" name="Line 42"/>
            <p:cNvSpPr>
              <a:spLocks noChangeShapeType="1"/>
            </p:cNvSpPr>
            <p:nvPr/>
          </p:nvSpPr>
          <p:spPr bwMode="auto">
            <a:xfrm>
              <a:off x="1791" y="1807"/>
              <a:ext cx="0" cy="16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99403" name="Line 43"/>
            <p:cNvSpPr>
              <a:spLocks noChangeShapeType="1"/>
            </p:cNvSpPr>
            <p:nvPr/>
          </p:nvSpPr>
          <p:spPr bwMode="auto">
            <a:xfrm>
              <a:off x="3061" y="1807"/>
              <a:ext cx="0" cy="16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99404" name="Line 44"/>
            <p:cNvSpPr>
              <a:spLocks noChangeShapeType="1"/>
            </p:cNvSpPr>
            <p:nvPr/>
          </p:nvSpPr>
          <p:spPr bwMode="auto">
            <a:xfrm>
              <a:off x="4286" y="1807"/>
              <a:ext cx="0" cy="16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10304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219448"/>
                </p:ext>
              </p:extLst>
            </p:nvPr>
          </p:nvGraphicFramePr>
          <p:xfrm>
            <a:off x="2337" y="1871"/>
            <a:ext cx="213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76123" imgH="85839" progId="Equation.DSMT4">
                    <p:embed/>
                  </p:oleObj>
                </mc:Choice>
                <mc:Fallback>
                  <p:oleObj name="Equation" r:id="rId3" imgW="76123" imgH="85839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7" y="1871"/>
                          <a:ext cx="213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05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0971871"/>
                </p:ext>
              </p:extLst>
            </p:nvPr>
          </p:nvGraphicFramePr>
          <p:xfrm>
            <a:off x="3549" y="1798"/>
            <a:ext cx="331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42799" imgH="142795" progId="Equation.DSMT4">
                    <p:embed/>
                  </p:oleObj>
                </mc:Choice>
                <mc:Fallback>
                  <p:oleObj name="Equation" r:id="rId5" imgW="142799" imgH="142795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9" y="1798"/>
                          <a:ext cx="331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06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4975372"/>
                </p:ext>
              </p:extLst>
            </p:nvPr>
          </p:nvGraphicFramePr>
          <p:xfrm>
            <a:off x="4539" y="1834"/>
            <a:ext cx="56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33377" imgH="152512" progId="Equation.DSMT4">
                    <p:embed/>
                  </p:oleObj>
                </mc:Choice>
                <mc:Fallback>
                  <p:oleObj name="Equation" r:id="rId7" imgW="333377" imgH="152512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9" y="1834"/>
                          <a:ext cx="565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417" name="WordArt 57"/>
          <p:cNvSpPr>
            <a:spLocks noChangeArrowheads="1" noChangeShapeType="1" noTextEdit="1"/>
          </p:cNvSpPr>
          <p:nvPr/>
        </p:nvSpPr>
        <p:spPr bwMode="auto">
          <a:xfrm>
            <a:off x="2586033" y="2851157"/>
            <a:ext cx="3910012" cy="2905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solidFill>
                  <a:schemeClr val="tx1"/>
                </a:soli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/>
                <a:ea typeface="方正舒体"/>
              </a:rPr>
              <a:t>The</a:t>
            </a:r>
            <a:r>
              <a:rPr lang="zh-CN" altLang="en-US" sz="3600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solidFill>
                  <a:schemeClr val="tx1"/>
                </a:soli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/>
                <a:ea typeface="方正舒体"/>
              </a:rPr>
              <a:t> </a:t>
            </a:r>
            <a:r>
              <a:rPr lang="en-US" altLang="zh-CN" sz="3600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solidFill>
                  <a:schemeClr val="tx1"/>
                </a:soli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/>
                <a:ea typeface="方正舒体"/>
              </a:rPr>
              <a:t>famous</a:t>
            </a:r>
            <a:r>
              <a:rPr lang="zh-CN" altLang="en-US" sz="3600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solidFill>
                  <a:schemeClr val="tx1"/>
                </a:soli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/>
                <a:ea typeface="方正舒体"/>
              </a:rPr>
              <a:t> </a:t>
            </a:r>
            <a:r>
              <a:rPr lang="en-US" altLang="zh-CN" sz="3600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solidFill>
                  <a:schemeClr val="tx1"/>
                </a:soli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/>
                <a:ea typeface="方正舒体"/>
              </a:rPr>
              <a:t>experiments</a:t>
            </a:r>
            <a:endParaRPr lang="zh-CN" altLang="en-US" sz="3600" kern="10" dirty="0">
              <a:ln w="12700">
                <a:solidFill>
                  <a:srgbClr val="3399FF"/>
                </a:solidFill>
                <a:round/>
                <a:headEnd/>
                <a:tailEnd/>
              </a:ln>
              <a:solidFill>
                <a:schemeClr val="tx1"/>
              </a:solidFill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/>
              <a:ea typeface="方正舒体"/>
            </a:endParaRPr>
          </a:p>
        </p:txBody>
      </p:sp>
      <p:grpSp>
        <p:nvGrpSpPr>
          <p:cNvPr id="399420" name="Group 60"/>
          <p:cNvGrpSpPr>
            <a:grpSpLocks/>
          </p:cNvGrpSpPr>
          <p:nvPr/>
        </p:nvGrpSpPr>
        <p:grpSpPr bwMode="auto">
          <a:xfrm>
            <a:off x="920745" y="5421324"/>
            <a:ext cx="7159626" cy="566738"/>
            <a:chOff x="652" y="3111"/>
            <a:chExt cx="4510" cy="357"/>
          </a:xfrm>
        </p:grpSpPr>
        <p:sp>
          <p:nvSpPr>
            <p:cNvPr id="399421" name="Rectangle 61"/>
            <p:cNvSpPr>
              <a:spLocks noChangeArrowheads="1"/>
            </p:cNvSpPr>
            <p:nvPr/>
          </p:nvSpPr>
          <p:spPr bwMode="auto">
            <a:xfrm>
              <a:off x="4449" y="3134"/>
              <a:ext cx="713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  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0.5005</a:t>
              </a:r>
            </a:p>
          </p:txBody>
        </p:sp>
        <p:sp>
          <p:nvSpPr>
            <p:cNvPr id="399422" name="Rectangle 62"/>
            <p:cNvSpPr>
              <a:spLocks noChangeArrowheads="1"/>
            </p:cNvSpPr>
            <p:nvPr/>
          </p:nvSpPr>
          <p:spPr bwMode="auto">
            <a:xfrm>
              <a:off x="3255" y="3142"/>
              <a:ext cx="782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    12012</a:t>
              </a:r>
            </a:p>
          </p:txBody>
        </p:sp>
        <p:sp>
          <p:nvSpPr>
            <p:cNvPr id="399423" name="Rectangle 63"/>
            <p:cNvSpPr>
              <a:spLocks noChangeArrowheads="1"/>
            </p:cNvSpPr>
            <p:nvPr/>
          </p:nvSpPr>
          <p:spPr bwMode="auto">
            <a:xfrm>
              <a:off x="2040" y="3142"/>
              <a:ext cx="782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    24000</a:t>
              </a:r>
            </a:p>
          </p:txBody>
        </p:sp>
        <p:sp>
          <p:nvSpPr>
            <p:cNvPr id="399424" name="Rectangle 64"/>
            <p:cNvSpPr>
              <a:spLocks noChangeArrowheads="1"/>
            </p:cNvSpPr>
            <p:nvPr/>
          </p:nvSpPr>
          <p:spPr bwMode="auto">
            <a:xfrm>
              <a:off x="652" y="3111"/>
              <a:ext cx="1115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rPr>
                <a:t>Pearson</a:t>
              </a:r>
              <a:endParaRPr lang="zh-CN" altLang="en-US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99425" name="Group 65"/>
          <p:cNvGrpSpPr>
            <a:grpSpLocks/>
          </p:cNvGrpSpPr>
          <p:nvPr/>
        </p:nvGrpSpPr>
        <p:grpSpPr bwMode="auto">
          <a:xfrm>
            <a:off x="933445" y="4903799"/>
            <a:ext cx="7326313" cy="576263"/>
            <a:chOff x="660" y="2785"/>
            <a:chExt cx="4615" cy="363"/>
          </a:xfrm>
        </p:grpSpPr>
        <p:sp>
          <p:nvSpPr>
            <p:cNvPr id="399426" name="Rectangle 66"/>
            <p:cNvSpPr>
              <a:spLocks noChangeArrowheads="1"/>
            </p:cNvSpPr>
            <p:nvPr/>
          </p:nvSpPr>
          <p:spPr bwMode="auto">
            <a:xfrm>
              <a:off x="4457" y="2816"/>
              <a:ext cx="81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   0.5016</a:t>
              </a:r>
            </a:p>
          </p:txBody>
        </p:sp>
        <p:sp>
          <p:nvSpPr>
            <p:cNvPr id="399427" name="Rectangle 67"/>
            <p:cNvSpPr>
              <a:spLocks noChangeArrowheads="1"/>
            </p:cNvSpPr>
            <p:nvPr/>
          </p:nvSpPr>
          <p:spPr bwMode="auto">
            <a:xfrm>
              <a:off x="3264" y="2822"/>
              <a:ext cx="81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    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6019</a:t>
              </a:r>
            </a:p>
          </p:txBody>
        </p:sp>
        <p:sp>
          <p:nvSpPr>
            <p:cNvPr id="399428" name="Rectangle 68"/>
            <p:cNvSpPr>
              <a:spLocks noChangeArrowheads="1"/>
            </p:cNvSpPr>
            <p:nvPr/>
          </p:nvSpPr>
          <p:spPr bwMode="auto">
            <a:xfrm>
              <a:off x="2025" y="2816"/>
              <a:ext cx="904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   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12000</a:t>
              </a:r>
            </a:p>
          </p:txBody>
        </p:sp>
        <p:sp>
          <p:nvSpPr>
            <p:cNvPr id="399429" name="Rectangle 69"/>
            <p:cNvSpPr>
              <a:spLocks noChangeArrowheads="1"/>
            </p:cNvSpPr>
            <p:nvPr/>
          </p:nvSpPr>
          <p:spPr bwMode="auto">
            <a:xfrm>
              <a:off x="660" y="2785"/>
              <a:ext cx="1219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rPr>
                <a:t>Pearson</a:t>
              </a:r>
              <a:endParaRPr lang="zh-CN" altLang="en-US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99430" name="Group 70"/>
          <p:cNvGrpSpPr>
            <a:grpSpLocks/>
          </p:cNvGrpSpPr>
          <p:nvPr/>
        </p:nvGrpSpPr>
        <p:grpSpPr bwMode="auto">
          <a:xfrm>
            <a:off x="882645" y="4386273"/>
            <a:ext cx="7475538" cy="573088"/>
            <a:chOff x="628" y="2459"/>
            <a:chExt cx="4709" cy="361"/>
          </a:xfrm>
        </p:grpSpPr>
        <p:sp>
          <p:nvSpPr>
            <p:cNvPr id="399431" name="Rectangle 71"/>
            <p:cNvSpPr>
              <a:spLocks noChangeArrowheads="1"/>
            </p:cNvSpPr>
            <p:nvPr/>
          </p:nvSpPr>
          <p:spPr bwMode="auto">
            <a:xfrm>
              <a:off x="4459" y="2482"/>
              <a:ext cx="87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  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0.5069</a:t>
              </a:r>
            </a:p>
          </p:txBody>
        </p:sp>
        <p:sp>
          <p:nvSpPr>
            <p:cNvPr id="399432" name="Rectangle 72"/>
            <p:cNvSpPr>
              <a:spLocks noChangeArrowheads="1"/>
            </p:cNvSpPr>
            <p:nvPr/>
          </p:nvSpPr>
          <p:spPr bwMode="auto">
            <a:xfrm>
              <a:off x="3279" y="2494"/>
              <a:ext cx="81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     2048</a:t>
              </a:r>
            </a:p>
          </p:txBody>
        </p:sp>
        <p:sp>
          <p:nvSpPr>
            <p:cNvPr id="399433" name="Rectangle 73"/>
            <p:cNvSpPr>
              <a:spLocks noChangeArrowheads="1"/>
            </p:cNvSpPr>
            <p:nvPr/>
          </p:nvSpPr>
          <p:spPr bwMode="auto">
            <a:xfrm>
              <a:off x="2047" y="2490"/>
              <a:ext cx="759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    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4048</a:t>
              </a:r>
            </a:p>
          </p:txBody>
        </p:sp>
        <p:sp>
          <p:nvSpPr>
            <p:cNvPr id="399434" name="Rectangle 74"/>
            <p:cNvSpPr>
              <a:spLocks noChangeArrowheads="1"/>
            </p:cNvSpPr>
            <p:nvPr/>
          </p:nvSpPr>
          <p:spPr bwMode="auto">
            <a:xfrm>
              <a:off x="628" y="2459"/>
              <a:ext cx="1099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rPr>
                <a:t> Buffon</a:t>
              </a:r>
              <a:endParaRPr lang="zh-CN" altLang="en-US" sz="2000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99435" name="Group 75"/>
          <p:cNvGrpSpPr>
            <a:grpSpLocks/>
          </p:cNvGrpSpPr>
          <p:nvPr/>
        </p:nvGrpSpPr>
        <p:grpSpPr bwMode="auto">
          <a:xfrm>
            <a:off x="425445" y="3868745"/>
            <a:ext cx="7658102" cy="517525"/>
            <a:chOff x="340" y="2133"/>
            <a:chExt cx="4824" cy="326"/>
          </a:xfrm>
        </p:grpSpPr>
        <p:sp>
          <p:nvSpPr>
            <p:cNvPr id="399436" name="Rectangle 76"/>
            <p:cNvSpPr>
              <a:spLocks noChangeArrowheads="1"/>
            </p:cNvSpPr>
            <p:nvPr/>
          </p:nvSpPr>
          <p:spPr bwMode="auto">
            <a:xfrm>
              <a:off x="4459" y="2133"/>
              <a:ext cx="705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   0.5181</a:t>
              </a:r>
            </a:p>
          </p:txBody>
        </p:sp>
        <p:sp>
          <p:nvSpPr>
            <p:cNvPr id="399437" name="Rectangle 77"/>
            <p:cNvSpPr>
              <a:spLocks noChangeArrowheads="1"/>
            </p:cNvSpPr>
            <p:nvPr/>
          </p:nvSpPr>
          <p:spPr bwMode="auto">
            <a:xfrm>
              <a:off x="3279" y="2133"/>
              <a:ext cx="81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     1061</a:t>
              </a:r>
            </a:p>
          </p:txBody>
        </p:sp>
        <p:sp>
          <p:nvSpPr>
            <p:cNvPr id="399438" name="Rectangle 78"/>
            <p:cNvSpPr>
              <a:spLocks noChangeArrowheads="1"/>
            </p:cNvSpPr>
            <p:nvPr/>
          </p:nvSpPr>
          <p:spPr bwMode="auto">
            <a:xfrm>
              <a:off x="2066" y="2133"/>
              <a:ext cx="687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     2048</a:t>
              </a:r>
            </a:p>
          </p:txBody>
        </p:sp>
        <p:sp>
          <p:nvSpPr>
            <p:cNvPr id="399439" name="Rectangle 79"/>
            <p:cNvSpPr>
              <a:spLocks noChangeArrowheads="1"/>
            </p:cNvSpPr>
            <p:nvPr/>
          </p:nvSpPr>
          <p:spPr bwMode="auto">
            <a:xfrm>
              <a:off x="340" y="2133"/>
              <a:ext cx="1451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rPr>
                <a:t>De· Morgan</a:t>
              </a:r>
              <a:endParaRPr lang="zh-CN" altLang="en-US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399449" name="Rectangle 89">
            <a:hlinkClick r:id="rId9" action="ppaction://hlinkpres?slideindex=1&amp;slidetitle=幻灯片 1" highlightClick="1"/>
            <a:hlinkHover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536575" y="5919788"/>
            <a:ext cx="1549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414" name="Rectangle 54"/>
              <p:cNvSpPr>
                <a:spLocks noChangeArrowheads="1"/>
              </p:cNvSpPr>
              <p:nvPr/>
            </p:nvSpPr>
            <p:spPr bwMode="auto">
              <a:xfrm>
                <a:off x="871222" y="1996144"/>
                <a:ext cx="5731496" cy="5084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Does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𝐻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have any pattern?</a:t>
                </a:r>
                <a:r>
                  <a:rPr lang="zh-CN" altLang="en-US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  </a:t>
                </a:r>
              </a:p>
            </p:txBody>
          </p:sp>
        </mc:Choice>
        <mc:Fallback xmlns="">
          <p:sp>
            <p:nvSpPr>
              <p:cNvPr id="399414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1222" y="1996144"/>
                <a:ext cx="5731496" cy="508409"/>
              </a:xfrm>
              <a:prstGeom prst="rect">
                <a:avLst/>
              </a:prstGeom>
              <a:blipFill>
                <a:blip r:embed="rId11"/>
                <a:stretch>
                  <a:fillRect l="-1702" b="-2619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9409" name="Rectangle 49"/>
          <p:cNvSpPr>
            <a:spLocks noChangeArrowheads="1"/>
          </p:cNvSpPr>
          <p:nvPr/>
        </p:nvSpPr>
        <p:spPr bwMode="auto">
          <a:xfrm>
            <a:off x="2085974" y="657681"/>
            <a:ext cx="47400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coin tossing experiment</a:t>
            </a: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9453" name="Rectangle 93"/>
          <p:cNvSpPr>
            <a:spLocks noChangeArrowheads="1"/>
          </p:cNvSpPr>
          <p:nvPr/>
        </p:nvSpPr>
        <p:spPr bwMode="auto">
          <a:xfrm>
            <a:off x="771042" y="1187352"/>
            <a:ext cx="5944877" cy="50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Toss</a:t>
            </a:r>
            <a:r>
              <a:rPr lang="en-US" altLang="zh-CN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a coin for n times, and define</a:t>
            </a:r>
            <a:endParaRPr lang="zh-CN" altLang="en-US" sz="2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99464" name="Group 104"/>
          <p:cNvGrpSpPr>
            <a:grpSpLocks/>
          </p:cNvGrpSpPr>
          <p:nvPr/>
        </p:nvGrpSpPr>
        <p:grpSpPr bwMode="auto">
          <a:xfrm>
            <a:off x="7480301" y="779300"/>
            <a:ext cx="635000" cy="1803400"/>
            <a:chOff x="4392" y="448"/>
            <a:chExt cx="400" cy="1136"/>
          </a:xfrm>
        </p:grpSpPr>
        <p:sp>
          <p:nvSpPr>
            <p:cNvPr id="399462" name="Rectangle 102"/>
            <p:cNvSpPr>
              <a:spLocks noChangeArrowheads="1"/>
            </p:cNvSpPr>
            <p:nvPr/>
          </p:nvSpPr>
          <p:spPr bwMode="auto">
            <a:xfrm>
              <a:off x="4432" y="512"/>
              <a:ext cx="360" cy="10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10267" name="Picture 91" descr="5_3"/>
            <p:cNvPicPr>
              <a:picLocks noChangeAspect="1" noChangeArrowheads="1" noCrop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2" y="452"/>
              <a:ext cx="360" cy="1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461" name="Rectangle 101"/>
            <p:cNvSpPr>
              <a:spLocks noChangeArrowheads="1"/>
            </p:cNvSpPr>
            <p:nvPr/>
          </p:nvSpPr>
          <p:spPr bwMode="auto">
            <a:xfrm>
              <a:off x="4392" y="448"/>
              <a:ext cx="352" cy="1080"/>
            </a:xfrm>
            <a:prstGeom prst="rect">
              <a:avLst/>
            </a:prstGeom>
            <a:noFill/>
            <a:ln w="19050" algn="ctr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6E99DFC-5B07-46A3-B99A-02F013D0FF33}"/>
              </a:ext>
            </a:extLst>
          </p:cNvPr>
          <p:cNvSpPr txBox="1"/>
          <p:nvPr/>
        </p:nvSpPr>
        <p:spPr>
          <a:xfrm>
            <a:off x="3168347" y="1648844"/>
            <a:ext cx="2402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H={ Get</a:t>
            </a:r>
            <a:r>
              <a:rPr lang="zh-CN" altLang="en-US" sz="2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Head}</a:t>
            </a:r>
            <a:endParaRPr lang="zh-CN" altLang="en-US" sz="24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2A095F-19B2-410A-87B8-949B69712B63}"/>
              </a:ext>
            </a:extLst>
          </p:cNvPr>
          <p:cNvSpPr txBox="1"/>
          <p:nvPr/>
        </p:nvSpPr>
        <p:spPr>
          <a:xfrm>
            <a:off x="425445" y="654833"/>
            <a:ext cx="2000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Example 1: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9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9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9" dur="1000"/>
                                        <p:tgtEl>
                                          <p:spTgt spid="39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3" dur="1000"/>
                                        <p:tgtEl>
                                          <p:spTgt spid="39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1000"/>
                                        <p:tgtEl>
                                          <p:spTgt spid="39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1000"/>
                                        <p:tgtEl>
                                          <p:spTgt spid="399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1000"/>
                                        <p:tgtEl>
                                          <p:spTgt spid="39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7" grpId="0" animBg="1"/>
      <p:bldP spid="399414" grpId="0"/>
      <p:bldP spid="399453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906" name="Rectangle 82"/>
          <p:cNvSpPr>
            <a:spLocks noChangeArrowheads="1"/>
          </p:cNvSpPr>
          <p:nvPr/>
        </p:nvSpPr>
        <p:spPr bwMode="auto">
          <a:xfrm>
            <a:off x="1282135" y="557314"/>
            <a:ext cx="6910388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2: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“Buffon's needle experiment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”</a:t>
            </a:r>
          </a:p>
        </p:txBody>
      </p:sp>
      <p:sp>
        <p:nvSpPr>
          <p:cNvPr id="333907" name="Line 83"/>
          <p:cNvSpPr>
            <a:spLocks noChangeShapeType="1"/>
          </p:cNvSpPr>
          <p:nvPr/>
        </p:nvSpPr>
        <p:spPr bwMode="auto">
          <a:xfrm>
            <a:off x="1022350" y="1428750"/>
            <a:ext cx="7272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3908" name="Line 84"/>
          <p:cNvSpPr>
            <a:spLocks noChangeShapeType="1"/>
          </p:cNvSpPr>
          <p:nvPr/>
        </p:nvSpPr>
        <p:spPr bwMode="auto">
          <a:xfrm>
            <a:off x="1022350" y="2581275"/>
            <a:ext cx="7272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3909" name="Line 85"/>
          <p:cNvSpPr>
            <a:spLocks noChangeShapeType="1"/>
          </p:cNvSpPr>
          <p:nvPr/>
        </p:nvSpPr>
        <p:spPr bwMode="auto">
          <a:xfrm>
            <a:off x="1022350" y="3733800"/>
            <a:ext cx="7272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3910" name="Line 86"/>
          <p:cNvSpPr>
            <a:spLocks noChangeShapeType="1"/>
          </p:cNvSpPr>
          <p:nvPr/>
        </p:nvSpPr>
        <p:spPr bwMode="auto">
          <a:xfrm flipV="1">
            <a:off x="2678113" y="1717675"/>
            <a:ext cx="288925" cy="431800"/>
          </a:xfrm>
          <a:prstGeom prst="line">
            <a:avLst/>
          </a:prstGeom>
          <a:ln>
            <a:headE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3911" name="Line 87"/>
          <p:cNvSpPr>
            <a:spLocks noChangeShapeType="1"/>
          </p:cNvSpPr>
          <p:nvPr/>
        </p:nvSpPr>
        <p:spPr bwMode="auto">
          <a:xfrm flipV="1">
            <a:off x="3254375" y="2220913"/>
            <a:ext cx="73025" cy="504825"/>
          </a:xfrm>
          <a:prstGeom prst="line">
            <a:avLst/>
          </a:prstGeom>
          <a:ln>
            <a:headE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3912" name="Line 88"/>
          <p:cNvSpPr>
            <a:spLocks noChangeShapeType="1"/>
          </p:cNvSpPr>
          <p:nvPr/>
        </p:nvSpPr>
        <p:spPr bwMode="auto">
          <a:xfrm flipV="1">
            <a:off x="2751138" y="2797175"/>
            <a:ext cx="288925" cy="431800"/>
          </a:xfrm>
          <a:prstGeom prst="line">
            <a:avLst/>
          </a:prstGeom>
          <a:ln>
            <a:headE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3913" name="Line 89"/>
          <p:cNvSpPr>
            <a:spLocks noChangeShapeType="1"/>
          </p:cNvSpPr>
          <p:nvPr/>
        </p:nvSpPr>
        <p:spPr bwMode="auto">
          <a:xfrm flipH="1" flipV="1">
            <a:off x="4271963" y="2792413"/>
            <a:ext cx="287337" cy="504825"/>
          </a:xfrm>
          <a:prstGeom prst="line">
            <a:avLst/>
          </a:prstGeom>
          <a:ln>
            <a:headE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3914" name="Line 90"/>
          <p:cNvSpPr>
            <a:spLocks noChangeShapeType="1"/>
          </p:cNvSpPr>
          <p:nvPr/>
        </p:nvSpPr>
        <p:spPr bwMode="auto">
          <a:xfrm flipV="1">
            <a:off x="3975100" y="1357313"/>
            <a:ext cx="73025" cy="503237"/>
          </a:xfrm>
          <a:prstGeom prst="line">
            <a:avLst/>
          </a:prstGeom>
          <a:ln>
            <a:headE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3915" name="Line 91"/>
          <p:cNvSpPr>
            <a:spLocks noChangeShapeType="1"/>
          </p:cNvSpPr>
          <p:nvPr/>
        </p:nvSpPr>
        <p:spPr bwMode="auto">
          <a:xfrm flipH="1" flipV="1">
            <a:off x="5056188" y="1644650"/>
            <a:ext cx="430212" cy="431800"/>
          </a:xfrm>
          <a:prstGeom prst="line">
            <a:avLst/>
          </a:prstGeom>
          <a:ln>
            <a:headE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3916" name="Line 92"/>
          <p:cNvSpPr>
            <a:spLocks noChangeShapeType="1"/>
          </p:cNvSpPr>
          <p:nvPr/>
        </p:nvSpPr>
        <p:spPr bwMode="auto">
          <a:xfrm flipV="1">
            <a:off x="5811838" y="1887538"/>
            <a:ext cx="9525" cy="571500"/>
          </a:xfrm>
          <a:prstGeom prst="line">
            <a:avLst/>
          </a:prstGeom>
          <a:ln>
            <a:headE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3919" name="Line 95"/>
          <p:cNvSpPr>
            <a:spLocks noChangeShapeType="1"/>
          </p:cNvSpPr>
          <p:nvPr/>
        </p:nvSpPr>
        <p:spPr bwMode="auto">
          <a:xfrm flipH="1">
            <a:off x="4311650" y="1965325"/>
            <a:ext cx="663575" cy="63500"/>
          </a:xfrm>
          <a:prstGeom prst="line">
            <a:avLst/>
          </a:prstGeom>
          <a:ln>
            <a:headE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3920" name="Line 96"/>
          <p:cNvSpPr>
            <a:spLocks noChangeShapeType="1"/>
          </p:cNvSpPr>
          <p:nvPr/>
        </p:nvSpPr>
        <p:spPr bwMode="auto">
          <a:xfrm flipH="1" flipV="1">
            <a:off x="3462338" y="3160713"/>
            <a:ext cx="320675" cy="406400"/>
          </a:xfrm>
          <a:prstGeom prst="line">
            <a:avLst/>
          </a:prstGeom>
          <a:ln>
            <a:headE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3921" name="Line 97"/>
          <p:cNvSpPr>
            <a:spLocks noChangeShapeType="1"/>
          </p:cNvSpPr>
          <p:nvPr/>
        </p:nvSpPr>
        <p:spPr bwMode="auto">
          <a:xfrm flipV="1">
            <a:off x="4800600" y="3276600"/>
            <a:ext cx="390525" cy="571500"/>
          </a:xfrm>
          <a:prstGeom prst="line">
            <a:avLst/>
          </a:prstGeom>
          <a:ln>
            <a:headE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3922" name="Line 98"/>
          <p:cNvSpPr>
            <a:spLocks noChangeShapeType="1"/>
          </p:cNvSpPr>
          <p:nvPr/>
        </p:nvSpPr>
        <p:spPr bwMode="auto">
          <a:xfrm>
            <a:off x="5513388" y="3227388"/>
            <a:ext cx="746125" cy="165100"/>
          </a:xfrm>
          <a:prstGeom prst="line">
            <a:avLst/>
          </a:prstGeom>
          <a:ln>
            <a:headE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33923" name="Group 99"/>
          <p:cNvGrpSpPr>
            <a:grpSpLocks/>
          </p:cNvGrpSpPr>
          <p:nvPr/>
        </p:nvGrpSpPr>
        <p:grpSpPr bwMode="auto">
          <a:xfrm>
            <a:off x="1241425" y="1422400"/>
            <a:ext cx="236538" cy="2289175"/>
            <a:chOff x="782" y="896"/>
            <a:chExt cx="149" cy="1442"/>
          </a:xfrm>
        </p:grpSpPr>
        <p:sp>
          <p:nvSpPr>
            <p:cNvPr id="333924" name="Line 100"/>
            <p:cNvSpPr>
              <a:spLocks noChangeShapeType="1"/>
            </p:cNvSpPr>
            <p:nvPr/>
          </p:nvSpPr>
          <p:spPr bwMode="auto">
            <a:xfrm>
              <a:off x="840" y="896"/>
              <a:ext cx="0" cy="24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stealth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3925" name="Line 101"/>
            <p:cNvSpPr>
              <a:spLocks noChangeShapeType="1"/>
            </p:cNvSpPr>
            <p:nvPr/>
          </p:nvSpPr>
          <p:spPr bwMode="auto">
            <a:xfrm>
              <a:off x="841" y="1353"/>
              <a:ext cx="0" cy="26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1301" name="Object 102"/>
            <p:cNvGraphicFramePr>
              <a:graphicFrameLocks noChangeAspect="1"/>
            </p:cNvGraphicFramePr>
            <p:nvPr/>
          </p:nvGraphicFramePr>
          <p:xfrm>
            <a:off x="782" y="1130"/>
            <a:ext cx="148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7510" imgH="123900" progId="Equation.DSMT4">
                    <p:embed/>
                  </p:oleObj>
                </mc:Choice>
                <mc:Fallback>
                  <p:oleObj name="Equation" r:id="rId3" imgW="47510" imgH="123900" progId="Equation.DSMT4">
                    <p:embed/>
                    <p:pic>
                      <p:nvPicPr>
                        <p:cNvPr id="0" name="Object 1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2" y="1130"/>
                          <a:ext cx="148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3927" name="Line 103"/>
            <p:cNvSpPr>
              <a:spLocks noChangeShapeType="1"/>
            </p:cNvSpPr>
            <p:nvPr/>
          </p:nvSpPr>
          <p:spPr bwMode="auto">
            <a:xfrm>
              <a:off x="841" y="1617"/>
              <a:ext cx="0" cy="24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stealth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3928" name="Line 104"/>
            <p:cNvSpPr>
              <a:spLocks noChangeShapeType="1"/>
            </p:cNvSpPr>
            <p:nvPr/>
          </p:nvSpPr>
          <p:spPr bwMode="auto">
            <a:xfrm>
              <a:off x="842" y="2074"/>
              <a:ext cx="0" cy="26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1304" name="Object 105"/>
            <p:cNvGraphicFramePr>
              <a:graphicFrameLocks noChangeAspect="1"/>
            </p:cNvGraphicFramePr>
            <p:nvPr/>
          </p:nvGraphicFramePr>
          <p:xfrm>
            <a:off x="783" y="1851"/>
            <a:ext cx="148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7510" imgH="123900" progId="Equation.DSMT4">
                    <p:embed/>
                  </p:oleObj>
                </mc:Choice>
                <mc:Fallback>
                  <p:oleObj name="Equation" r:id="rId5" imgW="47510" imgH="123900" progId="Equation.DSMT4">
                    <p:embed/>
                    <p:pic>
                      <p:nvPicPr>
                        <p:cNvPr id="0" name="Object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3" y="1851"/>
                          <a:ext cx="148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3930" name="Group 106"/>
          <p:cNvGrpSpPr>
            <a:grpSpLocks/>
          </p:cNvGrpSpPr>
          <p:nvPr/>
        </p:nvGrpSpPr>
        <p:grpSpPr bwMode="auto">
          <a:xfrm>
            <a:off x="5499100" y="2622550"/>
            <a:ext cx="846138" cy="788988"/>
            <a:chOff x="3464" y="1652"/>
            <a:chExt cx="533" cy="497"/>
          </a:xfrm>
        </p:grpSpPr>
        <p:sp>
          <p:nvSpPr>
            <p:cNvPr id="333931" name="Line 107"/>
            <p:cNvSpPr>
              <a:spLocks noChangeShapeType="1"/>
            </p:cNvSpPr>
            <p:nvPr/>
          </p:nvSpPr>
          <p:spPr bwMode="auto">
            <a:xfrm flipH="1">
              <a:off x="3464" y="1875"/>
              <a:ext cx="41" cy="16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3932" name="Line 108"/>
            <p:cNvSpPr>
              <a:spLocks noChangeShapeType="1"/>
            </p:cNvSpPr>
            <p:nvPr/>
          </p:nvSpPr>
          <p:spPr bwMode="auto">
            <a:xfrm>
              <a:off x="3501" y="1916"/>
              <a:ext cx="483" cy="115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stealth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1297" name="Object 109"/>
            <p:cNvGraphicFramePr>
              <a:graphicFrameLocks noChangeAspect="1"/>
            </p:cNvGraphicFramePr>
            <p:nvPr/>
          </p:nvGraphicFramePr>
          <p:xfrm>
            <a:off x="3656" y="1652"/>
            <a:ext cx="236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85841" imgH="257247" progId="Equation.DSMT4">
                    <p:embed/>
                  </p:oleObj>
                </mc:Choice>
                <mc:Fallback>
                  <p:oleObj name="Equation" r:id="rId7" imgW="85841" imgH="257247" progId="Equation.DSMT4">
                    <p:embed/>
                    <p:pic>
                      <p:nvPicPr>
                        <p:cNvPr id="0" name="Object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6" y="1652"/>
                          <a:ext cx="236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3934" name="Line 110"/>
            <p:cNvSpPr>
              <a:spLocks noChangeShapeType="1"/>
            </p:cNvSpPr>
            <p:nvPr/>
          </p:nvSpPr>
          <p:spPr bwMode="auto">
            <a:xfrm flipH="1">
              <a:off x="3957" y="1983"/>
              <a:ext cx="40" cy="16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3917" name="Rectangle 93"/>
              <p:cNvSpPr>
                <a:spLocks noChangeArrowheads="1"/>
              </p:cNvSpPr>
              <p:nvPr/>
            </p:nvSpPr>
            <p:spPr bwMode="auto">
              <a:xfrm>
                <a:off x="1053576" y="4126452"/>
                <a:ext cx="7367506" cy="8309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 needle is thrown for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 times, it crosses the parallel lines </a:t>
                </a: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with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𝐴</m:t>
                        </m:r>
                      </m:sub>
                    </m:sSub>
                    <m:r>
                      <a:rPr lang="en-US" altLang="zh-CN" sz="2400" b="0" i="1" smtClean="0"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 </m:t>
                    </m:r>
                  </m:oMath>
                </a14:m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times</a:t>
                </a:r>
                <a:endParaRPr lang="zh-CN" altLang="en-US" sz="2400" dirty="0">
                  <a:solidFill>
                    <a:schemeClr val="tx1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33917" name="Rectangle 9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3576" y="4126452"/>
                <a:ext cx="7367506" cy="830997"/>
              </a:xfrm>
              <a:prstGeom prst="rect">
                <a:avLst/>
              </a:prstGeom>
              <a:blipFill>
                <a:blip r:embed="rId10"/>
                <a:stretch>
                  <a:fillRect l="-1325" t="-5882" r="-911" b="-161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5F94387-2321-48F9-823B-7CF2E0414440}"/>
                  </a:ext>
                </a:extLst>
              </p:cNvPr>
              <p:cNvSpPr txBox="1"/>
              <p:nvPr/>
            </p:nvSpPr>
            <p:spPr>
              <a:xfrm>
                <a:off x="5161081" y="5119668"/>
                <a:ext cx="1444049" cy="6929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5F94387-2321-48F9-823B-7CF2E0414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081" y="5119668"/>
                <a:ext cx="1444049" cy="692947"/>
              </a:xfrm>
              <a:prstGeom prst="rect">
                <a:avLst/>
              </a:prstGeom>
              <a:blipFill>
                <a:blip r:embed="rId11"/>
                <a:stretch>
                  <a:fillRect l="-2609" r="-870" b="-909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C2AE17B-B2B1-470B-8171-A48EAE8E1466}"/>
                  </a:ext>
                </a:extLst>
              </p:cNvPr>
              <p:cNvSpPr txBox="1"/>
              <p:nvPr/>
            </p:nvSpPr>
            <p:spPr>
              <a:xfrm>
                <a:off x="2042149" y="5089965"/>
                <a:ext cx="3090863" cy="6939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 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𝐴</m:t>
                          </m:r>
                        </m:e>
                      </m:d>
                      <m:r>
                        <a:rPr lang="en-US" altLang="zh-CN" sz="2400" b="0" i="1" smtClean="0">
                          <a:effectLst/>
                          <a:latin typeface="Cambria Math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C2AE17B-B2B1-470B-8171-A48EAE8E1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149" y="5089965"/>
                <a:ext cx="3090863" cy="693908"/>
              </a:xfrm>
              <a:prstGeom prst="rect">
                <a:avLst/>
              </a:prstGeom>
              <a:blipFill>
                <a:blip r:embed="rId12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1">
            <a:extLst>
              <a:ext uri="{FF2B5EF4-FFF2-40B4-BE49-F238E27FC236}">
                <a16:creationId xmlns:a16="http://schemas.microsoft.com/office/drawing/2014/main" id="{F8C196C9-37E1-6B4D-A400-EEE1D3FF9E29}"/>
              </a:ext>
            </a:extLst>
          </p:cNvPr>
          <p:cNvSpPr/>
          <p:nvPr/>
        </p:nvSpPr>
        <p:spPr>
          <a:xfrm>
            <a:off x="1140850" y="6050672"/>
            <a:ext cx="65778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more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examples,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please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read the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Wikipedia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1000"/>
                                        <p:tgtEl>
                                          <p:spTgt spid="333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33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3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3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3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3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3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3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3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33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3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39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339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33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33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33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339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339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339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339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339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339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339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339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33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33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33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339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339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339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339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339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339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339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339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500"/>
                            </p:stCondLst>
                            <p:childTnLst>
                              <p:par>
                                <p:cTn id="6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33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33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33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339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339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339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339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339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339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339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339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500"/>
                            </p:stCondLst>
                            <p:childTnLst>
                              <p:par>
                                <p:cTn id="8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33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33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33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339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339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339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339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339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339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339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339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500"/>
                            </p:stCondLst>
                            <p:childTnLst>
                              <p:par>
                                <p:cTn id="10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33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33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33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1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339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2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339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339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4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339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339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6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339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339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8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339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500"/>
                            </p:stCondLst>
                            <p:childTnLst>
                              <p:par>
                                <p:cTn id="120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33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33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33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339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339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339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339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339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339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339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339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8500"/>
                            </p:stCondLst>
                            <p:childTnLst>
                              <p:par>
                                <p:cTn id="137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33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33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33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5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339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6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339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339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8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339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339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0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339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339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2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339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9500"/>
                            </p:stCondLst>
                            <p:childTnLst>
                              <p:par>
                                <p:cTn id="154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33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33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33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2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339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3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339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4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339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5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339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6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339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7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339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339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9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339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71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33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33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33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9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339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0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339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339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2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339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339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4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339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339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6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339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1500"/>
                            </p:stCondLst>
                            <p:childTnLst>
                              <p:par>
                                <p:cTn id="188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33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33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33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6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339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7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339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8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339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9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339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339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1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339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339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3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339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0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33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33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33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339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339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339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339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339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339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339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339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222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4" dur="1000"/>
                                        <p:tgtEl>
                                          <p:spTgt spid="333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33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500"/>
                            </p:stCondLst>
                            <p:childTnLst>
                              <p:par>
                                <p:cTn id="2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000"/>
                            </p:stCondLst>
                            <p:childTnLst>
                              <p:par>
                                <p:cTn id="2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906" grpId="0"/>
      <p:bldP spid="333917" grpId="0"/>
      <p:bldP spid="2" grpId="0"/>
      <p:bldP spid="41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152" name="Text Box 264"/>
          <p:cNvSpPr txBox="1">
            <a:spLocks noChangeArrowheads="1"/>
          </p:cNvSpPr>
          <p:nvPr/>
        </p:nvSpPr>
        <p:spPr bwMode="auto">
          <a:xfrm>
            <a:off x="1346486" y="1003301"/>
            <a:ext cx="528421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l" fontAlgn="ctr">
              <a:defRPr/>
            </a:pP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 </a:t>
            </a:r>
          </a:p>
        </p:txBody>
      </p:sp>
      <p:grpSp>
        <p:nvGrpSpPr>
          <p:cNvPr id="421894" name="Group 6"/>
          <p:cNvGrpSpPr>
            <a:grpSpLocks/>
          </p:cNvGrpSpPr>
          <p:nvPr/>
        </p:nvGrpSpPr>
        <p:grpSpPr bwMode="auto">
          <a:xfrm>
            <a:off x="856735" y="2425817"/>
            <a:ext cx="7689850" cy="3022600"/>
            <a:chOff x="502" y="1553"/>
            <a:chExt cx="4844" cy="1904"/>
          </a:xfrm>
          <a:solidFill>
            <a:schemeClr val="bg1"/>
          </a:solidFill>
        </p:grpSpPr>
        <p:sp>
          <p:nvSpPr>
            <p:cNvPr id="421895" name="Rectangle 7"/>
            <p:cNvSpPr>
              <a:spLocks noChangeArrowheads="1"/>
            </p:cNvSpPr>
            <p:nvPr/>
          </p:nvSpPr>
          <p:spPr bwMode="auto">
            <a:xfrm>
              <a:off x="599" y="2477"/>
              <a:ext cx="116" cy="23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896" name="Rectangle 8"/>
            <p:cNvSpPr>
              <a:spLocks noChangeArrowheads="1"/>
            </p:cNvSpPr>
            <p:nvPr/>
          </p:nvSpPr>
          <p:spPr bwMode="auto">
            <a:xfrm>
              <a:off x="528" y="2396"/>
              <a:ext cx="116" cy="23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897" name="Rectangle 9"/>
            <p:cNvSpPr>
              <a:spLocks noChangeArrowheads="1"/>
            </p:cNvSpPr>
            <p:nvPr/>
          </p:nvSpPr>
          <p:spPr bwMode="auto">
            <a:xfrm>
              <a:off x="4703" y="3218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zh-CN" sz="180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21898" name="Rectangle 10"/>
            <p:cNvSpPr>
              <a:spLocks noChangeArrowheads="1"/>
            </p:cNvSpPr>
            <p:nvPr/>
          </p:nvSpPr>
          <p:spPr bwMode="auto">
            <a:xfrm>
              <a:off x="4703" y="2987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zh-CN" sz="180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303" name="Rectangle 11"/>
            <p:cNvSpPr>
              <a:spLocks noChangeArrowheads="1"/>
            </p:cNvSpPr>
            <p:nvPr/>
          </p:nvSpPr>
          <p:spPr bwMode="auto">
            <a:xfrm>
              <a:off x="4703" y="2756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0.0006</a:t>
              </a:r>
            </a:p>
          </p:txBody>
        </p:sp>
        <p:sp>
          <p:nvSpPr>
            <p:cNvPr id="12304" name="Rectangle 12"/>
            <p:cNvSpPr>
              <a:spLocks noChangeArrowheads="1"/>
            </p:cNvSpPr>
            <p:nvPr/>
          </p:nvSpPr>
          <p:spPr bwMode="auto">
            <a:xfrm>
              <a:off x="4703" y="2525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0.0009</a:t>
              </a:r>
            </a:p>
          </p:txBody>
        </p:sp>
        <p:sp>
          <p:nvSpPr>
            <p:cNvPr id="12305" name="Rectangle 13"/>
            <p:cNvSpPr>
              <a:spLocks noChangeArrowheads="1"/>
            </p:cNvSpPr>
            <p:nvPr/>
          </p:nvSpPr>
          <p:spPr bwMode="auto">
            <a:xfrm>
              <a:off x="4703" y="2294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0.0010</a:t>
              </a:r>
            </a:p>
          </p:txBody>
        </p:sp>
        <p:sp>
          <p:nvSpPr>
            <p:cNvPr id="12306" name="Rectangle 14"/>
            <p:cNvSpPr>
              <a:spLocks noChangeArrowheads="1"/>
            </p:cNvSpPr>
            <p:nvPr/>
          </p:nvSpPr>
          <p:spPr bwMode="auto">
            <a:xfrm>
              <a:off x="4703" y="2063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0.0016</a:t>
              </a:r>
            </a:p>
          </p:txBody>
        </p:sp>
        <p:sp>
          <p:nvSpPr>
            <p:cNvPr id="12307" name="Rectangle 15"/>
            <p:cNvSpPr>
              <a:spLocks noChangeArrowheads="1"/>
            </p:cNvSpPr>
            <p:nvPr/>
          </p:nvSpPr>
          <p:spPr bwMode="auto">
            <a:xfrm>
              <a:off x="4703" y="1832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0.0060</a:t>
              </a:r>
            </a:p>
          </p:txBody>
        </p:sp>
        <p:sp>
          <p:nvSpPr>
            <p:cNvPr id="421904" name="Rectangle 16"/>
            <p:cNvSpPr>
              <a:spLocks noChangeArrowheads="1"/>
            </p:cNvSpPr>
            <p:nvPr/>
          </p:nvSpPr>
          <p:spPr bwMode="auto">
            <a:xfrm>
              <a:off x="4703" y="1560"/>
              <a:ext cx="635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zh-CN" altLang="en-US" sz="20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</a:rPr>
                <a:t>频率</a:t>
              </a:r>
            </a:p>
          </p:txBody>
        </p:sp>
        <p:sp>
          <p:nvSpPr>
            <p:cNvPr id="12309" name="Rectangle 17"/>
            <p:cNvSpPr>
              <a:spLocks noChangeArrowheads="1"/>
            </p:cNvSpPr>
            <p:nvPr/>
          </p:nvSpPr>
          <p:spPr bwMode="auto">
            <a:xfrm>
              <a:off x="3524" y="3218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0.0102</a:t>
              </a:r>
            </a:p>
          </p:txBody>
        </p:sp>
        <p:sp>
          <p:nvSpPr>
            <p:cNvPr id="12310" name="Rectangle 18"/>
            <p:cNvSpPr>
              <a:spLocks noChangeArrowheads="1"/>
            </p:cNvSpPr>
            <p:nvPr/>
          </p:nvSpPr>
          <p:spPr bwMode="auto">
            <a:xfrm>
              <a:off x="3524" y="2987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0.0156</a:t>
              </a:r>
            </a:p>
          </p:txBody>
        </p:sp>
        <p:sp>
          <p:nvSpPr>
            <p:cNvPr id="12311" name="Rectangle 19"/>
            <p:cNvSpPr>
              <a:spLocks noChangeArrowheads="1"/>
            </p:cNvSpPr>
            <p:nvPr/>
          </p:nvSpPr>
          <p:spPr bwMode="auto">
            <a:xfrm>
              <a:off x="3524" y="2756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0.0186</a:t>
              </a:r>
            </a:p>
          </p:txBody>
        </p:sp>
        <p:sp>
          <p:nvSpPr>
            <p:cNvPr id="12312" name="Rectangle 20"/>
            <p:cNvSpPr>
              <a:spLocks noChangeArrowheads="1"/>
            </p:cNvSpPr>
            <p:nvPr/>
          </p:nvSpPr>
          <p:spPr bwMode="auto">
            <a:xfrm>
              <a:off x="3524" y="2525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0.0187</a:t>
              </a:r>
            </a:p>
          </p:txBody>
        </p:sp>
        <p:sp>
          <p:nvSpPr>
            <p:cNvPr id="12313" name="Rectangle 21"/>
            <p:cNvSpPr>
              <a:spLocks noChangeArrowheads="1"/>
            </p:cNvSpPr>
            <p:nvPr/>
          </p:nvSpPr>
          <p:spPr bwMode="auto">
            <a:xfrm>
              <a:off x="3524" y="2294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0.0202</a:t>
              </a:r>
            </a:p>
          </p:txBody>
        </p:sp>
        <p:sp>
          <p:nvSpPr>
            <p:cNvPr id="12314" name="Rectangle 22"/>
            <p:cNvSpPr>
              <a:spLocks noChangeArrowheads="1"/>
            </p:cNvSpPr>
            <p:nvPr/>
          </p:nvSpPr>
          <p:spPr bwMode="auto">
            <a:xfrm>
              <a:off x="3524" y="2063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0.0214</a:t>
              </a:r>
            </a:p>
          </p:txBody>
        </p:sp>
        <p:sp>
          <p:nvSpPr>
            <p:cNvPr id="12315" name="Rectangle 23"/>
            <p:cNvSpPr>
              <a:spLocks noChangeArrowheads="1"/>
            </p:cNvSpPr>
            <p:nvPr/>
          </p:nvSpPr>
          <p:spPr bwMode="auto">
            <a:xfrm>
              <a:off x="3524" y="1832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0.0244</a:t>
              </a:r>
            </a:p>
          </p:txBody>
        </p:sp>
        <p:sp>
          <p:nvSpPr>
            <p:cNvPr id="421912" name="Rectangle 24"/>
            <p:cNvSpPr>
              <a:spLocks noChangeArrowheads="1"/>
            </p:cNvSpPr>
            <p:nvPr/>
          </p:nvSpPr>
          <p:spPr bwMode="auto">
            <a:xfrm>
              <a:off x="3524" y="1560"/>
              <a:ext cx="680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zh-CN" altLang="en-US" sz="20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</a:rPr>
                <a:t>频率</a:t>
              </a:r>
            </a:p>
          </p:txBody>
        </p:sp>
        <p:sp>
          <p:nvSpPr>
            <p:cNvPr id="12317" name="Rectangle 25"/>
            <p:cNvSpPr>
              <a:spLocks noChangeArrowheads="1"/>
            </p:cNvSpPr>
            <p:nvPr/>
          </p:nvSpPr>
          <p:spPr bwMode="auto">
            <a:xfrm>
              <a:off x="2344" y="3218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0.0256</a:t>
              </a:r>
            </a:p>
          </p:txBody>
        </p:sp>
        <p:sp>
          <p:nvSpPr>
            <p:cNvPr id="12318" name="Rectangle 26"/>
            <p:cNvSpPr>
              <a:spLocks noChangeArrowheads="1"/>
            </p:cNvSpPr>
            <p:nvPr/>
          </p:nvSpPr>
          <p:spPr bwMode="auto">
            <a:xfrm>
              <a:off x="2344" y="2987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0.0268</a:t>
              </a:r>
            </a:p>
          </p:txBody>
        </p:sp>
        <p:sp>
          <p:nvSpPr>
            <p:cNvPr id="12319" name="Rectangle 27"/>
            <p:cNvSpPr>
              <a:spLocks noChangeArrowheads="1"/>
            </p:cNvSpPr>
            <p:nvPr/>
          </p:nvSpPr>
          <p:spPr bwMode="auto">
            <a:xfrm>
              <a:off x="2344" y="2756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0.0280</a:t>
              </a:r>
            </a:p>
          </p:txBody>
        </p:sp>
        <p:sp>
          <p:nvSpPr>
            <p:cNvPr id="12320" name="Rectangle 28"/>
            <p:cNvSpPr>
              <a:spLocks noChangeArrowheads="1"/>
            </p:cNvSpPr>
            <p:nvPr/>
          </p:nvSpPr>
          <p:spPr bwMode="auto">
            <a:xfrm>
              <a:off x="2344" y="2525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0.0389</a:t>
              </a:r>
            </a:p>
          </p:txBody>
        </p:sp>
        <p:sp>
          <p:nvSpPr>
            <p:cNvPr id="12321" name="Rectangle 29"/>
            <p:cNvSpPr>
              <a:spLocks noChangeArrowheads="1"/>
            </p:cNvSpPr>
            <p:nvPr/>
          </p:nvSpPr>
          <p:spPr bwMode="auto">
            <a:xfrm>
              <a:off x="2344" y="2294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0.0394</a:t>
              </a:r>
            </a:p>
          </p:txBody>
        </p:sp>
        <p:sp>
          <p:nvSpPr>
            <p:cNvPr id="12322" name="Rectangle 30"/>
            <p:cNvSpPr>
              <a:spLocks noChangeArrowheads="1"/>
            </p:cNvSpPr>
            <p:nvPr/>
          </p:nvSpPr>
          <p:spPr bwMode="auto">
            <a:xfrm>
              <a:off x="2344" y="2063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0.0573</a:t>
              </a:r>
            </a:p>
          </p:txBody>
        </p:sp>
        <p:sp>
          <p:nvSpPr>
            <p:cNvPr id="12323" name="Rectangle 31"/>
            <p:cNvSpPr>
              <a:spLocks noChangeArrowheads="1"/>
            </p:cNvSpPr>
            <p:nvPr/>
          </p:nvSpPr>
          <p:spPr bwMode="auto">
            <a:xfrm>
              <a:off x="2344" y="1832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0.0594</a:t>
              </a:r>
            </a:p>
          </p:txBody>
        </p:sp>
        <p:sp>
          <p:nvSpPr>
            <p:cNvPr id="421920" name="Rectangle 32"/>
            <p:cNvSpPr>
              <a:spLocks noChangeArrowheads="1"/>
            </p:cNvSpPr>
            <p:nvPr/>
          </p:nvSpPr>
          <p:spPr bwMode="auto">
            <a:xfrm>
              <a:off x="2344" y="1560"/>
              <a:ext cx="681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zh-CN" altLang="en-US" sz="20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</a:rPr>
                <a:t>频率</a:t>
              </a:r>
            </a:p>
          </p:txBody>
        </p:sp>
        <p:sp>
          <p:nvSpPr>
            <p:cNvPr id="12325" name="Rectangle 33"/>
            <p:cNvSpPr>
              <a:spLocks noChangeArrowheads="1"/>
            </p:cNvSpPr>
            <p:nvPr/>
          </p:nvSpPr>
          <p:spPr bwMode="auto">
            <a:xfrm>
              <a:off x="984" y="3218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0.0634</a:t>
              </a:r>
            </a:p>
          </p:txBody>
        </p:sp>
        <p:sp>
          <p:nvSpPr>
            <p:cNvPr id="12326" name="Rectangle 34"/>
            <p:cNvSpPr>
              <a:spLocks noChangeArrowheads="1"/>
            </p:cNvSpPr>
            <p:nvPr/>
          </p:nvSpPr>
          <p:spPr bwMode="auto">
            <a:xfrm>
              <a:off x="984" y="2987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0.0706</a:t>
              </a:r>
            </a:p>
          </p:txBody>
        </p:sp>
        <p:sp>
          <p:nvSpPr>
            <p:cNvPr id="12327" name="Rectangle 35"/>
            <p:cNvSpPr>
              <a:spLocks noChangeArrowheads="1"/>
            </p:cNvSpPr>
            <p:nvPr/>
          </p:nvSpPr>
          <p:spPr bwMode="auto">
            <a:xfrm>
              <a:off x="984" y="2756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0.0707</a:t>
              </a:r>
            </a:p>
          </p:txBody>
        </p:sp>
        <p:sp>
          <p:nvSpPr>
            <p:cNvPr id="12328" name="Rectangle 36"/>
            <p:cNvSpPr>
              <a:spLocks noChangeArrowheads="1"/>
            </p:cNvSpPr>
            <p:nvPr/>
          </p:nvSpPr>
          <p:spPr bwMode="auto">
            <a:xfrm>
              <a:off x="984" y="2525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0.0776</a:t>
              </a:r>
            </a:p>
          </p:txBody>
        </p:sp>
        <p:sp>
          <p:nvSpPr>
            <p:cNvPr id="12329" name="Rectangle 37"/>
            <p:cNvSpPr>
              <a:spLocks noChangeArrowheads="1"/>
            </p:cNvSpPr>
            <p:nvPr/>
          </p:nvSpPr>
          <p:spPr bwMode="auto">
            <a:xfrm>
              <a:off x="984" y="2294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0.0788</a:t>
              </a:r>
            </a:p>
          </p:txBody>
        </p:sp>
        <p:sp>
          <p:nvSpPr>
            <p:cNvPr id="12330" name="Rectangle 38"/>
            <p:cNvSpPr>
              <a:spLocks noChangeArrowheads="1"/>
            </p:cNvSpPr>
            <p:nvPr/>
          </p:nvSpPr>
          <p:spPr bwMode="auto">
            <a:xfrm>
              <a:off x="984" y="2063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0.0978</a:t>
              </a:r>
            </a:p>
          </p:txBody>
        </p:sp>
        <p:sp>
          <p:nvSpPr>
            <p:cNvPr id="12331" name="Rectangle 39"/>
            <p:cNvSpPr>
              <a:spLocks noChangeArrowheads="1"/>
            </p:cNvSpPr>
            <p:nvPr/>
          </p:nvSpPr>
          <p:spPr bwMode="auto">
            <a:xfrm>
              <a:off x="984" y="1832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0.1268</a:t>
              </a:r>
            </a:p>
          </p:txBody>
        </p:sp>
        <p:sp>
          <p:nvSpPr>
            <p:cNvPr id="421928" name="Rectangle 40"/>
            <p:cNvSpPr>
              <a:spLocks noChangeArrowheads="1"/>
            </p:cNvSpPr>
            <p:nvPr/>
          </p:nvSpPr>
          <p:spPr bwMode="auto">
            <a:xfrm>
              <a:off x="984" y="1560"/>
              <a:ext cx="816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zh-CN" altLang="en-US" sz="20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</a:rPr>
                <a:t>频率</a:t>
              </a:r>
            </a:p>
          </p:txBody>
        </p:sp>
        <p:sp>
          <p:nvSpPr>
            <p:cNvPr id="421929" name="Rectangle 41"/>
            <p:cNvSpPr>
              <a:spLocks noChangeArrowheads="1"/>
            </p:cNvSpPr>
            <p:nvPr/>
          </p:nvSpPr>
          <p:spPr bwMode="auto">
            <a:xfrm>
              <a:off x="4204" y="3218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zh-CN" sz="180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21930" name="Rectangle 42"/>
            <p:cNvSpPr>
              <a:spLocks noChangeArrowheads="1"/>
            </p:cNvSpPr>
            <p:nvPr/>
          </p:nvSpPr>
          <p:spPr bwMode="auto">
            <a:xfrm>
              <a:off x="4204" y="2987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zh-CN" sz="180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21931" name="Rectangle 43"/>
            <p:cNvSpPr>
              <a:spLocks noChangeArrowheads="1"/>
            </p:cNvSpPr>
            <p:nvPr/>
          </p:nvSpPr>
          <p:spPr bwMode="auto">
            <a:xfrm>
              <a:off x="4204" y="2756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Z</a:t>
              </a:r>
            </a:p>
          </p:txBody>
        </p:sp>
        <p:sp>
          <p:nvSpPr>
            <p:cNvPr id="421932" name="Rectangle 44"/>
            <p:cNvSpPr>
              <a:spLocks noChangeArrowheads="1"/>
            </p:cNvSpPr>
            <p:nvPr/>
          </p:nvSpPr>
          <p:spPr bwMode="auto">
            <a:xfrm>
              <a:off x="4204" y="2525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Q</a:t>
              </a:r>
            </a:p>
          </p:txBody>
        </p:sp>
        <p:sp>
          <p:nvSpPr>
            <p:cNvPr id="421933" name="Rectangle 45"/>
            <p:cNvSpPr>
              <a:spLocks noChangeArrowheads="1"/>
            </p:cNvSpPr>
            <p:nvPr/>
          </p:nvSpPr>
          <p:spPr bwMode="auto">
            <a:xfrm>
              <a:off x="4204" y="2294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J</a:t>
              </a:r>
            </a:p>
          </p:txBody>
        </p:sp>
        <p:sp>
          <p:nvSpPr>
            <p:cNvPr id="421934" name="Rectangle 46"/>
            <p:cNvSpPr>
              <a:spLocks noChangeArrowheads="1"/>
            </p:cNvSpPr>
            <p:nvPr/>
          </p:nvSpPr>
          <p:spPr bwMode="auto">
            <a:xfrm>
              <a:off x="4204" y="2063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X</a:t>
              </a:r>
            </a:p>
          </p:txBody>
        </p:sp>
        <p:sp>
          <p:nvSpPr>
            <p:cNvPr id="421935" name="Rectangle 47"/>
            <p:cNvSpPr>
              <a:spLocks noChangeArrowheads="1"/>
            </p:cNvSpPr>
            <p:nvPr/>
          </p:nvSpPr>
          <p:spPr bwMode="auto">
            <a:xfrm>
              <a:off x="4204" y="1832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K</a:t>
              </a:r>
            </a:p>
          </p:txBody>
        </p:sp>
        <p:sp>
          <p:nvSpPr>
            <p:cNvPr id="421936" name="Rectangle 48"/>
            <p:cNvSpPr>
              <a:spLocks noChangeArrowheads="1"/>
            </p:cNvSpPr>
            <p:nvPr/>
          </p:nvSpPr>
          <p:spPr bwMode="auto">
            <a:xfrm>
              <a:off x="4204" y="1560"/>
              <a:ext cx="499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zh-CN" altLang="en-US" sz="20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</a:rPr>
                <a:t>字母</a:t>
              </a:r>
            </a:p>
          </p:txBody>
        </p:sp>
        <p:sp>
          <p:nvSpPr>
            <p:cNvPr id="421937" name="Rectangle 49"/>
            <p:cNvSpPr>
              <a:spLocks noChangeArrowheads="1"/>
            </p:cNvSpPr>
            <p:nvPr/>
          </p:nvSpPr>
          <p:spPr bwMode="auto">
            <a:xfrm>
              <a:off x="1800" y="3218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F</a:t>
              </a:r>
            </a:p>
          </p:txBody>
        </p:sp>
        <p:sp>
          <p:nvSpPr>
            <p:cNvPr id="421938" name="Rectangle 50"/>
            <p:cNvSpPr>
              <a:spLocks noChangeArrowheads="1"/>
            </p:cNvSpPr>
            <p:nvPr/>
          </p:nvSpPr>
          <p:spPr bwMode="auto">
            <a:xfrm>
              <a:off x="1800" y="2987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421939" name="Rectangle 51"/>
            <p:cNvSpPr>
              <a:spLocks noChangeArrowheads="1"/>
            </p:cNvSpPr>
            <p:nvPr/>
          </p:nvSpPr>
          <p:spPr bwMode="auto">
            <a:xfrm>
              <a:off x="1800" y="2756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</a:p>
          </p:txBody>
        </p:sp>
        <p:sp>
          <p:nvSpPr>
            <p:cNvPr id="421940" name="Rectangle 52"/>
            <p:cNvSpPr>
              <a:spLocks noChangeArrowheads="1"/>
            </p:cNvSpPr>
            <p:nvPr/>
          </p:nvSpPr>
          <p:spPr bwMode="auto">
            <a:xfrm>
              <a:off x="1800" y="2525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D</a:t>
              </a:r>
            </a:p>
          </p:txBody>
        </p:sp>
        <p:sp>
          <p:nvSpPr>
            <p:cNvPr id="421941" name="Rectangle 53"/>
            <p:cNvSpPr>
              <a:spLocks noChangeArrowheads="1"/>
            </p:cNvSpPr>
            <p:nvPr/>
          </p:nvSpPr>
          <p:spPr bwMode="auto">
            <a:xfrm>
              <a:off x="1800" y="2294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</a:p>
          </p:txBody>
        </p:sp>
        <p:sp>
          <p:nvSpPr>
            <p:cNvPr id="421942" name="Rectangle 54"/>
            <p:cNvSpPr>
              <a:spLocks noChangeArrowheads="1"/>
            </p:cNvSpPr>
            <p:nvPr/>
          </p:nvSpPr>
          <p:spPr bwMode="auto">
            <a:xfrm>
              <a:off x="1800" y="2063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H</a:t>
              </a:r>
            </a:p>
          </p:txBody>
        </p:sp>
        <p:sp>
          <p:nvSpPr>
            <p:cNvPr id="421943" name="Rectangle 55"/>
            <p:cNvSpPr>
              <a:spLocks noChangeArrowheads="1"/>
            </p:cNvSpPr>
            <p:nvPr/>
          </p:nvSpPr>
          <p:spPr bwMode="auto">
            <a:xfrm>
              <a:off x="1800" y="1832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</a:p>
          </p:txBody>
        </p:sp>
        <p:sp>
          <p:nvSpPr>
            <p:cNvPr id="421944" name="Rectangle 56"/>
            <p:cNvSpPr>
              <a:spLocks noChangeArrowheads="1"/>
            </p:cNvSpPr>
            <p:nvPr/>
          </p:nvSpPr>
          <p:spPr bwMode="auto">
            <a:xfrm>
              <a:off x="1800" y="1560"/>
              <a:ext cx="544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zh-CN" altLang="en-US" sz="20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</a:rPr>
                <a:t>字母</a:t>
              </a:r>
            </a:p>
          </p:txBody>
        </p:sp>
        <p:sp>
          <p:nvSpPr>
            <p:cNvPr id="421945" name="Rectangle 57"/>
            <p:cNvSpPr>
              <a:spLocks noChangeArrowheads="1"/>
            </p:cNvSpPr>
            <p:nvPr/>
          </p:nvSpPr>
          <p:spPr bwMode="auto">
            <a:xfrm>
              <a:off x="3025" y="3218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V</a:t>
              </a:r>
            </a:p>
          </p:txBody>
        </p:sp>
        <p:sp>
          <p:nvSpPr>
            <p:cNvPr id="421946" name="Rectangle 58"/>
            <p:cNvSpPr>
              <a:spLocks noChangeArrowheads="1"/>
            </p:cNvSpPr>
            <p:nvPr/>
          </p:nvSpPr>
          <p:spPr bwMode="auto">
            <a:xfrm>
              <a:off x="3025" y="2987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B</a:t>
              </a:r>
            </a:p>
          </p:txBody>
        </p:sp>
        <p:sp>
          <p:nvSpPr>
            <p:cNvPr id="421947" name="Rectangle 59"/>
            <p:cNvSpPr>
              <a:spLocks noChangeArrowheads="1"/>
            </p:cNvSpPr>
            <p:nvPr/>
          </p:nvSpPr>
          <p:spPr bwMode="auto">
            <a:xfrm>
              <a:off x="3025" y="2756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P</a:t>
              </a:r>
            </a:p>
          </p:txBody>
        </p:sp>
        <p:sp>
          <p:nvSpPr>
            <p:cNvPr id="421948" name="Rectangle 60"/>
            <p:cNvSpPr>
              <a:spLocks noChangeArrowheads="1"/>
            </p:cNvSpPr>
            <p:nvPr/>
          </p:nvSpPr>
          <p:spPr bwMode="auto">
            <a:xfrm>
              <a:off x="3025" y="2525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G</a:t>
              </a:r>
            </a:p>
          </p:txBody>
        </p:sp>
        <p:sp>
          <p:nvSpPr>
            <p:cNvPr id="421949" name="Rectangle 61"/>
            <p:cNvSpPr>
              <a:spLocks noChangeArrowheads="1"/>
            </p:cNvSpPr>
            <p:nvPr/>
          </p:nvSpPr>
          <p:spPr bwMode="auto">
            <a:xfrm>
              <a:off x="3025" y="2294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Y</a:t>
              </a:r>
            </a:p>
          </p:txBody>
        </p:sp>
        <p:sp>
          <p:nvSpPr>
            <p:cNvPr id="421950" name="Rectangle 62"/>
            <p:cNvSpPr>
              <a:spLocks noChangeArrowheads="1"/>
            </p:cNvSpPr>
            <p:nvPr/>
          </p:nvSpPr>
          <p:spPr bwMode="auto">
            <a:xfrm>
              <a:off x="3025" y="2063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W</a:t>
              </a:r>
            </a:p>
          </p:txBody>
        </p:sp>
        <p:sp>
          <p:nvSpPr>
            <p:cNvPr id="421951" name="Rectangle 63"/>
            <p:cNvSpPr>
              <a:spLocks noChangeArrowheads="1"/>
            </p:cNvSpPr>
            <p:nvPr/>
          </p:nvSpPr>
          <p:spPr bwMode="auto">
            <a:xfrm>
              <a:off x="3025" y="1832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M</a:t>
              </a:r>
            </a:p>
          </p:txBody>
        </p:sp>
        <p:sp>
          <p:nvSpPr>
            <p:cNvPr id="421952" name="Rectangle 64"/>
            <p:cNvSpPr>
              <a:spLocks noChangeArrowheads="1"/>
            </p:cNvSpPr>
            <p:nvPr/>
          </p:nvSpPr>
          <p:spPr bwMode="auto">
            <a:xfrm>
              <a:off x="3025" y="1560"/>
              <a:ext cx="499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zh-CN" altLang="en-US" sz="20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</a:rPr>
                <a:t>字母</a:t>
              </a:r>
            </a:p>
          </p:txBody>
        </p:sp>
        <p:sp>
          <p:nvSpPr>
            <p:cNvPr id="421953" name="Rectangle 65"/>
            <p:cNvSpPr>
              <a:spLocks noChangeArrowheads="1"/>
            </p:cNvSpPr>
            <p:nvPr/>
          </p:nvSpPr>
          <p:spPr bwMode="auto">
            <a:xfrm>
              <a:off x="530" y="3218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421954" name="Rectangle 66"/>
            <p:cNvSpPr>
              <a:spLocks noChangeArrowheads="1"/>
            </p:cNvSpPr>
            <p:nvPr/>
          </p:nvSpPr>
          <p:spPr bwMode="auto">
            <a:xfrm>
              <a:off x="530" y="2987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N</a:t>
              </a:r>
            </a:p>
          </p:txBody>
        </p:sp>
        <p:sp>
          <p:nvSpPr>
            <p:cNvPr id="421955" name="Rectangle 67"/>
            <p:cNvSpPr>
              <a:spLocks noChangeArrowheads="1"/>
            </p:cNvSpPr>
            <p:nvPr/>
          </p:nvSpPr>
          <p:spPr bwMode="auto">
            <a:xfrm>
              <a:off x="530" y="2756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</a:p>
          </p:txBody>
        </p:sp>
        <p:sp>
          <p:nvSpPr>
            <p:cNvPr id="421956" name="Rectangle 68"/>
            <p:cNvSpPr>
              <a:spLocks noChangeArrowheads="1"/>
            </p:cNvSpPr>
            <p:nvPr/>
          </p:nvSpPr>
          <p:spPr bwMode="auto">
            <a:xfrm>
              <a:off x="530" y="2525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O</a:t>
              </a:r>
            </a:p>
          </p:txBody>
        </p:sp>
        <p:sp>
          <p:nvSpPr>
            <p:cNvPr id="421957" name="Rectangle 69"/>
            <p:cNvSpPr>
              <a:spLocks noChangeArrowheads="1"/>
            </p:cNvSpPr>
            <p:nvPr/>
          </p:nvSpPr>
          <p:spPr bwMode="auto">
            <a:xfrm>
              <a:off x="530" y="2294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A</a:t>
              </a:r>
            </a:p>
          </p:txBody>
        </p:sp>
        <p:sp>
          <p:nvSpPr>
            <p:cNvPr id="421958" name="Rectangle 70"/>
            <p:cNvSpPr>
              <a:spLocks noChangeArrowheads="1"/>
            </p:cNvSpPr>
            <p:nvPr/>
          </p:nvSpPr>
          <p:spPr bwMode="auto">
            <a:xfrm>
              <a:off x="530" y="2063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</a:p>
          </p:txBody>
        </p:sp>
        <p:sp>
          <p:nvSpPr>
            <p:cNvPr id="421959" name="Rectangle 71"/>
            <p:cNvSpPr>
              <a:spLocks noChangeArrowheads="1"/>
            </p:cNvSpPr>
            <p:nvPr/>
          </p:nvSpPr>
          <p:spPr bwMode="auto">
            <a:xfrm>
              <a:off x="530" y="1832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E</a:t>
              </a:r>
            </a:p>
          </p:txBody>
        </p:sp>
        <p:sp>
          <p:nvSpPr>
            <p:cNvPr id="421960" name="Rectangle 72"/>
            <p:cNvSpPr>
              <a:spLocks noChangeArrowheads="1"/>
            </p:cNvSpPr>
            <p:nvPr/>
          </p:nvSpPr>
          <p:spPr bwMode="auto">
            <a:xfrm>
              <a:off x="530" y="1560"/>
              <a:ext cx="454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zh-CN" altLang="en-US" sz="20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</a:rPr>
                <a:t>字母</a:t>
              </a:r>
            </a:p>
          </p:txBody>
        </p:sp>
        <p:sp>
          <p:nvSpPr>
            <p:cNvPr id="421961" name="Line 73"/>
            <p:cNvSpPr>
              <a:spLocks noChangeShapeType="1"/>
            </p:cNvSpPr>
            <p:nvPr/>
          </p:nvSpPr>
          <p:spPr bwMode="auto">
            <a:xfrm>
              <a:off x="530" y="1560"/>
              <a:ext cx="4808" cy="0"/>
            </a:xfrm>
            <a:prstGeom prst="line">
              <a:avLst/>
            </a:prstGeom>
            <a:grpFill/>
            <a:ln w="19050" cap="sq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62" name="Line 74"/>
            <p:cNvSpPr>
              <a:spLocks noChangeShapeType="1"/>
            </p:cNvSpPr>
            <p:nvPr/>
          </p:nvSpPr>
          <p:spPr bwMode="auto">
            <a:xfrm>
              <a:off x="530" y="3449"/>
              <a:ext cx="4808" cy="0"/>
            </a:xfrm>
            <a:prstGeom prst="line">
              <a:avLst/>
            </a:prstGeom>
            <a:grpFill/>
            <a:ln w="12700" cap="sq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63" name="Line 75"/>
            <p:cNvSpPr>
              <a:spLocks noChangeShapeType="1"/>
            </p:cNvSpPr>
            <p:nvPr/>
          </p:nvSpPr>
          <p:spPr bwMode="auto">
            <a:xfrm>
              <a:off x="5338" y="1560"/>
              <a:ext cx="0" cy="1889"/>
            </a:xfrm>
            <a:prstGeom prst="line">
              <a:avLst/>
            </a:prstGeom>
            <a:grpFill/>
            <a:ln w="19050" cap="sq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64" name="Line 76"/>
            <p:cNvSpPr>
              <a:spLocks noChangeShapeType="1"/>
            </p:cNvSpPr>
            <p:nvPr/>
          </p:nvSpPr>
          <p:spPr bwMode="auto">
            <a:xfrm>
              <a:off x="530" y="1832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65" name="Line 77"/>
            <p:cNvSpPr>
              <a:spLocks noChangeShapeType="1"/>
            </p:cNvSpPr>
            <p:nvPr/>
          </p:nvSpPr>
          <p:spPr bwMode="auto">
            <a:xfrm>
              <a:off x="530" y="2063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66" name="Line 78"/>
            <p:cNvSpPr>
              <a:spLocks noChangeShapeType="1"/>
            </p:cNvSpPr>
            <p:nvPr/>
          </p:nvSpPr>
          <p:spPr bwMode="auto">
            <a:xfrm>
              <a:off x="530" y="2294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67" name="Line 79"/>
            <p:cNvSpPr>
              <a:spLocks noChangeShapeType="1"/>
            </p:cNvSpPr>
            <p:nvPr/>
          </p:nvSpPr>
          <p:spPr bwMode="auto">
            <a:xfrm>
              <a:off x="530" y="2525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68" name="Line 80"/>
            <p:cNvSpPr>
              <a:spLocks noChangeShapeType="1"/>
            </p:cNvSpPr>
            <p:nvPr/>
          </p:nvSpPr>
          <p:spPr bwMode="auto">
            <a:xfrm>
              <a:off x="530" y="2525"/>
              <a:ext cx="0" cy="924"/>
            </a:xfrm>
            <a:prstGeom prst="line">
              <a:avLst/>
            </a:prstGeom>
            <a:grp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69" name="Line 81"/>
            <p:cNvSpPr>
              <a:spLocks noChangeShapeType="1"/>
            </p:cNvSpPr>
            <p:nvPr/>
          </p:nvSpPr>
          <p:spPr bwMode="auto">
            <a:xfrm>
              <a:off x="530" y="1560"/>
              <a:ext cx="0" cy="965"/>
            </a:xfrm>
            <a:prstGeom prst="line">
              <a:avLst/>
            </a:prstGeom>
            <a:grpFill/>
            <a:ln w="19050" cap="sq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70" name="Line 82"/>
            <p:cNvSpPr>
              <a:spLocks noChangeShapeType="1"/>
            </p:cNvSpPr>
            <p:nvPr/>
          </p:nvSpPr>
          <p:spPr bwMode="auto">
            <a:xfrm>
              <a:off x="530" y="2756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71" name="Line 83"/>
            <p:cNvSpPr>
              <a:spLocks noChangeShapeType="1"/>
            </p:cNvSpPr>
            <p:nvPr/>
          </p:nvSpPr>
          <p:spPr bwMode="auto">
            <a:xfrm>
              <a:off x="530" y="2987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72" name="Line 84"/>
            <p:cNvSpPr>
              <a:spLocks noChangeShapeType="1"/>
            </p:cNvSpPr>
            <p:nvPr/>
          </p:nvSpPr>
          <p:spPr bwMode="auto">
            <a:xfrm>
              <a:off x="530" y="3218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73" name="Line 85"/>
            <p:cNvSpPr>
              <a:spLocks noChangeShapeType="1"/>
            </p:cNvSpPr>
            <p:nvPr/>
          </p:nvSpPr>
          <p:spPr bwMode="auto">
            <a:xfrm>
              <a:off x="3025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74" name="Line 86"/>
            <p:cNvSpPr>
              <a:spLocks noChangeShapeType="1"/>
            </p:cNvSpPr>
            <p:nvPr/>
          </p:nvSpPr>
          <p:spPr bwMode="auto">
            <a:xfrm>
              <a:off x="1800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75" name="Line 87"/>
            <p:cNvSpPr>
              <a:spLocks noChangeShapeType="1"/>
            </p:cNvSpPr>
            <p:nvPr/>
          </p:nvSpPr>
          <p:spPr bwMode="auto">
            <a:xfrm>
              <a:off x="4204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76" name="Line 88"/>
            <p:cNvSpPr>
              <a:spLocks noChangeShapeType="1"/>
            </p:cNvSpPr>
            <p:nvPr/>
          </p:nvSpPr>
          <p:spPr bwMode="auto">
            <a:xfrm>
              <a:off x="984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77" name="Line 89"/>
            <p:cNvSpPr>
              <a:spLocks noChangeShapeType="1"/>
            </p:cNvSpPr>
            <p:nvPr/>
          </p:nvSpPr>
          <p:spPr bwMode="auto">
            <a:xfrm>
              <a:off x="2344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78" name="Line 90"/>
            <p:cNvSpPr>
              <a:spLocks noChangeShapeType="1"/>
            </p:cNvSpPr>
            <p:nvPr/>
          </p:nvSpPr>
          <p:spPr bwMode="auto">
            <a:xfrm>
              <a:off x="3524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79" name="Line 91"/>
            <p:cNvSpPr>
              <a:spLocks noChangeShapeType="1"/>
            </p:cNvSpPr>
            <p:nvPr/>
          </p:nvSpPr>
          <p:spPr bwMode="auto">
            <a:xfrm>
              <a:off x="4703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80" name="Rectangle 92"/>
            <p:cNvSpPr>
              <a:spLocks noChangeArrowheads="1"/>
            </p:cNvSpPr>
            <p:nvPr/>
          </p:nvSpPr>
          <p:spPr bwMode="auto">
            <a:xfrm>
              <a:off x="528" y="2396"/>
              <a:ext cx="116" cy="23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1981" name="Rectangle 93"/>
            <p:cNvSpPr>
              <a:spLocks noChangeArrowheads="1"/>
            </p:cNvSpPr>
            <p:nvPr/>
          </p:nvSpPr>
          <p:spPr bwMode="auto">
            <a:xfrm>
              <a:off x="4703" y="3218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zh-CN" sz="180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21982" name="Rectangle 94"/>
            <p:cNvSpPr>
              <a:spLocks noChangeArrowheads="1"/>
            </p:cNvSpPr>
            <p:nvPr/>
          </p:nvSpPr>
          <p:spPr bwMode="auto">
            <a:xfrm>
              <a:off x="4703" y="2987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zh-CN" sz="180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387" name="Rectangle 95"/>
            <p:cNvSpPr>
              <a:spLocks noChangeArrowheads="1"/>
            </p:cNvSpPr>
            <p:nvPr/>
          </p:nvSpPr>
          <p:spPr bwMode="auto">
            <a:xfrm>
              <a:off x="4703" y="2756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0.0006</a:t>
              </a:r>
            </a:p>
          </p:txBody>
        </p:sp>
        <p:sp>
          <p:nvSpPr>
            <p:cNvPr id="12388" name="Rectangle 96"/>
            <p:cNvSpPr>
              <a:spLocks noChangeArrowheads="1"/>
            </p:cNvSpPr>
            <p:nvPr/>
          </p:nvSpPr>
          <p:spPr bwMode="auto">
            <a:xfrm>
              <a:off x="4703" y="2525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0.0009</a:t>
              </a:r>
            </a:p>
          </p:txBody>
        </p:sp>
        <p:sp>
          <p:nvSpPr>
            <p:cNvPr id="12389" name="Rectangle 97"/>
            <p:cNvSpPr>
              <a:spLocks noChangeArrowheads="1"/>
            </p:cNvSpPr>
            <p:nvPr/>
          </p:nvSpPr>
          <p:spPr bwMode="auto">
            <a:xfrm>
              <a:off x="4703" y="2294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0.0010</a:t>
              </a:r>
            </a:p>
          </p:txBody>
        </p:sp>
        <p:sp>
          <p:nvSpPr>
            <p:cNvPr id="12390" name="Rectangle 98"/>
            <p:cNvSpPr>
              <a:spLocks noChangeArrowheads="1"/>
            </p:cNvSpPr>
            <p:nvPr/>
          </p:nvSpPr>
          <p:spPr bwMode="auto">
            <a:xfrm>
              <a:off x="4703" y="2063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0.0016</a:t>
              </a:r>
            </a:p>
          </p:txBody>
        </p:sp>
        <p:sp>
          <p:nvSpPr>
            <p:cNvPr id="12391" name="Rectangle 99"/>
            <p:cNvSpPr>
              <a:spLocks noChangeArrowheads="1"/>
            </p:cNvSpPr>
            <p:nvPr/>
          </p:nvSpPr>
          <p:spPr bwMode="auto">
            <a:xfrm>
              <a:off x="4703" y="1832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0.0060</a:t>
              </a:r>
            </a:p>
          </p:txBody>
        </p:sp>
        <p:sp>
          <p:nvSpPr>
            <p:cNvPr id="421988" name="Rectangle 100"/>
            <p:cNvSpPr>
              <a:spLocks noChangeArrowheads="1"/>
            </p:cNvSpPr>
            <p:nvPr/>
          </p:nvSpPr>
          <p:spPr bwMode="auto">
            <a:xfrm>
              <a:off x="4703" y="1560"/>
              <a:ext cx="635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zh-CN" altLang="en-US" sz="20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</a:rPr>
                <a:t>频率</a:t>
              </a:r>
            </a:p>
          </p:txBody>
        </p:sp>
        <p:sp>
          <p:nvSpPr>
            <p:cNvPr id="12393" name="Rectangle 101"/>
            <p:cNvSpPr>
              <a:spLocks noChangeArrowheads="1"/>
            </p:cNvSpPr>
            <p:nvPr/>
          </p:nvSpPr>
          <p:spPr bwMode="auto">
            <a:xfrm>
              <a:off x="3524" y="3218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0.0102</a:t>
              </a:r>
            </a:p>
          </p:txBody>
        </p:sp>
        <p:sp>
          <p:nvSpPr>
            <p:cNvPr id="12394" name="Rectangle 102"/>
            <p:cNvSpPr>
              <a:spLocks noChangeArrowheads="1"/>
            </p:cNvSpPr>
            <p:nvPr/>
          </p:nvSpPr>
          <p:spPr bwMode="auto">
            <a:xfrm>
              <a:off x="3524" y="2987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0.0156</a:t>
              </a:r>
            </a:p>
          </p:txBody>
        </p:sp>
        <p:sp>
          <p:nvSpPr>
            <p:cNvPr id="12395" name="Rectangle 103"/>
            <p:cNvSpPr>
              <a:spLocks noChangeArrowheads="1"/>
            </p:cNvSpPr>
            <p:nvPr/>
          </p:nvSpPr>
          <p:spPr bwMode="auto">
            <a:xfrm>
              <a:off x="3524" y="2756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0.0186</a:t>
              </a:r>
            </a:p>
          </p:txBody>
        </p:sp>
        <p:sp>
          <p:nvSpPr>
            <p:cNvPr id="12396" name="Rectangle 104"/>
            <p:cNvSpPr>
              <a:spLocks noChangeArrowheads="1"/>
            </p:cNvSpPr>
            <p:nvPr/>
          </p:nvSpPr>
          <p:spPr bwMode="auto">
            <a:xfrm>
              <a:off x="3524" y="2525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0.0187</a:t>
              </a:r>
            </a:p>
          </p:txBody>
        </p:sp>
        <p:sp>
          <p:nvSpPr>
            <p:cNvPr id="12397" name="Rectangle 105"/>
            <p:cNvSpPr>
              <a:spLocks noChangeArrowheads="1"/>
            </p:cNvSpPr>
            <p:nvPr/>
          </p:nvSpPr>
          <p:spPr bwMode="auto">
            <a:xfrm>
              <a:off x="3524" y="2294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0.0202</a:t>
              </a:r>
            </a:p>
          </p:txBody>
        </p:sp>
        <p:sp>
          <p:nvSpPr>
            <p:cNvPr id="12398" name="Rectangle 106"/>
            <p:cNvSpPr>
              <a:spLocks noChangeArrowheads="1"/>
            </p:cNvSpPr>
            <p:nvPr/>
          </p:nvSpPr>
          <p:spPr bwMode="auto">
            <a:xfrm>
              <a:off x="3524" y="2063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0.0214</a:t>
              </a:r>
            </a:p>
          </p:txBody>
        </p:sp>
        <p:sp>
          <p:nvSpPr>
            <p:cNvPr id="12399" name="Rectangle 107"/>
            <p:cNvSpPr>
              <a:spLocks noChangeArrowheads="1"/>
            </p:cNvSpPr>
            <p:nvPr/>
          </p:nvSpPr>
          <p:spPr bwMode="auto">
            <a:xfrm>
              <a:off x="3524" y="1832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0.0244</a:t>
              </a:r>
            </a:p>
          </p:txBody>
        </p:sp>
        <p:sp>
          <p:nvSpPr>
            <p:cNvPr id="421996" name="Rectangle 108"/>
            <p:cNvSpPr>
              <a:spLocks noChangeArrowheads="1"/>
            </p:cNvSpPr>
            <p:nvPr/>
          </p:nvSpPr>
          <p:spPr bwMode="auto">
            <a:xfrm>
              <a:off x="3524" y="1560"/>
              <a:ext cx="680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zh-CN" altLang="en-US" sz="20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</a:rPr>
                <a:t>频率</a:t>
              </a:r>
            </a:p>
          </p:txBody>
        </p:sp>
        <p:sp>
          <p:nvSpPr>
            <p:cNvPr id="12401" name="Rectangle 109"/>
            <p:cNvSpPr>
              <a:spLocks noChangeArrowheads="1"/>
            </p:cNvSpPr>
            <p:nvPr/>
          </p:nvSpPr>
          <p:spPr bwMode="auto">
            <a:xfrm>
              <a:off x="2344" y="3218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0.0256</a:t>
              </a:r>
            </a:p>
          </p:txBody>
        </p:sp>
        <p:sp>
          <p:nvSpPr>
            <p:cNvPr id="12402" name="Rectangle 110"/>
            <p:cNvSpPr>
              <a:spLocks noChangeArrowheads="1"/>
            </p:cNvSpPr>
            <p:nvPr/>
          </p:nvSpPr>
          <p:spPr bwMode="auto">
            <a:xfrm>
              <a:off x="2344" y="2987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0.0268</a:t>
              </a:r>
            </a:p>
          </p:txBody>
        </p:sp>
        <p:sp>
          <p:nvSpPr>
            <p:cNvPr id="12403" name="Rectangle 111"/>
            <p:cNvSpPr>
              <a:spLocks noChangeArrowheads="1"/>
            </p:cNvSpPr>
            <p:nvPr/>
          </p:nvSpPr>
          <p:spPr bwMode="auto">
            <a:xfrm>
              <a:off x="2344" y="2756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0.0280</a:t>
              </a:r>
            </a:p>
          </p:txBody>
        </p:sp>
        <p:sp>
          <p:nvSpPr>
            <p:cNvPr id="12404" name="Rectangle 112"/>
            <p:cNvSpPr>
              <a:spLocks noChangeArrowheads="1"/>
            </p:cNvSpPr>
            <p:nvPr/>
          </p:nvSpPr>
          <p:spPr bwMode="auto">
            <a:xfrm>
              <a:off x="2344" y="2525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0.0389</a:t>
              </a:r>
            </a:p>
          </p:txBody>
        </p:sp>
        <p:sp>
          <p:nvSpPr>
            <p:cNvPr id="12405" name="Rectangle 113"/>
            <p:cNvSpPr>
              <a:spLocks noChangeArrowheads="1"/>
            </p:cNvSpPr>
            <p:nvPr/>
          </p:nvSpPr>
          <p:spPr bwMode="auto">
            <a:xfrm>
              <a:off x="2344" y="2294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0.0394</a:t>
              </a:r>
            </a:p>
          </p:txBody>
        </p:sp>
        <p:sp>
          <p:nvSpPr>
            <p:cNvPr id="12406" name="Rectangle 114"/>
            <p:cNvSpPr>
              <a:spLocks noChangeArrowheads="1"/>
            </p:cNvSpPr>
            <p:nvPr/>
          </p:nvSpPr>
          <p:spPr bwMode="auto">
            <a:xfrm>
              <a:off x="2344" y="2063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0.0573</a:t>
              </a:r>
            </a:p>
          </p:txBody>
        </p:sp>
        <p:sp>
          <p:nvSpPr>
            <p:cNvPr id="12407" name="Rectangle 115"/>
            <p:cNvSpPr>
              <a:spLocks noChangeArrowheads="1"/>
            </p:cNvSpPr>
            <p:nvPr/>
          </p:nvSpPr>
          <p:spPr bwMode="auto">
            <a:xfrm>
              <a:off x="2344" y="1832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0.0594</a:t>
              </a:r>
            </a:p>
          </p:txBody>
        </p:sp>
        <p:sp>
          <p:nvSpPr>
            <p:cNvPr id="422004" name="Rectangle 116"/>
            <p:cNvSpPr>
              <a:spLocks noChangeArrowheads="1"/>
            </p:cNvSpPr>
            <p:nvPr/>
          </p:nvSpPr>
          <p:spPr bwMode="auto">
            <a:xfrm>
              <a:off x="2344" y="1560"/>
              <a:ext cx="681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zh-CN" altLang="en-US" sz="20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</a:rPr>
                <a:t>频率</a:t>
              </a:r>
            </a:p>
          </p:txBody>
        </p:sp>
        <p:sp>
          <p:nvSpPr>
            <p:cNvPr id="12409" name="Rectangle 117"/>
            <p:cNvSpPr>
              <a:spLocks noChangeArrowheads="1"/>
            </p:cNvSpPr>
            <p:nvPr/>
          </p:nvSpPr>
          <p:spPr bwMode="auto">
            <a:xfrm>
              <a:off x="984" y="3218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0.0634</a:t>
              </a:r>
            </a:p>
          </p:txBody>
        </p:sp>
        <p:sp>
          <p:nvSpPr>
            <p:cNvPr id="12410" name="Rectangle 118"/>
            <p:cNvSpPr>
              <a:spLocks noChangeArrowheads="1"/>
            </p:cNvSpPr>
            <p:nvPr/>
          </p:nvSpPr>
          <p:spPr bwMode="auto">
            <a:xfrm>
              <a:off x="984" y="2987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0.0706</a:t>
              </a:r>
            </a:p>
          </p:txBody>
        </p:sp>
        <p:sp>
          <p:nvSpPr>
            <p:cNvPr id="12411" name="Rectangle 119"/>
            <p:cNvSpPr>
              <a:spLocks noChangeArrowheads="1"/>
            </p:cNvSpPr>
            <p:nvPr/>
          </p:nvSpPr>
          <p:spPr bwMode="auto">
            <a:xfrm>
              <a:off x="984" y="2756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0.0707</a:t>
              </a:r>
            </a:p>
          </p:txBody>
        </p:sp>
        <p:sp>
          <p:nvSpPr>
            <p:cNvPr id="12412" name="Rectangle 120"/>
            <p:cNvSpPr>
              <a:spLocks noChangeArrowheads="1"/>
            </p:cNvSpPr>
            <p:nvPr/>
          </p:nvSpPr>
          <p:spPr bwMode="auto">
            <a:xfrm>
              <a:off x="984" y="2525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0.0776</a:t>
              </a:r>
            </a:p>
          </p:txBody>
        </p:sp>
        <p:sp>
          <p:nvSpPr>
            <p:cNvPr id="12413" name="Rectangle 121"/>
            <p:cNvSpPr>
              <a:spLocks noChangeArrowheads="1"/>
            </p:cNvSpPr>
            <p:nvPr/>
          </p:nvSpPr>
          <p:spPr bwMode="auto">
            <a:xfrm>
              <a:off x="984" y="2294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0.0788</a:t>
              </a:r>
            </a:p>
          </p:txBody>
        </p:sp>
        <p:sp>
          <p:nvSpPr>
            <p:cNvPr id="12414" name="Rectangle 122"/>
            <p:cNvSpPr>
              <a:spLocks noChangeArrowheads="1"/>
            </p:cNvSpPr>
            <p:nvPr/>
          </p:nvSpPr>
          <p:spPr bwMode="auto">
            <a:xfrm>
              <a:off x="984" y="2063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0.0978</a:t>
              </a:r>
            </a:p>
          </p:txBody>
        </p:sp>
        <p:sp>
          <p:nvSpPr>
            <p:cNvPr id="12415" name="Rectangle 123"/>
            <p:cNvSpPr>
              <a:spLocks noChangeArrowheads="1"/>
            </p:cNvSpPr>
            <p:nvPr/>
          </p:nvSpPr>
          <p:spPr bwMode="auto">
            <a:xfrm>
              <a:off x="984" y="1832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0.1268</a:t>
              </a:r>
            </a:p>
          </p:txBody>
        </p:sp>
        <p:sp>
          <p:nvSpPr>
            <p:cNvPr id="422012" name="Rectangle 124"/>
            <p:cNvSpPr>
              <a:spLocks noChangeArrowheads="1"/>
            </p:cNvSpPr>
            <p:nvPr/>
          </p:nvSpPr>
          <p:spPr bwMode="auto">
            <a:xfrm>
              <a:off x="984" y="1560"/>
              <a:ext cx="816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zh-CN" altLang="en-US" sz="20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</a:rPr>
                <a:t>频率</a:t>
              </a:r>
            </a:p>
          </p:txBody>
        </p:sp>
        <p:sp>
          <p:nvSpPr>
            <p:cNvPr id="422013" name="Rectangle 125"/>
            <p:cNvSpPr>
              <a:spLocks noChangeArrowheads="1"/>
            </p:cNvSpPr>
            <p:nvPr/>
          </p:nvSpPr>
          <p:spPr bwMode="auto">
            <a:xfrm>
              <a:off x="4204" y="3218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zh-CN" sz="180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22014" name="Rectangle 126"/>
            <p:cNvSpPr>
              <a:spLocks noChangeArrowheads="1"/>
            </p:cNvSpPr>
            <p:nvPr/>
          </p:nvSpPr>
          <p:spPr bwMode="auto">
            <a:xfrm>
              <a:off x="4204" y="2987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zh-CN" sz="180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22015" name="Rectangle 127"/>
            <p:cNvSpPr>
              <a:spLocks noChangeArrowheads="1"/>
            </p:cNvSpPr>
            <p:nvPr/>
          </p:nvSpPr>
          <p:spPr bwMode="auto">
            <a:xfrm>
              <a:off x="4204" y="2756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Z</a:t>
              </a:r>
            </a:p>
          </p:txBody>
        </p:sp>
        <p:sp>
          <p:nvSpPr>
            <p:cNvPr id="422016" name="Rectangle 128"/>
            <p:cNvSpPr>
              <a:spLocks noChangeArrowheads="1"/>
            </p:cNvSpPr>
            <p:nvPr/>
          </p:nvSpPr>
          <p:spPr bwMode="auto">
            <a:xfrm>
              <a:off x="4204" y="2525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Q</a:t>
              </a:r>
            </a:p>
          </p:txBody>
        </p:sp>
        <p:sp>
          <p:nvSpPr>
            <p:cNvPr id="422017" name="Rectangle 129"/>
            <p:cNvSpPr>
              <a:spLocks noChangeArrowheads="1"/>
            </p:cNvSpPr>
            <p:nvPr/>
          </p:nvSpPr>
          <p:spPr bwMode="auto">
            <a:xfrm>
              <a:off x="4204" y="2294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J</a:t>
              </a:r>
            </a:p>
          </p:txBody>
        </p:sp>
        <p:sp>
          <p:nvSpPr>
            <p:cNvPr id="422018" name="Rectangle 130"/>
            <p:cNvSpPr>
              <a:spLocks noChangeArrowheads="1"/>
            </p:cNvSpPr>
            <p:nvPr/>
          </p:nvSpPr>
          <p:spPr bwMode="auto">
            <a:xfrm>
              <a:off x="4204" y="2063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X</a:t>
              </a:r>
            </a:p>
          </p:txBody>
        </p:sp>
        <p:sp>
          <p:nvSpPr>
            <p:cNvPr id="422019" name="Rectangle 131"/>
            <p:cNvSpPr>
              <a:spLocks noChangeArrowheads="1"/>
            </p:cNvSpPr>
            <p:nvPr/>
          </p:nvSpPr>
          <p:spPr bwMode="auto">
            <a:xfrm>
              <a:off x="4204" y="1832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K</a:t>
              </a:r>
            </a:p>
          </p:txBody>
        </p:sp>
        <p:sp>
          <p:nvSpPr>
            <p:cNvPr id="422020" name="Rectangle 132"/>
            <p:cNvSpPr>
              <a:spLocks noChangeArrowheads="1"/>
            </p:cNvSpPr>
            <p:nvPr/>
          </p:nvSpPr>
          <p:spPr bwMode="auto">
            <a:xfrm>
              <a:off x="4204" y="1560"/>
              <a:ext cx="499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zh-CN" altLang="en-US" sz="20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</a:rPr>
                <a:t>字母</a:t>
              </a:r>
            </a:p>
          </p:txBody>
        </p:sp>
        <p:sp>
          <p:nvSpPr>
            <p:cNvPr id="422021" name="Rectangle 133"/>
            <p:cNvSpPr>
              <a:spLocks noChangeArrowheads="1"/>
            </p:cNvSpPr>
            <p:nvPr/>
          </p:nvSpPr>
          <p:spPr bwMode="auto">
            <a:xfrm>
              <a:off x="1800" y="3218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F</a:t>
              </a:r>
            </a:p>
          </p:txBody>
        </p:sp>
        <p:sp>
          <p:nvSpPr>
            <p:cNvPr id="422022" name="Rectangle 134"/>
            <p:cNvSpPr>
              <a:spLocks noChangeArrowheads="1"/>
            </p:cNvSpPr>
            <p:nvPr/>
          </p:nvSpPr>
          <p:spPr bwMode="auto">
            <a:xfrm>
              <a:off x="1800" y="2987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422023" name="Rectangle 135"/>
            <p:cNvSpPr>
              <a:spLocks noChangeArrowheads="1"/>
            </p:cNvSpPr>
            <p:nvPr/>
          </p:nvSpPr>
          <p:spPr bwMode="auto">
            <a:xfrm>
              <a:off x="1800" y="2756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</a:p>
          </p:txBody>
        </p:sp>
        <p:sp>
          <p:nvSpPr>
            <p:cNvPr id="422024" name="Rectangle 136"/>
            <p:cNvSpPr>
              <a:spLocks noChangeArrowheads="1"/>
            </p:cNvSpPr>
            <p:nvPr/>
          </p:nvSpPr>
          <p:spPr bwMode="auto">
            <a:xfrm>
              <a:off x="1800" y="2525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D</a:t>
              </a:r>
            </a:p>
          </p:txBody>
        </p:sp>
        <p:sp>
          <p:nvSpPr>
            <p:cNvPr id="422025" name="Rectangle 137"/>
            <p:cNvSpPr>
              <a:spLocks noChangeArrowheads="1"/>
            </p:cNvSpPr>
            <p:nvPr/>
          </p:nvSpPr>
          <p:spPr bwMode="auto">
            <a:xfrm>
              <a:off x="1800" y="2294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</a:p>
          </p:txBody>
        </p:sp>
        <p:sp>
          <p:nvSpPr>
            <p:cNvPr id="422026" name="Rectangle 138"/>
            <p:cNvSpPr>
              <a:spLocks noChangeArrowheads="1"/>
            </p:cNvSpPr>
            <p:nvPr/>
          </p:nvSpPr>
          <p:spPr bwMode="auto">
            <a:xfrm>
              <a:off x="1800" y="2063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H</a:t>
              </a:r>
            </a:p>
          </p:txBody>
        </p:sp>
        <p:sp>
          <p:nvSpPr>
            <p:cNvPr id="422027" name="Rectangle 139"/>
            <p:cNvSpPr>
              <a:spLocks noChangeArrowheads="1"/>
            </p:cNvSpPr>
            <p:nvPr/>
          </p:nvSpPr>
          <p:spPr bwMode="auto">
            <a:xfrm>
              <a:off x="1800" y="1832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</a:p>
          </p:txBody>
        </p:sp>
        <p:sp>
          <p:nvSpPr>
            <p:cNvPr id="422028" name="Rectangle 140"/>
            <p:cNvSpPr>
              <a:spLocks noChangeArrowheads="1"/>
            </p:cNvSpPr>
            <p:nvPr/>
          </p:nvSpPr>
          <p:spPr bwMode="auto">
            <a:xfrm>
              <a:off x="1800" y="1560"/>
              <a:ext cx="544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zh-CN" altLang="en-US" sz="20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</a:rPr>
                <a:t>字母</a:t>
              </a:r>
            </a:p>
          </p:txBody>
        </p:sp>
        <p:sp>
          <p:nvSpPr>
            <p:cNvPr id="422029" name="Rectangle 141"/>
            <p:cNvSpPr>
              <a:spLocks noChangeArrowheads="1"/>
            </p:cNvSpPr>
            <p:nvPr/>
          </p:nvSpPr>
          <p:spPr bwMode="auto">
            <a:xfrm>
              <a:off x="3025" y="3218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V</a:t>
              </a:r>
            </a:p>
          </p:txBody>
        </p:sp>
        <p:sp>
          <p:nvSpPr>
            <p:cNvPr id="422030" name="Rectangle 142"/>
            <p:cNvSpPr>
              <a:spLocks noChangeArrowheads="1"/>
            </p:cNvSpPr>
            <p:nvPr/>
          </p:nvSpPr>
          <p:spPr bwMode="auto">
            <a:xfrm>
              <a:off x="3025" y="2987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B</a:t>
              </a:r>
            </a:p>
          </p:txBody>
        </p:sp>
        <p:sp>
          <p:nvSpPr>
            <p:cNvPr id="422031" name="Rectangle 143"/>
            <p:cNvSpPr>
              <a:spLocks noChangeArrowheads="1"/>
            </p:cNvSpPr>
            <p:nvPr/>
          </p:nvSpPr>
          <p:spPr bwMode="auto">
            <a:xfrm>
              <a:off x="3025" y="2756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P</a:t>
              </a:r>
            </a:p>
          </p:txBody>
        </p:sp>
        <p:sp>
          <p:nvSpPr>
            <p:cNvPr id="422032" name="Rectangle 144"/>
            <p:cNvSpPr>
              <a:spLocks noChangeArrowheads="1"/>
            </p:cNvSpPr>
            <p:nvPr/>
          </p:nvSpPr>
          <p:spPr bwMode="auto">
            <a:xfrm>
              <a:off x="3025" y="2525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G</a:t>
              </a:r>
            </a:p>
          </p:txBody>
        </p:sp>
        <p:sp>
          <p:nvSpPr>
            <p:cNvPr id="422033" name="Rectangle 145"/>
            <p:cNvSpPr>
              <a:spLocks noChangeArrowheads="1"/>
            </p:cNvSpPr>
            <p:nvPr/>
          </p:nvSpPr>
          <p:spPr bwMode="auto">
            <a:xfrm>
              <a:off x="3025" y="2294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Y</a:t>
              </a:r>
            </a:p>
          </p:txBody>
        </p:sp>
        <p:sp>
          <p:nvSpPr>
            <p:cNvPr id="422034" name="Rectangle 146"/>
            <p:cNvSpPr>
              <a:spLocks noChangeArrowheads="1"/>
            </p:cNvSpPr>
            <p:nvPr/>
          </p:nvSpPr>
          <p:spPr bwMode="auto">
            <a:xfrm>
              <a:off x="3025" y="2063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W</a:t>
              </a:r>
            </a:p>
          </p:txBody>
        </p:sp>
        <p:sp>
          <p:nvSpPr>
            <p:cNvPr id="422035" name="Rectangle 147"/>
            <p:cNvSpPr>
              <a:spLocks noChangeArrowheads="1"/>
            </p:cNvSpPr>
            <p:nvPr/>
          </p:nvSpPr>
          <p:spPr bwMode="auto">
            <a:xfrm>
              <a:off x="3025" y="1832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M</a:t>
              </a:r>
            </a:p>
          </p:txBody>
        </p:sp>
        <p:sp>
          <p:nvSpPr>
            <p:cNvPr id="422036" name="Rectangle 148"/>
            <p:cNvSpPr>
              <a:spLocks noChangeArrowheads="1"/>
            </p:cNvSpPr>
            <p:nvPr/>
          </p:nvSpPr>
          <p:spPr bwMode="auto">
            <a:xfrm>
              <a:off x="3025" y="1560"/>
              <a:ext cx="499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zh-CN" altLang="en-US" sz="20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</a:rPr>
                <a:t>字母</a:t>
              </a:r>
            </a:p>
          </p:txBody>
        </p:sp>
        <p:sp>
          <p:nvSpPr>
            <p:cNvPr id="422037" name="Rectangle 149"/>
            <p:cNvSpPr>
              <a:spLocks noChangeArrowheads="1"/>
            </p:cNvSpPr>
            <p:nvPr/>
          </p:nvSpPr>
          <p:spPr bwMode="auto">
            <a:xfrm>
              <a:off x="530" y="3218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422038" name="Rectangle 150"/>
            <p:cNvSpPr>
              <a:spLocks noChangeArrowheads="1"/>
            </p:cNvSpPr>
            <p:nvPr/>
          </p:nvSpPr>
          <p:spPr bwMode="auto">
            <a:xfrm>
              <a:off x="530" y="2987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N</a:t>
              </a:r>
            </a:p>
          </p:txBody>
        </p:sp>
        <p:sp>
          <p:nvSpPr>
            <p:cNvPr id="422039" name="Rectangle 151"/>
            <p:cNvSpPr>
              <a:spLocks noChangeArrowheads="1"/>
            </p:cNvSpPr>
            <p:nvPr/>
          </p:nvSpPr>
          <p:spPr bwMode="auto">
            <a:xfrm>
              <a:off x="530" y="2756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</a:p>
          </p:txBody>
        </p:sp>
        <p:sp>
          <p:nvSpPr>
            <p:cNvPr id="422040" name="Rectangle 152"/>
            <p:cNvSpPr>
              <a:spLocks noChangeArrowheads="1"/>
            </p:cNvSpPr>
            <p:nvPr/>
          </p:nvSpPr>
          <p:spPr bwMode="auto">
            <a:xfrm>
              <a:off x="530" y="2525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O</a:t>
              </a:r>
            </a:p>
          </p:txBody>
        </p:sp>
        <p:sp>
          <p:nvSpPr>
            <p:cNvPr id="422041" name="Rectangle 153"/>
            <p:cNvSpPr>
              <a:spLocks noChangeArrowheads="1"/>
            </p:cNvSpPr>
            <p:nvPr/>
          </p:nvSpPr>
          <p:spPr bwMode="auto">
            <a:xfrm>
              <a:off x="530" y="2294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A</a:t>
              </a:r>
            </a:p>
          </p:txBody>
        </p:sp>
        <p:sp>
          <p:nvSpPr>
            <p:cNvPr id="422042" name="Rectangle 154"/>
            <p:cNvSpPr>
              <a:spLocks noChangeArrowheads="1"/>
            </p:cNvSpPr>
            <p:nvPr/>
          </p:nvSpPr>
          <p:spPr bwMode="auto">
            <a:xfrm>
              <a:off x="530" y="2063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</a:p>
          </p:txBody>
        </p:sp>
        <p:sp>
          <p:nvSpPr>
            <p:cNvPr id="422043" name="Rectangle 155"/>
            <p:cNvSpPr>
              <a:spLocks noChangeArrowheads="1"/>
            </p:cNvSpPr>
            <p:nvPr/>
          </p:nvSpPr>
          <p:spPr bwMode="auto">
            <a:xfrm>
              <a:off x="530" y="1832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E</a:t>
              </a:r>
            </a:p>
          </p:txBody>
        </p:sp>
        <p:sp>
          <p:nvSpPr>
            <p:cNvPr id="422044" name="Rectangle 156"/>
            <p:cNvSpPr>
              <a:spLocks noChangeArrowheads="1"/>
            </p:cNvSpPr>
            <p:nvPr/>
          </p:nvSpPr>
          <p:spPr bwMode="auto">
            <a:xfrm>
              <a:off x="530" y="1560"/>
              <a:ext cx="454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zh-CN" altLang="en-US" sz="20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</a:rPr>
                <a:t>字母</a:t>
              </a:r>
            </a:p>
          </p:txBody>
        </p:sp>
        <p:sp>
          <p:nvSpPr>
            <p:cNvPr id="422045" name="Line 157"/>
            <p:cNvSpPr>
              <a:spLocks noChangeShapeType="1"/>
            </p:cNvSpPr>
            <p:nvPr/>
          </p:nvSpPr>
          <p:spPr bwMode="auto">
            <a:xfrm>
              <a:off x="530" y="1560"/>
              <a:ext cx="4808" cy="0"/>
            </a:xfrm>
            <a:prstGeom prst="line">
              <a:avLst/>
            </a:prstGeom>
            <a:grpFill/>
            <a:ln w="19050" cap="sq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46" name="Line 158"/>
            <p:cNvSpPr>
              <a:spLocks noChangeShapeType="1"/>
            </p:cNvSpPr>
            <p:nvPr/>
          </p:nvSpPr>
          <p:spPr bwMode="auto">
            <a:xfrm>
              <a:off x="530" y="3449"/>
              <a:ext cx="4808" cy="0"/>
            </a:xfrm>
            <a:prstGeom prst="line">
              <a:avLst/>
            </a:prstGeom>
            <a:grpFill/>
            <a:ln w="12700" cap="sq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47" name="Line 159"/>
            <p:cNvSpPr>
              <a:spLocks noChangeShapeType="1"/>
            </p:cNvSpPr>
            <p:nvPr/>
          </p:nvSpPr>
          <p:spPr bwMode="auto">
            <a:xfrm>
              <a:off x="5338" y="1560"/>
              <a:ext cx="0" cy="1889"/>
            </a:xfrm>
            <a:prstGeom prst="line">
              <a:avLst/>
            </a:prstGeom>
            <a:grpFill/>
            <a:ln w="19050" cap="sq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48" name="Line 160"/>
            <p:cNvSpPr>
              <a:spLocks noChangeShapeType="1"/>
            </p:cNvSpPr>
            <p:nvPr/>
          </p:nvSpPr>
          <p:spPr bwMode="auto">
            <a:xfrm>
              <a:off x="530" y="1832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49" name="Line 161"/>
            <p:cNvSpPr>
              <a:spLocks noChangeShapeType="1"/>
            </p:cNvSpPr>
            <p:nvPr/>
          </p:nvSpPr>
          <p:spPr bwMode="auto">
            <a:xfrm>
              <a:off x="530" y="2063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50" name="Line 162"/>
            <p:cNvSpPr>
              <a:spLocks noChangeShapeType="1"/>
            </p:cNvSpPr>
            <p:nvPr/>
          </p:nvSpPr>
          <p:spPr bwMode="auto">
            <a:xfrm>
              <a:off x="530" y="2294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51" name="Line 163"/>
            <p:cNvSpPr>
              <a:spLocks noChangeShapeType="1"/>
            </p:cNvSpPr>
            <p:nvPr/>
          </p:nvSpPr>
          <p:spPr bwMode="auto">
            <a:xfrm>
              <a:off x="530" y="2525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52" name="Line 164"/>
            <p:cNvSpPr>
              <a:spLocks noChangeShapeType="1"/>
            </p:cNvSpPr>
            <p:nvPr/>
          </p:nvSpPr>
          <p:spPr bwMode="auto">
            <a:xfrm>
              <a:off x="530" y="2525"/>
              <a:ext cx="0" cy="924"/>
            </a:xfrm>
            <a:prstGeom prst="line">
              <a:avLst/>
            </a:prstGeom>
            <a:grp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53" name="Line 165"/>
            <p:cNvSpPr>
              <a:spLocks noChangeShapeType="1"/>
            </p:cNvSpPr>
            <p:nvPr/>
          </p:nvSpPr>
          <p:spPr bwMode="auto">
            <a:xfrm>
              <a:off x="530" y="1560"/>
              <a:ext cx="0" cy="965"/>
            </a:xfrm>
            <a:prstGeom prst="line">
              <a:avLst/>
            </a:prstGeom>
            <a:grpFill/>
            <a:ln w="19050" cap="sq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54" name="Line 166"/>
            <p:cNvSpPr>
              <a:spLocks noChangeShapeType="1"/>
            </p:cNvSpPr>
            <p:nvPr/>
          </p:nvSpPr>
          <p:spPr bwMode="auto">
            <a:xfrm>
              <a:off x="530" y="2756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55" name="Line 167"/>
            <p:cNvSpPr>
              <a:spLocks noChangeShapeType="1"/>
            </p:cNvSpPr>
            <p:nvPr/>
          </p:nvSpPr>
          <p:spPr bwMode="auto">
            <a:xfrm>
              <a:off x="530" y="2987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56" name="Line 168"/>
            <p:cNvSpPr>
              <a:spLocks noChangeShapeType="1"/>
            </p:cNvSpPr>
            <p:nvPr/>
          </p:nvSpPr>
          <p:spPr bwMode="auto">
            <a:xfrm>
              <a:off x="530" y="3218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57" name="Line 169"/>
            <p:cNvSpPr>
              <a:spLocks noChangeShapeType="1"/>
            </p:cNvSpPr>
            <p:nvPr/>
          </p:nvSpPr>
          <p:spPr bwMode="auto">
            <a:xfrm>
              <a:off x="3025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58" name="Line 170"/>
            <p:cNvSpPr>
              <a:spLocks noChangeShapeType="1"/>
            </p:cNvSpPr>
            <p:nvPr/>
          </p:nvSpPr>
          <p:spPr bwMode="auto">
            <a:xfrm>
              <a:off x="1800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59" name="Line 171"/>
            <p:cNvSpPr>
              <a:spLocks noChangeShapeType="1"/>
            </p:cNvSpPr>
            <p:nvPr/>
          </p:nvSpPr>
          <p:spPr bwMode="auto">
            <a:xfrm>
              <a:off x="4204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60" name="Line 172"/>
            <p:cNvSpPr>
              <a:spLocks noChangeShapeType="1"/>
            </p:cNvSpPr>
            <p:nvPr/>
          </p:nvSpPr>
          <p:spPr bwMode="auto">
            <a:xfrm>
              <a:off x="984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61" name="Line 173"/>
            <p:cNvSpPr>
              <a:spLocks noChangeShapeType="1"/>
            </p:cNvSpPr>
            <p:nvPr/>
          </p:nvSpPr>
          <p:spPr bwMode="auto">
            <a:xfrm>
              <a:off x="2344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62" name="Line 174"/>
            <p:cNvSpPr>
              <a:spLocks noChangeShapeType="1"/>
            </p:cNvSpPr>
            <p:nvPr/>
          </p:nvSpPr>
          <p:spPr bwMode="auto">
            <a:xfrm>
              <a:off x="3524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63" name="Line 175"/>
            <p:cNvSpPr>
              <a:spLocks noChangeShapeType="1"/>
            </p:cNvSpPr>
            <p:nvPr/>
          </p:nvSpPr>
          <p:spPr bwMode="auto">
            <a:xfrm>
              <a:off x="4703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64" name="Rectangle 176"/>
            <p:cNvSpPr>
              <a:spLocks noChangeArrowheads="1"/>
            </p:cNvSpPr>
            <p:nvPr/>
          </p:nvSpPr>
          <p:spPr bwMode="auto">
            <a:xfrm>
              <a:off x="528" y="2388"/>
              <a:ext cx="116" cy="23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065" name="Rectangle 177"/>
            <p:cNvSpPr>
              <a:spLocks noChangeArrowheads="1"/>
            </p:cNvSpPr>
            <p:nvPr/>
          </p:nvSpPr>
          <p:spPr bwMode="auto">
            <a:xfrm>
              <a:off x="4703" y="3218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zh-CN" sz="180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22066" name="Rectangle 178"/>
            <p:cNvSpPr>
              <a:spLocks noChangeArrowheads="1"/>
            </p:cNvSpPr>
            <p:nvPr/>
          </p:nvSpPr>
          <p:spPr bwMode="auto">
            <a:xfrm>
              <a:off x="4703" y="2987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zh-CN" sz="180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471" name="Rectangle 179"/>
            <p:cNvSpPr>
              <a:spLocks noChangeArrowheads="1"/>
            </p:cNvSpPr>
            <p:nvPr/>
          </p:nvSpPr>
          <p:spPr bwMode="auto">
            <a:xfrm>
              <a:off x="4703" y="2756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0.0006</a:t>
              </a:r>
            </a:p>
          </p:txBody>
        </p:sp>
        <p:sp>
          <p:nvSpPr>
            <p:cNvPr id="12472" name="Rectangle 180"/>
            <p:cNvSpPr>
              <a:spLocks noChangeArrowheads="1"/>
            </p:cNvSpPr>
            <p:nvPr/>
          </p:nvSpPr>
          <p:spPr bwMode="auto">
            <a:xfrm>
              <a:off x="4703" y="2525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0.0009</a:t>
              </a:r>
            </a:p>
          </p:txBody>
        </p:sp>
        <p:sp>
          <p:nvSpPr>
            <p:cNvPr id="12473" name="Rectangle 181"/>
            <p:cNvSpPr>
              <a:spLocks noChangeArrowheads="1"/>
            </p:cNvSpPr>
            <p:nvPr/>
          </p:nvSpPr>
          <p:spPr bwMode="auto">
            <a:xfrm>
              <a:off x="4703" y="2294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0.0010</a:t>
              </a:r>
            </a:p>
          </p:txBody>
        </p:sp>
        <p:sp>
          <p:nvSpPr>
            <p:cNvPr id="12474" name="Rectangle 182"/>
            <p:cNvSpPr>
              <a:spLocks noChangeArrowheads="1"/>
            </p:cNvSpPr>
            <p:nvPr/>
          </p:nvSpPr>
          <p:spPr bwMode="auto">
            <a:xfrm>
              <a:off x="4703" y="2063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0.0016</a:t>
              </a:r>
            </a:p>
          </p:txBody>
        </p:sp>
        <p:sp>
          <p:nvSpPr>
            <p:cNvPr id="12475" name="Rectangle 183"/>
            <p:cNvSpPr>
              <a:spLocks noChangeArrowheads="1"/>
            </p:cNvSpPr>
            <p:nvPr/>
          </p:nvSpPr>
          <p:spPr bwMode="auto">
            <a:xfrm>
              <a:off x="4703" y="1832"/>
              <a:ext cx="635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0.0060</a:t>
              </a:r>
            </a:p>
          </p:txBody>
        </p:sp>
        <p:sp>
          <p:nvSpPr>
            <p:cNvPr id="422072" name="Rectangle 184"/>
            <p:cNvSpPr>
              <a:spLocks noChangeArrowheads="1"/>
            </p:cNvSpPr>
            <p:nvPr/>
          </p:nvSpPr>
          <p:spPr bwMode="auto">
            <a:xfrm>
              <a:off x="4703" y="1560"/>
              <a:ext cx="635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</a:rPr>
                <a:t>frequency</a:t>
              </a:r>
              <a:endParaRPr lang="zh-CN" altLang="en-US" sz="14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</a:endParaRPr>
            </a:p>
          </p:txBody>
        </p:sp>
        <p:sp>
          <p:nvSpPr>
            <p:cNvPr id="12477" name="Rectangle 185"/>
            <p:cNvSpPr>
              <a:spLocks noChangeArrowheads="1"/>
            </p:cNvSpPr>
            <p:nvPr/>
          </p:nvSpPr>
          <p:spPr bwMode="auto">
            <a:xfrm>
              <a:off x="3524" y="3218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0.0102</a:t>
              </a:r>
            </a:p>
          </p:txBody>
        </p:sp>
        <p:sp>
          <p:nvSpPr>
            <p:cNvPr id="12478" name="Rectangle 186"/>
            <p:cNvSpPr>
              <a:spLocks noChangeArrowheads="1"/>
            </p:cNvSpPr>
            <p:nvPr/>
          </p:nvSpPr>
          <p:spPr bwMode="auto">
            <a:xfrm>
              <a:off x="3524" y="2987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0.0156</a:t>
              </a:r>
            </a:p>
          </p:txBody>
        </p:sp>
        <p:sp>
          <p:nvSpPr>
            <p:cNvPr id="12479" name="Rectangle 187"/>
            <p:cNvSpPr>
              <a:spLocks noChangeArrowheads="1"/>
            </p:cNvSpPr>
            <p:nvPr/>
          </p:nvSpPr>
          <p:spPr bwMode="auto">
            <a:xfrm>
              <a:off x="3524" y="2756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0.0186</a:t>
              </a:r>
            </a:p>
          </p:txBody>
        </p:sp>
        <p:sp>
          <p:nvSpPr>
            <p:cNvPr id="12480" name="Rectangle 188"/>
            <p:cNvSpPr>
              <a:spLocks noChangeArrowheads="1"/>
            </p:cNvSpPr>
            <p:nvPr/>
          </p:nvSpPr>
          <p:spPr bwMode="auto">
            <a:xfrm>
              <a:off x="3524" y="2525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0.0187</a:t>
              </a:r>
            </a:p>
          </p:txBody>
        </p:sp>
        <p:sp>
          <p:nvSpPr>
            <p:cNvPr id="12481" name="Rectangle 189"/>
            <p:cNvSpPr>
              <a:spLocks noChangeArrowheads="1"/>
            </p:cNvSpPr>
            <p:nvPr/>
          </p:nvSpPr>
          <p:spPr bwMode="auto">
            <a:xfrm>
              <a:off x="3524" y="2294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0.0202</a:t>
              </a:r>
            </a:p>
          </p:txBody>
        </p:sp>
        <p:sp>
          <p:nvSpPr>
            <p:cNvPr id="12482" name="Rectangle 190"/>
            <p:cNvSpPr>
              <a:spLocks noChangeArrowheads="1"/>
            </p:cNvSpPr>
            <p:nvPr/>
          </p:nvSpPr>
          <p:spPr bwMode="auto">
            <a:xfrm>
              <a:off x="3524" y="2063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0.0214</a:t>
              </a:r>
            </a:p>
          </p:txBody>
        </p:sp>
        <p:sp>
          <p:nvSpPr>
            <p:cNvPr id="12483" name="Rectangle 191"/>
            <p:cNvSpPr>
              <a:spLocks noChangeArrowheads="1"/>
            </p:cNvSpPr>
            <p:nvPr/>
          </p:nvSpPr>
          <p:spPr bwMode="auto">
            <a:xfrm>
              <a:off x="3524" y="1832"/>
              <a:ext cx="680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0.0244</a:t>
              </a:r>
            </a:p>
          </p:txBody>
        </p:sp>
        <p:sp>
          <p:nvSpPr>
            <p:cNvPr id="422080" name="Rectangle 192"/>
            <p:cNvSpPr>
              <a:spLocks noChangeArrowheads="1"/>
            </p:cNvSpPr>
            <p:nvPr/>
          </p:nvSpPr>
          <p:spPr bwMode="auto">
            <a:xfrm>
              <a:off x="3524" y="1560"/>
              <a:ext cx="680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6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</a:rPr>
                <a:t>frequency</a:t>
              </a:r>
              <a:endParaRPr lang="zh-CN" altLang="en-US" sz="16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</a:endParaRPr>
            </a:p>
          </p:txBody>
        </p:sp>
        <p:sp>
          <p:nvSpPr>
            <p:cNvPr id="12485" name="Rectangle 193"/>
            <p:cNvSpPr>
              <a:spLocks noChangeArrowheads="1"/>
            </p:cNvSpPr>
            <p:nvPr/>
          </p:nvSpPr>
          <p:spPr bwMode="auto">
            <a:xfrm>
              <a:off x="2344" y="3218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0.0256</a:t>
              </a:r>
            </a:p>
          </p:txBody>
        </p:sp>
        <p:sp>
          <p:nvSpPr>
            <p:cNvPr id="12486" name="Rectangle 194"/>
            <p:cNvSpPr>
              <a:spLocks noChangeArrowheads="1"/>
            </p:cNvSpPr>
            <p:nvPr/>
          </p:nvSpPr>
          <p:spPr bwMode="auto">
            <a:xfrm>
              <a:off x="2344" y="2987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0.0268</a:t>
              </a:r>
            </a:p>
          </p:txBody>
        </p:sp>
        <p:sp>
          <p:nvSpPr>
            <p:cNvPr id="12487" name="Rectangle 195"/>
            <p:cNvSpPr>
              <a:spLocks noChangeArrowheads="1"/>
            </p:cNvSpPr>
            <p:nvPr/>
          </p:nvSpPr>
          <p:spPr bwMode="auto">
            <a:xfrm>
              <a:off x="2344" y="2756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0.0280</a:t>
              </a:r>
            </a:p>
          </p:txBody>
        </p:sp>
        <p:sp>
          <p:nvSpPr>
            <p:cNvPr id="12488" name="Rectangle 196"/>
            <p:cNvSpPr>
              <a:spLocks noChangeArrowheads="1"/>
            </p:cNvSpPr>
            <p:nvPr/>
          </p:nvSpPr>
          <p:spPr bwMode="auto">
            <a:xfrm>
              <a:off x="2344" y="2525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0.0389</a:t>
              </a:r>
            </a:p>
          </p:txBody>
        </p:sp>
        <p:sp>
          <p:nvSpPr>
            <p:cNvPr id="12489" name="Rectangle 197"/>
            <p:cNvSpPr>
              <a:spLocks noChangeArrowheads="1"/>
            </p:cNvSpPr>
            <p:nvPr/>
          </p:nvSpPr>
          <p:spPr bwMode="auto">
            <a:xfrm>
              <a:off x="2344" y="2294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0.0394</a:t>
              </a:r>
            </a:p>
          </p:txBody>
        </p:sp>
        <p:sp>
          <p:nvSpPr>
            <p:cNvPr id="12490" name="Rectangle 198"/>
            <p:cNvSpPr>
              <a:spLocks noChangeArrowheads="1"/>
            </p:cNvSpPr>
            <p:nvPr/>
          </p:nvSpPr>
          <p:spPr bwMode="auto">
            <a:xfrm>
              <a:off x="2344" y="2063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0.0573</a:t>
              </a:r>
            </a:p>
          </p:txBody>
        </p:sp>
        <p:sp>
          <p:nvSpPr>
            <p:cNvPr id="12491" name="Rectangle 199"/>
            <p:cNvSpPr>
              <a:spLocks noChangeArrowheads="1"/>
            </p:cNvSpPr>
            <p:nvPr/>
          </p:nvSpPr>
          <p:spPr bwMode="auto">
            <a:xfrm>
              <a:off x="2344" y="1832"/>
              <a:ext cx="681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0.0594</a:t>
              </a:r>
            </a:p>
          </p:txBody>
        </p:sp>
        <p:sp>
          <p:nvSpPr>
            <p:cNvPr id="422088" name="Rectangle 200"/>
            <p:cNvSpPr>
              <a:spLocks noChangeArrowheads="1"/>
            </p:cNvSpPr>
            <p:nvPr/>
          </p:nvSpPr>
          <p:spPr bwMode="auto">
            <a:xfrm>
              <a:off x="2344" y="1560"/>
              <a:ext cx="681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6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</a:rPr>
                <a:t>frequency</a:t>
              </a:r>
              <a:endParaRPr lang="zh-CN" altLang="en-US" sz="16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</a:endParaRPr>
            </a:p>
          </p:txBody>
        </p:sp>
        <p:sp>
          <p:nvSpPr>
            <p:cNvPr id="12493" name="Rectangle 201"/>
            <p:cNvSpPr>
              <a:spLocks noChangeArrowheads="1"/>
            </p:cNvSpPr>
            <p:nvPr/>
          </p:nvSpPr>
          <p:spPr bwMode="auto">
            <a:xfrm>
              <a:off x="984" y="3218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0.0634</a:t>
              </a:r>
            </a:p>
          </p:txBody>
        </p:sp>
        <p:sp>
          <p:nvSpPr>
            <p:cNvPr id="12494" name="Rectangle 202"/>
            <p:cNvSpPr>
              <a:spLocks noChangeArrowheads="1"/>
            </p:cNvSpPr>
            <p:nvPr/>
          </p:nvSpPr>
          <p:spPr bwMode="auto">
            <a:xfrm>
              <a:off x="984" y="2987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0.0706</a:t>
              </a:r>
            </a:p>
          </p:txBody>
        </p:sp>
        <p:sp>
          <p:nvSpPr>
            <p:cNvPr id="12495" name="Rectangle 203"/>
            <p:cNvSpPr>
              <a:spLocks noChangeArrowheads="1"/>
            </p:cNvSpPr>
            <p:nvPr/>
          </p:nvSpPr>
          <p:spPr bwMode="auto">
            <a:xfrm>
              <a:off x="984" y="2756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0.0707</a:t>
              </a:r>
            </a:p>
          </p:txBody>
        </p:sp>
        <p:sp>
          <p:nvSpPr>
            <p:cNvPr id="12496" name="Rectangle 204"/>
            <p:cNvSpPr>
              <a:spLocks noChangeArrowheads="1"/>
            </p:cNvSpPr>
            <p:nvPr/>
          </p:nvSpPr>
          <p:spPr bwMode="auto">
            <a:xfrm>
              <a:off x="984" y="2525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0.0776</a:t>
              </a:r>
            </a:p>
          </p:txBody>
        </p:sp>
        <p:sp>
          <p:nvSpPr>
            <p:cNvPr id="12497" name="Rectangle 205"/>
            <p:cNvSpPr>
              <a:spLocks noChangeArrowheads="1"/>
            </p:cNvSpPr>
            <p:nvPr/>
          </p:nvSpPr>
          <p:spPr bwMode="auto">
            <a:xfrm>
              <a:off x="984" y="2294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0.0788</a:t>
              </a:r>
            </a:p>
          </p:txBody>
        </p:sp>
        <p:sp>
          <p:nvSpPr>
            <p:cNvPr id="12498" name="Rectangle 206"/>
            <p:cNvSpPr>
              <a:spLocks noChangeArrowheads="1"/>
            </p:cNvSpPr>
            <p:nvPr/>
          </p:nvSpPr>
          <p:spPr bwMode="auto">
            <a:xfrm>
              <a:off x="984" y="2063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0.0978</a:t>
              </a:r>
            </a:p>
          </p:txBody>
        </p:sp>
        <p:sp>
          <p:nvSpPr>
            <p:cNvPr id="12499" name="Rectangle 207"/>
            <p:cNvSpPr>
              <a:spLocks noChangeArrowheads="1"/>
            </p:cNvSpPr>
            <p:nvPr/>
          </p:nvSpPr>
          <p:spPr bwMode="auto">
            <a:xfrm>
              <a:off x="984" y="1832"/>
              <a:ext cx="816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华文新魏" pitchFamily="2" charset="-122"/>
                  <a:ea typeface="华文新魏" pitchFamily="2" charset="-122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1800" dirty="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0.1268</a:t>
              </a:r>
            </a:p>
          </p:txBody>
        </p:sp>
        <p:sp>
          <p:nvSpPr>
            <p:cNvPr id="422096" name="Rectangle 208"/>
            <p:cNvSpPr>
              <a:spLocks noChangeArrowheads="1"/>
            </p:cNvSpPr>
            <p:nvPr/>
          </p:nvSpPr>
          <p:spPr bwMode="auto">
            <a:xfrm>
              <a:off x="984" y="1560"/>
              <a:ext cx="816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20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</a:rPr>
                <a:t>frequency</a:t>
              </a:r>
              <a:endParaRPr lang="zh-CN" altLang="en-US" sz="20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</a:endParaRPr>
            </a:p>
          </p:txBody>
        </p:sp>
        <p:sp>
          <p:nvSpPr>
            <p:cNvPr id="422097" name="Rectangle 209"/>
            <p:cNvSpPr>
              <a:spLocks noChangeArrowheads="1"/>
            </p:cNvSpPr>
            <p:nvPr/>
          </p:nvSpPr>
          <p:spPr bwMode="auto">
            <a:xfrm>
              <a:off x="4204" y="3218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zh-CN" sz="180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22098" name="Rectangle 210"/>
            <p:cNvSpPr>
              <a:spLocks noChangeArrowheads="1"/>
            </p:cNvSpPr>
            <p:nvPr/>
          </p:nvSpPr>
          <p:spPr bwMode="auto">
            <a:xfrm>
              <a:off x="4204" y="2987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zh-CN" sz="180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22099" name="Rectangle 211"/>
            <p:cNvSpPr>
              <a:spLocks noChangeArrowheads="1"/>
            </p:cNvSpPr>
            <p:nvPr/>
          </p:nvSpPr>
          <p:spPr bwMode="auto">
            <a:xfrm>
              <a:off x="4204" y="2756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Z</a:t>
              </a:r>
            </a:p>
          </p:txBody>
        </p:sp>
        <p:sp>
          <p:nvSpPr>
            <p:cNvPr id="422100" name="Rectangle 212"/>
            <p:cNvSpPr>
              <a:spLocks noChangeArrowheads="1"/>
            </p:cNvSpPr>
            <p:nvPr/>
          </p:nvSpPr>
          <p:spPr bwMode="auto">
            <a:xfrm>
              <a:off x="4204" y="2525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Q</a:t>
              </a:r>
            </a:p>
          </p:txBody>
        </p:sp>
        <p:sp>
          <p:nvSpPr>
            <p:cNvPr id="422101" name="Rectangle 213"/>
            <p:cNvSpPr>
              <a:spLocks noChangeArrowheads="1"/>
            </p:cNvSpPr>
            <p:nvPr/>
          </p:nvSpPr>
          <p:spPr bwMode="auto">
            <a:xfrm>
              <a:off x="4204" y="2294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J</a:t>
              </a:r>
            </a:p>
          </p:txBody>
        </p:sp>
        <p:sp>
          <p:nvSpPr>
            <p:cNvPr id="422102" name="Rectangle 214"/>
            <p:cNvSpPr>
              <a:spLocks noChangeArrowheads="1"/>
            </p:cNvSpPr>
            <p:nvPr/>
          </p:nvSpPr>
          <p:spPr bwMode="auto">
            <a:xfrm>
              <a:off x="4204" y="2063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X</a:t>
              </a:r>
            </a:p>
          </p:txBody>
        </p:sp>
        <p:sp>
          <p:nvSpPr>
            <p:cNvPr id="422103" name="Rectangle 215"/>
            <p:cNvSpPr>
              <a:spLocks noChangeArrowheads="1"/>
            </p:cNvSpPr>
            <p:nvPr/>
          </p:nvSpPr>
          <p:spPr bwMode="auto">
            <a:xfrm>
              <a:off x="4204" y="1832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K</a:t>
              </a:r>
            </a:p>
          </p:txBody>
        </p:sp>
        <p:sp>
          <p:nvSpPr>
            <p:cNvPr id="422104" name="Rectangle 216"/>
            <p:cNvSpPr>
              <a:spLocks noChangeArrowheads="1"/>
            </p:cNvSpPr>
            <p:nvPr/>
          </p:nvSpPr>
          <p:spPr bwMode="auto">
            <a:xfrm>
              <a:off x="4204" y="1560"/>
              <a:ext cx="499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2000" b="1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</a:rPr>
                <a:t>letter</a:t>
              </a:r>
              <a:endParaRPr lang="zh-CN" altLang="en-US" sz="20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</a:endParaRPr>
            </a:p>
          </p:txBody>
        </p:sp>
        <p:sp>
          <p:nvSpPr>
            <p:cNvPr id="422105" name="Rectangle 217"/>
            <p:cNvSpPr>
              <a:spLocks noChangeArrowheads="1"/>
            </p:cNvSpPr>
            <p:nvPr/>
          </p:nvSpPr>
          <p:spPr bwMode="auto">
            <a:xfrm>
              <a:off x="1800" y="3218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F</a:t>
              </a:r>
            </a:p>
          </p:txBody>
        </p:sp>
        <p:sp>
          <p:nvSpPr>
            <p:cNvPr id="422106" name="Rectangle 218"/>
            <p:cNvSpPr>
              <a:spLocks noChangeArrowheads="1"/>
            </p:cNvSpPr>
            <p:nvPr/>
          </p:nvSpPr>
          <p:spPr bwMode="auto">
            <a:xfrm>
              <a:off x="1800" y="2987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422107" name="Rectangle 219"/>
            <p:cNvSpPr>
              <a:spLocks noChangeArrowheads="1"/>
            </p:cNvSpPr>
            <p:nvPr/>
          </p:nvSpPr>
          <p:spPr bwMode="auto">
            <a:xfrm>
              <a:off x="1800" y="2756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</a:p>
          </p:txBody>
        </p:sp>
        <p:sp>
          <p:nvSpPr>
            <p:cNvPr id="422108" name="Rectangle 220"/>
            <p:cNvSpPr>
              <a:spLocks noChangeArrowheads="1"/>
            </p:cNvSpPr>
            <p:nvPr/>
          </p:nvSpPr>
          <p:spPr bwMode="auto">
            <a:xfrm>
              <a:off x="1800" y="2525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D</a:t>
              </a:r>
            </a:p>
          </p:txBody>
        </p:sp>
        <p:sp>
          <p:nvSpPr>
            <p:cNvPr id="422109" name="Rectangle 221"/>
            <p:cNvSpPr>
              <a:spLocks noChangeArrowheads="1"/>
            </p:cNvSpPr>
            <p:nvPr/>
          </p:nvSpPr>
          <p:spPr bwMode="auto">
            <a:xfrm>
              <a:off x="1800" y="2294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</a:p>
          </p:txBody>
        </p:sp>
        <p:sp>
          <p:nvSpPr>
            <p:cNvPr id="422110" name="Rectangle 222"/>
            <p:cNvSpPr>
              <a:spLocks noChangeArrowheads="1"/>
            </p:cNvSpPr>
            <p:nvPr/>
          </p:nvSpPr>
          <p:spPr bwMode="auto">
            <a:xfrm>
              <a:off x="1800" y="2063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H</a:t>
              </a:r>
            </a:p>
          </p:txBody>
        </p:sp>
        <p:sp>
          <p:nvSpPr>
            <p:cNvPr id="422111" name="Rectangle 223"/>
            <p:cNvSpPr>
              <a:spLocks noChangeArrowheads="1"/>
            </p:cNvSpPr>
            <p:nvPr/>
          </p:nvSpPr>
          <p:spPr bwMode="auto">
            <a:xfrm>
              <a:off x="1800" y="1832"/>
              <a:ext cx="54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</a:p>
          </p:txBody>
        </p:sp>
        <p:sp>
          <p:nvSpPr>
            <p:cNvPr id="422112" name="Rectangle 224"/>
            <p:cNvSpPr>
              <a:spLocks noChangeArrowheads="1"/>
            </p:cNvSpPr>
            <p:nvPr/>
          </p:nvSpPr>
          <p:spPr bwMode="auto">
            <a:xfrm>
              <a:off x="1800" y="1560"/>
              <a:ext cx="544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2000" b="1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</a:rPr>
                <a:t>letter</a:t>
              </a:r>
              <a:endParaRPr lang="zh-CN" altLang="en-US" sz="20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</a:endParaRPr>
            </a:p>
          </p:txBody>
        </p:sp>
        <p:sp>
          <p:nvSpPr>
            <p:cNvPr id="422113" name="Rectangle 225"/>
            <p:cNvSpPr>
              <a:spLocks noChangeArrowheads="1"/>
            </p:cNvSpPr>
            <p:nvPr/>
          </p:nvSpPr>
          <p:spPr bwMode="auto">
            <a:xfrm>
              <a:off x="3025" y="3218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V</a:t>
              </a:r>
            </a:p>
          </p:txBody>
        </p:sp>
        <p:sp>
          <p:nvSpPr>
            <p:cNvPr id="422114" name="Rectangle 226"/>
            <p:cNvSpPr>
              <a:spLocks noChangeArrowheads="1"/>
            </p:cNvSpPr>
            <p:nvPr/>
          </p:nvSpPr>
          <p:spPr bwMode="auto">
            <a:xfrm>
              <a:off x="3025" y="2987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B</a:t>
              </a:r>
            </a:p>
          </p:txBody>
        </p:sp>
        <p:sp>
          <p:nvSpPr>
            <p:cNvPr id="422115" name="Rectangle 227"/>
            <p:cNvSpPr>
              <a:spLocks noChangeArrowheads="1"/>
            </p:cNvSpPr>
            <p:nvPr/>
          </p:nvSpPr>
          <p:spPr bwMode="auto">
            <a:xfrm>
              <a:off x="3025" y="2756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P</a:t>
              </a:r>
            </a:p>
          </p:txBody>
        </p:sp>
        <p:sp>
          <p:nvSpPr>
            <p:cNvPr id="422116" name="Rectangle 228"/>
            <p:cNvSpPr>
              <a:spLocks noChangeArrowheads="1"/>
            </p:cNvSpPr>
            <p:nvPr/>
          </p:nvSpPr>
          <p:spPr bwMode="auto">
            <a:xfrm>
              <a:off x="3025" y="2525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G</a:t>
              </a:r>
            </a:p>
          </p:txBody>
        </p:sp>
        <p:sp>
          <p:nvSpPr>
            <p:cNvPr id="422117" name="Rectangle 229"/>
            <p:cNvSpPr>
              <a:spLocks noChangeArrowheads="1"/>
            </p:cNvSpPr>
            <p:nvPr/>
          </p:nvSpPr>
          <p:spPr bwMode="auto">
            <a:xfrm>
              <a:off x="3025" y="2294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Y</a:t>
              </a:r>
            </a:p>
          </p:txBody>
        </p:sp>
        <p:sp>
          <p:nvSpPr>
            <p:cNvPr id="422118" name="Rectangle 230"/>
            <p:cNvSpPr>
              <a:spLocks noChangeArrowheads="1"/>
            </p:cNvSpPr>
            <p:nvPr/>
          </p:nvSpPr>
          <p:spPr bwMode="auto">
            <a:xfrm>
              <a:off x="3025" y="2063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W</a:t>
              </a:r>
            </a:p>
          </p:txBody>
        </p:sp>
        <p:sp>
          <p:nvSpPr>
            <p:cNvPr id="422119" name="Rectangle 231"/>
            <p:cNvSpPr>
              <a:spLocks noChangeArrowheads="1"/>
            </p:cNvSpPr>
            <p:nvPr/>
          </p:nvSpPr>
          <p:spPr bwMode="auto">
            <a:xfrm>
              <a:off x="3025" y="1832"/>
              <a:ext cx="499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M</a:t>
              </a:r>
            </a:p>
          </p:txBody>
        </p:sp>
        <p:sp>
          <p:nvSpPr>
            <p:cNvPr id="422120" name="Rectangle 232"/>
            <p:cNvSpPr>
              <a:spLocks noChangeArrowheads="1"/>
            </p:cNvSpPr>
            <p:nvPr/>
          </p:nvSpPr>
          <p:spPr bwMode="auto">
            <a:xfrm>
              <a:off x="3025" y="1560"/>
              <a:ext cx="499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2000" b="1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</a:rPr>
                <a:t>letter</a:t>
              </a:r>
              <a:endParaRPr lang="zh-CN" altLang="en-US" sz="20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</a:endParaRPr>
            </a:p>
          </p:txBody>
        </p:sp>
        <p:sp>
          <p:nvSpPr>
            <p:cNvPr id="422121" name="Rectangle 233"/>
            <p:cNvSpPr>
              <a:spLocks noChangeArrowheads="1"/>
            </p:cNvSpPr>
            <p:nvPr/>
          </p:nvSpPr>
          <p:spPr bwMode="auto">
            <a:xfrm>
              <a:off x="530" y="3218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422122" name="Rectangle 234"/>
            <p:cNvSpPr>
              <a:spLocks noChangeArrowheads="1"/>
            </p:cNvSpPr>
            <p:nvPr/>
          </p:nvSpPr>
          <p:spPr bwMode="auto">
            <a:xfrm>
              <a:off x="530" y="2987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N</a:t>
              </a:r>
            </a:p>
          </p:txBody>
        </p:sp>
        <p:sp>
          <p:nvSpPr>
            <p:cNvPr id="422123" name="Rectangle 235"/>
            <p:cNvSpPr>
              <a:spLocks noChangeArrowheads="1"/>
            </p:cNvSpPr>
            <p:nvPr/>
          </p:nvSpPr>
          <p:spPr bwMode="auto">
            <a:xfrm>
              <a:off x="530" y="2756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</a:p>
          </p:txBody>
        </p:sp>
        <p:sp>
          <p:nvSpPr>
            <p:cNvPr id="422124" name="Rectangle 236"/>
            <p:cNvSpPr>
              <a:spLocks noChangeArrowheads="1"/>
            </p:cNvSpPr>
            <p:nvPr/>
          </p:nvSpPr>
          <p:spPr bwMode="auto">
            <a:xfrm>
              <a:off x="530" y="2525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O</a:t>
              </a:r>
            </a:p>
          </p:txBody>
        </p:sp>
        <p:sp>
          <p:nvSpPr>
            <p:cNvPr id="422125" name="Rectangle 237"/>
            <p:cNvSpPr>
              <a:spLocks noChangeArrowheads="1"/>
            </p:cNvSpPr>
            <p:nvPr/>
          </p:nvSpPr>
          <p:spPr bwMode="auto">
            <a:xfrm>
              <a:off x="530" y="2294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A</a:t>
              </a:r>
            </a:p>
          </p:txBody>
        </p:sp>
        <p:sp>
          <p:nvSpPr>
            <p:cNvPr id="422126" name="Rectangle 238"/>
            <p:cNvSpPr>
              <a:spLocks noChangeArrowheads="1"/>
            </p:cNvSpPr>
            <p:nvPr/>
          </p:nvSpPr>
          <p:spPr bwMode="auto">
            <a:xfrm>
              <a:off x="530" y="2063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</a:p>
          </p:txBody>
        </p:sp>
        <p:sp>
          <p:nvSpPr>
            <p:cNvPr id="422127" name="Rectangle 239"/>
            <p:cNvSpPr>
              <a:spLocks noChangeArrowheads="1"/>
            </p:cNvSpPr>
            <p:nvPr/>
          </p:nvSpPr>
          <p:spPr bwMode="auto">
            <a:xfrm>
              <a:off x="530" y="1832"/>
              <a:ext cx="454" cy="2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1800" dirty="0">
                  <a:solidFill>
                    <a:schemeClr val="tx2">
                      <a:lumMod val="7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E</a:t>
              </a:r>
            </a:p>
          </p:txBody>
        </p:sp>
        <p:sp>
          <p:nvSpPr>
            <p:cNvPr id="422128" name="Rectangle 240"/>
            <p:cNvSpPr>
              <a:spLocks noChangeArrowheads="1"/>
            </p:cNvSpPr>
            <p:nvPr/>
          </p:nvSpPr>
          <p:spPr bwMode="auto">
            <a:xfrm>
              <a:off x="502" y="1560"/>
              <a:ext cx="482" cy="2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1"/>
            <a:lstStyle/>
            <a:p>
              <a:pPr algn="l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2000" b="1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</a:rPr>
                <a:t>letter</a:t>
              </a:r>
              <a:endParaRPr lang="zh-CN" altLang="en-US" sz="20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</a:endParaRPr>
            </a:p>
          </p:txBody>
        </p:sp>
        <p:sp>
          <p:nvSpPr>
            <p:cNvPr id="422129" name="Line 241"/>
            <p:cNvSpPr>
              <a:spLocks noChangeShapeType="1"/>
            </p:cNvSpPr>
            <p:nvPr/>
          </p:nvSpPr>
          <p:spPr bwMode="auto">
            <a:xfrm>
              <a:off x="530" y="1553"/>
              <a:ext cx="4816" cy="1"/>
            </a:xfrm>
            <a:prstGeom prst="line">
              <a:avLst/>
            </a:prstGeom>
            <a:grpFill/>
            <a:ln w="19050" cap="sq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30" name="Line 242"/>
            <p:cNvSpPr>
              <a:spLocks noChangeShapeType="1"/>
            </p:cNvSpPr>
            <p:nvPr/>
          </p:nvSpPr>
          <p:spPr bwMode="auto">
            <a:xfrm>
              <a:off x="530" y="3457"/>
              <a:ext cx="4808" cy="0"/>
            </a:xfrm>
            <a:prstGeom prst="line">
              <a:avLst/>
            </a:prstGeom>
            <a:grpFill/>
            <a:ln w="19050" cap="sq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31" name="Line 243"/>
            <p:cNvSpPr>
              <a:spLocks noChangeShapeType="1"/>
            </p:cNvSpPr>
            <p:nvPr/>
          </p:nvSpPr>
          <p:spPr bwMode="auto">
            <a:xfrm>
              <a:off x="5346" y="1560"/>
              <a:ext cx="0" cy="1889"/>
            </a:xfrm>
            <a:prstGeom prst="line">
              <a:avLst/>
            </a:prstGeom>
            <a:grpFill/>
            <a:ln w="19050" cap="sq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32" name="Line 244"/>
            <p:cNvSpPr>
              <a:spLocks noChangeShapeType="1"/>
            </p:cNvSpPr>
            <p:nvPr/>
          </p:nvSpPr>
          <p:spPr bwMode="auto">
            <a:xfrm>
              <a:off x="528" y="1832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33" name="Line 245"/>
            <p:cNvSpPr>
              <a:spLocks noChangeShapeType="1"/>
            </p:cNvSpPr>
            <p:nvPr/>
          </p:nvSpPr>
          <p:spPr bwMode="auto">
            <a:xfrm>
              <a:off x="530" y="2063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34" name="Line 246"/>
            <p:cNvSpPr>
              <a:spLocks noChangeShapeType="1"/>
            </p:cNvSpPr>
            <p:nvPr/>
          </p:nvSpPr>
          <p:spPr bwMode="auto">
            <a:xfrm>
              <a:off x="530" y="2294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35" name="Line 247"/>
            <p:cNvSpPr>
              <a:spLocks noChangeShapeType="1"/>
            </p:cNvSpPr>
            <p:nvPr/>
          </p:nvSpPr>
          <p:spPr bwMode="auto">
            <a:xfrm>
              <a:off x="530" y="2525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36" name="Line 248"/>
            <p:cNvSpPr>
              <a:spLocks noChangeShapeType="1"/>
            </p:cNvSpPr>
            <p:nvPr/>
          </p:nvSpPr>
          <p:spPr bwMode="auto">
            <a:xfrm>
              <a:off x="530" y="2525"/>
              <a:ext cx="0" cy="924"/>
            </a:xfrm>
            <a:prstGeom prst="line">
              <a:avLst/>
            </a:prstGeom>
            <a:grp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37" name="Line 249"/>
            <p:cNvSpPr>
              <a:spLocks noChangeShapeType="1"/>
            </p:cNvSpPr>
            <p:nvPr/>
          </p:nvSpPr>
          <p:spPr bwMode="auto">
            <a:xfrm>
              <a:off x="530" y="1560"/>
              <a:ext cx="0" cy="965"/>
            </a:xfrm>
            <a:prstGeom prst="line">
              <a:avLst/>
            </a:prstGeom>
            <a:grpFill/>
            <a:ln w="19050" cap="sq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38" name="Line 250"/>
            <p:cNvSpPr>
              <a:spLocks noChangeShapeType="1"/>
            </p:cNvSpPr>
            <p:nvPr/>
          </p:nvSpPr>
          <p:spPr bwMode="auto">
            <a:xfrm>
              <a:off x="530" y="2756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39" name="Line 251"/>
            <p:cNvSpPr>
              <a:spLocks noChangeShapeType="1"/>
            </p:cNvSpPr>
            <p:nvPr/>
          </p:nvSpPr>
          <p:spPr bwMode="auto">
            <a:xfrm>
              <a:off x="530" y="2987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40" name="Line 252"/>
            <p:cNvSpPr>
              <a:spLocks noChangeShapeType="1"/>
            </p:cNvSpPr>
            <p:nvPr/>
          </p:nvSpPr>
          <p:spPr bwMode="auto">
            <a:xfrm>
              <a:off x="530" y="3218"/>
              <a:ext cx="4808" cy="0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41" name="Line 253"/>
            <p:cNvSpPr>
              <a:spLocks noChangeShapeType="1"/>
            </p:cNvSpPr>
            <p:nvPr/>
          </p:nvSpPr>
          <p:spPr bwMode="auto">
            <a:xfrm>
              <a:off x="3025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42" name="Line 254"/>
            <p:cNvSpPr>
              <a:spLocks noChangeShapeType="1"/>
            </p:cNvSpPr>
            <p:nvPr/>
          </p:nvSpPr>
          <p:spPr bwMode="auto">
            <a:xfrm>
              <a:off x="1800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43" name="Line 255"/>
            <p:cNvSpPr>
              <a:spLocks noChangeShapeType="1"/>
            </p:cNvSpPr>
            <p:nvPr/>
          </p:nvSpPr>
          <p:spPr bwMode="auto">
            <a:xfrm>
              <a:off x="4204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44" name="Line 256"/>
            <p:cNvSpPr>
              <a:spLocks noChangeShapeType="1"/>
            </p:cNvSpPr>
            <p:nvPr/>
          </p:nvSpPr>
          <p:spPr bwMode="auto">
            <a:xfrm>
              <a:off x="984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45" name="Line 257"/>
            <p:cNvSpPr>
              <a:spLocks noChangeShapeType="1"/>
            </p:cNvSpPr>
            <p:nvPr/>
          </p:nvSpPr>
          <p:spPr bwMode="auto">
            <a:xfrm>
              <a:off x="2344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46" name="Line 258"/>
            <p:cNvSpPr>
              <a:spLocks noChangeShapeType="1"/>
            </p:cNvSpPr>
            <p:nvPr/>
          </p:nvSpPr>
          <p:spPr bwMode="auto">
            <a:xfrm>
              <a:off x="3524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422147" name="Line 259"/>
            <p:cNvSpPr>
              <a:spLocks noChangeShapeType="1"/>
            </p:cNvSpPr>
            <p:nvPr/>
          </p:nvSpPr>
          <p:spPr bwMode="auto">
            <a:xfrm>
              <a:off x="4703" y="1560"/>
              <a:ext cx="0" cy="1889"/>
            </a:xfrm>
            <a:prstGeom prst="line">
              <a:avLst/>
            </a:prstGeom>
            <a:grp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sp>
        <p:nvSpPr>
          <p:cNvPr id="422151" name="Text Box 263"/>
          <p:cNvSpPr txBox="1">
            <a:spLocks noChangeArrowheads="1"/>
          </p:cNvSpPr>
          <p:nvPr/>
        </p:nvSpPr>
        <p:spPr bwMode="auto">
          <a:xfrm>
            <a:off x="497149" y="619483"/>
            <a:ext cx="845029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fontAlgn="ctr">
              <a:defRPr/>
            </a:pPr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Example 3: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Consider the Frequency of 26 letters used in our life. W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hen the letter number n is big enough, there is some regularity. </a:t>
            </a:r>
          </a:p>
          <a:p>
            <a:pPr fontAlgn="ctr"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Dewey got the following table for 438,023 words that he gathered. Which one is the highest used letter?</a:t>
            </a:r>
            <a:endParaRPr lang="zh-CN" altLang="en-US" sz="2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C55094-5069-4539-ACB5-6875010B30ED}"/>
              </a:ext>
            </a:extLst>
          </p:cNvPr>
          <p:cNvSpPr txBox="1"/>
          <p:nvPr/>
        </p:nvSpPr>
        <p:spPr>
          <a:xfrm>
            <a:off x="930275" y="5589883"/>
            <a:ext cx="1931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993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Applications:</a:t>
            </a:r>
            <a:endParaRPr lang="zh-CN" altLang="en-US" sz="2400" b="1" dirty="0">
              <a:solidFill>
                <a:srgbClr val="FF9933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C47801-3392-4221-A0CE-AD89346E4876}"/>
              </a:ext>
            </a:extLst>
          </p:cNvPr>
          <p:cNvSpPr txBox="1"/>
          <p:nvPr/>
        </p:nvSpPr>
        <p:spPr>
          <a:xfrm>
            <a:off x="3191550" y="5615732"/>
            <a:ext cx="3865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 design of keyboards</a:t>
            </a:r>
            <a:endParaRPr lang="zh-CN" altLang="en-US" sz="2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118C87-3FA0-45D2-A8EF-64D024D53B6B}"/>
              </a:ext>
            </a:extLst>
          </p:cNvPr>
          <p:cNvSpPr txBox="1"/>
          <p:nvPr/>
        </p:nvSpPr>
        <p:spPr>
          <a:xfrm>
            <a:off x="3191550" y="6099580"/>
            <a:ext cx="4114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Decryption</a:t>
            </a:r>
            <a:r>
              <a:rPr lang="zh-CN" altLang="en-US" sz="2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解密</a:t>
            </a:r>
            <a:r>
              <a:rPr lang="en-US" altLang="zh-CN" sz="2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zh-CN" altLang="en-US" sz="2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151" grpId="0"/>
      <p:bldP spid="2" grpId="0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24" name="Rectangle 8"/>
          <p:cNvSpPr>
            <a:spLocks noChangeArrowheads="1"/>
          </p:cNvSpPr>
          <p:nvPr/>
        </p:nvSpPr>
        <p:spPr bwMode="auto">
          <a:xfrm>
            <a:off x="1831973" y="3133885"/>
            <a:ext cx="6323631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If it is a fair dice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when </a:t>
            </a:r>
            <a:r>
              <a:rPr lang="en-US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is large enough, </a:t>
            </a:r>
            <a:r>
              <a:rPr lang="en-US" altLang="zh-CN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we</a:t>
            </a:r>
            <a:r>
              <a:rPr lang="zh-CN" altLang="en-US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should have</a:t>
            </a:r>
            <a:endParaRPr lang="zh-CN" altLang="en-US" sz="2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18841" name="Group 25"/>
          <p:cNvGrpSpPr>
            <a:grpSpLocks/>
          </p:cNvGrpSpPr>
          <p:nvPr/>
        </p:nvGrpSpPr>
        <p:grpSpPr bwMode="auto">
          <a:xfrm>
            <a:off x="7723716" y="1013278"/>
            <a:ext cx="1250950" cy="912812"/>
            <a:chOff x="2084" y="2857"/>
            <a:chExt cx="788" cy="575"/>
          </a:xfrm>
        </p:grpSpPr>
        <p:sp>
          <p:nvSpPr>
            <p:cNvPr id="418840" name="Rectangle 24"/>
            <p:cNvSpPr>
              <a:spLocks noChangeArrowheads="1"/>
            </p:cNvSpPr>
            <p:nvPr/>
          </p:nvSpPr>
          <p:spPr bwMode="auto">
            <a:xfrm>
              <a:off x="2104" y="2904"/>
              <a:ext cx="768" cy="528"/>
            </a:xfrm>
            <a:prstGeom prst="rect">
              <a:avLst/>
            </a:prstGeom>
            <a:solidFill>
              <a:schemeClr val="bg2">
                <a:alpha val="72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75" algn="ctr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13324" name="Picture 23" descr="无标题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4" y="2857"/>
              <a:ext cx="752" cy="534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A0E7EBD-D594-4A58-A992-456526619976}"/>
                  </a:ext>
                </a:extLst>
              </p:cNvPr>
              <p:cNvSpPr txBox="1"/>
              <p:nvPr/>
            </p:nvSpPr>
            <p:spPr>
              <a:xfrm>
                <a:off x="814878" y="1506990"/>
                <a:ext cx="7340727" cy="1046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point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=1, 2, 3, 4, 5, 6</m:t>
                      </m:r>
                    </m:oMath>
                  </m:oMathPara>
                </a14:m>
                <a:endParaRPr lang="en-US" altLang="zh-CN" sz="24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28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Tossing 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</a:t>
                </a:r>
                <a:r>
                  <a:rPr lang="en-US" altLang="zh-CN" sz="28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times,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8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have</a:t>
                </a:r>
                <a:r>
                  <a:rPr lang="zh-CN" altLang="en-US" sz="28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8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any</a:t>
                </a:r>
                <a:r>
                  <a:rPr lang="zh-CN" altLang="en-US" sz="28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8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pattern?</a:t>
                </a:r>
                <a:endPara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A0E7EBD-D594-4A58-A992-456526619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78" y="1506990"/>
                <a:ext cx="7340727" cy="1046440"/>
              </a:xfrm>
              <a:prstGeom prst="rect">
                <a:avLst/>
              </a:prstGeom>
              <a:blipFill>
                <a:blip r:embed="rId3"/>
                <a:stretch>
                  <a:fillRect l="-1727" b="-1547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5DB275C2-4957-49C1-85BD-31EDB381FAAF}"/>
              </a:ext>
            </a:extLst>
          </p:cNvPr>
          <p:cNvSpPr txBox="1"/>
          <p:nvPr/>
        </p:nvSpPr>
        <p:spPr>
          <a:xfrm>
            <a:off x="299182" y="3133885"/>
            <a:ext cx="15327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Analysis: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806EE39-2A58-461F-8147-15A2C1FC98FB}"/>
                  </a:ext>
                </a:extLst>
              </p:cNvPr>
              <p:cNvSpPr txBox="1"/>
              <p:nvPr/>
            </p:nvSpPr>
            <p:spPr>
              <a:xfrm>
                <a:off x="2215035" y="4392376"/>
                <a:ext cx="4737194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=1, 2, 3, 4, 5, 6)</m:t>
                      </m:r>
                    </m:oMath>
                  </m:oMathPara>
                </a14:m>
                <a:endParaRPr lang="zh-CN" altLang="en-US" sz="24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806EE39-2A58-461F-8147-15A2C1FC9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035" y="4392376"/>
                <a:ext cx="4737194" cy="693908"/>
              </a:xfrm>
              <a:prstGeom prst="rect">
                <a:avLst/>
              </a:prstGeom>
              <a:blipFill>
                <a:blip r:embed="rId4"/>
                <a:stretch>
                  <a:fillRect l="-1604" t="-1818" r="-1604" b="-145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546503" y="826280"/>
            <a:ext cx="73228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Example 4: 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In the experiment "dice tossing”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88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88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8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8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24" grpId="0"/>
      <p:bldP spid="2" grpId="0"/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7328" name="Text Box 16"/>
              <p:cNvSpPr txBox="1">
                <a:spLocks noChangeArrowheads="1"/>
              </p:cNvSpPr>
              <p:nvPr/>
            </p:nvSpPr>
            <p:spPr bwMode="auto">
              <a:xfrm>
                <a:off x="698090" y="5058857"/>
                <a:ext cx="8369709" cy="10464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fontAlgn="ctr">
                  <a:spcAft>
                    <a:spcPts val="1200"/>
                  </a:spcAft>
                  <a:defRPr/>
                </a:pPr>
                <a:r>
                  <a:rPr lang="en-US" altLang="zh-CN" sz="2400" dirty="0">
                    <a:solidFill>
                      <a:schemeClr val="tx2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2. As the Frequency  is</a:t>
                </a:r>
                <a:r>
                  <a:rPr lang="zh-CN" altLang="en-US" sz="2400" dirty="0">
                    <a:solidFill>
                      <a:schemeClr val="tx2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“</a:t>
                </a:r>
                <a:r>
                  <a:rPr lang="en-US" altLang="zh-CN" sz="2400" dirty="0">
                    <a:solidFill>
                      <a:schemeClr val="tx2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random”, the limit</a:t>
                </a:r>
                <a:r>
                  <a:rPr lang="zh-CN" altLang="en-US" sz="2400" dirty="0">
                    <a:solidFill>
                      <a:schemeClr val="tx2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solidFill>
                      <a:schemeClr val="tx2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</a:t>
                </a:r>
                <a:r>
                  <a:rPr lang="zh-CN" altLang="en-US" sz="2400" dirty="0">
                    <a:solidFill>
                      <a:schemeClr val="tx2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极限</a:t>
                </a:r>
                <a:r>
                  <a:rPr lang="en-US" altLang="zh-CN" sz="2400" dirty="0">
                    <a:solidFill>
                      <a:schemeClr val="tx2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)</a:t>
                </a:r>
                <a:r>
                  <a:rPr lang="zh-CN" altLang="en-US" sz="2400" dirty="0">
                    <a:solidFill>
                      <a:schemeClr val="tx2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solidFill>
                      <a:schemeClr val="tx2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is </a:t>
                </a:r>
              </a:p>
              <a:p>
                <a:pPr fontAlgn="ctr">
                  <a:spcAft>
                    <a:spcPts val="12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华文新魏" panose="02010800040101010101" pitchFamily="2" charset="-122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华文新魏" panose="02010800040101010101" pitchFamily="2" charset="-122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华文新魏" panose="02010800040101010101" pitchFamily="2" charset="-122"/>
                            </a:rPr>
                            <m:t>𝐴</m:t>
                          </m:r>
                        </m:e>
                      </m:d>
                      <m:r>
                        <a:rPr lang="en-US" altLang="zh-CN" sz="240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华文新魏" panose="02010800040101010101" pitchFamily="2" charset="-122"/>
                        </a:rPr>
                        <m:t>→</m:t>
                      </m:r>
                      <m:r>
                        <a:rPr lang="en-US" altLang="zh-CN" sz="240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华文新魏" panose="02010800040101010101" pitchFamily="2" charset="-122"/>
                        </a:rPr>
                        <m:t>𝑝</m:t>
                      </m:r>
                      <m:r>
                        <a:rPr lang="en-US" altLang="zh-CN" sz="240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华文新魏" panose="02010800040101010101" pitchFamily="2" charset="-122"/>
                        </a:rPr>
                        <m:t> 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华文新魏" panose="02010800040101010101" pitchFamily="2" charset="-122"/>
                            </a:rPr>
                            <m:t>𝑛</m:t>
                          </m:r>
                          <m:r>
                            <a:rPr lang="en-US" altLang="zh-CN" sz="24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华文新魏" panose="02010800040101010101" pitchFamily="2" charset="-122"/>
                            </a:rPr>
                            <m:t>→+∞</m:t>
                          </m:r>
                        </m:e>
                      </m:d>
                    </m:oMath>
                  </m:oMathPara>
                </a14:m>
                <a:endParaRPr lang="zh-CN" altLang="en-US" sz="2200" dirty="0">
                  <a:solidFill>
                    <a:schemeClr val="accent2">
                      <a:lumMod val="50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97328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8090" y="5058857"/>
                <a:ext cx="8369709" cy="1046440"/>
              </a:xfrm>
              <a:prstGeom prst="rect">
                <a:avLst/>
              </a:prstGeom>
              <a:blipFill>
                <a:blip r:embed="rId2"/>
                <a:stretch>
                  <a:fillRect l="-2259" t="-98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7336" name="AutoShape 24"/>
          <p:cNvSpPr>
            <a:spLocks noChangeArrowheads="1"/>
          </p:cNvSpPr>
          <p:nvPr/>
        </p:nvSpPr>
        <p:spPr bwMode="auto">
          <a:xfrm>
            <a:off x="963450" y="3261145"/>
            <a:ext cx="7988689" cy="475387"/>
          </a:xfrm>
          <a:prstGeom prst="wedgeRectCallout">
            <a:avLst>
              <a:gd name="adj1" fmla="val -10580"/>
              <a:gd name="adj2" fmla="val -146120"/>
            </a:avLst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altLang="zh-CN" sz="2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</a:t>
            </a:r>
            <a:r>
              <a:rPr lang="zh-CN" altLang="en-US" sz="2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stability of Frequency</a:t>
            </a:r>
            <a:r>
              <a:rPr lang="zh-CN" altLang="en-US" sz="2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（频率）</a:t>
            </a:r>
            <a:r>
              <a:rPr lang="en-US" altLang="zh-CN" sz="2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 Probability</a:t>
            </a:r>
            <a:r>
              <a:rPr lang="zh-CN" altLang="en-US" sz="2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（概率）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7323" name="Text Box 11"/>
              <p:cNvSpPr txBox="1">
                <a:spLocks noChangeArrowheads="1"/>
              </p:cNvSpPr>
              <p:nvPr/>
            </p:nvSpPr>
            <p:spPr bwMode="auto">
              <a:xfrm>
                <a:off x="910733" y="1306363"/>
                <a:ext cx="7947025" cy="7386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fontAlgn="ctr">
                  <a:defRPr/>
                </a:pP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When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solidFill>
                      <a:srgbClr val="C0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is</a:t>
                </a:r>
                <a:r>
                  <a:rPr lang="zh-CN" altLang="en-US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large</a:t>
                </a:r>
                <a:r>
                  <a:rPr lang="zh-CN" altLang="en-US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enough,</a:t>
                </a:r>
                <a:r>
                  <a:rPr lang="zh-CN" altLang="en-US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</a:t>
                </a:r>
                <a:r>
                  <a:rPr lang="zh-CN" altLang="en-US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rgbClr val="C0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of</a:t>
                </a:r>
                <a:r>
                  <a:rPr lang="zh-CN" altLang="en-US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E</a:t>
                </a: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vent </a:t>
                </a:r>
                <a:r>
                  <a:rPr lang="en-US" altLang="zh-CN" sz="2400" dirty="0">
                    <a:solidFill>
                      <a:srgbClr val="C0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tends to be a constant. </a:t>
                </a:r>
                <a:r>
                  <a:rPr lang="zh-CN" altLang="en-US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97323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0733" y="1306363"/>
                <a:ext cx="7947025" cy="738664"/>
              </a:xfrm>
              <a:prstGeom prst="rect">
                <a:avLst/>
              </a:prstGeom>
              <a:blipFill>
                <a:blip r:embed="rId3"/>
                <a:stretch>
                  <a:fillRect l="-2233" t="-11864" b="-2372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7327" name="Text Box 15"/>
          <p:cNvSpPr txBox="1">
            <a:spLocks noChangeArrowheads="1"/>
          </p:cNvSpPr>
          <p:nvPr/>
        </p:nvSpPr>
        <p:spPr bwMode="auto">
          <a:xfrm>
            <a:off x="723966" y="4508854"/>
            <a:ext cx="74898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 fontAlgn="ctr">
              <a:defRPr/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 The constant </a:t>
            </a:r>
            <a:r>
              <a:rPr lang="en-US" altLang="zh-CN" sz="2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is the possibility that </a:t>
            </a:r>
            <a:r>
              <a:rPr lang="en-US" altLang="zh-CN" sz="2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happens.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BD00D9-DBA7-43E3-9E88-7F4DBC7F1D7D}"/>
              </a:ext>
            </a:extLst>
          </p:cNvPr>
          <p:cNvSpPr txBox="1"/>
          <p:nvPr/>
        </p:nvSpPr>
        <p:spPr>
          <a:xfrm>
            <a:off x="1391381" y="705356"/>
            <a:ext cx="66367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 statistical regularity of random events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C31B9C2-4501-47B8-A504-1BB930400069}"/>
                  </a:ext>
                </a:extLst>
              </p:cNvPr>
              <p:cNvSpPr txBox="1"/>
              <p:nvPr/>
            </p:nvSpPr>
            <p:spPr>
              <a:xfrm>
                <a:off x="3039299" y="2358820"/>
                <a:ext cx="29079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𝐴</m:t>
                          </m:r>
                        </m:e>
                      </m:d>
                      <m:r>
                        <a:rPr lang="en-US" altLang="zh-CN" sz="2400" b="0" i="1" smtClean="0"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→</m:t>
                      </m:r>
                      <m:r>
                        <a:rPr lang="en-US" altLang="zh-CN" sz="2400" b="0" i="1" smtClean="0"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𝑝</m:t>
                      </m:r>
                      <m:r>
                        <a:rPr lang="en-US" altLang="zh-CN" sz="2400" b="0" i="1" smtClean="0"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  (</m:t>
                      </m:r>
                      <m:r>
                        <a:rPr lang="en-US" altLang="zh-CN" sz="2400" b="0" i="1" smtClean="0"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𝑛</m:t>
                      </m:r>
                      <m:r>
                        <a:rPr lang="en-US" altLang="zh-CN" sz="2400" b="0" i="1" smtClean="0"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→+∞)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C31B9C2-4501-47B8-A504-1BB930400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9299" y="2358820"/>
                <a:ext cx="2907911" cy="369332"/>
              </a:xfrm>
              <a:prstGeom prst="rect">
                <a:avLst/>
              </a:prstGeom>
              <a:blipFill>
                <a:blip r:embed="rId5"/>
                <a:stretch>
                  <a:fillRect l="-3043" t="-9677" r="-3043" b="-3225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7DA24B23-C051-4ABD-B31C-D1810766887D}"/>
              </a:ext>
            </a:extLst>
          </p:cNvPr>
          <p:cNvSpPr txBox="1"/>
          <p:nvPr/>
        </p:nvSpPr>
        <p:spPr>
          <a:xfrm>
            <a:off x="306277" y="4038217"/>
            <a:ext cx="1069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Notes: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85004D2-1B4D-40E7-A908-D3326679DFDC}"/>
                  </a:ext>
                </a:extLst>
              </p:cNvPr>
              <p:cNvSpPr txBox="1"/>
              <p:nvPr/>
            </p:nvSpPr>
            <p:spPr>
              <a:xfrm>
                <a:off x="1980861" y="6101302"/>
                <a:ext cx="4590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  <a:ea typeface="华文新魏" panose="02010800040101010101" pitchFamily="2" charset="-122"/>
                        </a:rPr>
                        <m:t>We</m:t>
                      </m:r>
                      <m:r>
                        <a:rPr lang="en-US" altLang="zh-CN" sz="18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  <a:ea typeface="华文新魏" panose="02010800040101010101" pitchFamily="2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8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  <a:ea typeface="华文新魏" panose="02010800040101010101" pitchFamily="2" charset="-122"/>
                        </a:rPr>
                        <m:t>will</m:t>
                      </m:r>
                      <m:r>
                        <a:rPr lang="en-US" altLang="zh-CN" sz="18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  <a:ea typeface="华文新魏" panose="02010800040101010101" pitchFamily="2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8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  <a:ea typeface="华文新魏" panose="02010800040101010101" pitchFamily="2" charset="-122"/>
                        </a:rPr>
                        <m:t>learn</m:t>
                      </m:r>
                      <m:r>
                        <a:rPr lang="en-US" altLang="zh-CN" sz="18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  <a:ea typeface="华文新魏" panose="02010800040101010101" pitchFamily="2" charset="-122"/>
                        </a:rPr>
                        <m:t> </m:t>
                      </m:r>
                      <m:r>
                        <a:rPr lang="en-US" altLang="zh-CN" sz="18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  <a:ea typeface="华文新魏" panose="02010800040101010101" pitchFamily="2" charset="-122"/>
                        </a:rPr>
                        <m:t>𝑳𝒊𝒎𝒊𝒕</m:t>
                      </m:r>
                      <m:r>
                        <a:rPr lang="en-US" altLang="zh-CN" sz="18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  <a:ea typeface="华文新魏" panose="02010800040101010101" pitchFamily="2" charset="-122"/>
                        </a:rPr>
                        <m:t> </m:t>
                      </m:r>
                      <m:r>
                        <a:rPr lang="en-US" altLang="zh-CN" sz="18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  <a:ea typeface="华文新魏" panose="02010800040101010101" pitchFamily="2" charset="-122"/>
                        </a:rPr>
                        <m:t>𝑻𝒉𝒆𝒐𝒓𝒆𝒎𝒔</m:t>
                      </m:r>
                      <m:r>
                        <a:rPr lang="en-US" altLang="zh-CN" sz="1800" b="1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  <a:ea typeface="华文新魏" panose="02010800040101010101" pitchFamily="2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8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  <a:ea typeface="华文新魏" panose="02010800040101010101" pitchFamily="2" charset="-122"/>
                        </a:rPr>
                        <m:t>in</m:t>
                      </m:r>
                      <m:r>
                        <a:rPr lang="en-US" altLang="zh-CN" sz="18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  <a:ea typeface="华文新魏" panose="02010800040101010101" pitchFamily="2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8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  <a:ea typeface="华文新魏" panose="02010800040101010101" pitchFamily="2" charset="-122"/>
                        </a:rPr>
                        <m:t>Chapter</m:t>
                      </m:r>
                      <m:r>
                        <a:rPr lang="en-US" altLang="zh-CN" sz="18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  <a:ea typeface="华文新魏" panose="02010800040101010101" pitchFamily="2" charset="-122"/>
                        </a:rPr>
                        <m:t> 5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85004D2-1B4D-40E7-A908-D3326679D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861" y="6101302"/>
                <a:ext cx="4590368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97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7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7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7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28" grpId="0"/>
      <p:bldP spid="397336" grpId="0" animBg="1"/>
      <p:bldP spid="397323" grpId="0"/>
      <p:bldP spid="397327" grpId="0"/>
      <p:bldP spid="3" grpId="0"/>
      <p:bldP spid="4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353" name="Picture 17" descr="f125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1983128"/>
            <a:ext cx="27940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8354" name="Picture 18" descr="f126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92" y="2679633"/>
            <a:ext cx="27940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8355" name="Picture 19" descr="f127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96" y="3377302"/>
            <a:ext cx="27940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8347" name="Text Box 11"/>
              <p:cNvSpPr txBox="1">
                <a:spLocks noChangeArrowheads="1"/>
              </p:cNvSpPr>
              <p:nvPr/>
            </p:nvSpPr>
            <p:spPr bwMode="auto">
              <a:xfrm>
                <a:off x="1175799" y="3366198"/>
                <a:ext cx="7389304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fontAlgn="ctr">
                  <a:defRPr/>
                </a:pPr>
                <a:r>
                  <a:rPr lang="en-US" altLang="zh-CN" sz="2200" dirty="0">
                    <a:solidFill>
                      <a:schemeClr val="tx1"/>
                    </a:solidFill>
                    <a:effectLst/>
                    <a:latin typeface="楷体_GB2312" pitchFamily="49" charset="-122"/>
                    <a:ea typeface="楷体_GB2312" pitchFamily="49" charset="-122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200" b="0" i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2200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200" i="1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 b="0" i="0" smtClean="0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200" b="0" i="0" smtClean="0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2200" b="0" i="0" smtClean="0"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200" i="1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 b="0" i="0" smtClean="0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200" b="0" i="1" smtClean="0">
                            <a:effectLst/>
                            <a:latin typeface="Cambria Math"/>
                            <a:ea typeface="楷体_GB2312" pitchFamily="49" charset="-12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2200" dirty="0">
                    <a:solidFill>
                      <a:schemeClr val="tx1"/>
                    </a:solidFill>
                    <a:effectLst/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楷体_GB2312" pitchFamily="49" charset="-122"/>
                    <a:ea typeface="楷体_GB2312" pitchFamily="49" charset="-122"/>
                  </a:rPr>
                  <a:t>are 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楷体_GB2312" pitchFamily="49" charset="-122"/>
                    <a:ea typeface="楷体_GB2312" pitchFamily="49" charset="-122"/>
                  </a:rPr>
                  <a:t>Pairwise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楷体_GB2312" pitchFamily="49" charset="-122"/>
                    <a:ea typeface="楷体_GB2312" pitchFamily="49" charset="-122"/>
                  </a:rPr>
                  <a:t>D</a:t>
                </a:r>
                <a:r>
                  <a:rPr lang="en-US" altLang="zh-CN" sz="2000" b="1" dirty="0">
                    <a:solidFill>
                      <a:srgbClr val="C00000"/>
                    </a:solidFill>
                    <a:effectLst/>
                    <a:latin typeface="楷体_GB2312" pitchFamily="49" charset="-122"/>
                    <a:ea typeface="楷体_GB2312" pitchFamily="49" charset="-122"/>
                  </a:rPr>
                  <a:t>isjoint</a:t>
                </a:r>
                <a:r>
                  <a:rPr lang="zh-CN" altLang="en-US" sz="2000" b="1" dirty="0">
                    <a:solidFill>
                      <a:srgbClr val="C00000"/>
                    </a:solidFill>
                    <a:effectLst/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楷体_GB2312" pitchFamily="49" charset="-122"/>
                    <a:ea typeface="楷体_GB2312" pitchFamily="49" charset="-122"/>
                  </a:rPr>
                  <a:t>两两不相容）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楷体_GB2312" pitchFamily="49" charset="-122"/>
                    <a:ea typeface="楷体_GB2312" pitchFamily="49" charset="-122"/>
                  </a:rPr>
                  <a:t>, then</a:t>
                </a:r>
                <a:endParaRPr lang="en-US" altLang="zh-CN" sz="2000" dirty="0">
                  <a:effectLst/>
                  <a:latin typeface="Cambria Math" panose="02040503050406030204" pitchFamily="18" charset="0"/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398347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75799" y="3366198"/>
                <a:ext cx="7389304" cy="338554"/>
              </a:xfrm>
              <a:prstGeom prst="rect">
                <a:avLst/>
              </a:prstGeom>
              <a:blipFill>
                <a:blip r:embed="rId6"/>
                <a:stretch>
                  <a:fillRect l="-2230" t="-21429" b="-428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8389" name="AutoShape 53"/>
              <p:cNvSpPr>
                <a:spLocks noChangeArrowheads="1"/>
              </p:cNvSpPr>
              <p:nvPr/>
            </p:nvSpPr>
            <p:spPr bwMode="auto">
              <a:xfrm>
                <a:off x="5802613" y="1835834"/>
                <a:ext cx="2312687" cy="1089892"/>
              </a:xfrm>
              <a:prstGeom prst="wedgeRectCallout">
                <a:avLst>
                  <a:gd name="adj1" fmla="val -57922"/>
                  <a:gd name="adj2" fmla="val 78769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anchor="ctr"/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altLang="zh-CN" sz="2000" b="0" i="1" dirty="0">
                  <a:solidFill>
                    <a:schemeClr val="tx1"/>
                  </a:solidFill>
                  <a:effectLst/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=1, 2, …, 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CN" sz="2000" b="0" i="1" dirty="0">
                  <a:solidFill>
                    <a:schemeClr val="tx1"/>
                  </a:solidFill>
                  <a:effectLst/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⋂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Φ</m:t>
                      </m:r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98389" name="AutoShap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02613" y="1835834"/>
                <a:ext cx="2312687" cy="1089892"/>
              </a:xfrm>
              <a:prstGeom prst="wedgeRectCallout">
                <a:avLst>
                  <a:gd name="adj1" fmla="val -57922"/>
                  <a:gd name="adj2" fmla="val 78769"/>
                </a:avLst>
              </a:prstGeom>
              <a:blipFill>
                <a:blip r:embed="rId7"/>
                <a:stretch>
                  <a:fillRect/>
                </a:stretch>
              </a:blip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8406" name="AutoShape 70"/>
          <p:cNvSpPr>
            <a:spLocks noChangeArrowheads="1"/>
          </p:cNvSpPr>
          <p:nvPr/>
        </p:nvSpPr>
        <p:spPr bwMode="auto">
          <a:xfrm>
            <a:off x="6334404" y="4763791"/>
            <a:ext cx="2366238" cy="964224"/>
          </a:xfrm>
          <a:prstGeom prst="wedgeRectCallout">
            <a:avLst>
              <a:gd name="adj1" fmla="val -64856"/>
              <a:gd name="adj2" fmla="val -50296"/>
            </a:avLst>
          </a:prstGeom>
          <a:solidFill>
            <a:schemeClr val="bg1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  <a:defRPr/>
            </a:pPr>
            <a:r>
              <a:rPr lang="en-US" altLang="zh-CN" sz="2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Finite additivity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（有限可加性）</a:t>
            </a:r>
            <a:endParaRPr lang="zh-CN" altLang="zh-CN" sz="24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98412" name="Group 76"/>
          <p:cNvGrpSpPr>
            <a:grpSpLocks/>
          </p:cNvGrpSpPr>
          <p:nvPr/>
        </p:nvGrpSpPr>
        <p:grpSpPr bwMode="auto">
          <a:xfrm>
            <a:off x="214312" y="2130167"/>
            <a:ext cx="3945165" cy="3947668"/>
            <a:chOff x="135" y="664"/>
            <a:chExt cx="1816" cy="2119"/>
          </a:xfrm>
        </p:grpSpPr>
        <p:sp>
          <p:nvSpPr>
            <p:cNvPr id="398411" name="Freeform 75"/>
            <p:cNvSpPr>
              <a:spLocks/>
            </p:cNvSpPr>
            <p:nvPr/>
          </p:nvSpPr>
          <p:spPr bwMode="auto">
            <a:xfrm>
              <a:off x="135" y="1175"/>
              <a:ext cx="1816" cy="1608"/>
            </a:xfrm>
            <a:custGeom>
              <a:avLst/>
              <a:gdLst>
                <a:gd name="T0" fmla="*/ 193 w 1816"/>
                <a:gd name="T1" fmla="*/ 0 h 1608"/>
                <a:gd name="T2" fmla="*/ 89 w 1816"/>
                <a:gd name="T3" fmla="*/ 88 h 1608"/>
                <a:gd name="T4" fmla="*/ 41 w 1816"/>
                <a:gd name="T5" fmla="*/ 416 h 1608"/>
                <a:gd name="T6" fmla="*/ 49 w 1816"/>
                <a:gd name="T7" fmla="*/ 832 h 1608"/>
                <a:gd name="T8" fmla="*/ 129 w 1816"/>
                <a:gd name="T9" fmla="*/ 888 h 1608"/>
                <a:gd name="T10" fmla="*/ 257 w 1816"/>
                <a:gd name="T11" fmla="*/ 896 h 1608"/>
                <a:gd name="T12" fmla="*/ 761 w 1816"/>
                <a:gd name="T13" fmla="*/ 864 h 1608"/>
                <a:gd name="T14" fmla="*/ 1321 w 1816"/>
                <a:gd name="T15" fmla="*/ 872 h 1608"/>
                <a:gd name="T16" fmla="*/ 1665 w 1816"/>
                <a:gd name="T17" fmla="*/ 904 h 1608"/>
                <a:gd name="T18" fmla="*/ 1793 w 1816"/>
                <a:gd name="T19" fmla="*/ 992 h 1608"/>
                <a:gd name="T20" fmla="*/ 1801 w 1816"/>
                <a:gd name="T21" fmla="*/ 1168 h 1608"/>
                <a:gd name="T22" fmla="*/ 1777 w 1816"/>
                <a:gd name="T23" fmla="*/ 1400 h 1608"/>
                <a:gd name="T24" fmla="*/ 1777 w 1816"/>
                <a:gd name="T25" fmla="*/ 1528 h 1608"/>
                <a:gd name="T26" fmla="*/ 1665 w 1816"/>
                <a:gd name="T27" fmla="*/ 1600 h 1608"/>
                <a:gd name="T28" fmla="*/ 1401 w 1816"/>
                <a:gd name="T29" fmla="*/ 1576 h 1608"/>
                <a:gd name="T30" fmla="*/ 913 w 1816"/>
                <a:gd name="T31" fmla="*/ 1584 h 1608"/>
                <a:gd name="T32" fmla="*/ 441 w 1816"/>
                <a:gd name="T33" fmla="*/ 1584 h 1608"/>
                <a:gd name="T34" fmla="*/ 201 w 1816"/>
                <a:gd name="T35" fmla="*/ 1600 h 1608"/>
                <a:gd name="T36" fmla="*/ 57 w 1816"/>
                <a:gd name="T37" fmla="*/ 1544 h 1608"/>
                <a:gd name="T38" fmla="*/ 17 w 1816"/>
                <a:gd name="T39" fmla="*/ 1376 h 1608"/>
                <a:gd name="T40" fmla="*/ 17 w 1816"/>
                <a:gd name="T41" fmla="*/ 1184 h 1608"/>
                <a:gd name="T42" fmla="*/ 25 w 1816"/>
                <a:gd name="T43" fmla="*/ 976 h 1608"/>
                <a:gd name="T44" fmla="*/ 169 w 1816"/>
                <a:gd name="T45" fmla="*/ 840 h 1608"/>
                <a:gd name="T46" fmla="*/ 129 w 1816"/>
                <a:gd name="T47" fmla="*/ 792 h 1608"/>
                <a:gd name="T48" fmla="*/ 73 w 1816"/>
                <a:gd name="T49" fmla="*/ 808 h 1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16" h="1608">
                  <a:moveTo>
                    <a:pt x="193" y="0"/>
                  </a:moveTo>
                  <a:cubicBezTo>
                    <a:pt x="153" y="9"/>
                    <a:pt x="114" y="19"/>
                    <a:pt x="89" y="88"/>
                  </a:cubicBezTo>
                  <a:cubicBezTo>
                    <a:pt x="64" y="157"/>
                    <a:pt x="48" y="292"/>
                    <a:pt x="41" y="416"/>
                  </a:cubicBezTo>
                  <a:cubicBezTo>
                    <a:pt x="34" y="540"/>
                    <a:pt x="34" y="753"/>
                    <a:pt x="49" y="832"/>
                  </a:cubicBezTo>
                  <a:cubicBezTo>
                    <a:pt x="64" y="911"/>
                    <a:pt x="94" y="877"/>
                    <a:pt x="129" y="888"/>
                  </a:cubicBezTo>
                  <a:cubicBezTo>
                    <a:pt x="164" y="899"/>
                    <a:pt x="152" y="900"/>
                    <a:pt x="257" y="896"/>
                  </a:cubicBezTo>
                  <a:cubicBezTo>
                    <a:pt x="362" y="892"/>
                    <a:pt x="584" y="868"/>
                    <a:pt x="761" y="864"/>
                  </a:cubicBezTo>
                  <a:cubicBezTo>
                    <a:pt x="938" y="860"/>
                    <a:pt x="1170" y="865"/>
                    <a:pt x="1321" y="872"/>
                  </a:cubicBezTo>
                  <a:cubicBezTo>
                    <a:pt x="1472" y="879"/>
                    <a:pt x="1586" y="884"/>
                    <a:pt x="1665" y="904"/>
                  </a:cubicBezTo>
                  <a:cubicBezTo>
                    <a:pt x="1744" y="924"/>
                    <a:pt x="1770" y="948"/>
                    <a:pt x="1793" y="992"/>
                  </a:cubicBezTo>
                  <a:cubicBezTo>
                    <a:pt x="1816" y="1036"/>
                    <a:pt x="1804" y="1100"/>
                    <a:pt x="1801" y="1168"/>
                  </a:cubicBezTo>
                  <a:cubicBezTo>
                    <a:pt x="1798" y="1236"/>
                    <a:pt x="1781" y="1340"/>
                    <a:pt x="1777" y="1400"/>
                  </a:cubicBezTo>
                  <a:cubicBezTo>
                    <a:pt x="1773" y="1460"/>
                    <a:pt x="1796" y="1495"/>
                    <a:pt x="1777" y="1528"/>
                  </a:cubicBezTo>
                  <a:cubicBezTo>
                    <a:pt x="1758" y="1561"/>
                    <a:pt x="1728" y="1592"/>
                    <a:pt x="1665" y="1600"/>
                  </a:cubicBezTo>
                  <a:cubicBezTo>
                    <a:pt x="1602" y="1608"/>
                    <a:pt x="1526" y="1579"/>
                    <a:pt x="1401" y="1576"/>
                  </a:cubicBezTo>
                  <a:cubicBezTo>
                    <a:pt x="1276" y="1573"/>
                    <a:pt x="1073" y="1583"/>
                    <a:pt x="913" y="1584"/>
                  </a:cubicBezTo>
                  <a:cubicBezTo>
                    <a:pt x="753" y="1585"/>
                    <a:pt x="560" y="1581"/>
                    <a:pt x="441" y="1584"/>
                  </a:cubicBezTo>
                  <a:cubicBezTo>
                    <a:pt x="322" y="1587"/>
                    <a:pt x="265" y="1607"/>
                    <a:pt x="201" y="1600"/>
                  </a:cubicBezTo>
                  <a:cubicBezTo>
                    <a:pt x="137" y="1593"/>
                    <a:pt x="88" y="1581"/>
                    <a:pt x="57" y="1544"/>
                  </a:cubicBezTo>
                  <a:cubicBezTo>
                    <a:pt x="26" y="1507"/>
                    <a:pt x="24" y="1436"/>
                    <a:pt x="17" y="1376"/>
                  </a:cubicBezTo>
                  <a:cubicBezTo>
                    <a:pt x="10" y="1316"/>
                    <a:pt x="16" y="1251"/>
                    <a:pt x="17" y="1184"/>
                  </a:cubicBezTo>
                  <a:cubicBezTo>
                    <a:pt x="18" y="1117"/>
                    <a:pt x="0" y="1033"/>
                    <a:pt x="25" y="976"/>
                  </a:cubicBezTo>
                  <a:cubicBezTo>
                    <a:pt x="50" y="919"/>
                    <a:pt x="152" y="871"/>
                    <a:pt x="169" y="840"/>
                  </a:cubicBezTo>
                  <a:cubicBezTo>
                    <a:pt x="186" y="809"/>
                    <a:pt x="145" y="797"/>
                    <a:pt x="129" y="792"/>
                  </a:cubicBezTo>
                  <a:cubicBezTo>
                    <a:pt x="113" y="787"/>
                    <a:pt x="93" y="797"/>
                    <a:pt x="73" y="808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8410" name="AutoShape 74"/>
            <p:cNvSpPr>
              <a:spLocks/>
            </p:cNvSpPr>
            <p:nvPr/>
          </p:nvSpPr>
          <p:spPr bwMode="auto">
            <a:xfrm>
              <a:off x="328" y="664"/>
              <a:ext cx="103" cy="1029"/>
            </a:xfrm>
            <a:prstGeom prst="leftBrace">
              <a:avLst>
                <a:gd name="adj1" fmla="val 71667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98365" name="Oval 29"/>
          <p:cNvSpPr>
            <a:spLocks noChangeArrowheads="1"/>
          </p:cNvSpPr>
          <p:nvPr/>
        </p:nvSpPr>
        <p:spPr bwMode="auto">
          <a:xfrm>
            <a:off x="4586733" y="3231014"/>
            <a:ext cx="1198383" cy="569293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CACC63E-0756-445E-A422-732B71FE39AD}"/>
                  </a:ext>
                </a:extLst>
              </p:cNvPr>
              <p:cNvSpPr/>
              <p:nvPr/>
            </p:nvSpPr>
            <p:spPr>
              <a:xfrm>
                <a:off x="1048173" y="1902278"/>
                <a:ext cx="1961691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0" smtClean="0">
                          <a:effectLst/>
                          <a:latin typeface="Cambria Math" panose="02040503050406030204" pitchFamily="18" charset="0"/>
                        </a:rPr>
                        <m:t>0≤</m:t>
                      </m:r>
                      <m:sSub>
                        <m:sSubPr>
                          <m:ctrlPr>
                            <a:rPr lang="en-US" altLang="zh-CN" sz="2200" i="1"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n</m:t>
                          </m:r>
                        </m:sub>
                      </m:sSub>
                      <m:d>
                        <m:dPr>
                          <m:ctrlPr>
                            <a:rPr lang="en-US" altLang="zh-CN" sz="2200" b="0" i="1" smtClean="0"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A</m:t>
                          </m:r>
                        </m:e>
                      </m:d>
                      <m:r>
                        <a:rPr lang="en-US" altLang="zh-CN" sz="2200" b="0" i="0" smtClean="0">
                          <a:effectLst/>
                          <a:latin typeface="Cambria Math" panose="02040503050406030204" pitchFamily="18" charset="0"/>
                          <a:ea typeface="楷体_GB2312" pitchFamily="49" charset="-122"/>
                        </a:rPr>
                        <m:t>≤1</m:t>
                      </m:r>
                    </m:oMath>
                  </m:oMathPara>
                </a14:m>
                <a:endParaRPr lang="zh-CN" altLang="en-US" sz="2200" dirty="0">
                  <a:effectLst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CACC63E-0756-445E-A422-732B71FE39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173" y="1902278"/>
                <a:ext cx="1961691" cy="430887"/>
              </a:xfrm>
              <a:prstGeom prst="rect">
                <a:avLst/>
              </a:prstGeom>
              <a:blipFill>
                <a:blip r:embed="rId8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1C5D9B6A-2DDB-4B8C-B8B3-8EF5713F3989}"/>
                  </a:ext>
                </a:extLst>
              </p:cNvPr>
              <p:cNvSpPr/>
              <p:nvPr/>
            </p:nvSpPr>
            <p:spPr>
              <a:xfrm>
                <a:off x="1028700" y="2588843"/>
                <a:ext cx="1452321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n</m:t>
                          </m:r>
                        </m:sub>
                      </m:sSub>
                      <m:d>
                        <m:dPr>
                          <m:ctrlPr>
                            <a:rPr lang="en-US" altLang="zh-CN" sz="2200" b="0" i="1" smtClean="0"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Ω</m:t>
                          </m:r>
                        </m:e>
                      </m:d>
                      <m:r>
                        <a:rPr lang="en-US" altLang="zh-CN" sz="2200" b="0" i="0" smtClean="0">
                          <a:effectLst/>
                          <a:latin typeface="Cambria Math" panose="02040503050406030204" pitchFamily="18" charset="0"/>
                          <a:ea typeface="楷体_GB2312" pitchFamily="49" charset="-122"/>
                        </a:rPr>
                        <m:t>=1</m:t>
                      </m:r>
                    </m:oMath>
                  </m:oMathPara>
                </a14:m>
                <a:endParaRPr lang="zh-CN" altLang="en-US" sz="2200" dirty="0">
                  <a:effectLst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1C5D9B6A-2DDB-4B8C-B8B3-8EF5713F3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" y="2588843"/>
                <a:ext cx="1452321" cy="430887"/>
              </a:xfrm>
              <a:prstGeom prst="rect">
                <a:avLst/>
              </a:prstGeom>
              <a:blipFill>
                <a:blip r:embed="rId9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077B8B6-E1E2-4408-A3FD-514EAB076CDC}"/>
              </a:ext>
            </a:extLst>
          </p:cNvPr>
          <p:cNvSpPr txBox="1"/>
          <p:nvPr/>
        </p:nvSpPr>
        <p:spPr>
          <a:xfrm>
            <a:off x="278286" y="5171004"/>
            <a:ext cx="3937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Inducting the definition of Probability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EC814D-199B-4802-A3A4-8A32CAFD8B95}"/>
              </a:ext>
            </a:extLst>
          </p:cNvPr>
          <p:cNvSpPr txBox="1"/>
          <p:nvPr/>
        </p:nvSpPr>
        <p:spPr>
          <a:xfrm>
            <a:off x="469560" y="1010320"/>
            <a:ext cx="6336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 basic properties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基本性质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of </a:t>
            </a:r>
            <a:r>
              <a:rPr lang="en-US" altLang="zh-CN" sz="24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Frequency</a:t>
            </a:r>
            <a:endParaRPr lang="zh-CN" altLang="en-US" sz="2400" b="1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A1C20B-D5CF-48B4-9F55-9A4D8878F6EC}"/>
              </a:ext>
            </a:extLst>
          </p:cNvPr>
          <p:cNvSpPr txBox="1"/>
          <p:nvPr/>
        </p:nvSpPr>
        <p:spPr>
          <a:xfrm>
            <a:off x="5011751" y="2785899"/>
            <a:ext cx="327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?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4C6C1E1-187F-497B-8C5C-E0CF659240C1}"/>
                  </a:ext>
                </a:extLst>
              </p:cNvPr>
              <p:cNvSpPr txBox="1"/>
              <p:nvPr/>
            </p:nvSpPr>
            <p:spPr>
              <a:xfrm>
                <a:off x="3593974" y="3827221"/>
                <a:ext cx="2740430" cy="8451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_GB2312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_GB2312" pitchFamily="49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_GB2312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en-US" altLang="zh-CN" sz="2000" i="1">
                          <a:latin typeface="Cambria Math" panose="02040503050406030204" pitchFamily="18" charset="0"/>
                          <a:ea typeface="楷体_GB2312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楷体_GB2312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4C6C1E1-187F-497B-8C5C-E0CF65924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974" y="3827221"/>
                <a:ext cx="2740430" cy="845168"/>
              </a:xfrm>
              <a:prstGeom prst="rect">
                <a:avLst/>
              </a:prstGeom>
              <a:blipFill>
                <a:blip r:embed="rId10"/>
                <a:stretch>
                  <a:fillRect l="-19444" t="-122388" r="-2778" b="-1865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77BF218-6681-4C12-AA24-F98543173AAB}"/>
                  </a:ext>
                </a:extLst>
              </p:cNvPr>
              <p:cNvSpPr txBox="1"/>
              <p:nvPr/>
            </p:nvSpPr>
            <p:spPr>
              <a:xfrm>
                <a:off x="6926087" y="722143"/>
                <a:ext cx="1900793" cy="5798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 </m:t>
                          </m:r>
                          <m:r>
                            <a:rPr lang="en-US" altLang="zh-CN" sz="2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𝐴</m:t>
                          </m:r>
                        </m:e>
                      </m:d>
                      <m:r>
                        <a:rPr lang="en-US" altLang="zh-CN" sz="2200" i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2200" dirty="0">
                  <a:solidFill>
                    <a:schemeClr val="accent2">
                      <a:lumMod val="75000"/>
                    </a:schemeClr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77BF218-6681-4C12-AA24-F98543173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6087" y="722143"/>
                <a:ext cx="1900793" cy="57983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8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8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8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98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98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47" grpId="0"/>
      <p:bldP spid="398389" grpId="0" animBg="1"/>
      <p:bldP spid="398406" grpId="0" animBg="1"/>
      <p:bldP spid="398365" grpId="0" animBg="1"/>
      <p:bldP spid="3" grpId="0"/>
      <p:bldP spid="47" grpId="0"/>
      <p:bldP spid="5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8" descr="f125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64" y="5031477"/>
            <a:ext cx="27940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40" descr="f127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26" y="5836340"/>
            <a:ext cx="27940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WordArt 141"/>
          <p:cNvSpPr>
            <a:spLocks noChangeArrowheads="1" noChangeShapeType="1" noTextEdit="1"/>
          </p:cNvSpPr>
          <p:nvPr/>
        </p:nvSpPr>
        <p:spPr bwMode="auto">
          <a:xfrm>
            <a:off x="916801" y="5052369"/>
            <a:ext cx="4197600" cy="265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>
              <a:defRPr/>
            </a:pPr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+mj-ea"/>
                <a:ea typeface="+mj-ea"/>
                <a:cs typeface="Arial" panose="020B0604020202020204" pitchFamily="34" charset="0"/>
              </a:rPr>
              <a:t>It is defined by Kolmogorov </a:t>
            </a:r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latin typeface="+mj-ea"/>
                <a:ea typeface="+mj-ea"/>
                <a:cs typeface="Arial" panose="020B0604020202020204" pitchFamily="34" charset="0"/>
              </a:rPr>
              <a:t>in</a:t>
            </a:r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+mj-ea"/>
                <a:ea typeface="+mj-ea"/>
                <a:cs typeface="Arial" panose="020B0604020202020204" pitchFamily="34" charset="0"/>
              </a:rPr>
              <a:t> 1933 </a:t>
            </a:r>
            <a:endParaRPr lang="zh-CN" altLang="en-US" sz="3600" b="1" kern="10" dirty="0">
              <a:ln w="12700">
                <a:solidFill>
                  <a:srgbClr val="3399FF"/>
                </a:solidFill>
                <a:round/>
                <a:headEnd/>
                <a:tailEnd/>
              </a:ln>
              <a:solidFill>
                <a:schemeClr val="tx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9" name="Picture 142" descr="f126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39" y="5433115"/>
            <a:ext cx="27940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WordArt 143"/>
          <p:cNvSpPr>
            <a:spLocks noChangeArrowheads="1" noChangeShapeType="1" noTextEdit="1"/>
          </p:cNvSpPr>
          <p:nvPr/>
        </p:nvSpPr>
        <p:spPr bwMode="auto">
          <a:xfrm>
            <a:off x="916799" y="5401897"/>
            <a:ext cx="4850185" cy="3253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+mj-ea"/>
                <a:ea typeface="+mj-ea"/>
                <a:cs typeface="Arial" panose="020B0604020202020204" pitchFamily="34" charset="0"/>
              </a:rPr>
              <a:t>It is a special function defined on the events.</a:t>
            </a:r>
            <a:endParaRPr lang="zh-CN" altLang="en-US" sz="3600" b="1" kern="10" dirty="0">
              <a:ln w="12700">
                <a:solidFill>
                  <a:srgbClr val="3399FF"/>
                </a:solidFill>
                <a:round/>
                <a:headEnd/>
                <a:tailEnd/>
              </a:ln>
              <a:solidFill>
                <a:schemeClr val="tx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1" name="WordArt 144"/>
          <p:cNvSpPr>
            <a:spLocks noChangeArrowheads="1" noChangeShapeType="1" noTextEdit="1"/>
          </p:cNvSpPr>
          <p:nvPr/>
        </p:nvSpPr>
        <p:spPr bwMode="auto">
          <a:xfrm>
            <a:off x="916801" y="5842690"/>
            <a:ext cx="7796213" cy="2651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latin typeface="+mj-ea"/>
                <a:ea typeface="+mj-ea"/>
                <a:cs typeface="Arial" panose="020B0604020202020204" pitchFamily="34" charset="0"/>
              </a:rPr>
              <a:t>For</a:t>
            </a:r>
            <a:r>
              <a:rPr lang="zh-CN" altLang="en-US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latin typeface="+mj-ea"/>
                <a:ea typeface="+mj-ea"/>
                <a:cs typeface="Arial" panose="020B0604020202020204" pitchFamily="34" charset="0"/>
              </a:rPr>
              <a:t>example,</a:t>
            </a:r>
            <a:r>
              <a:rPr lang="zh-CN" altLang="en-US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latin typeface="+mj-ea"/>
                <a:ea typeface="+mj-ea"/>
                <a:cs typeface="Arial" panose="020B0604020202020204" pitchFamily="34" charset="0"/>
              </a:rPr>
              <a:t>the</a:t>
            </a:r>
            <a:r>
              <a:rPr lang="zh-CN" altLang="en-US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latin typeface="+mj-ea"/>
                <a:ea typeface="+mj-ea"/>
                <a:cs typeface="Arial" panose="020B0604020202020204" pitchFamily="34" charset="0"/>
              </a:rPr>
              <a:t>length or area of region are nonnegative and additive</a:t>
            </a:r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  <a:endParaRPr lang="zh-CN" altLang="en-US" sz="3600" b="1" kern="10" dirty="0">
              <a:ln w="12700">
                <a:solidFill>
                  <a:srgbClr val="3399FF"/>
                </a:solidFill>
                <a:round/>
                <a:headEnd/>
                <a:tailEnd/>
              </a:ln>
              <a:solidFill>
                <a:schemeClr val="accent5">
                  <a:lumMod val="7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WordArt 145"/>
          <p:cNvSpPr>
            <a:spLocks noChangeArrowheads="1" noChangeShapeType="1" noTextEdit="1"/>
          </p:cNvSpPr>
          <p:nvPr/>
        </p:nvSpPr>
        <p:spPr bwMode="auto">
          <a:xfrm>
            <a:off x="918389" y="6237977"/>
            <a:ext cx="5023370" cy="265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latin typeface="+mj-ea"/>
                <a:ea typeface="+mj-ea"/>
                <a:cs typeface="Arial" panose="020B0604020202020204" pitchFamily="34" charset="0"/>
              </a:rPr>
              <a:t>Probability</a:t>
            </a:r>
            <a:r>
              <a:rPr lang="zh-CN" altLang="en-US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latin typeface="+mj-ea"/>
                <a:ea typeface="+mj-ea"/>
                <a:cs typeface="Arial" panose="020B0604020202020204" pitchFamily="34" charset="0"/>
              </a:rPr>
              <a:t>is</a:t>
            </a:r>
            <a:r>
              <a:rPr lang="zh-CN" altLang="en-US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latin typeface="+mj-ea"/>
                <a:ea typeface="+mj-ea"/>
                <a:cs typeface="Arial" panose="020B0604020202020204" pitchFamily="34" charset="0"/>
              </a:rPr>
              <a:t>actually the</a:t>
            </a:r>
            <a:r>
              <a:rPr lang="zh-CN" altLang="en-US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latin typeface="+mj-ea"/>
                <a:ea typeface="+mj-ea"/>
                <a:cs typeface="Arial" panose="020B0604020202020204" pitchFamily="34" charset="0"/>
              </a:rPr>
              <a:t>“</a:t>
            </a:r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latin typeface="+mj-ea"/>
                <a:ea typeface="+mj-ea"/>
                <a:cs typeface="Arial" panose="020B0604020202020204" pitchFamily="34" charset="0"/>
              </a:rPr>
              <a:t>measure</a:t>
            </a:r>
            <a:r>
              <a:rPr lang="zh-CN" altLang="en-US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latin typeface="+mj-ea"/>
                <a:ea typeface="+mj-ea"/>
                <a:cs typeface="Arial" panose="020B0604020202020204" pitchFamily="34" charset="0"/>
              </a:rPr>
              <a:t>”</a:t>
            </a:r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latin typeface="+mj-ea"/>
                <a:ea typeface="+mj-ea"/>
                <a:cs typeface="Arial" panose="020B0604020202020204" pitchFamily="34" charset="0"/>
              </a:rPr>
              <a:t>for possibility</a:t>
            </a:r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  <a:endParaRPr lang="zh-CN" altLang="en-US" sz="3600" b="1" kern="10" dirty="0">
              <a:ln w="12700">
                <a:solidFill>
                  <a:srgbClr val="3399FF"/>
                </a:solidFill>
                <a:round/>
                <a:headEnd/>
                <a:tailEnd/>
              </a:ln>
              <a:solidFill>
                <a:schemeClr val="accent5">
                  <a:lumMod val="7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Box 112"/>
              <p:cNvSpPr txBox="1">
                <a:spLocks noChangeArrowheads="1"/>
              </p:cNvSpPr>
              <p:nvPr/>
            </p:nvSpPr>
            <p:spPr bwMode="auto">
              <a:xfrm>
                <a:off x="1589906" y="4227677"/>
                <a:ext cx="7380840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fontAlgn="ctr">
                  <a:defRPr/>
                </a:pPr>
                <a14:m>
                  <m:oMath xmlns:m="http://schemas.openxmlformats.org/officeDocument/2006/math">
                    <m:r>
                      <a:rPr lang="en-US" altLang="zh-CN" sz="2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𝑷</m:t>
                    </m:r>
                    <m:r>
                      <a:rPr lang="en-US" altLang="zh-CN" sz="2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(</m:t>
                    </m:r>
                    <m:r>
                      <a:rPr lang="en-US" altLang="zh-CN" sz="2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𝑨</m:t>
                    </m:r>
                    <m:r>
                      <a:rPr lang="en-US" altLang="zh-CN" sz="2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)</m:t>
                    </m:r>
                  </m:oMath>
                </a14:m>
                <a:r>
                  <a:rPr lang="zh-CN" altLang="en-US" sz="2200" b="1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b="1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is Probability of Event A.</a:t>
                </a:r>
                <a:r>
                  <a:rPr lang="en-US" altLang="zh-CN" sz="2200" b="1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(              ) is probability space</a:t>
                </a:r>
                <a:endParaRPr lang="en-US" altLang="zh-CN" sz="2200" b="1" i="1" dirty="0">
                  <a:solidFill>
                    <a:srgbClr val="FF00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8" name="Text 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9906" y="4227677"/>
                <a:ext cx="7380840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1321" t="-25455" r="-578" b="-4909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0" name="Picture 126" descr="BD14710_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775" y="3940658"/>
            <a:ext cx="2786062" cy="8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WordArt 81">
            <a:extLst>
              <a:ext uri="{FF2B5EF4-FFF2-40B4-BE49-F238E27FC236}">
                <a16:creationId xmlns:a16="http://schemas.microsoft.com/office/drawing/2014/main" id="{B6C4FFD0-09B2-4247-8CEE-BA7C467AC6F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7933" y="1201446"/>
            <a:ext cx="711200" cy="32754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Def: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/>
              <a:ea typeface="黑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83">
                <a:extLst>
                  <a:ext uri="{FF2B5EF4-FFF2-40B4-BE49-F238E27FC236}">
                    <a16:creationId xmlns:a16="http://schemas.microsoft.com/office/drawing/2014/main" id="{FFAB5533-5327-4E57-BDD6-D7CD01C197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3953" y="1165607"/>
                <a:ext cx="7847601" cy="7078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9050" algn="ctr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0" hangingPunct="0">
                  <a:buClr>
                    <a:schemeClr val="tx2"/>
                  </a:buClr>
                  <a:buSzPct val="75000"/>
                  <a:defRPr/>
                </a:pP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Times New Roman" pitchFamily="18" charset="0"/>
                    <a:ea typeface="楷体_GB2312" pitchFamily="49" charset="-122"/>
                  </a:rPr>
                  <a:t>Let </a:t>
                </a:r>
                <a:r>
                  <a:rPr lang="en-US" altLang="zh-CN" sz="2000" dirty="0">
                    <a:solidFill>
                      <a:srgbClr val="C00000"/>
                    </a:solidFill>
                    <a:effectLst/>
                    <a:latin typeface="Segoe Script" panose="020B0504020000000003" pitchFamily="34" charset="0"/>
                    <a:ea typeface="楷体_GB2312" pitchFamily="49" charset="-122"/>
                  </a:rPr>
                  <a:t>A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Times New Roman" pitchFamily="18" charset="0"/>
                    <a:ea typeface="楷体_GB2312" pitchFamily="49" charset="-122"/>
                  </a:rPr>
                  <a:t> be an event region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Ω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Times New Roman" pitchFamily="18" charset="0"/>
                    <a:ea typeface="楷体_GB2312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∀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𝐴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∈</m:t>
                    </m:r>
                  </m:oMath>
                </a14:m>
                <a:r>
                  <a:rPr lang="en-US" altLang="zh-CN" sz="2000" dirty="0">
                    <a:solidFill>
                      <a:srgbClr val="C00000"/>
                    </a:solidFill>
                    <a:effectLst/>
                    <a:latin typeface="Segoe Script" panose="020B0504020000000003" pitchFamily="34" charset="0"/>
                    <a:ea typeface="楷体_GB2312" pitchFamily="49" charset="-122"/>
                  </a:rPr>
                  <a:t>A.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Times New Roman" pitchFamily="18" charset="0"/>
                    <a:ea typeface="楷体_GB2312" pitchFamily="49" charset="-122"/>
                  </a:rPr>
                  <a:t> </a:t>
                </a:r>
                <a:r>
                  <a:rPr lang="en-US" altLang="zh-CN" sz="2000" dirty="0">
                    <a:latin typeface="Times New Roman" pitchFamily="18" charset="0"/>
                    <a:ea typeface="楷体_GB2312" pitchFamily="49" charset="-122"/>
                  </a:rPr>
                  <a:t>I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Times New Roman" pitchFamily="18" charset="0"/>
                    <a:ea typeface="楷体_GB2312" pitchFamily="49" charset="-122"/>
                  </a:rPr>
                  <a:t>f there exists corresponding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𝐴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,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effectLst/>
                        <a:latin typeface="Cambria Math"/>
                        <a:ea typeface="楷体_GB2312" pitchFamily="49" charset="-122"/>
                      </a:rPr>
                      <m:t> </m:t>
                    </m:r>
                  </m:oMath>
                </a14:m>
                <a:endParaRPr lang="en-US" altLang="zh-CN" sz="2000" b="0" i="1" dirty="0">
                  <a:solidFill>
                    <a:srgbClr val="C00000"/>
                  </a:solidFill>
                  <a:effectLst/>
                  <a:latin typeface="Cambria Math"/>
                  <a:ea typeface="楷体_GB2312" pitchFamily="49" charset="-122"/>
                </a:endParaRPr>
              </a:p>
              <a:p>
                <a:pPr eaLnBrk="0" hangingPunct="0">
                  <a:buClr>
                    <a:schemeClr val="tx2"/>
                  </a:buClr>
                  <a:buSzPct val="75000"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0">
                          <a:latin typeface="Cambria Math"/>
                          <a:ea typeface="楷体_GB2312" pitchFamily="49" charset="-122"/>
                        </a:rPr>
                        <m:t>and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effectLst/>
                  <a:latin typeface="Times New Roman" pitchFamily="18" charset="0"/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56" name="Rectangle 83">
                <a:extLst>
                  <a:ext uri="{FF2B5EF4-FFF2-40B4-BE49-F238E27FC236}">
                    <a16:creationId xmlns:a16="http://schemas.microsoft.com/office/drawing/2014/main" id="{FFAB5533-5327-4E57-BDD6-D7CD01C19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3953" y="1165607"/>
                <a:ext cx="7847601" cy="707886"/>
              </a:xfrm>
              <a:prstGeom prst="rect">
                <a:avLst/>
              </a:prstGeom>
              <a:blipFill>
                <a:blip r:embed="rId7"/>
                <a:stretch>
                  <a:fillRect l="-855" t="-775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WordArt 99">
            <a:extLst>
              <a:ext uri="{FF2B5EF4-FFF2-40B4-BE49-F238E27FC236}">
                <a16:creationId xmlns:a16="http://schemas.microsoft.com/office/drawing/2014/main" id="{D00DD44F-525B-47BC-B780-34213AA85C0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4144" y="1926714"/>
            <a:ext cx="325438" cy="266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i="1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①</a:t>
            </a:r>
          </a:p>
        </p:txBody>
      </p:sp>
      <p:sp>
        <p:nvSpPr>
          <p:cNvPr id="58" name="WordArt 100">
            <a:extLst>
              <a:ext uri="{FF2B5EF4-FFF2-40B4-BE49-F238E27FC236}">
                <a16:creationId xmlns:a16="http://schemas.microsoft.com/office/drawing/2014/main" id="{8F433E25-9BC1-431F-B96D-A19B6F0373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94619" y="2371112"/>
            <a:ext cx="325438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i="1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②</a:t>
            </a:r>
          </a:p>
        </p:txBody>
      </p:sp>
      <p:sp>
        <p:nvSpPr>
          <p:cNvPr id="59" name="WordArt 102">
            <a:extLst>
              <a:ext uri="{FF2B5EF4-FFF2-40B4-BE49-F238E27FC236}">
                <a16:creationId xmlns:a16="http://schemas.microsoft.com/office/drawing/2014/main" id="{C714B588-7BE9-49F1-AB2E-C7A277DDA81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3506" y="2825035"/>
            <a:ext cx="325437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i="1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Box 104">
                <a:extLst>
                  <a:ext uri="{FF2B5EF4-FFF2-40B4-BE49-F238E27FC236}">
                    <a16:creationId xmlns:a16="http://schemas.microsoft.com/office/drawing/2014/main" id="{85E3779E-66B6-472B-8A03-73AA4457DD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2970" y="2825110"/>
                <a:ext cx="7837776" cy="2777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fontAlgn="ctr">
                  <a:defRPr/>
                </a:pPr>
                <a:r>
                  <a:rPr lang="en-US" altLang="zh-CN" b="1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Countable </a:t>
                </a:r>
                <a:r>
                  <a:rPr lang="en-US" altLang="zh-CN" b="1" dirty="0" err="1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Additivity</a:t>
                </a:r>
                <a:r>
                  <a:rPr lang="en-US" altLang="zh-CN" b="1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zh-CN" altLang="en-US" b="1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（可列可加性）</a:t>
                </a:r>
                <a:r>
                  <a:rPr lang="en-US" altLang="zh-CN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: </a:t>
                </a:r>
                <a:r>
                  <a:rPr lang="en-US" altLang="zh-CN" b="1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for any </a:t>
                </a:r>
                <a:r>
                  <a:rPr lang="en-US" altLang="zh-CN" b="1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disjoint </a:t>
                </a:r>
                <a:r>
                  <a:rPr lang="en-US" altLang="zh-CN" b="1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pairwise</a:t>
                </a:r>
                <a:r>
                  <a:rPr lang="en-US" altLang="zh-CN" b="1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event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SupPr>
                      <m:e>
                        <m:r>
                          <a:rPr lang="en-US" altLang="zh-CN" b="1" i="1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CN" b="1" i="1">
                                <a:effectLst/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effectLst/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b="1" i="1">
                                <a:effectLst/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CN" b="1" i="1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}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𝒌</m:t>
                        </m:r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∞</m:t>
                        </m:r>
                      </m:sup>
                    </m:sSubSup>
                  </m:oMath>
                </a14:m>
                <a:endParaRPr lang="zh-CN" altLang="en-US" b="1" dirty="0">
                  <a:solidFill>
                    <a:schemeClr val="tx1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60" name="Text Box 104">
                <a:extLst>
                  <a:ext uri="{FF2B5EF4-FFF2-40B4-BE49-F238E27FC236}">
                    <a16:creationId xmlns:a16="http://schemas.microsoft.com/office/drawing/2014/main" id="{85E3779E-66B6-472B-8A03-73AA4457D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2970" y="2825110"/>
                <a:ext cx="7837776" cy="277768"/>
              </a:xfrm>
              <a:prstGeom prst="rect">
                <a:avLst/>
              </a:prstGeom>
              <a:blipFill>
                <a:blip r:embed="rId8"/>
                <a:stretch>
                  <a:fillRect l="-1866" t="-28261" b="-5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96">
                <a:extLst>
                  <a:ext uri="{FF2B5EF4-FFF2-40B4-BE49-F238E27FC236}">
                    <a16:creationId xmlns:a16="http://schemas.microsoft.com/office/drawing/2014/main" id="{5B8142E5-F5FA-4186-BE1C-74A89AFC71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2970" y="1925148"/>
                <a:ext cx="4800742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fontAlgn="ctr">
                  <a:defRPr/>
                </a:pPr>
                <a:r>
                  <a:rPr lang="en-US" altLang="zh-CN" b="1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Non negative </a:t>
                </a:r>
                <a:r>
                  <a:rPr lang="zh-CN" altLang="en-US" b="1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（非负性）</a:t>
                </a:r>
                <a:r>
                  <a:rPr lang="en-US" altLang="zh-CN" b="1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zh-CN" altLang="en-US" b="1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：</a:t>
                </a:r>
                <a:r>
                  <a:rPr lang="en-US" altLang="zh-CN" b="1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≥</m:t>
                    </m:r>
                    <m:r>
                      <a:rPr lang="en-US" altLang="zh-CN" b="1" i="1" smtClean="0"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𝟎</m:t>
                    </m:r>
                    <m:r>
                      <a:rPr lang="en-US" altLang="zh-CN" b="1" i="1" smtClean="0"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 (∀</m:t>
                    </m:r>
                    <m:r>
                      <a:rPr lang="en-US" altLang="zh-CN" b="1" i="1" smtClean="0"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𝑨</m:t>
                    </m:r>
                    <m:r>
                      <a:rPr lang="en-US" altLang="zh-CN" b="1" i="1" smtClean="0"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∈</m:t>
                    </m:r>
                    <m:r>
                      <m:rPr>
                        <m:nor/>
                      </m:rPr>
                      <a:rPr lang="en-US" altLang="zh-CN" baseline="30000" dirty="0">
                        <a:solidFill>
                          <a:srgbClr val="C00000"/>
                        </a:solidFill>
                        <a:latin typeface="Segoe Script" panose="020B0504020000000003" pitchFamily="34" charset="0"/>
                        <a:ea typeface="楷体_GB2312" pitchFamily="49" charset="-122"/>
                      </a:rPr>
                      <m:t>A</m:t>
                    </m:r>
                    <m:r>
                      <a:rPr lang="en-US" altLang="zh-CN" b="1" i="1" smtClean="0"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)</m:t>
                    </m:r>
                  </m:oMath>
                </a14:m>
                <a:endParaRPr lang="zh-CN" altLang="en-US" b="1" dirty="0">
                  <a:solidFill>
                    <a:schemeClr val="tx1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61" name="Text Box 96">
                <a:extLst>
                  <a:ext uri="{FF2B5EF4-FFF2-40B4-BE49-F238E27FC236}">
                    <a16:creationId xmlns:a16="http://schemas.microsoft.com/office/drawing/2014/main" id="{5B8142E5-F5FA-4186-BE1C-74A89AFC7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2970" y="1925148"/>
                <a:ext cx="4800742" cy="276999"/>
              </a:xfrm>
              <a:prstGeom prst="rect">
                <a:avLst/>
              </a:prstGeom>
              <a:blipFill>
                <a:blip r:embed="rId9"/>
                <a:stretch>
                  <a:fillRect l="-3050" t="-28889" r="-1398" b="-511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97">
                <a:extLst>
                  <a:ext uri="{FF2B5EF4-FFF2-40B4-BE49-F238E27FC236}">
                    <a16:creationId xmlns:a16="http://schemas.microsoft.com/office/drawing/2014/main" id="{47FAD17D-4966-4C8D-A76D-28F739B407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0320" y="2360701"/>
                <a:ext cx="3767470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l" fontAlgn="ctr">
                  <a:defRPr/>
                </a:pPr>
                <a:r>
                  <a:rPr lang="en-US" altLang="zh-CN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Normality</a:t>
                </a:r>
                <a:r>
                  <a:rPr lang="en-US" altLang="zh-CN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zh-CN" altLang="en-US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（规范性）：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𝛀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𝟏</m:t>
                    </m:r>
                  </m:oMath>
                </a14:m>
                <a:endParaRPr lang="zh-CN" altLang="en-US" b="1" dirty="0">
                  <a:solidFill>
                    <a:schemeClr val="tx1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62" name="Text Box 97">
                <a:extLst>
                  <a:ext uri="{FF2B5EF4-FFF2-40B4-BE49-F238E27FC236}">
                    <a16:creationId xmlns:a16="http://schemas.microsoft.com/office/drawing/2014/main" id="{47FAD17D-4966-4C8D-A76D-28F739B40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50320" y="2360701"/>
                <a:ext cx="3767470" cy="276999"/>
              </a:xfrm>
              <a:prstGeom prst="rect">
                <a:avLst/>
              </a:prstGeom>
              <a:blipFill>
                <a:blip r:embed="rId10"/>
                <a:stretch>
                  <a:fillRect l="-3883" t="-28261" b="-5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Group 77">
            <a:extLst>
              <a:ext uri="{FF2B5EF4-FFF2-40B4-BE49-F238E27FC236}">
                <a16:creationId xmlns:a16="http://schemas.microsoft.com/office/drawing/2014/main" id="{D2CFA316-616E-4E6A-A295-63B67106363F}"/>
              </a:ext>
            </a:extLst>
          </p:cNvPr>
          <p:cNvGrpSpPr>
            <a:grpSpLocks/>
          </p:cNvGrpSpPr>
          <p:nvPr/>
        </p:nvGrpSpPr>
        <p:grpSpPr bwMode="auto">
          <a:xfrm>
            <a:off x="2218268" y="638518"/>
            <a:ext cx="4241800" cy="420688"/>
            <a:chOff x="2093" y="435"/>
            <a:chExt cx="1803" cy="187"/>
          </a:xfrm>
        </p:grpSpPr>
        <p:sp>
          <p:nvSpPr>
            <p:cNvPr id="64" name="Line 78">
              <a:extLst>
                <a:ext uri="{FF2B5EF4-FFF2-40B4-BE49-F238E27FC236}">
                  <a16:creationId xmlns:a16="http://schemas.microsoft.com/office/drawing/2014/main" id="{6EB73A39-33BA-4A3B-A568-A57363554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622"/>
              <a:ext cx="1803" cy="0"/>
            </a:xfrm>
            <a:prstGeom prst="line">
              <a:avLst/>
            </a:prstGeom>
            <a:noFill/>
            <a:ln w="57150" cmpd="thinThick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5" name="WordArt 79">
              <a:extLst>
                <a:ext uri="{FF2B5EF4-FFF2-40B4-BE49-F238E27FC236}">
                  <a16:creationId xmlns:a16="http://schemas.microsoft.com/office/drawing/2014/main" id="{EF058DA8-EA43-4539-A960-13DC58F5146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112" y="435"/>
              <a:ext cx="1767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b="1" dirty="0">
                  <a:solidFill>
                    <a:schemeClr val="accent5">
                      <a:lumMod val="75000"/>
                    </a:schemeClr>
                  </a:solidFill>
                </a:rPr>
                <a:t>Definition of Probability</a:t>
              </a:r>
              <a:endParaRPr lang="zh-CN" altLang="en-US" sz="3600" b="1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accent5">
                    <a:lumMod val="75000"/>
                  </a:schemeClr>
                </a:soli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/>
                <a:ea typeface="方正舒体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14E536BF-A12F-45D0-A901-21001995563D}"/>
                  </a:ext>
                </a:extLst>
              </p:cNvPr>
              <p:cNvSpPr txBox="1"/>
              <p:nvPr/>
            </p:nvSpPr>
            <p:spPr>
              <a:xfrm>
                <a:off x="3460199" y="3101260"/>
                <a:ext cx="2306785" cy="758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𝑃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楷体_GB2312" pitchFamily="49" charset="-122"/>
                        </a:rPr>
                        <m:t>(</m:t>
                      </m:r>
                      <m:nary>
                        <m:naryPr>
                          <m:chr m:val="⋃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k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  <a:ea typeface="楷体_GB2312" pitchFamily="49" charset="-122"/>
                            </a:rPr>
                            <m:t>)</m:t>
                          </m:r>
                        </m:e>
                      </m:nary>
                      <m:r>
                        <a:rPr lang="en-US" altLang="zh-CN"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k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∞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𝑃</m:t>
                          </m:r>
                        </m:e>
                      </m:nary>
                      <m:r>
                        <a:rPr lang="en-US" altLang="zh-CN">
                          <a:latin typeface="Cambria Math" panose="02040503050406030204" pitchFamily="18" charset="0"/>
                          <a:ea typeface="楷体_GB2312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k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  <a:ea typeface="楷体_GB2312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14E536BF-A12F-45D0-A901-210019955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199" y="3101260"/>
                <a:ext cx="2306785" cy="7582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667564" y="4152723"/>
            <a:ext cx="108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Then</a:t>
            </a:r>
            <a:endParaRPr lang="zh-CN" altLang="en-US" sz="2400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9735" y="4275165"/>
            <a:ext cx="855188" cy="240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107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38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77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内容占位符 2"/>
          <p:cNvSpPr>
            <a:spLocks noGrp="1"/>
          </p:cNvSpPr>
          <p:nvPr>
            <p:ph idx="1"/>
          </p:nvPr>
        </p:nvSpPr>
        <p:spPr bwMode="auto">
          <a:xfrm>
            <a:off x="431800" y="873125"/>
            <a:ext cx="8532813" cy="163468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400" b="1" kern="1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Example:</a:t>
            </a:r>
            <a:r>
              <a:rPr lang="en-US" altLang="zh-CN" sz="24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Suppose there are three weather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possibilities</a:t>
            </a:r>
            <a:r>
              <a:rPr lang="en-US" altLang="zh-CN" sz="2400" b="1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: </a:t>
            </a:r>
            <a:r>
              <a:rPr lang="en-US" altLang="zh-CN" sz="2400" b="1" kern="1200" dirty="0">
                <a:solidFill>
                  <a:srgbClr val="FFC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Sunny</a:t>
            </a:r>
            <a:r>
              <a:rPr lang="en-US" altLang="zh-CN" sz="2400" b="1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en-US" altLang="zh-CN" sz="2400" b="1" kern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Cloudy</a:t>
            </a:r>
            <a:r>
              <a:rPr lang="en-US" altLang="zh-CN" sz="2400" b="1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en-US" altLang="zh-CN" sz="2400" b="1" kern="1200" dirty="0">
                <a:solidFill>
                  <a:schemeClr val="accent6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Rainy</a:t>
            </a:r>
            <a:r>
              <a:rPr lang="en-US" altLang="zh-CN" sz="2400" b="1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. </a:t>
            </a:r>
            <a:r>
              <a:rPr lang="en-US" altLang="zh-CN" sz="2400" b="1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It is known that the probability of Sunny is 2 times that of Cloudy, and the probability of Rainy is only half of that of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loudy. What is the probability of each status?</a:t>
            </a:r>
            <a:endParaRPr lang="zh-CN" altLang="en-US" sz="2400" b="1" kern="1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左右箭头 3"/>
          <p:cNvSpPr>
            <a:spLocks noChangeArrowheads="1"/>
          </p:cNvSpPr>
          <p:nvPr/>
        </p:nvSpPr>
        <p:spPr bwMode="auto">
          <a:xfrm>
            <a:off x="2687638" y="5793991"/>
            <a:ext cx="719137" cy="252413"/>
          </a:xfrm>
          <a:prstGeom prst="leftRightArrow">
            <a:avLst>
              <a:gd name="adj1" fmla="val 50000"/>
              <a:gd name="adj2" fmla="val 49858"/>
            </a:avLst>
          </a:prstGeom>
          <a:solidFill>
            <a:schemeClr val="accent1">
              <a:lumMod val="75000"/>
            </a:schemeClr>
          </a:solidFill>
          <a:ln w="9525" algn="ctr">
            <a:solidFill>
              <a:schemeClr val="tx1">
                <a:lumMod val="85000"/>
                <a:lumOff val="15000"/>
              </a:schemeClr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414589" y="5608179"/>
            <a:ext cx="32122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600" kern="10" dirty="0">
                <a:solidFill>
                  <a:srgbClr val="C00000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Normalization</a:t>
            </a:r>
            <a:r>
              <a:rPr lang="en-US" altLang="zh-CN" sz="3600" kern="10" dirty="0">
                <a:solidFill>
                  <a:srgbClr val="FFFF00"/>
                </a:solidFill>
                <a:latin typeface="黑体"/>
                <a:ea typeface="黑体"/>
              </a:rPr>
              <a:t> </a:t>
            </a:r>
            <a:endParaRPr lang="zh-CN" altLang="en-US" sz="3600" kern="10" dirty="0">
              <a:solidFill>
                <a:srgbClr val="FFFF00"/>
              </a:solidFill>
              <a:latin typeface="黑体"/>
              <a:ea typeface="黑体"/>
            </a:endParaRPr>
          </a:p>
        </p:txBody>
      </p:sp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444366"/>
            <a:ext cx="1385887" cy="12604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2461829"/>
            <a:ext cx="1695450" cy="12604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275" y="2461829"/>
            <a:ext cx="1630363" cy="119062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843088" y="3722304"/>
            <a:ext cx="363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389438" y="3722304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6897688" y="3704841"/>
            <a:ext cx="642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1/2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1079500" y="4244591"/>
            <a:ext cx="1908175" cy="523875"/>
            <a:chOff x="1079612" y="4869160"/>
            <a:chExt cx="1908212" cy="523861"/>
          </a:xfrm>
        </p:grpSpPr>
        <p:cxnSp>
          <p:nvCxnSpPr>
            <p:cNvPr id="17429" name="直接连接符 5"/>
            <p:cNvCxnSpPr>
              <a:cxnSpLocks noChangeShapeType="1"/>
            </p:cNvCxnSpPr>
            <p:nvPr/>
          </p:nvCxnSpPr>
          <p:spPr bwMode="auto">
            <a:xfrm>
              <a:off x="1079612" y="4869160"/>
              <a:ext cx="1908212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30" name="矩形 13"/>
            <p:cNvSpPr>
              <a:spLocks noChangeArrowheads="1"/>
            </p:cNvSpPr>
            <p:nvPr/>
          </p:nvSpPr>
          <p:spPr bwMode="auto">
            <a:xfrm>
              <a:off x="1323230" y="4869801"/>
              <a:ext cx="141256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Times New Roman" pitchFamily="18" charset="0"/>
                  <a:cs typeface="Times New Roman" pitchFamily="18" charset="0"/>
                </a:rPr>
                <a:t>2+1+1/2</a:t>
              </a:r>
              <a:endParaRPr lang="zh-CN" altLang="en-US"/>
            </a:p>
          </p:txBody>
        </p:sp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3617913" y="4246179"/>
            <a:ext cx="1908175" cy="523875"/>
            <a:chOff x="1079612" y="4869160"/>
            <a:chExt cx="1908212" cy="523861"/>
          </a:xfrm>
        </p:grpSpPr>
        <p:cxnSp>
          <p:nvCxnSpPr>
            <p:cNvPr id="17427" name="直接连接符 16"/>
            <p:cNvCxnSpPr>
              <a:cxnSpLocks noChangeShapeType="1"/>
            </p:cNvCxnSpPr>
            <p:nvPr/>
          </p:nvCxnSpPr>
          <p:spPr bwMode="auto">
            <a:xfrm>
              <a:off x="1079612" y="4869160"/>
              <a:ext cx="1908212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28" name="矩形 17"/>
            <p:cNvSpPr>
              <a:spLocks noChangeArrowheads="1"/>
            </p:cNvSpPr>
            <p:nvPr/>
          </p:nvSpPr>
          <p:spPr bwMode="auto">
            <a:xfrm>
              <a:off x="1323230" y="4869801"/>
              <a:ext cx="141256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9pPr>
            </a:lstStyle>
            <a:p>
              <a:pPr eaLnBrk="1" hangingPunct="1"/>
              <a:r>
                <a:rPr lang="en-US" altLang="zh-CN" dirty="0">
                  <a:latin typeface="Times New Roman" pitchFamily="18" charset="0"/>
                  <a:cs typeface="Times New Roman" pitchFamily="18" charset="0"/>
                </a:rPr>
                <a:t>2+1+1/2</a:t>
              </a:r>
              <a:endParaRPr lang="zh-CN" altLang="en-US" dirty="0"/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6264275" y="4277929"/>
            <a:ext cx="1908175" cy="523875"/>
            <a:chOff x="1079612" y="4869160"/>
            <a:chExt cx="1908212" cy="523861"/>
          </a:xfrm>
        </p:grpSpPr>
        <p:cxnSp>
          <p:nvCxnSpPr>
            <p:cNvPr id="17425" name="直接连接符 19"/>
            <p:cNvCxnSpPr>
              <a:cxnSpLocks noChangeShapeType="1"/>
            </p:cNvCxnSpPr>
            <p:nvPr/>
          </p:nvCxnSpPr>
          <p:spPr bwMode="auto">
            <a:xfrm>
              <a:off x="1079612" y="4869160"/>
              <a:ext cx="1908212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26" name="矩形 20"/>
            <p:cNvSpPr>
              <a:spLocks noChangeArrowheads="1"/>
            </p:cNvSpPr>
            <p:nvPr/>
          </p:nvSpPr>
          <p:spPr bwMode="auto">
            <a:xfrm>
              <a:off x="1323230" y="4869801"/>
              <a:ext cx="141256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Times New Roman" pitchFamily="18" charset="0"/>
                  <a:cs typeface="Times New Roman" pitchFamily="18" charset="0"/>
                </a:rPr>
                <a:t>2+1+1/2</a:t>
              </a:r>
              <a:endParaRPr lang="zh-CN" altLang="en-US"/>
            </a:p>
          </p:txBody>
        </p:sp>
      </p:grpSp>
      <p:sp>
        <p:nvSpPr>
          <p:cNvPr id="23" name="WordArt 48"/>
          <p:cNvSpPr>
            <a:spLocks noChangeArrowheads="1" noChangeShapeType="1" noTextEdit="1"/>
          </p:cNvSpPr>
          <p:nvPr/>
        </p:nvSpPr>
        <p:spPr bwMode="auto">
          <a:xfrm>
            <a:off x="793750" y="977774"/>
            <a:ext cx="538163" cy="31459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endParaRPr lang="zh-CN" altLang="en-US" sz="3600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/>
              <a:ea typeface="隶书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CEDAD2B-91F4-4E3D-BD27-611A6271397E}"/>
                  </a:ext>
                </a:extLst>
              </p:cNvPr>
              <p:cNvSpPr txBox="1"/>
              <p:nvPr/>
            </p:nvSpPr>
            <p:spPr>
              <a:xfrm>
                <a:off x="1876578" y="4801804"/>
                <a:ext cx="296556" cy="8063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CEDAD2B-91F4-4E3D-BD27-611A62713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578" y="4801804"/>
                <a:ext cx="296556" cy="8063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275ED0F-F2AE-486F-9C80-3F27B2CD1CAE}"/>
                  </a:ext>
                </a:extLst>
              </p:cNvPr>
              <p:cNvSpPr txBox="1"/>
              <p:nvPr/>
            </p:nvSpPr>
            <p:spPr>
              <a:xfrm>
                <a:off x="4419517" y="4801803"/>
                <a:ext cx="29655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275ED0F-F2AE-486F-9C80-3F27B2CD1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517" y="4801803"/>
                <a:ext cx="296556" cy="8079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5935632-03BC-4A7F-A0B8-6B9A8E26A3F3}"/>
                  </a:ext>
                </a:extLst>
              </p:cNvPr>
              <p:cNvSpPr txBox="1"/>
              <p:nvPr/>
            </p:nvSpPr>
            <p:spPr>
              <a:xfrm>
                <a:off x="7070086" y="4801803"/>
                <a:ext cx="29655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5935632-03BC-4A7F-A0B8-6B9A8E26A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086" y="4801803"/>
                <a:ext cx="296556" cy="8079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56766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build="p"/>
      <p:bldP spid="4" grpId="0" animBg="1"/>
      <p:bldP spid="5" grpId="0"/>
      <p:bldP spid="2" grpId="0"/>
      <p:bldP spid="9" grpId="0"/>
      <p:bldP spid="10" grpId="0"/>
      <p:bldP spid="23" grpId="0" animBg="1"/>
      <p:bldP spid="3" grpId="0"/>
      <p:bldP spid="27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8BB4F-C956-4B36-B450-92E1E7BA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S= 2C</a:t>
            </a:r>
            <a:r>
              <a:rPr lang="zh-CN" altLang="en-US" dirty="0"/>
              <a:t>， </a:t>
            </a:r>
            <a:r>
              <a:rPr lang="en-US" altLang="zh-CN" dirty="0"/>
              <a:t>R=C/2</a:t>
            </a:r>
            <a:r>
              <a:rPr lang="zh-CN" altLang="en-US" dirty="0"/>
              <a:t>，</a:t>
            </a:r>
            <a:r>
              <a:rPr lang="en-US" altLang="zh-CN" dirty="0"/>
              <a:t>S= 2C= 2R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41A3B-DA72-414D-9BF4-A4458003D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 know    S+R+C=1</a:t>
            </a:r>
          </a:p>
          <a:p>
            <a:endParaRPr lang="en-US" altLang="zh-CN" dirty="0"/>
          </a:p>
          <a:p>
            <a:r>
              <a:rPr lang="en-US" altLang="zh-CN" dirty="0"/>
              <a:t>2C+0.5C+ C=1</a:t>
            </a:r>
          </a:p>
          <a:p>
            <a:r>
              <a:rPr lang="en-US" altLang="zh-CN" dirty="0"/>
              <a:t>7C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</a:p>
          <a:p>
            <a:r>
              <a:rPr lang="en-US" altLang="zh-CN" dirty="0"/>
              <a:t>C= 2|7</a:t>
            </a:r>
          </a:p>
          <a:p>
            <a:r>
              <a:rPr lang="en-US" altLang="zh-CN" dirty="0"/>
              <a:t>S=4|7</a:t>
            </a:r>
          </a:p>
          <a:p>
            <a:r>
              <a:rPr lang="en-US" altLang="zh-CN" dirty="0"/>
              <a:t>R=1|7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6868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88182" name="Text Box 86"/>
              <p:cNvSpPr txBox="1">
                <a:spLocks noChangeArrowheads="1"/>
              </p:cNvSpPr>
              <p:nvPr/>
            </p:nvSpPr>
            <p:spPr bwMode="auto">
              <a:xfrm>
                <a:off x="1918741" y="2255369"/>
                <a:ext cx="6825673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l" fontAlgn="ctr">
                  <a:defRPr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Because Probability is a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real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number,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ϕ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=0</m:t>
                    </m:r>
                  </m:oMath>
                </a14:m>
                <a:endParaRPr lang="zh-CN" altLang="en-US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88182" name="Text 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8741" y="2255369"/>
                <a:ext cx="6825673" cy="369332"/>
              </a:xfrm>
              <a:prstGeom prst="rect">
                <a:avLst/>
              </a:prstGeom>
              <a:blipFill>
                <a:blip r:embed="rId3"/>
                <a:stretch>
                  <a:fillRect l="-2770" t="-27869" r="-536" b="-4590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8189" name="Text Box 93"/>
              <p:cNvSpPr txBox="1">
                <a:spLocks noChangeArrowheads="1"/>
              </p:cNvSpPr>
              <p:nvPr/>
            </p:nvSpPr>
            <p:spPr bwMode="auto">
              <a:xfrm>
                <a:off x="2221544" y="2937933"/>
                <a:ext cx="6446837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l" fontAlgn="ctr">
                  <a:defRPr/>
                </a:pP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Times New Roman" pitchFamily="18" charset="0"/>
                    <a:ea typeface="楷体_GB2312" pitchFamily="49" charset="-122"/>
                  </a:rPr>
                  <a:t>If</a:t>
                </a:r>
                <a:r>
                  <a:rPr lang="zh-CN" altLang="en-US" sz="2400" dirty="0">
                    <a:effectLst/>
                    <a:latin typeface="Times New Roman" pitchFamily="18" charset="0"/>
                    <a:ea typeface="楷体_GB2312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effectLst/>
                    <a:latin typeface="Times New Roman" pitchFamily="18" charset="0"/>
                    <a:ea typeface="楷体_GB2312" pitchFamily="49" charset="-122"/>
                  </a:rPr>
                  <a:t> </a:t>
                </a:r>
                <a:r>
                  <a:rPr lang="en-US" altLang="zh-CN" sz="2400" dirty="0">
                    <a:latin typeface="Times New Roman" pitchFamily="18" charset="0"/>
                    <a:ea typeface="楷体_GB2312" pitchFamily="49" charset="-122"/>
                  </a:rPr>
                  <a:t>which are pairwise disjoint, t</a:t>
                </a: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Times New Roman" pitchFamily="18" charset="0"/>
                    <a:ea typeface="楷体_GB2312" pitchFamily="49" charset="-122"/>
                  </a:rPr>
                  <a:t>hen</a:t>
                </a:r>
                <a:endParaRPr lang="zh-CN" altLang="en-US" sz="2400" dirty="0">
                  <a:solidFill>
                    <a:schemeClr val="tx1"/>
                  </a:solidFill>
                  <a:effectLst/>
                  <a:latin typeface="Times New Roman" pitchFamily="18" charset="0"/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388189" name="Text 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1544" y="2937933"/>
                <a:ext cx="644683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836" t="-26230" b="-475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8198" name="Text Box 102"/>
          <p:cNvSpPr txBox="1">
            <a:spLocks noChangeArrowheads="1"/>
          </p:cNvSpPr>
          <p:nvPr/>
        </p:nvSpPr>
        <p:spPr bwMode="auto">
          <a:xfrm>
            <a:off x="2188798" y="5047178"/>
            <a:ext cx="418794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l" fontAlgn="ctr">
              <a:defRPr/>
            </a:pPr>
            <a:r>
              <a:rPr lang="en-US" altLang="zh-CN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By</a:t>
            </a:r>
            <a:r>
              <a: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Countable</a:t>
            </a:r>
            <a:r>
              <a: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dditivity</a:t>
            </a:r>
            <a:r>
              <a: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we</a:t>
            </a:r>
            <a:r>
              <a: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have</a:t>
            </a:r>
            <a:endParaRPr lang="zh-CN" altLang="en-US" sz="2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88200" name="AutoShape 104"/>
          <p:cNvSpPr>
            <a:spLocks noChangeArrowheads="1"/>
          </p:cNvSpPr>
          <p:nvPr/>
        </p:nvSpPr>
        <p:spPr bwMode="auto">
          <a:xfrm>
            <a:off x="5641450" y="3461405"/>
            <a:ext cx="3213800" cy="565150"/>
          </a:xfrm>
          <a:prstGeom prst="wedgeRectCallout">
            <a:avLst>
              <a:gd name="adj1" fmla="val -61923"/>
              <a:gd name="adj2" fmla="val -16372"/>
            </a:avLst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Finite Additivity</a:t>
            </a:r>
            <a:r>
              <a:rPr lang="zh-CN" altLang="en-US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（有限可加性）</a:t>
            </a:r>
          </a:p>
        </p:txBody>
      </p:sp>
      <p:pic>
        <p:nvPicPr>
          <p:cNvPr id="388201" name="Picture 105" descr="BD14710_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899" y="4108008"/>
            <a:ext cx="2786063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8202" name="Oval 106"/>
          <p:cNvSpPr>
            <a:spLocks noChangeArrowheads="1"/>
          </p:cNvSpPr>
          <p:nvPr/>
        </p:nvSpPr>
        <p:spPr bwMode="auto">
          <a:xfrm>
            <a:off x="5482279" y="5482489"/>
            <a:ext cx="1919095" cy="571500"/>
          </a:xfrm>
          <a:prstGeom prst="ellipse">
            <a:avLst/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0CF376-B0BD-458B-BB95-76B16E73D8B9}"/>
              </a:ext>
            </a:extLst>
          </p:cNvPr>
          <p:cNvSpPr txBox="1"/>
          <p:nvPr/>
        </p:nvSpPr>
        <p:spPr>
          <a:xfrm>
            <a:off x="374965" y="539696"/>
            <a:ext cx="58464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 basic properties of </a:t>
            </a:r>
            <a:r>
              <a:rPr lang="en-US" altLang="zh-CN" sz="28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Probability</a:t>
            </a:r>
            <a:r>
              <a:rPr lang="zh-CN" altLang="en-US" sz="28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FF4F1D-3446-49D1-8415-3D05C3654834}"/>
              </a:ext>
            </a:extLst>
          </p:cNvPr>
          <p:cNvSpPr txBox="1"/>
          <p:nvPr/>
        </p:nvSpPr>
        <p:spPr>
          <a:xfrm>
            <a:off x="551695" y="1048786"/>
            <a:ext cx="1643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Property 1: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E924362-C7B3-4EEB-AB2A-ABE8C3B8B11C}"/>
                  </a:ext>
                </a:extLst>
              </p:cNvPr>
              <p:cNvSpPr txBox="1"/>
              <p:nvPr/>
            </p:nvSpPr>
            <p:spPr>
              <a:xfrm>
                <a:off x="2221544" y="1094953"/>
                <a:ext cx="13267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E924362-C7B3-4EEB-AB2A-ABE8C3B8B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544" y="1094953"/>
                <a:ext cx="1326773" cy="369332"/>
              </a:xfrm>
              <a:prstGeom prst="rect">
                <a:avLst/>
              </a:prstGeom>
              <a:blipFill>
                <a:blip r:embed="rId6"/>
                <a:stretch>
                  <a:fillRect l="-4128" r="-4587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2EAF129-7A19-42A7-8A65-73D684CCF76A}"/>
                  </a:ext>
                </a:extLst>
              </p:cNvPr>
              <p:cNvSpPr txBox="1"/>
              <p:nvPr/>
            </p:nvSpPr>
            <p:spPr>
              <a:xfrm>
                <a:off x="2221544" y="1462859"/>
                <a:ext cx="247176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∵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⋃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⋃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2EAF129-7A19-42A7-8A65-73D684CCF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544" y="1462859"/>
                <a:ext cx="2471767" cy="369332"/>
              </a:xfrm>
              <a:prstGeom prst="rect">
                <a:avLst/>
              </a:prstGeom>
              <a:blipFill>
                <a:blip r:embed="rId7"/>
                <a:stretch>
                  <a:fillRect l="-739"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D1A7EDF-F4ED-47D5-A0BB-073E0EFCD643}"/>
                  </a:ext>
                </a:extLst>
              </p:cNvPr>
              <p:cNvSpPr txBox="1"/>
              <p:nvPr/>
            </p:nvSpPr>
            <p:spPr>
              <a:xfrm>
                <a:off x="2195094" y="1827721"/>
                <a:ext cx="38292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D1A7EDF-F4ED-47D5-A0BB-073E0EFCD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094" y="1827721"/>
                <a:ext cx="3829253" cy="369332"/>
              </a:xfrm>
              <a:prstGeom prst="rect">
                <a:avLst/>
              </a:prstGeom>
              <a:blipFill>
                <a:blip r:embed="rId8"/>
                <a:stretch>
                  <a:fillRect l="-478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AA08C7BF-46FB-4378-8F85-5551B95B5BA0}"/>
              </a:ext>
            </a:extLst>
          </p:cNvPr>
          <p:cNvSpPr txBox="1"/>
          <p:nvPr/>
        </p:nvSpPr>
        <p:spPr>
          <a:xfrm>
            <a:off x="525246" y="2887647"/>
            <a:ext cx="1696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Property 2: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9A9B0E32-9FC7-40AA-9A4E-5DA984AEB0CF}"/>
                  </a:ext>
                </a:extLst>
              </p:cNvPr>
              <p:cNvSpPr txBox="1"/>
              <p:nvPr/>
            </p:nvSpPr>
            <p:spPr>
              <a:xfrm>
                <a:off x="2728125" y="3352084"/>
                <a:ext cx="2745010" cy="758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𝑃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楷体_GB2312" pitchFamily="49" charset="-122"/>
                        </a:rPr>
                        <m:t>(</m:t>
                      </m:r>
                      <m:nary>
                        <m:naryPr>
                          <m:chr m:val="⋃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k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楷体_GB2312" pitchFamily="49" charset="-122"/>
                            </a:rPr>
                            <m:t>n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  <a:ea typeface="楷体_GB2312" pitchFamily="49" charset="-122"/>
                            </a:rPr>
                            <m:t>)</m:t>
                          </m:r>
                        </m:e>
                      </m:nary>
                      <m:r>
                        <a:rPr lang="en-US" altLang="zh-CN"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k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楷体_GB2312" pitchFamily="49" charset="-122"/>
                            </a:rPr>
                            <m:t>n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𝑃</m:t>
                          </m:r>
                        </m:e>
                      </m:nary>
                      <m:r>
                        <a:rPr lang="en-US" altLang="zh-CN">
                          <a:latin typeface="Cambria Math" panose="02040503050406030204" pitchFamily="18" charset="0"/>
                          <a:ea typeface="楷体_GB2312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k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  <a:ea typeface="楷体_GB2312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A9B0E32-9FC7-40AA-9A4E-5DA984AEB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125" y="3352084"/>
                <a:ext cx="2745010" cy="75822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82D181F-C028-4548-9292-EDB6E9D6394B}"/>
                  </a:ext>
                </a:extLst>
              </p:cNvPr>
              <p:cNvSpPr txBox="1"/>
              <p:nvPr/>
            </p:nvSpPr>
            <p:spPr>
              <a:xfrm>
                <a:off x="2222928" y="4216927"/>
                <a:ext cx="3363342" cy="7591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∵</m:t>
                      </m:r>
                      <m:nary>
                        <m:naryPr>
                          <m:chr m:val="⋃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k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楷体_GB2312" pitchFamily="49" charset="-122"/>
                            </a:rPr>
                            <m:t>n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⋃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…⋃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⋃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Φ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⋃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Φ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…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82D181F-C028-4548-9292-EDB6E9D63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928" y="4216927"/>
                <a:ext cx="3363342" cy="759119"/>
              </a:xfrm>
              <a:prstGeom prst="rect">
                <a:avLst/>
              </a:prstGeom>
              <a:blipFill rotWithShape="1">
                <a:blip r:embed="rId10"/>
                <a:stretch>
                  <a:fillRect r="-7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70CE1AE-3C1C-43B9-8402-EC538BB5D78E}"/>
                  </a:ext>
                </a:extLst>
              </p:cNvPr>
              <p:cNvSpPr txBox="1"/>
              <p:nvPr/>
            </p:nvSpPr>
            <p:spPr>
              <a:xfrm>
                <a:off x="2178258" y="5388382"/>
                <a:ext cx="5309659" cy="7591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𝑃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楷体_GB2312" pitchFamily="49" charset="-122"/>
                        </a:rPr>
                        <m:t>(</m:t>
                      </m:r>
                      <m:nary>
                        <m:naryPr>
                          <m:chr m:val="⋃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k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楷体_GB2312" pitchFamily="49" charset="-122"/>
                            </a:rPr>
                            <m:t>n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  <a:ea typeface="楷体_GB2312" pitchFamily="49" charset="-122"/>
                            </a:rPr>
                            <m:t>)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+…+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Φ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Φ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+…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70CE1AE-3C1C-43B9-8402-EC538BB5D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258" y="5388382"/>
                <a:ext cx="5309659" cy="759119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FC6312B4-0864-4631-AE26-358AEC61934B}"/>
              </a:ext>
            </a:extLst>
          </p:cNvPr>
          <p:cNvSpPr txBox="1"/>
          <p:nvPr/>
        </p:nvSpPr>
        <p:spPr>
          <a:xfrm>
            <a:off x="7214455" y="573541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=0</a:t>
            </a:r>
            <a:endParaRPr lang="zh-CN" alt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2936974-6290-4FF9-A2A0-0D13299B440A}"/>
                  </a:ext>
                </a:extLst>
              </p:cNvPr>
              <p:cNvSpPr txBox="1"/>
              <p:nvPr/>
            </p:nvSpPr>
            <p:spPr>
              <a:xfrm>
                <a:off x="3134860" y="6086059"/>
                <a:ext cx="24159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2936974-6290-4FF9-A2A0-0D13299B4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860" y="6086059"/>
                <a:ext cx="2415982" cy="369332"/>
              </a:xfrm>
              <a:prstGeom prst="rect">
                <a:avLst/>
              </a:prstGeom>
              <a:blipFill rotWithShape="1">
                <a:blip r:embed="rId12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36">
            <a:extLst>
              <a:ext uri="{FF2B5EF4-FFF2-40B4-BE49-F238E27FC236}">
                <a16:creationId xmlns:a16="http://schemas.microsoft.com/office/drawing/2014/main" id="{0FC76EA8-7B94-410D-9772-D21F92E57E51}"/>
              </a:ext>
            </a:extLst>
          </p:cNvPr>
          <p:cNvSpPr txBox="1"/>
          <p:nvPr/>
        </p:nvSpPr>
        <p:spPr>
          <a:xfrm>
            <a:off x="861875" y="4365653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Proof: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112052" y="1012322"/>
            <a:ext cx="2690259" cy="872275"/>
            <a:chOff x="6503090" y="4759170"/>
            <a:chExt cx="2335201" cy="10540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76">
                  <a:extLst>
                    <a:ext uri="{FF2B5EF4-FFF2-40B4-BE49-F238E27FC236}">
                      <a16:creationId xmlns:a16="http://schemas.microsoft.com/office/drawing/2014/main" id="{14E536BF-A12F-45D0-A901-21001995563D}"/>
                    </a:ext>
                  </a:extLst>
                </p:cNvPr>
                <p:cNvSpPr txBox="1"/>
                <p:nvPr/>
              </p:nvSpPr>
              <p:spPr>
                <a:xfrm>
                  <a:off x="6542463" y="4776947"/>
                  <a:ext cx="2242569" cy="97292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zh-CN" sz="1400" b="1" dirty="0">
                      <a:solidFill>
                        <a:schemeClr val="accent2">
                          <a:lumMod val="75000"/>
                        </a:schemeClr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Countable additivity (</a:t>
                  </a:r>
                  <a:r>
                    <a:rPr lang="zh-CN" altLang="en-US" sz="1400" b="1" dirty="0">
                      <a:solidFill>
                        <a:schemeClr val="accent2">
                          <a:lumMod val="75000"/>
                        </a:schemeClr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可列可加性</a:t>
                  </a:r>
                  <a:r>
                    <a:rPr lang="en-US" altLang="zh-CN" sz="1400" b="1" dirty="0">
                      <a:solidFill>
                        <a:schemeClr val="accent2">
                          <a:lumMod val="75000"/>
                        </a:schemeClr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)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𝑃</m:t>
                        </m:r>
                        <m:r>
                          <a:rPr lang="en-US" altLang="zh-CN" sz="14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(</m:t>
                        </m:r>
                        <m:nary>
                          <m:naryPr>
                            <m:chr m:val="⋃"/>
                            <m:ctrlPr>
                              <a:rPr lang="en-US" altLang="zh-CN" sz="1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altLang="zh-CN" sz="1400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k</m:t>
                            </m:r>
                            <m:r>
                              <a:rPr lang="en-US" altLang="zh-CN" sz="140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14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40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1400" b="0" i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  <m:t>k</m:t>
                                </m:r>
                              </m:sub>
                            </m:sSub>
                            <m:r>
                              <a:rPr lang="en-US" altLang="zh-CN" sz="1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/>
                                <a:ea typeface="楷体_GB2312" pitchFamily="49" charset="-122"/>
                              </a:rPr>
                              <m:t>)</m:t>
                            </m:r>
                          </m:e>
                        </m:nary>
                        <m:r>
                          <a:rPr lang="en-US" altLang="zh-CN" sz="14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zh-CN" sz="1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altLang="zh-CN" sz="1400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k</m:t>
                            </m:r>
                            <m:r>
                              <a:rPr lang="en-US" altLang="zh-CN" sz="140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1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𝑃</m:t>
                            </m:r>
                          </m:e>
                        </m:nary>
                        <m:r>
                          <a:rPr lang="en-US" altLang="zh-CN" sz="14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40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k</m:t>
                            </m:r>
                          </m:sub>
                        </m:sSub>
                        <m:r>
                          <a:rPr lang="en-US" altLang="zh-CN" sz="14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)</m:t>
                        </m:r>
                      </m:oMath>
                    </m:oMathPara>
                  </a14:m>
                  <a:endParaRPr lang="zh-CN" altLang="en-US" sz="14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76">
                  <a:extLst>
                    <a:ext uri="{FF2B5EF4-FFF2-40B4-BE49-F238E27FC236}">
                      <a16:creationId xmlns:a16="http://schemas.microsoft.com/office/drawing/2014/main" id="{14E536BF-A12F-45D0-A901-2100199556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2463" y="4776947"/>
                  <a:ext cx="2242569" cy="972924"/>
                </a:xfrm>
                <a:prstGeom prst="rect">
                  <a:avLst/>
                </a:prstGeom>
                <a:blipFill>
                  <a:blip r:embed="rId13"/>
                  <a:stretch>
                    <a:fillRect l="-4245" t="-6767" r="-636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6503090" y="4759170"/>
              <a:ext cx="2335201" cy="1054027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sp>
        <p:nvSpPr>
          <p:cNvPr id="23" name="文本框 36">
            <a:extLst>
              <a:ext uri="{FF2B5EF4-FFF2-40B4-BE49-F238E27FC236}">
                <a16:creationId xmlns:a16="http://schemas.microsoft.com/office/drawing/2014/main" id="{0EAABE39-1BB4-40AF-81A2-17C4EA1D994E}"/>
              </a:ext>
            </a:extLst>
          </p:cNvPr>
          <p:cNvSpPr txBox="1"/>
          <p:nvPr/>
        </p:nvSpPr>
        <p:spPr>
          <a:xfrm>
            <a:off x="890508" y="1412548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Proof: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8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88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88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8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88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88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8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88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388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388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82" grpId="0"/>
      <p:bldP spid="388189" grpId="0"/>
      <p:bldP spid="388198" grpId="0"/>
      <p:bldP spid="388200" grpId="0" animBg="1"/>
      <p:bldP spid="388202" grpId="0" animBg="1"/>
      <p:bldP spid="388202" grpId="1" animBg="1"/>
      <p:bldP spid="3" grpId="0"/>
      <p:bldP spid="4" grpId="0"/>
      <p:bldP spid="5" grpId="0"/>
      <p:bldP spid="6" grpId="0"/>
      <p:bldP spid="34" grpId="0"/>
      <p:bldP spid="35" grpId="0"/>
      <p:bldP spid="7" grpId="0"/>
      <p:bldP spid="8" grpId="0"/>
      <p:bldP spid="9" grpId="0"/>
      <p:bldP spid="9" grpId="1"/>
      <p:bldP spid="10" grpId="0"/>
      <p:bldP spid="19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91" name="Group 51"/>
          <p:cNvGrpSpPr>
            <a:grpSpLocks/>
          </p:cNvGrpSpPr>
          <p:nvPr/>
        </p:nvGrpSpPr>
        <p:grpSpPr bwMode="auto">
          <a:xfrm>
            <a:off x="2774815" y="5134422"/>
            <a:ext cx="2835275" cy="1604962"/>
            <a:chOff x="3967" y="569"/>
            <a:chExt cx="1522" cy="851"/>
          </a:xfrm>
        </p:grpSpPr>
        <p:sp>
          <p:nvSpPr>
            <p:cNvPr id="419843" name="Rectangle 3"/>
            <p:cNvSpPr>
              <a:spLocks noChangeArrowheads="1"/>
            </p:cNvSpPr>
            <p:nvPr/>
          </p:nvSpPr>
          <p:spPr bwMode="auto">
            <a:xfrm>
              <a:off x="3967" y="569"/>
              <a:ext cx="1522" cy="851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 algn="ctr">
              <a:solidFill>
                <a:schemeClr val="folHlink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7437" name="Object 4"/>
            <p:cNvGraphicFramePr>
              <a:graphicFrameLocks noChangeAspect="1"/>
            </p:cNvGraphicFramePr>
            <p:nvPr/>
          </p:nvGraphicFramePr>
          <p:xfrm>
            <a:off x="3988" y="1205"/>
            <a:ext cx="177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14185" imgH="104734" progId="Equation.3">
                    <p:embed/>
                  </p:oleObj>
                </mc:Choice>
                <mc:Fallback>
                  <p:oleObj name="公式" r:id="rId3" imgW="114185" imgH="104734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8" y="1205"/>
                          <a:ext cx="177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fol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808080">
                                    <a:alpha val="50000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845" name="Oval 5"/>
            <p:cNvSpPr>
              <a:spLocks noChangeArrowheads="1"/>
            </p:cNvSpPr>
            <p:nvPr/>
          </p:nvSpPr>
          <p:spPr bwMode="auto">
            <a:xfrm>
              <a:off x="4254" y="651"/>
              <a:ext cx="1071" cy="673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50000">
                  <a:srgbClr val="FFCC00">
                    <a:gamma/>
                    <a:shade val="46275"/>
                    <a:invGamma/>
                  </a:srgbClr>
                </a:gs>
                <a:gs pos="100000">
                  <a:srgbClr val="FFCC00"/>
                </a:gs>
              </a:gsLst>
              <a:lin ang="2700000" scaled="1"/>
            </a:gradFill>
            <a:ln w="9525" algn="ctr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9846" name="Oval 6"/>
            <p:cNvSpPr>
              <a:spLocks noChangeArrowheads="1"/>
            </p:cNvSpPr>
            <p:nvPr/>
          </p:nvSpPr>
          <p:spPr bwMode="auto">
            <a:xfrm>
              <a:off x="4612" y="822"/>
              <a:ext cx="591" cy="378"/>
            </a:xfrm>
            <a:prstGeom prst="ellipse">
              <a:avLst/>
            </a:prstGeom>
            <a:gradFill rotWithShape="1">
              <a:gsLst>
                <a:gs pos="0">
                  <a:schemeClr val="accent2">
                    <a:alpha val="77000"/>
                  </a:schemeClr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>
                    <a:alpha val="77000"/>
                  </a:schemeClr>
                </a:gs>
              </a:gsLst>
              <a:lin ang="2700000" scaled="1"/>
            </a:gradFill>
            <a:ln w="9525" algn="ctr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7440" name="Object 7"/>
            <p:cNvGraphicFramePr>
              <a:graphicFrameLocks noChangeAspect="1"/>
            </p:cNvGraphicFramePr>
            <p:nvPr/>
          </p:nvGraphicFramePr>
          <p:xfrm>
            <a:off x="4413" y="912"/>
            <a:ext cx="172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23903" imgH="123900" progId="Equation.DSMT4">
                    <p:embed/>
                  </p:oleObj>
                </mc:Choice>
                <mc:Fallback>
                  <p:oleObj name="Equation" r:id="rId5" imgW="123903" imgH="1239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3" y="912"/>
                          <a:ext cx="172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fol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808080">
                                    <a:alpha val="50000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1" name="Object 8"/>
            <p:cNvGraphicFramePr>
              <a:graphicFrameLocks noChangeAspect="1"/>
            </p:cNvGraphicFramePr>
            <p:nvPr/>
          </p:nvGraphicFramePr>
          <p:xfrm>
            <a:off x="4833" y="924"/>
            <a:ext cx="169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23903" imgH="123900" progId="Equation.DSMT4">
                    <p:embed/>
                  </p:oleObj>
                </mc:Choice>
                <mc:Fallback>
                  <p:oleObj name="Equation" r:id="rId7" imgW="123903" imgH="1239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3" y="924"/>
                          <a:ext cx="169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fol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808080">
                                    <a:alpha val="50000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9871" name="Text Box 31"/>
              <p:cNvSpPr txBox="1">
                <a:spLocks noChangeArrowheads="1"/>
              </p:cNvSpPr>
              <p:nvPr/>
            </p:nvSpPr>
            <p:spPr bwMode="auto">
              <a:xfrm>
                <a:off x="1879675" y="661951"/>
                <a:ext cx="223393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l" fontAlgn="ctr">
                  <a:defRPr/>
                </a:pP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⊂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𝐵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 then</a:t>
                </a:r>
                <a:endParaRPr lang="zh-CN" altLang="en-US" sz="2400" dirty="0">
                  <a:solidFill>
                    <a:schemeClr val="tx1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419871" name="Text 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9675" y="661951"/>
                <a:ext cx="2233930" cy="369332"/>
              </a:xfrm>
              <a:prstGeom prst="rect">
                <a:avLst/>
              </a:prstGeom>
              <a:blipFill>
                <a:blip r:embed="rId10"/>
                <a:stretch>
                  <a:fillRect l="-8174" t="-28333" b="-483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9882" name="Text Box 42"/>
          <p:cNvSpPr txBox="1">
            <a:spLocks noChangeArrowheads="1"/>
          </p:cNvSpPr>
          <p:nvPr/>
        </p:nvSpPr>
        <p:spPr bwMode="auto">
          <a:xfrm>
            <a:off x="1724072" y="2546169"/>
            <a:ext cx="68606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l" fontAlgn="ctr">
              <a:defRPr/>
            </a:pPr>
            <a:r>
              <a:rPr lang="en-US" altLang="zh-CN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Since</a:t>
            </a: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A, B-A are disjoint,</a:t>
            </a: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also with 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finite </a:t>
            </a:r>
            <a:r>
              <a:rPr lang="en-US" altLang="zh-CN" sz="2400" dirty="0" err="1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additivity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88" name="Text Box 48"/>
              <p:cNvSpPr txBox="1">
                <a:spLocks noChangeArrowheads="1"/>
              </p:cNvSpPr>
              <p:nvPr/>
            </p:nvSpPr>
            <p:spPr bwMode="auto">
              <a:xfrm>
                <a:off x="1760781" y="3618686"/>
                <a:ext cx="7363366" cy="7078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l" fontAlgn="ctr">
                  <a:defRPr/>
                </a:pPr>
                <a:r>
                  <a:rPr lang="en-US" altLang="zh-CN" sz="23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By</a:t>
                </a:r>
                <a:r>
                  <a:rPr lang="zh-CN" altLang="en-US" sz="23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3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</a:t>
                </a:r>
                <a:r>
                  <a:rPr lang="zh-CN" altLang="en-US" sz="23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3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non-negative</a:t>
                </a:r>
                <a:r>
                  <a:rPr lang="zh-CN" altLang="en-US" sz="23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（非负性）</a:t>
                </a:r>
                <a:r>
                  <a:rPr lang="en-US" altLang="zh-CN" sz="2300" dirty="0">
                    <a:solidFill>
                      <a:schemeClr val="tx1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property of Probability:   </a:t>
                </a:r>
              </a:p>
              <a:p>
                <a:pPr algn="l" fontAlgn="ctr">
                  <a:defRPr/>
                </a:pPr>
                <a:r>
                  <a:rPr lang="en-US" altLang="zh-CN" sz="2300" b="0" dirty="0">
                    <a:solidFill>
                      <a:schemeClr val="tx1"/>
                    </a:solidFill>
                    <a:effectLst/>
                    <a:ea typeface="楷体_GB2312" pitchFamily="49" charset="-122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sz="23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23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dPr>
                      <m:e>
                        <m:r>
                          <a:rPr lang="en-US" altLang="zh-CN" sz="23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𝐵</m:t>
                        </m:r>
                      </m:e>
                    </m:d>
                    <m:r>
                      <a:rPr lang="en-US" altLang="zh-CN" sz="23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≥</m:t>
                    </m:r>
                    <m:r>
                      <a:rPr lang="en-US" altLang="zh-CN" sz="23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𝑃</m:t>
                    </m:r>
                    <m:r>
                      <a:rPr lang="en-US" altLang="zh-CN" sz="23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(</m:t>
                    </m:r>
                    <m:r>
                      <a:rPr lang="en-US" altLang="zh-CN" sz="23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𝐴</m:t>
                    </m:r>
                    <m:r>
                      <a:rPr lang="en-US" altLang="zh-CN" sz="23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)</m:t>
                    </m:r>
                  </m:oMath>
                </a14:m>
                <a:endParaRPr lang="zh-CN" altLang="en-US" sz="2300" dirty="0">
                  <a:solidFill>
                    <a:schemeClr val="tx1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419888" name="Text 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0781" y="3618686"/>
                <a:ext cx="7363366" cy="707886"/>
              </a:xfrm>
              <a:prstGeom prst="rect">
                <a:avLst/>
              </a:prstGeom>
              <a:blipFill>
                <a:blip r:embed="rId11"/>
                <a:stretch>
                  <a:fillRect l="-2483" t="-12931" r="-166" b="-1810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8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9895" name="WordArt 55"/>
          <p:cNvSpPr>
            <a:spLocks noChangeArrowheads="1" noChangeShapeType="1" noTextEdit="1"/>
          </p:cNvSpPr>
          <p:nvPr/>
        </p:nvSpPr>
        <p:spPr bwMode="auto">
          <a:xfrm>
            <a:off x="3007017" y="4693097"/>
            <a:ext cx="2646363" cy="3317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FF9933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Event and Probability </a:t>
            </a:r>
            <a:endParaRPr lang="zh-CN" altLang="en-US" sz="3600" kern="10" dirty="0">
              <a:ln w="12700">
                <a:solidFill>
                  <a:srgbClr val="FF9933"/>
                </a:solidFill>
                <a:round/>
                <a:headEnd/>
                <a:tailEnd/>
              </a:ln>
              <a:solidFill>
                <a:srgbClr val="FFFF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黑体"/>
              <a:ea typeface="黑体"/>
            </a:endParaRPr>
          </a:p>
        </p:txBody>
      </p:sp>
      <p:grpSp>
        <p:nvGrpSpPr>
          <p:cNvPr id="419899" name="Group 59"/>
          <p:cNvGrpSpPr>
            <a:grpSpLocks/>
          </p:cNvGrpSpPr>
          <p:nvPr/>
        </p:nvGrpSpPr>
        <p:grpSpPr bwMode="auto">
          <a:xfrm>
            <a:off x="5785810" y="5445734"/>
            <a:ext cx="3213266" cy="1542207"/>
            <a:chOff x="3982" y="2472"/>
            <a:chExt cx="1354" cy="347"/>
          </a:xfrm>
        </p:grpSpPr>
        <p:sp>
          <p:nvSpPr>
            <p:cNvPr id="419897" name="AutoShape 57"/>
            <p:cNvSpPr>
              <a:spLocks noChangeArrowheads="1"/>
            </p:cNvSpPr>
            <p:nvPr/>
          </p:nvSpPr>
          <p:spPr bwMode="auto">
            <a:xfrm>
              <a:off x="3982" y="2472"/>
              <a:ext cx="1354" cy="183"/>
            </a:xfrm>
            <a:prstGeom prst="wedgeRectCallout">
              <a:avLst>
                <a:gd name="adj1" fmla="val -68760"/>
                <a:gd name="adj2" fmla="val 18675"/>
              </a:avLst>
            </a:prstGeom>
            <a:gradFill rotWithShape="1">
              <a:gsLst>
                <a:gs pos="0">
                  <a:srgbClr val="5E9EFF"/>
                </a:gs>
                <a:gs pos="50000">
                  <a:srgbClr val="5E9EFF">
                    <a:gamma/>
                    <a:shade val="46275"/>
                    <a:invGamma/>
                  </a:srgbClr>
                </a:gs>
                <a:gs pos="100000">
                  <a:srgbClr val="5E9EFF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txBody>
            <a:bodyPr anchor="ctr"/>
            <a:lstStyle/>
            <a:p>
              <a:r>
                <a:rPr lang="en-US" altLang="zh-CN" kern="10" dirty="0">
                  <a:ln w="12700">
                    <a:solidFill>
                      <a:srgbClr val="FFFF00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/>
                  <a:ea typeface="黑体"/>
                </a:rPr>
                <a:t>Probability is the area of a region</a:t>
              </a:r>
              <a:r>
                <a:rPr lang="zh-CN" altLang="en-US" kern="10" dirty="0">
                  <a:ln w="12700">
                    <a:solidFill>
                      <a:srgbClr val="FFFF00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/>
                  <a:ea typeface="黑体"/>
                </a:rPr>
                <a:t>（区域面积）</a:t>
              </a:r>
              <a:endParaRPr lang="zh-CN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27" name="WordArt 58"/>
            <p:cNvSpPr>
              <a:spLocks noChangeArrowheads="1" noChangeShapeType="1" noTextEdit="1"/>
            </p:cNvSpPr>
            <p:nvPr/>
          </p:nvSpPr>
          <p:spPr bwMode="auto">
            <a:xfrm>
              <a:off x="3982" y="2635"/>
              <a:ext cx="1244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>
                <a:defRPr/>
              </a:pPr>
              <a:endParaRPr lang="zh-CN" altLang="en-US" sz="3600" b="1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/>
                <a:ea typeface="黑体"/>
              </a:endParaRPr>
            </a:p>
          </p:txBody>
        </p:sp>
      </p:grpSp>
      <p:grpSp>
        <p:nvGrpSpPr>
          <p:cNvPr id="419903" name="Group 63"/>
          <p:cNvGrpSpPr>
            <a:grpSpLocks/>
          </p:cNvGrpSpPr>
          <p:nvPr/>
        </p:nvGrpSpPr>
        <p:grpSpPr bwMode="auto">
          <a:xfrm>
            <a:off x="1" y="5682109"/>
            <a:ext cx="2630352" cy="876222"/>
            <a:chOff x="763" y="3114"/>
            <a:chExt cx="1089" cy="277"/>
          </a:xfrm>
        </p:grpSpPr>
        <p:sp>
          <p:nvSpPr>
            <p:cNvPr id="419901" name="AutoShape 61"/>
            <p:cNvSpPr>
              <a:spLocks noChangeArrowheads="1"/>
            </p:cNvSpPr>
            <p:nvPr/>
          </p:nvSpPr>
          <p:spPr bwMode="auto">
            <a:xfrm>
              <a:off x="763" y="3114"/>
              <a:ext cx="1089" cy="277"/>
            </a:xfrm>
            <a:prstGeom prst="wedgeRectCallout">
              <a:avLst>
                <a:gd name="adj1" fmla="val 81981"/>
                <a:gd name="adj2" fmla="val -19864"/>
              </a:avLst>
            </a:prstGeom>
            <a:gradFill rotWithShape="1">
              <a:gsLst>
                <a:gs pos="0">
                  <a:srgbClr val="5E9EFF"/>
                </a:gs>
                <a:gs pos="50000">
                  <a:srgbClr val="5E9EFF">
                    <a:gamma/>
                    <a:shade val="46275"/>
                    <a:invGamma/>
                  </a:srgbClr>
                </a:gs>
                <a:gs pos="100000">
                  <a:srgbClr val="5E9EFF"/>
                </a:gs>
              </a:gsLst>
              <a:lin ang="2700000" scaled="1"/>
            </a:gradFill>
            <a:ln w="9525" algn="ctr">
              <a:solidFill>
                <a:schemeClr val="folHlink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20000"/>
                </a:lnSpc>
                <a:spcBef>
                  <a:spcPct val="50000"/>
                </a:spcBef>
                <a:defRPr/>
              </a:pPr>
              <a:endParaRPr lang="zh-CN" altLang="zh-CN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7425" name="WordArt 62"/>
            <p:cNvSpPr>
              <a:spLocks noChangeArrowheads="1" noChangeShapeType="1" noTextEdit="1"/>
            </p:cNvSpPr>
            <p:nvPr/>
          </p:nvSpPr>
          <p:spPr bwMode="auto">
            <a:xfrm>
              <a:off x="823" y="3164"/>
              <a:ext cx="957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 dirty="0">
                  <a:ln w="12700">
                    <a:solidFill>
                      <a:srgbClr val="FFFF00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/>
                  <a:ea typeface="黑体"/>
                </a:rPr>
                <a:t>Event is the region</a:t>
              </a:r>
            </a:p>
            <a:p>
              <a:r>
                <a:rPr lang="zh-CN" altLang="en-US" sz="3600" kern="10" dirty="0">
                  <a:ln w="12700">
                    <a:solidFill>
                      <a:srgbClr val="FFFF00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/>
                  <a:ea typeface="黑体"/>
                </a:rPr>
                <a:t>（区域）</a:t>
              </a:r>
              <a:r>
                <a:rPr lang="en-US" altLang="zh-CN" sz="3600" kern="10" dirty="0">
                  <a:ln w="12700">
                    <a:solidFill>
                      <a:srgbClr val="FFFF00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/>
                  <a:ea typeface="黑体"/>
                </a:rPr>
                <a:t> </a:t>
              </a:r>
              <a:endParaRPr lang="zh-CN" altLang="en-US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7BA9C367-C183-4F56-BBF1-6F7FC7CEC55A}"/>
              </a:ext>
            </a:extLst>
          </p:cNvPr>
          <p:cNvSpPr txBox="1"/>
          <p:nvPr/>
        </p:nvSpPr>
        <p:spPr>
          <a:xfrm>
            <a:off x="144924" y="623511"/>
            <a:ext cx="1696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Property 3: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0AAB8B6-705B-45D2-B374-5DE017471428}"/>
                  </a:ext>
                </a:extLst>
              </p:cNvPr>
              <p:cNvSpPr txBox="1"/>
              <p:nvPr/>
            </p:nvSpPr>
            <p:spPr>
              <a:xfrm>
                <a:off x="1878072" y="1041619"/>
                <a:ext cx="33970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0AAB8B6-705B-45D2-B374-5DE017471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072" y="1041619"/>
                <a:ext cx="3397084" cy="369332"/>
              </a:xfrm>
              <a:prstGeom prst="rect">
                <a:avLst/>
              </a:prstGeom>
              <a:blipFill>
                <a:blip r:embed="rId12"/>
                <a:stretch>
                  <a:fillRect l="-1436" r="-2693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ECE0E4B-5E4E-4D40-97AD-8432A14F4879}"/>
                  </a:ext>
                </a:extLst>
              </p:cNvPr>
              <p:cNvSpPr txBox="1"/>
              <p:nvPr/>
            </p:nvSpPr>
            <p:spPr>
              <a:xfrm>
                <a:off x="1895843" y="1408783"/>
                <a:ext cx="18040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ECE0E4B-5E4E-4D40-97AD-8432A14F4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843" y="1408783"/>
                <a:ext cx="1804020" cy="369332"/>
              </a:xfrm>
              <a:prstGeom prst="rect">
                <a:avLst/>
              </a:prstGeom>
              <a:blipFill>
                <a:blip r:embed="rId13"/>
                <a:stretch>
                  <a:fillRect l="-3378" r="-5068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>
            <a:extLst>
              <a:ext uri="{FF2B5EF4-FFF2-40B4-BE49-F238E27FC236}">
                <a16:creationId xmlns:a16="http://schemas.microsoft.com/office/drawing/2014/main" id="{0FC76EA8-7B94-410D-9772-D21F92E57E51}"/>
              </a:ext>
            </a:extLst>
          </p:cNvPr>
          <p:cNvSpPr txBox="1"/>
          <p:nvPr/>
        </p:nvSpPr>
        <p:spPr>
          <a:xfrm>
            <a:off x="701035" y="1891875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Prove: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DF8FAB-F9B6-407B-A7E7-EDAF13394695}"/>
                  </a:ext>
                </a:extLst>
              </p:cNvPr>
              <p:cNvSpPr txBox="1"/>
              <p:nvPr/>
            </p:nvSpPr>
            <p:spPr>
              <a:xfrm>
                <a:off x="1584196" y="1964172"/>
                <a:ext cx="147427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∵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⊂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DF8FAB-F9B6-407B-A7E7-EDAF13394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196" y="1964172"/>
                <a:ext cx="1474271" cy="369332"/>
              </a:xfrm>
              <a:prstGeom prst="rect">
                <a:avLst/>
              </a:prstGeom>
              <a:blipFill>
                <a:blip r:embed="rId1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C62358C-E6D5-4587-BF78-3F0A7625ED4F}"/>
                  </a:ext>
                </a:extLst>
              </p:cNvPr>
              <p:cNvSpPr txBox="1"/>
              <p:nvPr/>
            </p:nvSpPr>
            <p:spPr>
              <a:xfrm>
                <a:off x="3083195" y="1964956"/>
                <a:ext cx="24243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⋃(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C62358C-E6D5-4587-BF78-3F0A7625E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3195" y="1964956"/>
                <a:ext cx="2424382" cy="369332"/>
              </a:xfrm>
              <a:prstGeom prst="rect">
                <a:avLst/>
              </a:prstGeom>
              <a:blipFill>
                <a:blip r:embed="rId15"/>
                <a:stretch>
                  <a:fillRect l="-1008" r="-3778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31E8DFA-0035-43FE-8EE4-CBFD0929F39F}"/>
                  </a:ext>
                </a:extLst>
              </p:cNvPr>
              <p:cNvSpPr txBox="1"/>
              <p:nvPr/>
            </p:nvSpPr>
            <p:spPr>
              <a:xfrm>
                <a:off x="2546033" y="3076751"/>
                <a:ext cx="34644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 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31E8DFA-0035-43FE-8EE4-CBFD0929F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033" y="3076751"/>
                <a:ext cx="3464410" cy="369332"/>
              </a:xfrm>
              <a:prstGeom prst="rect">
                <a:avLst/>
              </a:prstGeom>
              <a:blipFill>
                <a:blip r:embed="rId16"/>
                <a:stretch>
                  <a:fillRect l="-1408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51"/>
          <p:cNvGrpSpPr>
            <a:grpSpLocks/>
          </p:cNvGrpSpPr>
          <p:nvPr/>
        </p:nvGrpSpPr>
        <p:grpSpPr bwMode="auto">
          <a:xfrm>
            <a:off x="6097117" y="728882"/>
            <a:ext cx="2526362" cy="1476258"/>
            <a:chOff x="3967" y="569"/>
            <a:chExt cx="1522" cy="851"/>
          </a:xfrm>
        </p:grpSpPr>
        <p:sp>
          <p:nvSpPr>
            <p:cNvPr id="27" name="Rectangle 3"/>
            <p:cNvSpPr>
              <a:spLocks noChangeArrowheads="1"/>
            </p:cNvSpPr>
            <p:nvPr/>
          </p:nvSpPr>
          <p:spPr bwMode="auto">
            <a:xfrm>
              <a:off x="3967" y="569"/>
              <a:ext cx="1522" cy="851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 algn="ctr">
              <a:solidFill>
                <a:schemeClr val="folHlink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28" name="Object 4"/>
            <p:cNvGraphicFramePr>
              <a:graphicFrameLocks noChangeAspect="1"/>
            </p:cNvGraphicFramePr>
            <p:nvPr/>
          </p:nvGraphicFramePr>
          <p:xfrm>
            <a:off x="3988" y="1205"/>
            <a:ext cx="177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114185" imgH="104734" progId="Equation.3">
                    <p:embed/>
                  </p:oleObj>
                </mc:Choice>
                <mc:Fallback>
                  <p:oleObj name="公式" r:id="rId17" imgW="114185" imgH="1047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8" y="1205"/>
                          <a:ext cx="177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fol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808080">
                                    <a:alpha val="50000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Oval 5"/>
            <p:cNvSpPr>
              <a:spLocks noChangeArrowheads="1"/>
            </p:cNvSpPr>
            <p:nvPr/>
          </p:nvSpPr>
          <p:spPr bwMode="auto">
            <a:xfrm>
              <a:off x="4254" y="651"/>
              <a:ext cx="1071" cy="673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50000">
                  <a:srgbClr val="FFCC00">
                    <a:gamma/>
                    <a:shade val="46275"/>
                    <a:invGamma/>
                  </a:srgbClr>
                </a:gs>
                <a:gs pos="100000">
                  <a:srgbClr val="FFCC00"/>
                </a:gs>
              </a:gsLst>
              <a:lin ang="2700000" scaled="1"/>
            </a:gradFill>
            <a:ln w="9525" algn="ctr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Oval 6"/>
            <p:cNvSpPr>
              <a:spLocks noChangeArrowheads="1"/>
            </p:cNvSpPr>
            <p:nvPr/>
          </p:nvSpPr>
          <p:spPr bwMode="auto">
            <a:xfrm>
              <a:off x="4612" y="822"/>
              <a:ext cx="591" cy="378"/>
            </a:xfrm>
            <a:prstGeom prst="ellipse">
              <a:avLst/>
            </a:prstGeom>
            <a:gradFill rotWithShape="1">
              <a:gsLst>
                <a:gs pos="0">
                  <a:schemeClr val="accent2">
                    <a:alpha val="77000"/>
                  </a:schemeClr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>
                    <a:alpha val="77000"/>
                  </a:schemeClr>
                </a:gs>
              </a:gsLst>
              <a:lin ang="2700000" scaled="1"/>
            </a:gradFill>
            <a:ln w="9525" algn="ctr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31" name="Object 7"/>
            <p:cNvGraphicFramePr>
              <a:graphicFrameLocks noChangeAspect="1"/>
            </p:cNvGraphicFramePr>
            <p:nvPr/>
          </p:nvGraphicFramePr>
          <p:xfrm>
            <a:off x="4413" y="912"/>
            <a:ext cx="172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23903" imgH="123900" progId="Equation.DSMT4">
                    <p:embed/>
                  </p:oleObj>
                </mc:Choice>
                <mc:Fallback>
                  <p:oleObj name="Equation" r:id="rId18" imgW="123903" imgH="1239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3" y="912"/>
                          <a:ext cx="172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fol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808080">
                                    <a:alpha val="50000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8"/>
            <p:cNvGraphicFramePr>
              <a:graphicFrameLocks noChangeAspect="1"/>
            </p:cNvGraphicFramePr>
            <p:nvPr/>
          </p:nvGraphicFramePr>
          <p:xfrm>
            <a:off x="4833" y="924"/>
            <a:ext cx="169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23903" imgH="123900" progId="Equation.DSMT4">
                    <p:embed/>
                  </p:oleObj>
                </mc:Choice>
                <mc:Fallback>
                  <p:oleObj name="Equation" r:id="rId19" imgW="123903" imgH="1239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3" y="924"/>
                          <a:ext cx="169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fol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808080">
                                    <a:alpha val="50000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4">
                <a:extLst>
                  <a:ext uri="{FF2B5EF4-FFF2-40B4-BE49-F238E27FC236}">
                    <a16:creationId xmlns:a16="http://schemas.microsoft.com/office/drawing/2014/main" id="{9A9B0E32-9FC7-40AA-9A4E-5DA984AEB0CF}"/>
                  </a:ext>
                </a:extLst>
              </p:cNvPr>
              <p:cNvSpPr txBox="1"/>
              <p:nvPr/>
            </p:nvSpPr>
            <p:spPr>
              <a:xfrm>
                <a:off x="6651521" y="2922923"/>
                <a:ext cx="1876836" cy="548227"/>
              </a:xfrm>
              <a:prstGeom prst="rect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𝑃</m:t>
                      </m:r>
                      <m:r>
                        <a:rPr lang="en-US" altLang="zh-CN" sz="13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(</m:t>
                      </m:r>
                      <m:nary>
                        <m:naryPr>
                          <m:chr m:val="⋃"/>
                          <m:ctrlPr>
                            <a:rPr lang="en-US" altLang="zh-CN" sz="13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zh-CN" sz="13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k</m:t>
                          </m:r>
                          <m:r>
                            <a:rPr lang="en-US" altLang="zh-CN" sz="13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13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  <a:ea typeface="楷体_GB2312" pitchFamily="49" charset="-122"/>
                            </a:rPr>
                            <m:t>n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3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30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300" b="0" i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k</m:t>
                              </m:r>
                            </m:sub>
                          </m:sSub>
                        </m:e>
                      </m:nary>
                      <m:r>
                        <a:rPr lang="en-US" altLang="zh-CN" sz="13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3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zh-CN" sz="13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k</m:t>
                          </m:r>
                          <m:r>
                            <a:rPr lang="en-US" altLang="zh-CN" sz="13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13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  <a:ea typeface="楷体_GB2312" pitchFamily="49" charset="-122"/>
                            </a:rPr>
                            <m:t>n</m:t>
                          </m:r>
                        </m:sup>
                        <m:e>
                          <m:r>
                            <a:rPr lang="en-US" altLang="zh-CN" sz="13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𝑃</m:t>
                          </m:r>
                        </m:e>
                      </m:nary>
                      <m:r>
                        <a:rPr lang="en-US" altLang="zh-CN" sz="13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3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3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3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k</m:t>
                          </m:r>
                        </m:sub>
                      </m:sSub>
                      <m:r>
                        <a:rPr lang="en-US" altLang="zh-CN" sz="13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楷体_GB2312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13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文本框 34">
                <a:extLst>
                  <a:ext uri="{FF2B5EF4-FFF2-40B4-BE49-F238E27FC236}">
                    <a16:creationId xmlns:a16="http://schemas.microsoft.com/office/drawing/2014/main" id="{9A9B0E32-9FC7-40AA-9A4E-5DA984AEB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521" y="2922923"/>
                <a:ext cx="1876836" cy="54822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19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19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1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9" dur="1000"/>
                                        <p:tgtEl>
                                          <p:spTgt spid="41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9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19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1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19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19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19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1" grpId="0"/>
      <p:bldP spid="419882" grpId="0"/>
      <p:bldP spid="419888" grpId="0"/>
      <p:bldP spid="419895" grpId="0" animBg="1"/>
      <p:bldP spid="34" grpId="0"/>
      <p:bldP spid="2" grpId="0"/>
      <p:bldP spid="3" grpId="0"/>
      <p:bldP spid="37" grpId="0"/>
      <p:bldP spid="4" grpId="0"/>
      <p:bldP spid="5" grpId="0"/>
      <p:bldP spid="41" grpId="0"/>
      <p:bldP spid="33" grpId="0" animBg="1"/>
      <p:bldP spid="33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本框 50">
            <a:extLst>
              <a:ext uri="{FF2B5EF4-FFF2-40B4-BE49-F238E27FC236}">
                <a16:creationId xmlns:a16="http://schemas.microsoft.com/office/drawing/2014/main" id="{BEA0531E-96FE-4F26-8B6C-C55DFA14574E}"/>
              </a:ext>
            </a:extLst>
          </p:cNvPr>
          <p:cNvSpPr txBox="1"/>
          <p:nvPr/>
        </p:nvSpPr>
        <p:spPr>
          <a:xfrm>
            <a:off x="680190" y="675282"/>
            <a:ext cx="1696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Property 4: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6589028-CEFB-4C3D-8EDE-1328504BCDBF}"/>
                  </a:ext>
                </a:extLst>
              </p:cNvPr>
              <p:cNvSpPr txBox="1"/>
              <p:nvPr/>
            </p:nvSpPr>
            <p:spPr>
              <a:xfrm>
                <a:off x="2410159" y="721448"/>
                <a:ext cx="18806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6589028-CEFB-4C3D-8EDE-1328504BC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159" y="721448"/>
                <a:ext cx="1880643" cy="369332"/>
              </a:xfrm>
              <a:prstGeom prst="rect">
                <a:avLst/>
              </a:prstGeom>
              <a:blipFill>
                <a:blip r:embed="rId32"/>
                <a:stretch>
                  <a:fillRect l="-2913" r="-2913"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Object 6">
            <a:extLst>
              <a:ext uri="{FF2B5EF4-FFF2-40B4-BE49-F238E27FC236}">
                <a16:creationId xmlns:a16="http://schemas.microsoft.com/office/drawing/2014/main" id="{BF0989C6-87D6-4E7D-AEE8-DF2BCFA6A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435" y="1272861"/>
            <a:ext cx="423863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AutoShape 70">
            <a:extLst>
              <a:ext uri="{FF2B5EF4-FFF2-40B4-BE49-F238E27FC236}">
                <a16:creationId xmlns:a16="http://schemas.microsoft.com/office/drawing/2014/main" id="{74DB00B4-2D48-473C-A2F1-B88C1F6B0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2787" y="1895899"/>
            <a:ext cx="2832960" cy="964224"/>
          </a:xfrm>
          <a:prstGeom prst="wedgeRectCallout">
            <a:avLst>
              <a:gd name="adj1" fmla="val -9128"/>
              <a:gd name="adj2" fmla="val -132651"/>
            </a:avLst>
          </a:prstGeom>
          <a:solidFill>
            <a:schemeClr val="accent6">
              <a:lumMod val="60000"/>
              <a:lumOff val="40000"/>
            </a:schemeClr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  <a:defRPr/>
            </a:pP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From the definition of Probability</a:t>
            </a:r>
            <a:endParaRPr lang="zh-CN" altLang="zh-CN" sz="2400" dirty="0">
              <a:solidFill>
                <a:schemeClr val="accent4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6" name="AutoShape 70">
            <a:extLst>
              <a:ext uri="{FF2B5EF4-FFF2-40B4-BE49-F238E27FC236}">
                <a16:creationId xmlns:a16="http://schemas.microsoft.com/office/drawing/2014/main" id="{B4A16688-79EB-4684-AFC0-6A97D511F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3023" y="2009301"/>
            <a:ext cx="2832960" cy="964224"/>
          </a:xfrm>
          <a:prstGeom prst="wedgeRectCallout">
            <a:avLst>
              <a:gd name="adj1" fmla="val -84894"/>
              <a:gd name="adj2" fmla="val -150120"/>
            </a:avLst>
          </a:prstGeom>
          <a:solidFill>
            <a:schemeClr val="accent6">
              <a:lumMod val="60000"/>
              <a:lumOff val="40000"/>
            </a:schemeClr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4800" dirty="0">
                <a:solidFill>
                  <a:schemeClr val="accent4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?</a:t>
            </a:r>
            <a:endParaRPr lang="zh-CN" altLang="zh-CN" sz="4800" dirty="0">
              <a:solidFill>
                <a:schemeClr val="accent4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578BD6A-3DB3-4CF4-BA20-3FB5EBA861F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033248" y="2060406"/>
            <a:ext cx="2632509" cy="86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24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2" grpId="0"/>
      <p:bldP spid="55" grpId="0" animBg="1"/>
      <p:bldP spid="55" grpId="1" animBg="1"/>
      <p:bldP spid="5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本框 50">
            <a:extLst>
              <a:ext uri="{FF2B5EF4-FFF2-40B4-BE49-F238E27FC236}">
                <a16:creationId xmlns:a16="http://schemas.microsoft.com/office/drawing/2014/main" id="{BEA0531E-96FE-4F26-8B6C-C55DFA14574E}"/>
              </a:ext>
            </a:extLst>
          </p:cNvPr>
          <p:cNvSpPr txBox="1"/>
          <p:nvPr/>
        </p:nvSpPr>
        <p:spPr>
          <a:xfrm>
            <a:off x="680190" y="675282"/>
            <a:ext cx="1696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Property 4: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44A5512-5C5F-4A4A-894C-FFE88A45908E}"/>
              </a:ext>
            </a:extLst>
          </p:cNvPr>
          <p:cNvSpPr txBox="1"/>
          <p:nvPr/>
        </p:nvSpPr>
        <p:spPr>
          <a:xfrm>
            <a:off x="680190" y="1262508"/>
            <a:ext cx="1696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Property 5: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6589028-CEFB-4C3D-8EDE-1328504BCDBF}"/>
                  </a:ext>
                </a:extLst>
              </p:cNvPr>
              <p:cNvSpPr txBox="1"/>
              <p:nvPr/>
            </p:nvSpPr>
            <p:spPr>
              <a:xfrm>
                <a:off x="2410159" y="721448"/>
                <a:ext cx="18806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6589028-CEFB-4C3D-8EDE-1328504BC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159" y="721448"/>
                <a:ext cx="1880643" cy="369332"/>
              </a:xfrm>
              <a:prstGeom prst="rect">
                <a:avLst/>
              </a:prstGeom>
              <a:blipFill>
                <a:blip r:embed="rId32"/>
                <a:stretch>
                  <a:fillRect l="-2913" r="-2913"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9DBA096-38F2-488C-B164-20EE5129EB05}"/>
                  </a:ext>
                </a:extLst>
              </p:cNvPr>
              <p:cNvSpPr txBox="1"/>
              <p:nvPr/>
            </p:nvSpPr>
            <p:spPr>
              <a:xfrm>
                <a:off x="2410159" y="1308289"/>
                <a:ext cx="2326727" cy="370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9DBA096-38F2-488C-B164-20EE5129E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159" y="1308289"/>
                <a:ext cx="2326727" cy="370101"/>
              </a:xfrm>
              <a:prstGeom prst="rect">
                <a:avLst/>
              </a:prstGeom>
              <a:blipFill>
                <a:blip r:embed="rId33"/>
                <a:stretch>
                  <a:fillRect l="-2094" t="-5000" r="-3927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70">
            <a:extLst>
              <a:ext uri="{FF2B5EF4-FFF2-40B4-BE49-F238E27FC236}">
                <a16:creationId xmlns:a16="http://schemas.microsoft.com/office/drawing/2014/main" id="{68118C06-8615-407D-BE31-A3006AF66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5273" y="2769669"/>
            <a:ext cx="4422808" cy="1297005"/>
          </a:xfrm>
          <a:prstGeom prst="wedgeRectCallout">
            <a:avLst>
              <a:gd name="adj1" fmla="val -42803"/>
              <a:gd name="adj2" fmla="val -133205"/>
            </a:avLst>
          </a:prstGeom>
          <a:solidFill>
            <a:schemeClr val="accent6">
              <a:lumMod val="60000"/>
              <a:lumOff val="40000"/>
            </a:schemeClr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4800" dirty="0">
                <a:solidFill>
                  <a:schemeClr val="accent4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?</a:t>
            </a:r>
            <a:endParaRPr lang="zh-CN" altLang="zh-CN" sz="4800" dirty="0">
              <a:solidFill>
                <a:schemeClr val="accent4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D40FBA-7AF2-4596-A5A4-3B4F89A8055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168617" y="2857750"/>
            <a:ext cx="4253264" cy="114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8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79" name="Group 59"/>
          <p:cNvGrpSpPr>
            <a:grpSpLocks/>
          </p:cNvGrpSpPr>
          <p:nvPr/>
        </p:nvGrpSpPr>
        <p:grpSpPr bwMode="auto">
          <a:xfrm>
            <a:off x="3197787" y="3535383"/>
            <a:ext cx="3733604" cy="1978025"/>
            <a:chOff x="1564" y="2659"/>
            <a:chExt cx="2450" cy="1406"/>
          </a:xfrm>
        </p:grpSpPr>
        <p:sp>
          <p:nvSpPr>
            <p:cNvPr id="389180" name="Rectangle 60"/>
            <p:cNvSpPr>
              <a:spLocks noChangeArrowheads="1"/>
            </p:cNvSpPr>
            <p:nvPr/>
          </p:nvSpPr>
          <p:spPr bwMode="auto">
            <a:xfrm>
              <a:off x="1564" y="2659"/>
              <a:ext cx="2450" cy="1406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77000"/>
                  </a:schemeClr>
                </a:gs>
                <a:gs pos="5000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>
                    <a:alpha val="77000"/>
                  </a:schemeClr>
                </a:gs>
              </a:gsLst>
              <a:lin ang="2700000" scaled="1"/>
            </a:gradFill>
            <a:ln w="9525" algn="ctr">
              <a:solidFill>
                <a:schemeClr val="folHlink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8472" name="Object 61"/>
                <p:cNvGraphicFramePr>
                  <a:graphicFrameLocks noChangeAspect="1"/>
                </p:cNvGraphicFramePr>
                <p:nvPr/>
              </p:nvGraphicFramePr>
              <p:xfrm>
                <a:off x="1586" y="3748"/>
                <a:ext cx="308" cy="25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2" imgW="123903" imgH="123900" progId="Equation.DSMT4">
                        <p:embed/>
                      </p:oleObj>
                    </mc:Choice>
                    <mc:Fallback>
                      <p:oleObj name="Equation" r:id="rId2" imgW="123903" imgH="123900" progId="Equation.DSMT4">
                        <p:embed/>
                        <p:pic>
                          <p:nvPicPr>
                            <p:cNvPr id="18472" name="Object 6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586" y="3748"/>
                              <a:ext cx="308" cy="25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chemeClr val="tx1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chemeClr val="tx2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8472" name="Object 61"/>
                <p:cNvGraphicFramePr>
                  <a:graphicFrameLocks noChangeAspect="1"/>
                </p:cNvGraphicFramePr>
                <p:nvPr/>
              </p:nvGraphicFramePr>
              <p:xfrm>
                <a:off x="1586" y="3748"/>
                <a:ext cx="308" cy="25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5325" name="Equation" r:id="rId5" imgW="123903" imgH="123900" progId="Equation.DSMT4">
                        <p:embed/>
                      </p:oleObj>
                    </mc:Choice>
                    <mc:Fallback>
                      <p:oleObj name="Equation" r:id="rId5" imgW="123903" imgH="1239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586" y="3748"/>
                              <a:ext cx="308" cy="25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tx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2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389182" name="Oval 62"/>
            <p:cNvSpPr>
              <a:spLocks noChangeArrowheads="1"/>
            </p:cNvSpPr>
            <p:nvPr/>
          </p:nvSpPr>
          <p:spPr bwMode="auto">
            <a:xfrm>
              <a:off x="1882" y="2977"/>
              <a:ext cx="1402" cy="998"/>
            </a:xfrm>
            <a:prstGeom prst="ellipse">
              <a:avLst/>
            </a:prstGeom>
            <a:solidFill>
              <a:srgbClr val="FF6600">
                <a:alpha val="67999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9183" name="Oval 63"/>
            <p:cNvSpPr>
              <a:spLocks noChangeArrowheads="1"/>
            </p:cNvSpPr>
            <p:nvPr/>
          </p:nvSpPr>
          <p:spPr bwMode="auto">
            <a:xfrm>
              <a:off x="2517" y="3067"/>
              <a:ext cx="1360" cy="817"/>
            </a:xfrm>
            <a:prstGeom prst="ellipse">
              <a:avLst/>
            </a:prstGeom>
            <a:solidFill>
              <a:srgbClr val="969696">
                <a:alpha val="59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9184" name="Oval 64"/>
            <p:cNvSpPr>
              <a:spLocks noChangeArrowheads="1"/>
            </p:cNvSpPr>
            <p:nvPr/>
          </p:nvSpPr>
          <p:spPr bwMode="auto">
            <a:xfrm>
              <a:off x="2290" y="2704"/>
              <a:ext cx="1361" cy="862"/>
            </a:xfrm>
            <a:prstGeom prst="ellipse">
              <a:avLst/>
            </a:prstGeom>
            <a:solidFill>
              <a:srgbClr val="666699">
                <a:alpha val="56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8476" name="Object 65"/>
                <p:cNvGraphicFramePr>
                  <a:graphicFrameLocks noChangeAspect="1"/>
                </p:cNvGraphicFramePr>
                <p:nvPr/>
              </p:nvGraphicFramePr>
              <p:xfrm>
                <a:off x="2925" y="2704"/>
                <a:ext cx="354" cy="316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公式" r:id="rId7" imgW="152517" imgH="161960" progId="Equation.3">
                        <p:embed/>
                      </p:oleObj>
                    </mc:Choice>
                    <mc:Fallback>
                      <p:oleObj name="公式" r:id="rId7" imgW="152517" imgH="161960" progId="Equation.3">
                        <p:embed/>
                        <p:pic>
                          <p:nvPicPr>
                            <p:cNvPr id="18476" name="Object 6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25" y="2704"/>
                              <a:ext cx="354" cy="31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chemeClr val="tx1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chemeClr val="tx2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8476" name="Object 65"/>
                <p:cNvGraphicFramePr>
                  <a:graphicFrameLocks noChangeAspect="1"/>
                </p:cNvGraphicFramePr>
                <p:nvPr/>
              </p:nvGraphicFramePr>
              <p:xfrm>
                <a:off x="2925" y="2704"/>
                <a:ext cx="354" cy="316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5326" name="公式" r:id="rId9" imgW="152517" imgH="161960" progId="Equation.3">
                        <p:embed/>
                      </p:oleObj>
                    </mc:Choice>
                    <mc:Fallback>
                      <p:oleObj name="公式" r:id="rId9" imgW="152517" imgH="16196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25" y="2704"/>
                              <a:ext cx="354" cy="31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tx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2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8477" name="Object 66"/>
                <p:cNvGraphicFramePr>
                  <a:graphicFrameLocks noChangeAspect="1"/>
                </p:cNvGraphicFramePr>
                <p:nvPr/>
              </p:nvGraphicFramePr>
              <p:xfrm>
                <a:off x="3424" y="3385"/>
                <a:ext cx="355" cy="316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公式" r:id="rId11" imgW="152517" imgH="161960" progId="Equation.3">
                        <p:embed/>
                      </p:oleObj>
                    </mc:Choice>
                    <mc:Fallback>
                      <p:oleObj name="公式" r:id="rId11" imgW="152517" imgH="161960" progId="Equation.3">
                        <p:embed/>
                        <p:pic>
                          <p:nvPicPr>
                            <p:cNvPr id="18477" name="Object 6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24" y="3385"/>
                              <a:ext cx="355" cy="31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chemeClr val="tx1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chemeClr val="tx2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8477" name="Object 66"/>
                <p:cNvGraphicFramePr>
                  <a:graphicFrameLocks noChangeAspect="1"/>
                </p:cNvGraphicFramePr>
                <p:nvPr/>
              </p:nvGraphicFramePr>
              <p:xfrm>
                <a:off x="3424" y="3385"/>
                <a:ext cx="355" cy="316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5327" name="公式" r:id="rId13" imgW="152517" imgH="161960" progId="Equation.3">
                        <p:embed/>
                      </p:oleObj>
                    </mc:Choice>
                    <mc:Fallback>
                      <p:oleObj name="公式" r:id="rId13" imgW="152517" imgH="16196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24" y="3385"/>
                              <a:ext cx="355" cy="31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tx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2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8478" name="Object 67"/>
                <p:cNvGraphicFramePr>
                  <a:graphicFrameLocks noChangeAspect="1"/>
                </p:cNvGraphicFramePr>
                <p:nvPr/>
              </p:nvGraphicFramePr>
              <p:xfrm>
                <a:off x="1994" y="3311"/>
                <a:ext cx="332" cy="316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公式" r:id="rId15" imgW="142799" imgH="161960" progId="Equation.3">
                        <p:embed/>
                      </p:oleObj>
                    </mc:Choice>
                    <mc:Fallback>
                      <p:oleObj name="公式" r:id="rId15" imgW="142799" imgH="161960" progId="Equation.3">
                        <p:embed/>
                        <p:pic>
                          <p:nvPicPr>
                            <p:cNvPr id="18478" name="Object 6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994" y="3311"/>
                              <a:ext cx="332" cy="31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chemeClr val="tx1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chemeClr val="tx2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8478" name="Object 67"/>
                <p:cNvGraphicFramePr>
                  <a:graphicFrameLocks noChangeAspect="1"/>
                </p:cNvGraphicFramePr>
                <p:nvPr/>
              </p:nvGraphicFramePr>
              <p:xfrm>
                <a:off x="1994" y="3311"/>
                <a:ext cx="332" cy="316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5328" name="公式" r:id="rId17" imgW="142799" imgH="161960" progId="Equation.3">
                        <p:embed/>
                      </p:oleObj>
                    </mc:Choice>
                    <mc:Fallback>
                      <p:oleObj name="公式" r:id="rId17" imgW="142799" imgH="16196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994" y="3311"/>
                              <a:ext cx="332" cy="31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tx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2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8479" name="Object 68"/>
                <p:cNvGraphicFramePr>
                  <a:graphicFrameLocks noChangeAspect="1"/>
                </p:cNvGraphicFramePr>
                <p:nvPr/>
              </p:nvGraphicFramePr>
              <p:xfrm>
                <a:off x="2671" y="3238"/>
                <a:ext cx="514" cy="23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9" imgW="393480" imgH="228600" progId="Equation.3">
                        <p:embed/>
                      </p:oleObj>
                    </mc:Choice>
                    <mc:Fallback>
                      <p:oleObj name="Equation" r:id="rId19" imgW="393480" imgH="228600" progId="Equation.3">
                        <p:embed/>
                        <p:pic>
                          <p:nvPicPr>
                            <p:cNvPr id="18479" name="Object 6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71" y="3238"/>
                              <a:ext cx="514" cy="232"/>
                            </a:xfrm>
                            <a:prstGeom prst="rect">
                              <a:avLst/>
                            </a:prstGeom>
                            <a:solidFill>
                              <a:srgbClr val="00B0F0"/>
                            </a:solidFill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8479" name="Object 68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33889731"/>
                    </p:ext>
                  </p:extLst>
                </p:nvPr>
              </p:nvGraphicFramePr>
              <p:xfrm>
                <a:off x="2671" y="3238"/>
                <a:ext cx="514" cy="23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5329" name="Equation" r:id="rId21" imgW="393480" imgH="228600" progId="Equation.3">
                        <p:embed/>
                      </p:oleObj>
                    </mc:Choice>
                    <mc:Fallback>
                      <p:oleObj name="Equation" r:id="rId21" imgW="393480" imgH="2286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71" y="3238"/>
                              <a:ext cx="514" cy="232"/>
                            </a:xfrm>
                            <a:prstGeom prst="rect">
                              <a:avLst/>
                            </a:prstGeom>
                            <a:solidFill>
                              <a:srgbClr val="00B0F0"/>
                            </a:solidFill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80" name="Object 69"/>
                <p:cNvSpPr txBox="1"/>
                <p:nvPr/>
              </p:nvSpPr>
              <p:spPr bwMode="auto">
                <a:xfrm>
                  <a:off x="2311" y="2976"/>
                  <a:ext cx="476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8480" name="Object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11" y="2976"/>
                  <a:ext cx="476" cy="22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8481" name="Object 70"/>
                <p:cNvGraphicFramePr>
                  <a:graphicFrameLocks noChangeAspect="1"/>
                </p:cNvGraphicFramePr>
                <p:nvPr/>
              </p:nvGraphicFramePr>
              <p:xfrm>
                <a:off x="3198" y="3114"/>
                <a:ext cx="408" cy="2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公式" r:id="rId24" imgW="304763" imgH="161960" progId="Equation.3">
                        <p:embed/>
                      </p:oleObj>
                    </mc:Choice>
                    <mc:Fallback>
                      <p:oleObj name="公式" r:id="rId24" imgW="304763" imgH="161960" progId="Equation.3">
                        <p:embed/>
                        <p:pic>
                          <p:nvPicPr>
                            <p:cNvPr id="18481" name="Object 7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98" y="3114"/>
                              <a:ext cx="408" cy="2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chemeClr val="tx1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chemeClr val="tx2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8481" name="Object 70"/>
                <p:cNvGraphicFramePr>
                  <a:graphicFrameLocks noChangeAspect="1"/>
                </p:cNvGraphicFramePr>
                <p:nvPr/>
              </p:nvGraphicFramePr>
              <p:xfrm>
                <a:off x="3198" y="3114"/>
                <a:ext cx="408" cy="2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5330" name="公式" r:id="rId26" imgW="304763" imgH="161960" progId="Equation.3">
                        <p:embed/>
                      </p:oleObj>
                    </mc:Choice>
                    <mc:Fallback>
                      <p:oleObj name="公式" r:id="rId26" imgW="304763" imgH="16196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98" y="3114"/>
                              <a:ext cx="408" cy="2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tx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2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389205" name="Group 85"/>
          <p:cNvGrpSpPr>
            <a:grpSpLocks/>
          </p:cNvGrpSpPr>
          <p:nvPr/>
        </p:nvGrpSpPr>
        <p:grpSpPr bwMode="auto">
          <a:xfrm>
            <a:off x="998010" y="3313309"/>
            <a:ext cx="2068513" cy="795338"/>
            <a:chOff x="144" y="1760"/>
            <a:chExt cx="1303" cy="501"/>
          </a:xfrm>
        </p:grpSpPr>
        <p:sp>
          <p:nvSpPr>
            <p:cNvPr id="389196" name="AutoShape 76"/>
            <p:cNvSpPr>
              <a:spLocks noChangeArrowheads="1"/>
            </p:cNvSpPr>
            <p:nvPr/>
          </p:nvSpPr>
          <p:spPr bwMode="auto">
            <a:xfrm>
              <a:off x="989" y="1905"/>
              <a:ext cx="458" cy="356"/>
            </a:xfrm>
            <a:prstGeom prst="wedgeRectCallout">
              <a:avLst>
                <a:gd name="adj1" fmla="val 256116"/>
                <a:gd name="adj2" fmla="val 86236"/>
              </a:avLst>
            </a:prstGeom>
            <a:gradFill rotWithShape="1">
              <a:gsLst>
                <a:gs pos="0">
                  <a:srgbClr val="5E9EFF"/>
                </a:gs>
                <a:gs pos="100000">
                  <a:srgbClr val="5E9E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 algn="ctr">
              <a:solidFill>
                <a:schemeClr val="folHlink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20000"/>
                </a:lnSpc>
                <a:spcBef>
                  <a:spcPct val="50000"/>
                </a:spcBef>
                <a:defRPr/>
              </a:pPr>
              <a:r>
                <a:rPr lang="en-US" altLang="zh-CN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dig</a:t>
              </a:r>
              <a:endPara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89202" name="Oval 82"/>
            <p:cNvSpPr>
              <a:spLocks noChangeArrowheads="1"/>
            </p:cNvSpPr>
            <p:nvPr/>
          </p:nvSpPr>
          <p:spPr bwMode="auto">
            <a:xfrm>
              <a:off x="144" y="1760"/>
              <a:ext cx="104" cy="128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89207" name="Group 87"/>
          <p:cNvGrpSpPr>
            <a:grpSpLocks/>
          </p:cNvGrpSpPr>
          <p:nvPr/>
        </p:nvGrpSpPr>
        <p:grpSpPr bwMode="auto">
          <a:xfrm>
            <a:off x="7269724" y="3454420"/>
            <a:ext cx="1654175" cy="644525"/>
            <a:chOff x="4062" y="1856"/>
            <a:chExt cx="1042" cy="406"/>
          </a:xfrm>
        </p:grpSpPr>
        <p:sp>
          <p:nvSpPr>
            <p:cNvPr id="389199" name="AutoShape 79"/>
            <p:cNvSpPr>
              <a:spLocks noChangeArrowheads="1"/>
            </p:cNvSpPr>
            <p:nvPr/>
          </p:nvSpPr>
          <p:spPr bwMode="auto">
            <a:xfrm>
              <a:off x="4062" y="1906"/>
              <a:ext cx="458" cy="356"/>
            </a:xfrm>
            <a:prstGeom prst="wedgeRectCallout">
              <a:avLst>
                <a:gd name="adj1" fmla="val -212009"/>
                <a:gd name="adj2" fmla="val 81741"/>
              </a:avLst>
            </a:prstGeom>
            <a:gradFill rotWithShape="1">
              <a:gsLst>
                <a:gs pos="0">
                  <a:srgbClr val="5E9EFF"/>
                </a:gs>
                <a:gs pos="100000">
                  <a:srgbClr val="5E9E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 algn="ctr">
              <a:solidFill>
                <a:schemeClr val="folHlink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20000"/>
                </a:lnSpc>
                <a:spcBef>
                  <a:spcPct val="50000"/>
                </a:spcBef>
                <a:defRPr/>
              </a:pPr>
              <a:r>
                <a:rPr lang="en-US" altLang="zh-CN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dig</a:t>
              </a:r>
              <a:endPara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89206" name="Oval 86"/>
            <p:cNvSpPr>
              <a:spLocks noChangeArrowheads="1"/>
            </p:cNvSpPr>
            <p:nvPr/>
          </p:nvSpPr>
          <p:spPr bwMode="auto">
            <a:xfrm>
              <a:off x="4928" y="1856"/>
              <a:ext cx="176" cy="144"/>
            </a:xfrm>
            <a:prstGeom prst="ellipse">
              <a:avLst/>
            </a:prstGeom>
            <a:noFill/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89209" name="Group 89"/>
          <p:cNvGrpSpPr>
            <a:grpSpLocks/>
          </p:cNvGrpSpPr>
          <p:nvPr/>
        </p:nvGrpSpPr>
        <p:grpSpPr bwMode="auto">
          <a:xfrm>
            <a:off x="596766" y="4856183"/>
            <a:ext cx="2524821" cy="565150"/>
            <a:chOff x="-64" y="2739"/>
            <a:chExt cx="1513" cy="356"/>
          </a:xfrm>
        </p:grpSpPr>
        <p:sp>
          <p:nvSpPr>
            <p:cNvPr id="389200" name="AutoShape 80"/>
            <p:cNvSpPr>
              <a:spLocks noChangeArrowheads="1"/>
            </p:cNvSpPr>
            <p:nvPr/>
          </p:nvSpPr>
          <p:spPr bwMode="auto">
            <a:xfrm>
              <a:off x="991" y="2739"/>
              <a:ext cx="458" cy="356"/>
            </a:xfrm>
            <a:prstGeom prst="wedgeRectCallout">
              <a:avLst>
                <a:gd name="adj1" fmla="val 339958"/>
                <a:gd name="adj2" fmla="val -35111"/>
              </a:avLst>
            </a:prstGeom>
            <a:gradFill rotWithShape="1">
              <a:gsLst>
                <a:gs pos="0">
                  <a:srgbClr val="5E9EFF"/>
                </a:gs>
                <a:gs pos="100000">
                  <a:srgbClr val="5E9E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 algn="ctr">
              <a:solidFill>
                <a:schemeClr val="folHlink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20000"/>
                </a:lnSpc>
                <a:spcBef>
                  <a:spcPct val="50000"/>
                </a:spcBef>
                <a:defRPr/>
              </a:pPr>
              <a:r>
                <a:rPr lang="en-US" altLang="zh-CN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dig</a:t>
              </a:r>
              <a:endPara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89208" name="Oval 88"/>
            <p:cNvSpPr>
              <a:spLocks noChangeArrowheads="1"/>
            </p:cNvSpPr>
            <p:nvPr/>
          </p:nvSpPr>
          <p:spPr bwMode="auto">
            <a:xfrm>
              <a:off x="-64" y="2928"/>
              <a:ext cx="104" cy="120"/>
            </a:xfrm>
            <a:prstGeom prst="ellipse">
              <a:avLst/>
            </a:prstGeom>
            <a:noFill/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89211" name="Group 91"/>
          <p:cNvGrpSpPr>
            <a:grpSpLocks/>
          </p:cNvGrpSpPr>
          <p:nvPr/>
        </p:nvGrpSpPr>
        <p:grpSpPr bwMode="auto">
          <a:xfrm>
            <a:off x="7260199" y="4921270"/>
            <a:ext cx="2703513" cy="1352550"/>
            <a:chOff x="4056" y="2780"/>
            <a:chExt cx="1703" cy="852"/>
          </a:xfrm>
        </p:grpSpPr>
        <p:sp>
          <p:nvSpPr>
            <p:cNvPr id="389201" name="AutoShape 81"/>
            <p:cNvSpPr>
              <a:spLocks noChangeArrowheads="1"/>
            </p:cNvSpPr>
            <p:nvPr/>
          </p:nvSpPr>
          <p:spPr bwMode="auto">
            <a:xfrm>
              <a:off x="4056" y="2780"/>
              <a:ext cx="458" cy="356"/>
            </a:xfrm>
            <a:prstGeom prst="wedgeRectCallout">
              <a:avLst>
                <a:gd name="adj1" fmla="val -310360"/>
                <a:gd name="adj2" fmla="val -116887"/>
              </a:avLst>
            </a:prstGeom>
            <a:gradFill rotWithShape="1">
              <a:gsLst>
                <a:gs pos="0">
                  <a:srgbClr val="5E9EFF"/>
                </a:gs>
                <a:gs pos="100000">
                  <a:srgbClr val="5E9E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 algn="ctr">
              <a:solidFill>
                <a:schemeClr val="folHlink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20000"/>
                </a:lnSpc>
                <a:spcBef>
                  <a:spcPct val="50000"/>
                </a:spcBef>
                <a:defRPr/>
              </a:pPr>
              <a:r>
                <a:rPr lang="en-US" altLang="zh-CN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fill</a:t>
              </a:r>
              <a:endPara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89210" name="Oval 90"/>
            <p:cNvSpPr>
              <a:spLocks noChangeArrowheads="1"/>
            </p:cNvSpPr>
            <p:nvPr/>
          </p:nvSpPr>
          <p:spPr bwMode="auto">
            <a:xfrm>
              <a:off x="5568" y="3472"/>
              <a:ext cx="191" cy="160"/>
            </a:xfrm>
            <a:prstGeom prst="ellipse">
              <a:avLst/>
            </a:prstGeom>
            <a:noFill/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BEA0531E-96FE-4F26-8B6C-C55DFA14574E}"/>
              </a:ext>
            </a:extLst>
          </p:cNvPr>
          <p:cNvSpPr txBox="1"/>
          <p:nvPr/>
        </p:nvSpPr>
        <p:spPr>
          <a:xfrm>
            <a:off x="680190" y="675282"/>
            <a:ext cx="1696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Property 4: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44A5512-5C5F-4A4A-894C-FFE88A45908E}"/>
              </a:ext>
            </a:extLst>
          </p:cNvPr>
          <p:cNvSpPr txBox="1"/>
          <p:nvPr/>
        </p:nvSpPr>
        <p:spPr>
          <a:xfrm>
            <a:off x="680190" y="1262508"/>
            <a:ext cx="1696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Property 5: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467DCEF-6D90-427C-AA5E-7327E2365DDC}"/>
              </a:ext>
            </a:extLst>
          </p:cNvPr>
          <p:cNvSpPr txBox="1"/>
          <p:nvPr/>
        </p:nvSpPr>
        <p:spPr>
          <a:xfrm>
            <a:off x="680190" y="1883426"/>
            <a:ext cx="1696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Property 6: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6589028-CEFB-4C3D-8EDE-1328504BCDBF}"/>
                  </a:ext>
                </a:extLst>
              </p:cNvPr>
              <p:cNvSpPr txBox="1"/>
              <p:nvPr/>
            </p:nvSpPr>
            <p:spPr>
              <a:xfrm>
                <a:off x="2410159" y="721448"/>
                <a:ext cx="18806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6589028-CEFB-4C3D-8EDE-1328504BC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159" y="721448"/>
                <a:ext cx="1880643" cy="369332"/>
              </a:xfrm>
              <a:prstGeom prst="rect">
                <a:avLst/>
              </a:prstGeom>
              <a:blipFill>
                <a:blip r:embed="rId32"/>
                <a:stretch>
                  <a:fillRect l="-2913" r="-2913"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9DBA096-38F2-488C-B164-20EE5129EB05}"/>
                  </a:ext>
                </a:extLst>
              </p:cNvPr>
              <p:cNvSpPr txBox="1"/>
              <p:nvPr/>
            </p:nvSpPr>
            <p:spPr>
              <a:xfrm>
                <a:off x="2410159" y="1308289"/>
                <a:ext cx="2326727" cy="370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9DBA096-38F2-488C-B164-20EE5129E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159" y="1308289"/>
                <a:ext cx="2326727" cy="370101"/>
              </a:xfrm>
              <a:prstGeom prst="rect">
                <a:avLst/>
              </a:prstGeom>
              <a:blipFill>
                <a:blip r:embed="rId33"/>
                <a:stretch>
                  <a:fillRect l="-2094" t="-5000" r="-3927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9BBCA454-B049-4ADD-9A39-0241CA363DFB}"/>
              </a:ext>
            </a:extLst>
          </p:cNvPr>
          <p:cNvSpPr txBox="1"/>
          <p:nvPr/>
        </p:nvSpPr>
        <p:spPr>
          <a:xfrm>
            <a:off x="2410158" y="1883426"/>
            <a:ext cx="37788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Addition Law</a:t>
            </a:r>
            <a:r>
              <a:rPr lang="zh-CN" altLang="en-US" sz="22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（加法定律）</a:t>
            </a:r>
            <a:r>
              <a:rPr lang="en-US" altLang="zh-CN" sz="22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</a:p>
          <a:p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For any events A, B,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E13F939-E574-4BAD-A0D8-2E06575FE16D}"/>
                  </a:ext>
                </a:extLst>
              </p:cNvPr>
              <p:cNvSpPr txBox="1"/>
              <p:nvPr/>
            </p:nvSpPr>
            <p:spPr>
              <a:xfrm>
                <a:off x="4869874" y="2295207"/>
                <a:ext cx="369659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⋃</m:t>
                          </m:r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E13F939-E574-4BAD-A0D8-2E06575FE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874" y="2295207"/>
                <a:ext cx="3696599" cy="276999"/>
              </a:xfrm>
              <a:prstGeom prst="rect">
                <a:avLst/>
              </a:prstGeom>
              <a:blipFill>
                <a:blip r:embed="rId34"/>
                <a:stretch>
                  <a:fillRect l="-1155" t="-4444" r="-1980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9643A8A-D729-451A-AB70-9FA9B6F59D0C}"/>
                  </a:ext>
                </a:extLst>
              </p:cNvPr>
              <p:cNvSpPr txBox="1"/>
              <p:nvPr/>
            </p:nvSpPr>
            <p:spPr>
              <a:xfrm>
                <a:off x="2369426" y="3001832"/>
                <a:ext cx="42602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For any three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9643A8A-D729-451A-AB70-9FA9B6F59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426" y="3001832"/>
                <a:ext cx="4260205" cy="461665"/>
              </a:xfrm>
              <a:prstGeom prst="rect">
                <a:avLst/>
              </a:prstGeom>
              <a:blipFill rotWithShape="1">
                <a:blip r:embed="rId35"/>
                <a:stretch>
                  <a:fillRect l="-2289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3293C53-AFA6-4469-B66B-044EC7A47B67}"/>
                  </a:ext>
                </a:extLst>
              </p:cNvPr>
              <p:cNvSpPr txBox="1"/>
              <p:nvPr/>
            </p:nvSpPr>
            <p:spPr>
              <a:xfrm>
                <a:off x="2394512" y="5713932"/>
                <a:ext cx="613956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⋃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⋃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1" dirty="0">
                  <a:solidFill>
                    <a:srgbClr val="C00000"/>
                  </a:solidFill>
                </a:endParaRPr>
              </a:p>
              <a:p>
                <a:r>
                  <a:rPr lang="en-US" altLang="zh-CN" b="1" dirty="0">
                    <a:solidFill>
                      <a:srgbClr val="C00000"/>
                    </a:solidFill>
                  </a:rPr>
                  <a:t>	   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1" dirty="0">
                  <a:solidFill>
                    <a:srgbClr val="C00000"/>
                  </a:solidFill>
                </a:endParaRPr>
              </a:p>
              <a:p>
                <a:r>
                  <a:rPr lang="en-US" altLang="zh-CN" b="1" dirty="0">
                    <a:solidFill>
                      <a:srgbClr val="C00000"/>
                    </a:solidFill>
                  </a:rPr>
                  <a:t>	   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3293C53-AFA6-4469-B66B-044EC7A47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512" y="5713932"/>
                <a:ext cx="6139568" cy="830997"/>
              </a:xfrm>
              <a:prstGeom prst="rect">
                <a:avLst/>
              </a:prstGeom>
              <a:blipFill rotWithShape="1">
                <a:blip r:embed="rId36"/>
                <a:stretch>
                  <a:fillRect l="-1390" b="-116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组合 35"/>
          <p:cNvGrpSpPr/>
          <p:nvPr/>
        </p:nvGrpSpPr>
        <p:grpSpPr>
          <a:xfrm>
            <a:off x="259261" y="5448806"/>
            <a:ext cx="1898490" cy="1207363"/>
            <a:chOff x="1260629" y="4674381"/>
            <a:chExt cx="1447060" cy="758753"/>
          </a:xfrm>
        </p:grpSpPr>
        <p:sp>
          <p:nvSpPr>
            <p:cNvPr id="37" name="椭圆 36"/>
            <p:cNvSpPr/>
            <p:nvPr/>
          </p:nvSpPr>
          <p:spPr>
            <a:xfrm>
              <a:off x="1260629" y="4674381"/>
              <a:ext cx="1447060" cy="758753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350474" y="4889351"/>
              <a:ext cx="1267370" cy="328812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加奇减偶</a:t>
              </a:r>
            </a:p>
          </p:txBody>
        </p:sp>
      </p:grpSp>
      <p:grpSp>
        <p:nvGrpSpPr>
          <p:cNvPr id="39" name="Group 49">
            <a:extLst>
              <a:ext uri="{FF2B5EF4-FFF2-40B4-BE49-F238E27FC236}">
                <a16:creationId xmlns:a16="http://schemas.microsoft.com/office/drawing/2014/main" id="{488DC52C-9140-4B2D-BEA7-550AAFF03ADA}"/>
              </a:ext>
            </a:extLst>
          </p:cNvPr>
          <p:cNvGrpSpPr>
            <a:grpSpLocks/>
          </p:cNvGrpSpPr>
          <p:nvPr/>
        </p:nvGrpSpPr>
        <p:grpSpPr bwMode="auto">
          <a:xfrm>
            <a:off x="6017118" y="816125"/>
            <a:ext cx="2406891" cy="1275352"/>
            <a:chOff x="0" y="0"/>
            <a:chExt cx="1673" cy="918"/>
          </a:xfrm>
        </p:grpSpPr>
        <p:sp>
          <p:nvSpPr>
            <p:cNvPr id="40" name="Rectangle 36">
              <a:extLst>
                <a:ext uri="{FF2B5EF4-FFF2-40B4-BE49-F238E27FC236}">
                  <a16:creationId xmlns:a16="http://schemas.microsoft.com/office/drawing/2014/main" id="{A8575936-6E04-40BB-B09F-E26DFC2B0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673" cy="907"/>
            </a:xfrm>
            <a:prstGeom prst="rect">
              <a:avLst/>
            </a:prstGeom>
            <a:gradFill rotWithShape="1">
              <a:gsLst>
                <a:gs pos="0">
                  <a:srgbClr val="2F4774"/>
                </a:gs>
                <a:gs pos="50000">
                  <a:srgbClr val="6699FF"/>
                </a:gs>
                <a:gs pos="100000">
                  <a:srgbClr val="2F4774"/>
                </a:gs>
              </a:gsLst>
              <a:lin ang="18900000" scaled="1"/>
            </a:gradFill>
            <a:ln w="12700">
              <a:solidFill>
                <a:srgbClr val="3366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800" b="1">
                <a:solidFill>
                  <a:srgbClr val="FFFF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Times New Roman" panose="02020603050405020304" pitchFamily="18" charset="0"/>
              </a:endParaRPr>
            </a:p>
          </p:txBody>
        </p:sp>
        <p:sp>
          <p:nvSpPr>
            <p:cNvPr id="41" name="Oval 37">
              <a:extLst>
                <a:ext uri="{FF2B5EF4-FFF2-40B4-BE49-F238E27FC236}">
                  <a16:creationId xmlns:a16="http://schemas.microsoft.com/office/drawing/2014/main" id="{0DADC9CC-5130-462F-B4F5-3835A2474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" y="45"/>
              <a:ext cx="1089" cy="771"/>
            </a:xfrm>
            <a:prstGeom prst="ellipse">
              <a:avLst/>
            </a:prstGeom>
            <a:gradFill rotWithShape="1">
              <a:gsLst>
                <a:gs pos="0">
                  <a:srgbClr val="5D4774"/>
                </a:gs>
                <a:gs pos="50000">
                  <a:srgbClr val="CC99FF"/>
                </a:gs>
                <a:gs pos="100000">
                  <a:srgbClr val="5D4774"/>
                </a:gs>
              </a:gsLst>
              <a:lin ang="18900000" scaled="1"/>
            </a:gra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800" b="1">
                <a:solidFill>
                  <a:srgbClr val="FFFF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Times New Roman" panose="02020603050405020304" pitchFamily="18" charset="0"/>
              </a:endParaRPr>
            </a:p>
          </p:txBody>
        </p:sp>
        <p:sp>
          <p:nvSpPr>
            <p:cNvPr id="42" name="Oval 38">
              <a:extLst>
                <a:ext uri="{FF2B5EF4-FFF2-40B4-BE49-F238E27FC236}">
                  <a16:creationId xmlns:a16="http://schemas.microsoft.com/office/drawing/2014/main" id="{4C61B0AA-DD93-409F-BB71-C6211D746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" y="91"/>
              <a:ext cx="1089" cy="680"/>
            </a:xfrm>
            <a:prstGeom prst="ellipse">
              <a:avLst/>
            </a:prstGeom>
            <a:gradFill rotWithShape="1">
              <a:gsLst>
                <a:gs pos="0">
                  <a:srgbClr val="3399FF"/>
                </a:gs>
                <a:gs pos="16000">
                  <a:srgbClr val="00CCCC"/>
                </a:gs>
                <a:gs pos="47000">
                  <a:srgbClr val="9999FF"/>
                </a:gs>
                <a:gs pos="60001">
                  <a:srgbClr val="2E6792"/>
                </a:gs>
                <a:gs pos="71001">
                  <a:srgbClr val="3333CC"/>
                </a:gs>
                <a:gs pos="81000">
                  <a:srgbClr val="1170FF"/>
                </a:gs>
                <a:gs pos="100000">
                  <a:srgbClr val="006699"/>
                </a:gs>
              </a:gsLst>
              <a:lin ang="18900000" scaled="0"/>
            </a:gra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800" b="1">
                <a:solidFill>
                  <a:srgbClr val="FFFF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Times New Roman" panose="02020603050405020304" pitchFamily="18" charset="0"/>
              </a:endParaRPr>
            </a:p>
          </p:txBody>
        </p:sp>
        <p:pic>
          <p:nvPicPr>
            <p:cNvPr id="44" name="Object 48">
              <a:extLst>
                <a:ext uri="{FF2B5EF4-FFF2-40B4-BE49-F238E27FC236}">
                  <a16:creationId xmlns:a16="http://schemas.microsoft.com/office/drawing/2014/main" id="{14D14C95-C1B8-4FD9-81A0-F6DD9C976C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" y="692"/>
              <a:ext cx="265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6" name="Object 8">
            <a:extLst>
              <a:ext uri="{FF2B5EF4-FFF2-40B4-BE49-F238E27FC236}">
                <a16:creationId xmlns:a16="http://schemas.microsoft.com/office/drawing/2014/main" id="{BD55332F-E389-436C-BC68-3DD972EBD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049" y="1272860"/>
            <a:ext cx="423863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0E26453-D9E2-46B2-B925-9F05069F41A3}"/>
              </a:ext>
            </a:extLst>
          </p:cNvPr>
          <p:cNvSpPr/>
          <p:nvPr/>
        </p:nvSpPr>
        <p:spPr>
          <a:xfrm>
            <a:off x="4136904" y="5643542"/>
            <a:ext cx="3044418" cy="408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251E7B4-495B-4FC9-B6F2-2E7213F8A18C}"/>
              </a:ext>
            </a:extLst>
          </p:cNvPr>
          <p:cNvSpPr/>
          <p:nvPr/>
        </p:nvSpPr>
        <p:spPr>
          <a:xfrm>
            <a:off x="3568589" y="6016073"/>
            <a:ext cx="4437864" cy="367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8C37500-8D8E-4141-928D-1711D3FFCDDE}"/>
              </a:ext>
            </a:extLst>
          </p:cNvPr>
          <p:cNvSpPr/>
          <p:nvPr/>
        </p:nvSpPr>
        <p:spPr>
          <a:xfrm>
            <a:off x="3517897" y="6311874"/>
            <a:ext cx="2517398" cy="281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7">
                <a:extLst>
                  <a:ext uri="{FF2B5EF4-FFF2-40B4-BE49-F238E27FC236}">
                    <a16:creationId xmlns:a16="http://schemas.microsoft.com/office/drawing/2014/main" id="{A73D27BF-71B1-4746-8154-EA79078F6D85}"/>
                  </a:ext>
                </a:extLst>
              </p:cNvPr>
              <p:cNvSpPr txBox="1"/>
              <p:nvPr/>
            </p:nvSpPr>
            <p:spPr bwMode="auto">
              <a:xfrm>
                <a:off x="7454181" y="1273175"/>
                <a:ext cx="514350" cy="4460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0" name="Object 7">
                <a:extLst>
                  <a:ext uri="{FF2B5EF4-FFF2-40B4-BE49-F238E27FC236}">
                    <a16:creationId xmlns:a16="http://schemas.microsoft.com/office/drawing/2014/main" id="{A73D27BF-71B1-4746-8154-EA79078F6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54181" y="1273175"/>
                <a:ext cx="514350" cy="446088"/>
              </a:xfrm>
              <a:prstGeom prst="rect">
                <a:avLst/>
              </a:prstGeom>
              <a:blipFill>
                <a:blip r:embed="rId39"/>
                <a:stretch>
                  <a:fillRect l="-35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94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0" dur="1000"/>
                                        <p:tgtEl>
                                          <p:spTgt spid="38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3" dur="1000"/>
                                        <p:tgtEl>
                                          <p:spTgt spid="38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7" dur="1000"/>
                                        <p:tgtEl>
                                          <p:spTgt spid="389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1" dur="1000"/>
                                        <p:tgtEl>
                                          <p:spTgt spid="38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9" dur="1000"/>
                                        <p:tgtEl>
                                          <p:spTgt spid="389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4" grpId="0"/>
      <p:bldP spid="5" grpId="0"/>
      <p:bldP spid="6" grpId="0"/>
      <p:bldP spid="7" grpId="0"/>
      <p:bldP spid="8" grpId="0" animBg="1"/>
      <p:bldP spid="47" grpId="0" animBg="1"/>
      <p:bldP spid="4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3" name="Text Box 5"/>
          <p:cNvSpPr txBox="1">
            <a:spLocks noChangeArrowheads="1"/>
          </p:cNvSpPr>
          <p:nvPr/>
        </p:nvSpPr>
        <p:spPr bwMode="auto">
          <a:xfrm>
            <a:off x="915820" y="1621891"/>
            <a:ext cx="30862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l" fontAlgn="ctr">
              <a:defRPr/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For n events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we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have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1202" name="AutoShape 34"/>
          <p:cNvSpPr>
            <a:spLocks noChangeArrowheads="1"/>
          </p:cNvSpPr>
          <p:nvPr/>
        </p:nvSpPr>
        <p:spPr bwMode="auto">
          <a:xfrm>
            <a:off x="4848293" y="1469294"/>
            <a:ext cx="984250" cy="565150"/>
          </a:xfrm>
          <a:prstGeom prst="wedgeRectCallout">
            <a:avLst>
              <a:gd name="adj1" fmla="val -26251"/>
              <a:gd name="adj2" fmla="val 84965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2700000" scaled="1"/>
          </a:gradFill>
          <a:ln w="9525" algn="ctr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+ All </a:t>
            </a:r>
            <a:endParaRPr lang="zh-CN" altLang="en-US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91203" name="AutoShape 35"/>
          <p:cNvSpPr>
            <a:spLocks noChangeArrowheads="1"/>
          </p:cNvSpPr>
          <p:nvPr/>
        </p:nvSpPr>
        <p:spPr bwMode="auto">
          <a:xfrm>
            <a:off x="7085013" y="1473125"/>
            <a:ext cx="1055688" cy="565150"/>
          </a:xfrm>
          <a:prstGeom prst="wedgeRectCallout">
            <a:avLst>
              <a:gd name="adj1" fmla="val -31505"/>
              <a:gd name="adj2" fmla="val 92417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2700000" scaled="1"/>
          </a:gradFill>
          <a:ln w="9525" algn="ctr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- two</a:t>
            </a:r>
            <a:endParaRPr lang="zh-CN" altLang="en-US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91204" name="AutoShape 36"/>
          <p:cNvSpPr>
            <a:spLocks noChangeArrowheads="1"/>
          </p:cNvSpPr>
          <p:nvPr/>
        </p:nvSpPr>
        <p:spPr bwMode="auto">
          <a:xfrm>
            <a:off x="7844589" y="2884452"/>
            <a:ext cx="1231943" cy="565150"/>
          </a:xfrm>
          <a:prstGeom prst="wedgeRectCallout">
            <a:avLst>
              <a:gd name="adj1" fmla="val -74467"/>
              <a:gd name="adj2" fmla="val 38213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2700000" scaled="1"/>
          </a:gradFill>
          <a:ln w="9525" algn="ctr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+ three</a:t>
            </a:r>
            <a:endParaRPr lang="zh-CN" altLang="en-US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91206" name="AutoShape 38"/>
          <p:cNvSpPr>
            <a:spLocks noChangeArrowheads="1"/>
          </p:cNvSpPr>
          <p:nvPr/>
        </p:nvSpPr>
        <p:spPr bwMode="auto">
          <a:xfrm>
            <a:off x="433137" y="5912286"/>
            <a:ext cx="2488351" cy="565150"/>
          </a:xfrm>
          <a:prstGeom prst="wedgeRectCallout">
            <a:avLst>
              <a:gd name="adj1" fmla="val 97139"/>
              <a:gd name="adj2" fmla="val -37033"/>
            </a:avLst>
          </a:prstGeom>
          <a:solidFill>
            <a:srgbClr val="FF3300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+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”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for odd number </a:t>
            </a:r>
          </a:p>
          <a:p>
            <a:pPr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–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” 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for even number </a:t>
            </a:r>
            <a:endParaRPr lang="zh-CN" altLang="en-US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91208" name="AutoShape 40"/>
          <p:cNvSpPr>
            <a:spLocks noChangeArrowheads="1"/>
          </p:cNvSpPr>
          <p:nvPr/>
        </p:nvSpPr>
        <p:spPr bwMode="auto">
          <a:xfrm>
            <a:off x="7892716" y="3941422"/>
            <a:ext cx="1169529" cy="565150"/>
          </a:xfrm>
          <a:prstGeom prst="wedgeRectCallout">
            <a:avLst>
              <a:gd name="adj1" fmla="val -73883"/>
              <a:gd name="adj2" fmla="val 31113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2700000" scaled="1"/>
          </a:gradFill>
          <a:ln w="9525" algn="ctr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- four</a:t>
            </a:r>
            <a:endParaRPr lang="zh-CN" altLang="en-US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C0678C3-B5A3-46DB-9C8C-77A0FF49D8F9}"/>
              </a:ext>
            </a:extLst>
          </p:cNvPr>
          <p:cNvSpPr txBox="1"/>
          <p:nvPr/>
        </p:nvSpPr>
        <p:spPr>
          <a:xfrm>
            <a:off x="1072501" y="495735"/>
            <a:ext cx="23671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Theorem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挖补定理）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1FDC45-F298-4BD2-AB1B-89BB08B03436}"/>
              </a:ext>
            </a:extLst>
          </p:cNvPr>
          <p:cNvSpPr txBox="1"/>
          <p:nvPr/>
        </p:nvSpPr>
        <p:spPr>
          <a:xfrm>
            <a:off x="3050452" y="583574"/>
            <a:ext cx="4579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Addition Law for multiple events </a:t>
            </a:r>
          </a:p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（多事件的加法定律）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5B13DFC-881D-4410-8B11-2344715CED6B}"/>
                  </a:ext>
                </a:extLst>
              </p:cNvPr>
              <p:cNvSpPr txBox="1"/>
              <p:nvPr/>
            </p:nvSpPr>
            <p:spPr>
              <a:xfrm>
                <a:off x="809199" y="1945439"/>
                <a:ext cx="6944658" cy="10500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⋃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⋃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…⋃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5B13DFC-881D-4410-8B11-2344715CE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99" y="1945439"/>
                <a:ext cx="6944658" cy="10500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77FCF4C-D10F-4EF3-AD0A-21AA37346D74}"/>
                  </a:ext>
                </a:extLst>
              </p:cNvPr>
              <p:cNvSpPr txBox="1"/>
              <p:nvPr/>
            </p:nvSpPr>
            <p:spPr>
              <a:xfrm>
                <a:off x="4130843" y="3080357"/>
                <a:ext cx="3113545" cy="9380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77FCF4C-D10F-4EF3-AD0A-21AA37346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843" y="3080357"/>
                <a:ext cx="3113545" cy="9380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82E1EAB-08BD-4E35-8B12-D9FA0992BF05}"/>
                  </a:ext>
                </a:extLst>
              </p:cNvPr>
              <p:cNvSpPr txBox="1"/>
              <p:nvPr/>
            </p:nvSpPr>
            <p:spPr>
              <a:xfrm>
                <a:off x="4164534" y="4061691"/>
                <a:ext cx="3465500" cy="9380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82E1EAB-08BD-4E35-8B12-D9FA0992B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534" y="4061691"/>
                <a:ext cx="3465500" cy="9380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BAEF92A-C355-4EDA-B88C-F92C113F562A}"/>
                  </a:ext>
                </a:extLst>
              </p:cNvPr>
              <p:cNvSpPr txBox="1"/>
              <p:nvPr/>
            </p:nvSpPr>
            <p:spPr>
              <a:xfrm>
                <a:off x="4113345" y="5258118"/>
                <a:ext cx="6973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BAEF92A-C355-4EDA-B88C-F92C113F5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45" y="5258118"/>
                <a:ext cx="697307" cy="369332"/>
              </a:xfrm>
              <a:prstGeom prst="rect">
                <a:avLst/>
              </a:prstGeom>
              <a:blipFill>
                <a:blip r:embed="rId5"/>
                <a:stretch>
                  <a:fillRect l="-2632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/>
          <p:cNvGrpSpPr/>
          <p:nvPr/>
        </p:nvGrpSpPr>
        <p:grpSpPr>
          <a:xfrm>
            <a:off x="760931" y="4530698"/>
            <a:ext cx="1898490" cy="1207363"/>
            <a:chOff x="1260629" y="4674381"/>
            <a:chExt cx="1447060" cy="758753"/>
          </a:xfrm>
        </p:grpSpPr>
        <p:sp>
          <p:nvSpPr>
            <p:cNvPr id="18" name="椭圆 17"/>
            <p:cNvSpPr/>
            <p:nvPr/>
          </p:nvSpPr>
          <p:spPr>
            <a:xfrm>
              <a:off x="1260629" y="4674381"/>
              <a:ext cx="1447060" cy="758753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60737" y="4889351"/>
              <a:ext cx="1267370" cy="328812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加奇减偶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22">
                <a:extLst>
                  <a:ext uri="{FF2B5EF4-FFF2-40B4-BE49-F238E27FC236}">
                    <a16:creationId xmlns:a16="http://schemas.microsoft.com/office/drawing/2014/main" id="{6BAEF92A-C355-4EDA-B88C-F92C113F562A}"/>
                  </a:ext>
                </a:extLst>
              </p:cNvPr>
              <p:cNvSpPr txBox="1"/>
              <p:nvPr/>
            </p:nvSpPr>
            <p:spPr>
              <a:xfrm>
                <a:off x="4103371" y="5872002"/>
                <a:ext cx="33089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文本框 22">
                <a:extLst>
                  <a:ext uri="{FF2B5EF4-FFF2-40B4-BE49-F238E27FC236}">
                    <a16:creationId xmlns:a16="http://schemas.microsoft.com/office/drawing/2014/main" id="{6BAEF92A-C355-4EDA-B88C-F92C113F5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371" y="5872002"/>
                <a:ext cx="3308983" cy="369332"/>
              </a:xfrm>
              <a:prstGeom prst="rect">
                <a:avLst/>
              </a:prstGeom>
              <a:blipFill>
                <a:blip r:embed="rId6"/>
                <a:stretch>
                  <a:fillRect l="-184" r="-1842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1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1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1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91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91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91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1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91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91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91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3" grpId="0"/>
      <p:bldP spid="391202" grpId="0" animBg="1"/>
      <p:bldP spid="391203" grpId="0" animBg="1"/>
      <p:bldP spid="391204" grpId="0" animBg="1"/>
      <p:bldP spid="391206" grpId="0" animBg="1"/>
      <p:bldP spid="391208" grpId="0" animBg="1"/>
      <p:bldP spid="4" grpId="0"/>
      <p:bldP spid="5" grpId="0"/>
      <p:bldP spid="22" grpId="0"/>
      <p:bldP spid="23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6E93A82-C87F-41F5-8955-17AD31E58671}"/>
              </a:ext>
            </a:extLst>
          </p:cNvPr>
          <p:cNvSpPr txBox="1"/>
          <p:nvPr/>
        </p:nvSpPr>
        <p:spPr>
          <a:xfrm>
            <a:off x="179994" y="1013576"/>
            <a:ext cx="8820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Suppose A, B, C are events and satisfy P(A)=P(B)=P(C) =1/4, P(A∩B)=P(B∩C)=0, P(A∩C)=1/8, what is the probability that at least one event happens among A, B, C?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3C4ADA9-3112-4AB5-BF44-2175455F478D}"/>
                  </a:ext>
                </a:extLst>
              </p:cNvPr>
              <p:cNvSpPr txBox="1"/>
              <p:nvPr/>
            </p:nvSpPr>
            <p:spPr>
              <a:xfrm>
                <a:off x="429027" y="2775554"/>
                <a:ext cx="660654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/>
                        </a:rPr>
                        <m:t>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⋃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⋃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US" altLang="zh-CN" sz="2800" b="0" i="1" dirty="0">
                  <a:latin typeface="Cambria Math"/>
                </a:endParaRPr>
              </a:p>
              <a:p>
                <a:endParaRPr lang="en-US" altLang="zh-CN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US" altLang="zh-CN" sz="2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3C4ADA9-3112-4AB5-BF44-2175455F4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27" y="2775554"/>
                <a:ext cx="6606540" cy="12926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D09FDB8-421E-41FA-A25F-E6DDE3DC67E9}"/>
                  </a:ext>
                </a:extLst>
              </p:cNvPr>
              <p:cNvSpPr txBox="1"/>
              <p:nvPr/>
            </p:nvSpPr>
            <p:spPr>
              <a:xfrm>
                <a:off x="446290" y="5008422"/>
                <a:ext cx="4447243" cy="12491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=3∗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/>
                        </a:rPr>
                        <m:t>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800" b="0" i="1" smtClean="0">
                          <a:latin typeface="Cambria Math"/>
                        </a:rPr>
                        <m:t>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0−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+0=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  <a:p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D09FDB8-421E-41FA-A25F-E6DDE3DC6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90" y="5008422"/>
                <a:ext cx="4447243" cy="12491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8B8AB37-9766-4755-A6AF-9338DBB8232E}"/>
                  </a:ext>
                </a:extLst>
              </p:cNvPr>
              <p:cNvSpPr txBox="1"/>
              <p:nvPr/>
            </p:nvSpPr>
            <p:spPr>
              <a:xfrm>
                <a:off x="429027" y="4159906"/>
                <a:ext cx="6315777" cy="12827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8B8AB37-9766-4755-A6AF-9338DBB82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27" y="4159906"/>
                <a:ext cx="6315777" cy="12827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10">
            <a:extLst>
              <a:ext uri="{FF2B5EF4-FFF2-40B4-BE49-F238E27FC236}">
                <a16:creationId xmlns:a16="http://schemas.microsoft.com/office/drawing/2014/main" id="{35FC89C3-49C3-4313-B382-1FFE3A20050C}"/>
              </a:ext>
            </a:extLst>
          </p:cNvPr>
          <p:cNvSpPr txBox="1"/>
          <p:nvPr/>
        </p:nvSpPr>
        <p:spPr>
          <a:xfrm>
            <a:off x="179994" y="578336"/>
            <a:ext cx="1742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Exercise 1: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文本框 53">
            <a:extLst>
              <a:ext uri="{FF2B5EF4-FFF2-40B4-BE49-F238E27FC236}">
                <a16:creationId xmlns:a16="http://schemas.microsoft.com/office/drawing/2014/main" id="{090D66B3-2360-4B61-B6CC-F34FDE6F109B}"/>
              </a:ext>
            </a:extLst>
          </p:cNvPr>
          <p:cNvSpPr txBox="1"/>
          <p:nvPr/>
        </p:nvSpPr>
        <p:spPr>
          <a:xfrm>
            <a:off x="3406875" y="2725186"/>
            <a:ext cx="3234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Probability Property 6: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文本框 3">
            <a:extLst>
              <a:ext uri="{FF2B5EF4-FFF2-40B4-BE49-F238E27FC236}">
                <a16:creationId xmlns:a16="http://schemas.microsoft.com/office/drawing/2014/main" id="{50257135-9EE9-490E-844D-C07DA889E6D2}"/>
              </a:ext>
            </a:extLst>
          </p:cNvPr>
          <p:cNvSpPr txBox="1"/>
          <p:nvPr/>
        </p:nvSpPr>
        <p:spPr>
          <a:xfrm>
            <a:off x="6573285" y="2755964"/>
            <a:ext cx="18389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Addition Law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内容占位符 2"/>
          <p:cNvSpPr>
            <a:spLocks noGrp="1"/>
          </p:cNvSpPr>
          <p:nvPr>
            <p:ph idx="1"/>
          </p:nvPr>
        </p:nvSpPr>
        <p:spPr bwMode="auto">
          <a:xfrm>
            <a:off x="179388" y="979055"/>
            <a:ext cx="8820150" cy="47630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 algn="just">
              <a:buFont typeface="Wingdings" pitchFamily="2" charset="2"/>
              <a:buNone/>
            </a:pPr>
            <a:r>
              <a:rPr lang="en-US" altLang="zh-CN" sz="20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Generally, PM2.5 content in the atmosphere is from 0.0 to 120.4 (</a:t>
            </a:r>
            <a:r>
              <a:rPr lang="el-GR" altLang="zh-CN" sz="2000" kern="1200" dirty="0">
                <a:latin typeface="Times New Roman" pitchFamily="18" charset="0"/>
                <a:ea typeface="华文新魏" panose="02010800040101010101" pitchFamily="2" charset="-122"/>
              </a:rPr>
              <a:t>μ</a:t>
            </a:r>
            <a:r>
              <a:rPr lang="en-US" altLang="zh-CN" sz="20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g/m</a:t>
            </a:r>
            <a:r>
              <a:rPr lang="en-US" altLang="zh-CN" sz="2000" kern="12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20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0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0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and SO</a:t>
            </a:r>
            <a:r>
              <a:rPr lang="en-US" altLang="zh-CN" sz="2000" kern="12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20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content</a:t>
            </a:r>
            <a:r>
              <a:rPr lang="zh-CN" altLang="en-US" sz="20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from 0.000 to 0.304 (ppm) (assume PM2.5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and SO</a:t>
            </a:r>
            <a:r>
              <a:rPr lang="en-US" altLang="zh-CN" sz="20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are equally scattered within their range). I</a:t>
            </a:r>
            <a:r>
              <a:rPr lang="en-US" altLang="zh-CN" sz="20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t is known that it will be harmful to human health when PM2.5 content</a:t>
            </a:r>
            <a:r>
              <a:rPr lang="zh-CN" altLang="en-US" sz="20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is over 100.5</a:t>
            </a:r>
            <a:r>
              <a:rPr lang="el-GR" altLang="zh-CN" sz="2000" kern="1200" dirty="0">
                <a:latin typeface="Times New Roman" pitchFamily="18" charset="0"/>
                <a:ea typeface="华文新魏" panose="02010800040101010101" pitchFamily="2" charset="-122"/>
              </a:rPr>
              <a:t>μ</a:t>
            </a:r>
            <a:r>
              <a:rPr lang="en-US" altLang="zh-CN" sz="20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g/m</a:t>
            </a:r>
            <a:r>
              <a:rPr lang="en-US" altLang="zh-CN" sz="2000" kern="12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0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or SO</a:t>
            </a:r>
            <a:r>
              <a:rPr lang="en-US" altLang="zh-CN" sz="2000" kern="12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20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content is</a:t>
            </a:r>
            <a:r>
              <a:rPr lang="zh-CN" altLang="en-US" sz="20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over 0.225ppm. Can you get the probability when the air is harmful</a:t>
            </a:r>
            <a:r>
              <a:rPr lang="zh-CN" altLang="zh-CN" sz="2200" kern="1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？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853677" y="4171738"/>
            <a:ext cx="4140200" cy="22987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solidFill>
              <a:schemeClr val="accent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853677" y="4171738"/>
            <a:ext cx="4140200" cy="687387"/>
          </a:xfrm>
          <a:prstGeom prst="rect">
            <a:avLst/>
          </a:prstGeom>
          <a:solidFill>
            <a:srgbClr val="FFC000">
              <a:alpha val="47842"/>
            </a:srgbClr>
          </a:solidFill>
          <a:ln w="9525" algn="ctr">
            <a:solidFill>
              <a:schemeClr val="accent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 flipH="1">
            <a:off x="4189014" y="4171738"/>
            <a:ext cx="804863" cy="2298700"/>
          </a:xfrm>
          <a:prstGeom prst="rect">
            <a:avLst/>
          </a:prstGeom>
          <a:solidFill>
            <a:srgbClr val="0000FF">
              <a:alpha val="45882"/>
            </a:srgbClr>
          </a:solidFill>
          <a:ln w="9525" algn="ctr">
            <a:solidFill>
              <a:schemeClr val="accent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6" name="直接箭头连接符 5"/>
          <p:cNvCxnSpPr>
            <a:cxnSpLocks noChangeShapeType="1"/>
          </p:cNvCxnSpPr>
          <p:nvPr/>
        </p:nvCxnSpPr>
        <p:spPr bwMode="auto">
          <a:xfrm flipV="1">
            <a:off x="853677" y="6464236"/>
            <a:ext cx="4519189" cy="6202"/>
          </a:xfrm>
          <a:prstGeom prst="straightConnector1">
            <a:avLst/>
          </a:prstGeom>
          <a:noFill/>
          <a:ln w="28575" algn="ctr">
            <a:solidFill>
              <a:schemeClr val="accent5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直接箭头连接符 7"/>
          <p:cNvCxnSpPr>
            <a:cxnSpLocks noChangeShapeType="1"/>
          </p:cNvCxnSpPr>
          <p:nvPr/>
        </p:nvCxnSpPr>
        <p:spPr bwMode="auto">
          <a:xfrm flipV="1">
            <a:off x="853677" y="3776450"/>
            <a:ext cx="0" cy="2693988"/>
          </a:xfrm>
          <a:prstGeom prst="straightConnector1">
            <a:avLst/>
          </a:prstGeom>
          <a:noFill/>
          <a:ln w="28575" algn="ctr">
            <a:solidFill>
              <a:schemeClr val="accent5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5289321" y="6235199"/>
            <a:ext cx="2946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3399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PM2.5 content (</a:t>
            </a:r>
            <a:r>
              <a:rPr lang="el-GR" altLang="zh-CN" sz="2400" dirty="0">
                <a:solidFill>
                  <a:srgbClr val="3399FF"/>
                </a:solidFill>
                <a:latin typeface="Times New Roman" pitchFamily="18" charset="0"/>
                <a:cs typeface="Times New Roman" pitchFamily="18" charset="0"/>
              </a:rPr>
              <a:t>μ</a:t>
            </a:r>
            <a:r>
              <a:rPr lang="en-US" altLang="zh-CN" sz="2400" dirty="0">
                <a:solidFill>
                  <a:srgbClr val="3399FF"/>
                </a:solidFill>
                <a:latin typeface="Times New Roman" pitchFamily="18" charset="0"/>
                <a:cs typeface="Times New Roman" pitchFamily="18" charset="0"/>
              </a:rPr>
              <a:t>g/m</a:t>
            </a:r>
            <a:r>
              <a:rPr lang="en-US" altLang="zh-CN" sz="2400" baseline="30000" dirty="0">
                <a:solidFill>
                  <a:srgbClr val="3399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sz="2400" dirty="0">
                <a:solidFill>
                  <a:srgbClr val="3399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endParaRPr lang="zh-CN" altLang="en-US" sz="2400" dirty="0">
              <a:solidFill>
                <a:srgbClr val="3399FF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91234" y="3383259"/>
            <a:ext cx="24524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3399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SO</a:t>
            </a:r>
            <a:r>
              <a:rPr lang="en-US" altLang="zh-CN" sz="2400" baseline="-25000" dirty="0">
                <a:solidFill>
                  <a:srgbClr val="3399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 </a:t>
            </a:r>
            <a:r>
              <a:rPr lang="en-US" altLang="zh-CN" sz="2400" dirty="0">
                <a:solidFill>
                  <a:srgbClr val="3399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content (ppm)</a:t>
            </a:r>
            <a:endParaRPr lang="zh-CN" altLang="en-US" sz="2400" dirty="0">
              <a:solidFill>
                <a:srgbClr val="3399FF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2514" y="6267238"/>
            <a:ext cx="338138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Times New Roman" pitchFamily="18" charset="0"/>
                <a:ea typeface="+mn-ea"/>
                <a:cs typeface="Times New Roman" pitchFamily="18" charset="0"/>
              </a:rPr>
              <a:t>0</a:t>
            </a:r>
            <a:endParaRPr lang="zh-CN" altLang="en-US" sz="24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5127" y="6470438"/>
            <a:ext cx="877887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Times New Roman" pitchFamily="18" charset="0"/>
                <a:ea typeface="+mn-ea"/>
                <a:cs typeface="Times New Roman" pitchFamily="18" charset="0"/>
              </a:rPr>
              <a:t>100.5</a:t>
            </a:r>
            <a:endParaRPr lang="zh-CN" altLang="en-US" sz="24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14464" y="6470438"/>
            <a:ext cx="87630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Times New Roman" pitchFamily="18" charset="0"/>
                <a:ea typeface="+mn-ea"/>
                <a:cs typeface="Times New Roman" pitchFamily="18" charset="0"/>
              </a:rPr>
              <a:t>120.4</a:t>
            </a:r>
            <a:endParaRPr lang="zh-CN" altLang="en-US" sz="24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-33736" y="4662275"/>
            <a:ext cx="877888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Times New Roman" pitchFamily="18" charset="0"/>
                <a:ea typeface="+mn-ea"/>
                <a:cs typeface="Times New Roman" pitchFamily="18" charset="0"/>
              </a:rPr>
              <a:t>0.225</a:t>
            </a:r>
            <a:endParaRPr lang="zh-CN" altLang="en-US" sz="24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-33736" y="3941550"/>
            <a:ext cx="876300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Times New Roman" pitchFamily="18" charset="0"/>
                <a:ea typeface="+mn-ea"/>
                <a:cs typeface="Times New Roman" pitchFamily="18" charset="0"/>
              </a:rPr>
              <a:t>0.304</a:t>
            </a:r>
            <a:endParaRPr lang="zh-CN" altLang="en-US" sz="24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61178" y="4152531"/>
            <a:ext cx="4144554" cy="2311705"/>
            <a:chOff x="2587155" y="4210006"/>
            <a:chExt cx="4144554" cy="2311705"/>
          </a:xfrm>
          <a:solidFill>
            <a:srgbClr val="FFFF00"/>
          </a:solidFill>
        </p:grpSpPr>
        <p:sp>
          <p:nvSpPr>
            <p:cNvPr id="22" name="矩形 21"/>
            <p:cNvSpPr/>
            <p:nvPr/>
          </p:nvSpPr>
          <p:spPr bwMode="auto">
            <a:xfrm>
              <a:off x="2587155" y="4210006"/>
              <a:ext cx="4140199" cy="70688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 bwMode="auto">
            <a:xfrm flipH="1">
              <a:off x="5914884" y="4223541"/>
              <a:ext cx="816825" cy="229817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5" name="矩形 4"/>
          <p:cNvSpPr/>
          <p:nvPr/>
        </p:nvSpPr>
        <p:spPr>
          <a:xfrm>
            <a:off x="6138107" y="5085755"/>
            <a:ext cx="10342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0" kern="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 0.382 </a:t>
            </a:r>
            <a:endParaRPr lang="zh-CN" altLang="en-US" sz="2000" b="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385864" y="5022638"/>
            <a:ext cx="4587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9pPr>
          </a:lstStyle>
          <a:p>
            <a:pPr eaLnBrk="1" hangingPunct="1"/>
            <a:r>
              <a:rPr lang="en-US" altLang="zh-CN" sz="3200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endParaRPr lang="zh-CN" altLang="en-US" sz="3200" i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2745977" y="4213013"/>
            <a:ext cx="45878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9pPr>
          </a:lstStyle>
          <a:p>
            <a:pPr eaLnBrk="1" hangingPunct="1"/>
            <a:r>
              <a:rPr lang="en-US" altLang="zh-CN" sz="3200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B</a:t>
            </a:r>
            <a:endParaRPr lang="zh-CN" altLang="en-US" sz="3200" i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4184659" y="4231051"/>
            <a:ext cx="7380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9pPr>
          </a:lstStyle>
          <a:p>
            <a:pPr eaLnBrk="1" hangingPunct="1"/>
            <a:r>
              <a:rPr lang="en-US" altLang="zh-CN" sz="2000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A∩B</a:t>
            </a:r>
            <a:endParaRPr lang="zh-CN" altLang="en-US" sz="2000" i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780014" y="2771634"/>
            <a:ext cx="34326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b="0" kern="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 (120.4 - 100.5)/120.4 </a:t>
            </a:r>
            <a:r>
              <a:rPr lang="en-US" altLang="zh-CN" sz="2000" kern="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 </a:t>
            </a:r>
            <a:r>
              <a:rPr lang="en-US" altLang="zh-CN" sz="2000" b="0" kern="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0.165 </a:t>
            </a:r>
            <a:endParaRPr lang="zh-CN" altLang="en-US" sz="2000" b="0" dirty="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132047" y="3247222"/>
            <a:ext cx="40806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b="0" i="1" kern="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</a:t>
            </a:r>
            <a:r>
              <a:rPr lang="en-US" altLang="zh-CN" sz="2000" b="0" kern="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altLang="zh-CN" sz="2000" b="0" i="1" kern="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B</a:t>
            </a:r>
            <a:r>
              <a:rPr lang="en-US" altLang="zh-CN" sz="2000" b="0" kern="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   = (0.304 - 0.225)/0.304 = 0.260 </a:t>
            </a:r>
            <a:endParaRPr lang="zh-CN" altLang="en-US" sz="2000" b="0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982765" y="3726985"/>
            <a:ext cx="41426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b="0" i="1" kern="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</a:t>
            </a:r>
            <a:r>
              <a:rPr lang="en-US" altLang="zh-CN" sz="2000" b="0" kern="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altLang="zh-CN" sz="2000" b="0" i="1" kern="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A∩B</a:t>
            </a:r>
            <a:r>
              <a:rPr lang="en-US" altLang="zh-CN" sz="2000" b="0" kern="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 = </a:t>
            </a:r>
            <a:r>
              <a:rPr lang="en-GB" altLang="zh-CN" sz="2000" kern="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altLang="zh-CN" sz="2000" kern="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120.4-100.5)(0.304-0.225)/                                                                                                          </a:t>
            </a:r>
          </a:p>
          <a:p>
            <a:pPr>
              <a:defRPr/>
            </a:pPr>
            <a:r>
              <a:rPr lang="en-US" altLang="zh-CN" sz="2000" kern="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             (0.304*120.4)  </a:t>
            </a:r>
          </a:p>
          <a:p>
            <a:pPr>
              <a:defRPr/>
            </a:pPr>
            <a:r>
              <a:rPr lang="en-US" altLang="zh-CN" sz="2000" kern="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         = 0.043</a:t>
            </a:r>
            <a:endParaRPr lang="zh-CN" altLang="en-US" sz="2000" b="0" dirty="0">
              <a:solidFill>
                <a:schemeClr val="tx1"/>
              </a:solidFill>
            </a:endParaRPr>
          </a:p>
        </p:txBody>
      </p:sp>
      <p:sp>
        <p:nvSpPr>
          <p:cNvPr id="30" name="内容占位符 2"/>
          <p:cNvSpPr txBox="1">
            <a:spLocks/>
          </p:cNvSpPr>
          <p:nvPr/>
        </p:nvSpPr>
        <p:spPr bwMode="auto">
          <a:xfrm>
            <a:off x="5340927" y="5521812"/>
            <a:ext cx="3646633" cy="672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zh-CN" sz="2000" b="1" kern="1200" dirty="0">
                <a:solidFill>
                  <a:srgbClr val="FF33CC"/>
                </a:solidFill>
                <a:effectLst/>
                <a:latin typeface="Times New Roman" pitchFamily="18" charset="0"/>
                <a:ea typeface="楷体_GB2312" pitchFamily="49" charset="-122"/>
              </a:rPr>
              <a:t>Alternatively, you could apply Complement </a:t>
            </a:r>
            <a:r>
              <a:rPr lang="en-US" altLang="zh-CN" sz="2000" b="1" dirty="0">
                <a:solidFill>
                  <a:srgbClr val="FF33CC"/>
                </a:solidFill>
                <a:effectLst/>
                <a:latin typeface="Times New Roman" pitchFamily="18" charset="0"/>
                <a:ea typeface="楷体_GB2312" pitchFamily="49" charset="-122"/>
              </a:rPr>
              <a:t>E</a:t>
            </a:r>
            <a:r>
              <a:rPr lang="en-US" altLang="zh-CN" sz="2000" b="1" kern="1200" dirty="0">
                <a:solidFill>
                  <a:srgbClr val="FF33CC"/>
                </a:solidFill>
                <a:effectLst/>
                <a:latin typeface="Times New Roman" pitchFamily="18" charset="0"/>
                <a:ea typeface="楷体_GB2312" pitchFamily="49" charset="-122"/>
              </a:rPr>
              <a:t>vents method</a:t>
            </a:r>
            <a:endParaRPr lang="zh-CN" altLang="zh-CN" sz="2000" b="1" kern="1200" dirty="0">
              <a:solidFill>
                <a:srgbClr val="FF33CC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FC89C3-49C3-4313-B382-1FFE3A20050C}"/>
              </a:ext>
            </a:extLst>
          </p:cNvPr>
          <p:cNvSpPr txBox="1"/>
          <p:nvPr/>
        </p:nvSpPr>
        <p:spPr>
          <a:xfrm>
            <a:off x="132238" y="578336"/>
            <a:ext cx="1805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Exercise 2: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DD53E6F-1336-4578-97DB-29237126D19C}"/>
                  </a:ext>
                </a:extLst>
              </p:cNvPr>
              <p:cNvSpPr txBox="1"/>
              <p:nvPr/>
            </p:nvSpPr>
            <p:spPr>
              <a:xfrm>
                <a:off x="6157524" y="4787937"/>
                <a:ext cx="304705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DD53E6F-1336-4578-97DB-29237126D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524" y="4787937"/>
                <a:ext cx="3047053" cy="307777"/>
              </a:xfrm>
              <a:prstGeom prst="rect">
                <a:avLst/>
              </a:prstGeom>
              <a:blipFill>
                <a:blip r:embed="rId3"/>
                <a:stretch>
                  <a:fillRect l="-200" t="-1961" r="-2200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213652" y="2552593"/>
            <a:ext cx="3040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Event A: harmful PM2.5 </a:t>
            </a:r>
          </a:p>
          <a:p>
            <a:r>
              <a:rPr lang="en-US" altLang="zh-CN" sz="20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Event B: harmful SO</a:t>
            </a:r>
            <a:r>
              <a:rPr lang="en-US" altLang="zh-CN" sz="2000" b="1" baseline="-25000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20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sz="2000" b="1" dirty="0">
              <a:solidFill>
                <a:schemeClr val="accent2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1705637-C24E-41AB-90B8-55EBB2B9B413}"/>
              </a:ext>
            </a:extLst>
          </p:cNvPr>
          <p:cNvSpPr/>
          <p:nvPr/>
        </p:nvSpPr>
        <p:spPr>
          <a:xfrm>
            <a:off x="8108917" y="4697321"/>
            <a:ext cx="788110" cy="482729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6D3A45B-1157-49EF-826B-1015D0420B30}"/>
              </a:ext>
            </a:extLst>
          </p:cNvPr>
          <p:cNvSpPr/>
          <p:nvPr/>
        </p:nvSpPr>
        <p:spPr>
          <a:xfrm>
            <a:off x="4144971" y="6433292"/>
            <a:ext cx="45719" cy="567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9BAE911-02C0-40D7-BE30-96A7507919F9}"/>
              </a:ext>
            </a:extLst>
          </p:cNvPr>
          <p:cNvSpPr/>
          <p:nvPr/>
        </p:nvSpPr>
        <p:spPr>
          <a:xfrm>
            <a:off x="4975052" y="6437151"/>
            <a:ext cx="45719" cy="567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F868CC5-FB5E-48D2-AF4D-5365201A702B}"/>
                  </a:ext>
                </a:extLst>
              </p:cNvPr>
              <p:cNvSpPr txBox="1"/>
              <p:nvPr/>
            </p:nvSpPr>
            <p:spPr>
              <a:xfrm>
                <a:off x="5271999" y="4762898"/>
                <a:ext cx="9018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⋃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F868CC5-FB5E-48D2-AF4D-5365201A7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999" y="4762898"/>
                <a:ext cx="9018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F03CA6AF-DB97-447C-86C9-773D49A1E921}"/>
              </a:ext>
            </a:extLst>
          </p:cNvPr>
          <p:cNvSpPr txBox="1"/>
          <p:nvPr/>
        </p:nvSpPr>
        <p:spPr>
          <a:xfrm>
            <a:off x="5175140" y="2775628"/>
            <a:ext cx="6258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1" kern="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</a:t>
            </a:r>
            <a:r>
              <a:rPr lang="en-US" altLang="zh-CN" sz="2000" b="0" kern="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altLang="zh-CN" sz="2000" b="0" i="1" kern="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lang="en-US" altLang="zh-CN" sz="2000" b="0" kern="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 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827011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15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9" grpId="0"/>
      <p:bldP spid="13" grpId="0"/>
      <p:bldP spid="14" grpId="0"/>
      <p:bldP spid="15" grpId="0"/>
      <p:bldP spid="16" grpId="0"/>
      <p:bldP spid="17" grpId="0"/>
      <p:bldP spid="18" grpId="0"/>
      <p:bldP spid="5" grpId="0" build="p"/>
      <p:bldP spid="7" grpId="0"/>
      <p:bldP spid="7" grpId="1"/>
      <p:bldP spid="21" grpId="0"/>
      <p:bldP spid="21" grpId="1"/>
      <p:bldP spid="25" grpId="0"/>
      <p:bldP spid="25" grpId="1"/>
      <p:bldP spid="26" grpId="0" uiExpand="1" build="p"/>
      <p:bldP spid="27" grpId="0" uiExpand="1" build="p"/>
      <p:bldP spid="28" grpId="0" uiExpand="1" build="p"/>
      <p:bldP spid="30" grpId="0" build="p"/>
      <p:bldP spid="12" grpId="0"/>
      <p:bldP spid="20" grpId="0"/>
      <p:bldP spid="10" grpId="0" animBg="1"/>
      <p:bldP spid="10" grpId="1" animBg="1"/>
      <p:bldP spid="24" grpId="0" animBg="1"/>
      <p:bldP spid="31" grpId="0" animBg="1"/>
      <p:bldP spid="33" grpId="0"/>
      <p:bldP spid="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3"/>
          <p:cNvGrpSpPr>
            <a:grpSpLocks/>
          </p:cNvGrpSpPr>
          <p:nvPr/>
        </p:nvGrpSpPr>
        <p:grpSpPr bwMode="auto">
          <a:xfrm>
            <a:off x="1901196" y="1849721"/>
            <a:ext cx="774700" cy="900112"/>
            <a:chOff x="1519" y="1253"/>
            <a:chExt cx="488" cy="567"/>
          </a:xfrm>
        </p:grpSpPr>
        <p:sp>
          <p:nvSpPr>
            <p:cNvPr id="35852" name="Rectangle 4"/>
            <p:cNvSpPr>
              <a:spLocks noChangeArrowheads="1"/>
            </p:cNvSpPr>
            <p:nvPr/>
          </p:nvSpPr>
          <p:spPr bwMode="auto">
            <a:xfrm>
              <a:off x="1519" y="1253"/>
              <a:ext cx="476" cy="567"/>
            </a:xfrm>
            <a:prstGeom prst="rect">
              <a:avLst/>
            </a:prstGeom>
            <a:solidFill>
              <a:srgbClr val="080808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pic>
          <p:nvPicPr>
            <p:cNvPr id="35853" name="Picture 5" descr="0_4"/>
            <p:cNvPicPr>
              <a:picLocks noChangeAspect="1" noChangeArrowheads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9" y="1275"/>
              <a:ext cx="488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4" name="Rectangle 6"/>
            <p:cNvSpPr>
              <a:spLocks noChangeArrowheads="1"/>
            </p:cNvSpPr>
            <p:nvPr/>
          </p:nvSpPr>
          <p:spPr bwMode="auto">
            <a:xfrm>
              <a:off x="1519" y="1253"/>
              <a:ext cx="476" cy="567"/>
            </a:xfrm>
            <a:prstGeom prst="rect">
              <a:avLst/>
            </a:prstGeom>
            <a:noFill/>
            <a:ln w="12700" algn="ctr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0808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98345" name="WordArt 9"/>
          <p:cNvSpPr>
            <a:spLocks noChangeArrowheads="1" noChangeShapeType="1" noTextEdit="1"/>
          </p:cNvSpPr>
          <p:nvPr/>
        </p:nvSpPr>
        <p:spPr bwMode="auto">
          <a:xfrm>
            <a:off x="1946565" y="4077444"/>
            <a:ext cx="3073863" cy="72069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>
              <a:defRPr/>
            </a:pPr>
            <a:r>
              <a:rPr lang="en-US" altLang="zh-CN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P27:  7</a:t>
            </a:r>
            <a:r>
              <a:rPr lang="zh-CN" altLang="en-US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， </a:t>
            </a:r>
            <a:r>
              <a:rPr lang="en-US" altLang="zh-CN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8</a:t>
            </a:r>
            <a:endParaRPr lang="zh-CN" altLang="en-US" sz="3600" kern="10" dirty="0">
              <a:ln w="12700">
                <a:solidFill>
                  <a:srgbClr val="FFFF00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/>
              <a:ea typeface="黑体"/>
            </a:endParaRPr>
          </a:p>
        </p:txBody>
      </p:sp>
      <p:sp>
        <p:nvSpPr>
          <p:cNvPr id="398349" name="WordArt 13"/>
          <p:cNvSpPr>
            <a:spLocks noChangeArrowheads="1" noChangeShapeType="1" noTextEdit="1"/>
          </p:cNvSpPr>
          <p:nvPr/>
        </p:nvSpPr>
        <p:spPr bwMode="auto">
          <a:xfrm>
            <a:off x="2869571" y="2002829"/>
            <a:ext cx="2490457" cy="48772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5875">
                  <a:solidFill>
                    <a:srgbClr val="3399FF"/>
                  </a:solidFill>
                  <a:round/>
                  <a:headEnd/>
                  <a:tailE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/>
                <a:ea typeface="方正舒体"/>
              </a:rPr>
              <a:t>Homework</a:t>
            </a:r>
            <a:endParaRPr lang="zh-CN" altLang="en-US" sz="3600" kern="10" dirty="0">
              <a:ln w="15875">
                <a:solidFill>
                  <a:srgbClr val="3399FF"/>
                </a:solidFill>
                <a:round/>
                <a:headEnd/>
                <a:tailE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/>
              <a:ea typeface="方正舒体"/>
            </a:endParaRPr>
          </a:p>
        </p:txBody>
      </p:sp>
      <p:sp>
        <p:nvSpPr>
          <p:cNvPr id="8" name="Text Box 41"/>
          <p:cNvSpPr txBox="1">
            <a:spLocks noChangeArrowheads="1"/>
          </p:cNvSpPr>
          <p:nvPr/>
        </p:nvSpPr>
        <p:spPr bwMode="auto">
          <a:xfrm>
            <a:off x="3774242" y="6121290"/>
            <a:ext cx="12461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dirty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7777FF"/>
                    </a:outerShdw>
                  </a:cont>
                  <a:cont type="tree" name="">
                    <a:effect ref="fillLine"/>
                    <a:outerShdw dist="38100" dir="2700000" algn="tl">
                      <a:srgbClr val="1E1E99"/>
                    </a:outerShdw>
                  </a:cont>
                  <a:effect ref="fillLine"/>
                </a:effectDag>
                <a:latin typeface="Euclid Math One" pitchFamily="18" charset="2"/>
                <a:ea typeface="Gungsuh" pitchFamily="18" charset="-127"/>
              </a:rPr>
              <a:t>END</a:t>
            </a:r>
          </a:p>
        </p:txBody>
      </p:sp>
      <p:pic>
        <p:nvPicPr>
          <p:cNvPr id="9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750128" y="1747938"/>
            <a:ext cx="2249255" cy="191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79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45" name="WordArt 9"/>
          <p:cNvSpPr>
            <a:spLocks noChangeArrowheads="1" noChangeShapeType="1" noTextEdit="1"/>
          </p:cNvSpPr>
          <p:nvPr/>
        </p:nvSpPr>
        <p:spPr bwMode="auto">
          <a:xfrm>
            <a:off x="483525" y="1530963"/>
            <a:ext cx="5955776" cy="72069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>
              <a:defRPr/>
            </a:pPr>
            <a:r>
              <a:rPr lang="en-US" altLang="zh-CN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Supplementary questions:</a:t>
            </a:r>
            <a:endParaRPr lang="zh-CN" altLang="en-US" sz="3600" kern="10" dirty="0">
              <a:ln w="12700">
                <a:solidFill>
                  <a:srgbClr val="FFFF00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/>
              <a:ea typeface="黑体"/>
            </a:endParaRPr>
          </a:p>
        </p:txBody>
      </p:sp>
      <p:sp>
        <p:nvSpPr>
          <p:cNvPr id="8" name="Text Box 41"/>
          <p:cNvSpPr txBox="1">
            <a:spLocks noChangeArrowheads="1"/>
          </p:cNvSpPr>
          <p:nvPr/>
        </p:nvSpPr>
        <p:spPr bwMode="auto">
          <a:xfrm>
            <a:off x="3774242" y="6121290"/>
            <a:ext cx="12461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dirty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7777FF"/>
                    </a:outerShdw>
                  </a:cont>
                  <a:cont type="tree" name="">
                    <a:effect ref="fillLine"/>
                    <a:outerShdw dist="38100" dir="2700000" algn="tl">
                      <a:srgbClr val="1E1E99"/>
                    </a:outerShdw>
                  </a:cont>
                  <a:effect ref="fillLine"/>
                </a:effectDag>
                <a:latin typeface="Euclid Math One" pitchFamily="18" charset="2"/>
                <a:ea typeface="Gungsuh" pitchFamily="18" charset="-127"/>
              </a:rPr>
              <a:t>END</a:t>
            </a:r>
          </a:p>
        </p:txBody>
      </p:sp>
      <p:pic>
        <p:nvPicPr>
          <p:cNvPr id="37898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18" y="2686735"/>
            <a:ext cx="7581833" cy="1919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01910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D6EC90-DF3A-4AE4-AC82-DFD748CA0A8E}"/>
              </a:ext>
            </a:extLst>
          </p:cNvPr>
          <p:cNvSpPr/>
          <p:nvPr/>
        </p:nvSpPr>
        <p:spPr>
          <a:xfrm>
            <a:off x="7364361" y="298552"/>
            <a:ext cx="309716" cy="1832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4635910" cy="6858000"/>
          </a:xfrm>
          <a:prstGeom prst="rect">
            <a:avLst/>
          </a:prstGeom>
          <a:solidFill>
            <a:srgbClr val="FF8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54588" y="2679798"/>
            <a:ext cx="14882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prstClr val="white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The</a:t>
            </a:r>
            <a:endParaRPr lang="zh-CN" altLang="en-US" sz="5400" b="1" dirty="0">
              <a:solidFill>
                <a:prstClr val="white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49865" y="2679798"/>
            <a:ext cx="15965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ED6C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End</a:t>
            </a:r>
            <a:endParaRPr lang="zh-CN" altLang="en-US" sz="5400" b="1" dirty="0">
              <a:solidFill>
                <a:srgbClr val="ED6C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0"/>
            <a:ext cx="2057400" cy="66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7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18081</TotalTime>
  <Words>2436</Words>
  <Application>Microsoft Office PowerPoint</Application>
  <PresentationFormat>On-screen Show (4:3)</PresentationFormat>
  <Paragraphs>463</Paragraphs>
  <Slides>24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47" baseType="lpstr">
      <vt:lpstr>Euclid Math One</vt:lpstr>
      <vt:lpstr>Microsoft YaHei UI</vt:lpstr>
      <vt:lpstr>Monotype Sorts</vt:lpstr>
      <vt:lpstr>华文新魏</vt:lpstr>
      <vt:lpstr>华文新魏</vt:lpstr>
      <vt:lpstr>幼圆</vt:lpstr>
      <vt:lpstr>方正舒体</vt:lpstr>
      <vt:lpstr>楷体</vt:lpstr>
      <vt:lpstr>楷体_GB2312</vt:lpstr>
      <vt:lpstr>等线</vt:lpstr>
      <vt:lpstr>等线 Light</vt:lpstr>
      <vt:lpstr>隶书</vt:lpstr>
      <vt:lpstr>黑体</vt:lpstr>
      <vt:lpstr>Arial</vt:lpstr>
      <vt:lpstr>Calibri</vt:lpstr>
      <vt:lpstr>Cambria Math</vt:lpstr>
      <vt:lpstr>Segoe Script</vt:lpstr>
      <vt:lpstr>Times New Roman</vt:lpstr>
      <vt:lpstr>Wingdings</vt:lpstr>
      <vt:lpstr>Office 主题​​</vt:lpstr>
      <vt:lpstr>剪辑</vt:lpstr>
      <vt:lpstr>Equation</vt:lpstr>
      <vt:lpstr>公式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S= 2C， R=C/2，S= 2C= 2R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MathTech Laboratory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《概率论与数理统计》课件</dc:title>
  <dc:creator>Lili Yang</dc:creator>
  <cp:lastModifiedBy>荆 炳义</cp:lastModifiedBy>
  <cp:revision>1505</cp:revision>
  <cp:lastPrinted>2018-03-07T03:40:27Z</cp:lastPrinted>
  <dcterms:created xsi:type="dcterms:W3CDTF">1999-06-22T01:41:39Z</dcterms:created>
  <dcterms:modified xsi:type="dcterms:W3CDTF">2022-09-05T11:57:38Z</dcterms:modified>
</cp:coreProperties>
</file>