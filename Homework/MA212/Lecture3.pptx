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3" r:id="rId2"/>
    <p:sldMasterId id="2147483685" r:id="rId3"/>
  </p:sldMasterIdLst>
  <p:notesMasterIdLst>
    <p:notesMasterId r:id="rId37"/>
  </p:notesMasterIdLst>
  <p:handoutMasterIdLst>
    <p:handoutMasterId r:id="rId38"/>
  </p:handoutMasterIdLst>
  <p:sldIdLst>
    <p:sldId id="520" r:id="rId4"/>
    <p:sldId id="521" r:id="rId5"/>
    <p:sldId id="473" r:id="rId6"/>
    <p:sldId id="475" r:id="rId7"/>
    <p:sldId id="398" r:id="rId8"/>
    <p:sldId id="458" r:id="rId9"/>
    <p:sldId id="400" r:id="rId10"/>
    <p:sldId id="500" r:id="rId11"/>
    <p:sldId id="501" r:id="rId12"/>
    <p:sldId id="531" r:id="rId13"/>
    <p:sldId id="437" r:id="rId14"/>
    <p:sldId id="506" r:id="rId15"/>
    <p:sldId id="435" r:id="rId16"/>
    <p:sldId id="523" r:id="rId17"/>
    <p:sldId id="461" r:id="rId18"/>
    <p:sldId id="434" r:id="rId19"/>
    <p:sldId id="460" r:id="rId20"/>
    <p:sldId id="495" r:id="rId21"/>
    <p:sldId id="462" r:id="rId22"/>
    <p:sldId id="472" r:id="rId23"/>
    <p:sldId id="464" r:id="rId24"/>
    <p:sldId id="522" r:id="rId25"/>
    <p:sldId id="468" r:id="rId26"/>
    <p:sldId id="509" r:id="rId27"/>
    <p:sldId id="515" r:id="rId28"/>
    <p:sldId id="516" r:id="rId29"/>
    <p:sldId id="508" r:id="rId30"/>
    <p:sldId id="529" r:id="rId31"/>
    <p:sldId id="505" r:id="rId32"/>
    <p:sldId id="511" r:id="rId33"/>
    <p:sldId id="527" r:id="rId34"/>
    <p:sldId id="526" r:id="rId35"/>
    <p:sldId id="512" r:id="rId36"/>
  </p:sldIdLst>
  <p:sldSz cx="9144000" cy="6858000" type="screen4x3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990033"/>
    <a:srgbClr val="CC3399"/>
    <a:srgbClr val="FF3300"/>
    <a:srgbClr val="B34223"/>
    <a:srgbClr val="FF2525"/>
    <a:srgbClr val="FF6699"/>
    <a:srgbClr val="FFFF66"/>
    <a:srgbClr val="3333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48" autoAdjust="0"/>
    <p:restoredTop sz="96740" autoAdjust="0"/>
  </p:normalViewPr>
  <p:slideViewPr>
    <p:cSldViewPr snapToGrid="0" showGuides="1">
      <p:cViewPr varScale="1">
        <p:scale>
          <a:sx n="83" d="100"/>
          <a:sy n="83" d="100"/>
        </p:scale>
        <p:origin x="1330" y="77"/>
      </p:cViewPr>
      <p:guideLst>
        <p:guide orient="horz" pos="431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118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BD5388-FC5F-4F70-B675-914FB18794C0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E0383-9ED0-4484-A8C7-08C8676555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325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40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40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BACBEB63-61AF-458B-84AC-C3C5BF4D68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07694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5%AF%92%E5%B8%A6" TargetMode="External"/><Relationship Id="rId3" Type="http://schemas.openxmlformats.org/officeDocument/2006/relationships/hyperlink" Target="http://baike.baidu.com/view/666115.htm" TargetMode="External"/><Relationship Id="rId7" Type="http://schemas.openxmlformats.org/officeDocument/2006/relationships/hyperlink" Target="https://baike.baidu.com/item/%E5%8A%A0%E6%8B%BF%E5%A4%A7/145973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%E8%AF%A0%E9%87%8A" TargetMode="External"/><Relationship Id="rId5" Type="http://schemas.openxmlformats.org/officeDocument/2006/relationships/hyperlink" Target="http://baike.baidu.com/view/782086.htm" TargetMode="External"/><Relationship Id="rId4" Type="http://schemas.openxmlformats.org/officeDocument/2006/relationships/hyperlink" Target="http://baike.baidu.com/view/2464.htm" TargetMode="External"/><Relationship Id="rId9" Type="http://schemas.openxmlformats.org/officeDocument/2006/relationships/hyperlink" Target="https://baike.baidu.com/item/%E7%83%AD%E5%B8%A6%E9%9B%A8%E6%9E%97/18222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the previous lectures, we discussed</a:t>
            </a:r>
            <a:r>
              <a:rPr lang="en-US" altLang="zh-CN" baseline="0" dirty="0"/>
              <a:t> what is random test, what is Sample space. This led to the important terminology Event introduced. How the events </a:t>
            </a:r>
            <a:r>
              <a:rPr kumimoji="1" lang="en-US" altLang="zh-CN" sz="1200" b="0" i="0" u="none" strike="noStrike" kern="1200" baseline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could be operated in a sample space was discussed in detail. </a:t>
            </a:r>
          </a:p>
          <a:p>
            <a:r>
              <a:rPr kumimoji="1" lang="en-US" altLang="zh-CN" sz="1200" b="0" i="0" u="none" strike="noStrike" kern="1200" baseline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Then we learnt Probability Measure, discussed the relationship between frequency and probability. Frequency has random feature, but its limit is Probability. Probability is a constant value between 0 and 1. It refers to an area in a sample space and they can be calculated.   </a:t>
            </a:r>
          </a:p>
          <a:p>
            <a:endParaRPr kumimoji="1" lang="en-US" altLang="zh-CN" sz="1200" b="0" i="0" u="none" strike="noStrike" kern="1200" baseline="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kumimoji="1" lang="en-US" altLang="zh-CN" sz="1200" b="0" i="0" u="none" strike="noStrike" kern="1200" baseline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Today we are going to learn Probability Computation ………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770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770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CBEB63-61AF-458B-84AC-C3C5BF4D68FC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5897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100" dirty="0">
                <a:latin typeface="+mn-ea"/>
                <a:ea typeface="+mn-ea"/>
              </a:rPr>
              <a:t>辛普森悖论（</a:t>
            </a:r>
            <a:r>
              <a:rPr lang="en-US" altLang="zh-CN" sz="1100" dirty="0">
                <a:latin typeface="+mn-ea"/>
                <a:ea typeface="+mn-ea"/>
              </a:rPr>
              <a:t>Simpson's Paradox</a:t>
            </a:r>
            <a:r>
              <a:rPr lang="zh-CN" altLang="en-US" sz="1100" dirty="0">
                <a:latin typeface="+mn-ea"/>
                <a:ea typeface="+mn-ea"/>
              </a:rPr>
              <a:t>）亦有人译为辛普森诡论，为英国统计学家</a:t>
            </a:r>
            <a:r>
              <a:rPr lang="en-US" altLang="zh-CN" sz="1100" dirty="0">
                <a:latin typeface="+mn-ea"/>
                <a:ea typeface="+mn-ea"/>
              </a:rPr>
              <a:t>E.H.</a:t>
            </a:r>
            <a:r>
              <a:rPr lang="zh-CN" altLang="en-US" sz="1100" dirty="0">
                <a:latin typeface="+mn-ea"/>
                <a:ea typeface="+mn-ea"/>
                <a:hlinkClick r:id="rId3"/>
              </a:rPr>
              <a:t>辛普森</a:t>
            </a:r>
            <a:r>
              <a:rPr lang="zh-CN" altLang="en-US" sz="1100" dirty="0">
                <a:latin typeface="+mn-ea"/>
                <a:ea typeface="+mn-ea"/>
              </a:rPr>
              <a:t>（</a:t>
            </a:r>
            <a:r>
              <a:rPr lang="en-US" altLang="zh-CN" sz="1100" dirty="0" err="1">
                <a:latin typeface="+mn-ea"/>
                <a:ea typeface="+mn-ea"/>
              </a:rPr>
              <a:t>E.H.Simpson</a:t>
            </a:r>
            <a:r>
              <a:rPr lang="zh-CN" altLang="en-US" sz="1100" dirty="0">
                <a:latin typeface="+mn-ea"/>
                <a:ea typeface="+mn-ea"/>
              </a:rPr>
              <a:t>）于</a:t>
            </a:r>
            <a:r>
              <a:rPr lang="en-US" altLang="zh-CN" sz="1100" dirty="0">
                <a:latin typeface="+mn-ea"/>
                <a:ea typeface="+mn-ea"/>
              </a:rPr>
              <a:t>1951</a:t>
            </a:r>
            <a:r>
              <a:rPr lang="zh-CN" altLang="en-US" sz="1100" dirty="0">
                <a:latin typeface="+mn-ea"/>
                <a:ea typeface="+mn-ea"/>
              </a:rPr>
              <a:t>年提出的</a:t>
            </a:r>
            <a:r>
              <a:rPr lang="zh-CN" altLang="en-US" sz="1100" dirty="0">
                <a:latin typeface="+mn-ea"/>
                <a:ea typeface="+mn-ea"/>
                <a:hlinkClick r:id="rId4"/>
              </a:rPr>
              <a:t>悖论</a:t>
            </a:r>
            <a:r>
              <a:rPr lang="zh-CN" altLang="en-US" sz="1100" dirty="0">
                <a:latin typeface="+mn-ea"/>
                <a:ea typeface="+mn-ea"/>
              </a:rPr>
              <a:t>，即在某个条件下的两组数据，分别讨论时都会满足某种性质，可是一旦合并考虑，却可能导致相反的</a:t>
            </a:r>
            <a:r>
              <a:rPr lang="zh-CN" altLang="en-US" sz="1100" dirty="0">
                <a:latin typeface="+mn-ea"/>
                <a:ea typeface="+mn-ea"/>
                <a:hlinkClick r:id="rId5"/>
              </a:rPr>
              <a:t>结论</a:t>
            </a:r>
            <a:r>
              <a:rPr lang="zh-CN" altLang="en-US" sz="1100" dirty="0">
                <a:latin typeface="+mn-ea"/>
                <a:ea typeface="+mn-ea"/>
              </a:rPr>
              <a:t>。</a:t>
            </a:r>
          </a:p>
          <a:p>
            <a:pPr algn="l"/>
            <a:r>
              <a:rPr lang="zh-CN" altLang="en-US" sz="1100" dirty="0">
                <a:latin typeface="+mn-ea"/>
                <a:ea typeface="+mn-ea"/>
              </a:rPr>
              <a:t>当人们尝试探究两种变量是否具有相关性的时候，比如新生录取率与性别，报酬与性别等，会分别对之进行分组研究。辛普森悖论是在这种研究中，在某些前提下有时会产生的一种现象。即在分组比较中都占优势的一方，会在总评中反而是失势的一方。该现象于</a:t>
            </a:r>
            <a:r>
              <a:rPr lang="en-US" altLang="zh-CN" sz="1100" dirty="0">
                <a:latin typeface="+mn-ea"/>
                <a:ea typeface="+mn-ea"/>
              </a:rPr>
              <a:t>20</a:t>
            </a:r>
            <a:r>
              <a:rPr lang="zh-CN" altLang="en-US" sz="1100" dirty="0">
                <a:latin typeface="+mn-ea"/>
                <a:ea typeface="+mn-ea"/>
              </a:rPr>
              <a:t>世纪初就有人讨论，但一直到</a:t>
            </a:r>
            <a:r>
              <a:rPr lang="en-US" altLang="zh-CN" sz="1100" dirty="0">
                <a:latin typeface="+mn-ea"/>
                <a:ea typeface="+mn-ea"/>
              </a:rPr>
              <a:t>1951</a:t>
            </a:r>
            <a:r>
              <a:rPr lang="zh-CN" altLang="en-US" sz="1100" dirty="0">
                <a:latin typeface="+mn-ea"/>
                <a:ea typeface="+mn-ea"/>
              </a:rPr>
              <a:t>年</a:t>
            </a:r>
            <a:r>
              <a:rPr lang="en-US" altLang="zh-CN" sz="1100" dirty="0">
                <a:latin typeface="+mn-ea"/>
                <a:ea typeface="+mn-ea"/>
              </a:rPr>
              <a:t>E.H.</a:t>
            </a:r>
            <a:r>
              <a:rPr lang="zh-CN" altLang="en-US" sz="1100" dirty="0">
                <a:latin typeface="+mn-ea"/>
                <a:ea typeface="+mn-ea"/>
              </a:rPr>
              <a:t>辛普森在他发表的论文中，该现象才算正式被描述解释。后来就以他的名字命名该</a:t>
            </a:r>
            <a:r>
              <a:rPr lang="zh-CN" altLang="en-US" sz="1100" dirty="0">
                <a:latin typeface="+mn-ea"/>
                <a:ea typeface="+mn-ea"/>
                <a:hlinkClick r:id="rId4"/>
              </a:rPr>
              <a:t>悖论</a:t>
            </a:r>
            <a:r>
              <a:rPr lang="zh-CN" altLang="en-US" sz="1100" dirty="0">
                <a:latin typeface="+mn-ea"/>
                <a:ea typeface="+mn-ea"/>
              </a:rPr>
              <a:t>。</a:t>
            </a:r>
          </a:p>
          <a:p>
            <a:pPr algn="l"/>
            <a:r>
              <a:rPr lang="zh-CN" altLang="en-US" sz="1100" dirty="0">
                <a:latin typeface="+mn-ea"/>
                <a:ea typeface="+mn-ea"/>
              </a:rPr>
              <a:t>为了避免辛普森悖论的出现，就需要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斟酌各分组的权重</a:t>
            </a:r>
            <a:r>
              <a:rPr lang="zh-CN" altLang="en-US" sz="1100" dirty="0">
                <a:latin typeface="+mn-ea"/>
                <a:ea typeface="+mn-ea"/>
              </a:rPr>
              <a:t>，并乘以一定的系数去消除以分组数据基数差异而造成的影响。同时必需了解清楚情况，是否存在潜在因素，综合考虑。</a:t>
            </a:r>
            <a:endParaRPr lang="en-US" altLang="zh-CN" sz="1100" dirty="0">
              <a:latin typeface="+mn-ea"/>
              <a:ea typeface="+mn-ea"/>
            </a:endParaRPr>
          </a:p>
          <a:p>
            <a:pPr algn="l"/>
            <a:endParaRPr lang="en-US" altLang="zh-CN" sz="1100" dirty="0">
              <a:latin typeface="+mn-ea"/>
              <a:ea typeface="+mn-ea"/>
            </a:endParaRPr>
          </a:p>
          <a:p>
            <a:pPr algn="l"/>
            <a:r>
              <a:rPr lang="zh-CN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量与质是不等价的，无奈的是量比质来得容易量测，所以人们总是习惯用量来评定好坏，而此数据却不是重要的。</a:t>
            </a:r>
            <a:endParaRPr lang="en-US" altLang="zh-CN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zh-CN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zh-CN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除了质与量的迷思之外，辛普森悖论的另外一个启示是：如果我们在人生的抉择上选择了一条比较难走的路，就得要有可能不被赏识的领悟，所以这算是怀才不遇这个成语在统计上的</a:t>
            </a:r>
            <a:r>
              <a:rPr lang="zh-CN" altLang="en-US" sz="1100" b="0" i="0" u="none" strike="noStrike" dirty="0">
                <a:solidFill>
                  <a:srgbClr val="136EC2"/>
                </a:solidFill>
                <a:effectLst/>
                <a:latin typeface="+mn-ea"/>
                <a:ea typeface="+mn-ea"/>
                <a:hlinkClick r:id="rId6"/>
              </a:rPr>
              <a:t>诠释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。</a:t>
            </a:r>
            <a:endParaRPr lang="en-US" altLang="zh-CN" sz="1100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endParaRPr lang="en-US" altLang="zh-CN" sz="1100" b="1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辛普森多样性指数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是基于在一个无限大的群落中，随机抽取两个个体，它们属于同一物种的概率是多少这样的假设而推导出来。辛普森在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1949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年提出过这样的问题：在无限大小的群落中，随机取样得到同样的个体标本，它们的概率是什么呢？如果在</a:t>
            </a:r>
            <a:r>
              <a:rPr lang="zh-CN" altLang="en-US" sz="16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7"/>
              </a:rPr>
              <a:t>加拿大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北部</a:t>
            </a:r>
            <a:r>
              <a:rPr lang="zh-CN" altLang="en-US" sz="16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8"/>
              </a:rPr>
              <a:t>寒带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森林中，随机选取两株树，属同一种的概率就很高。相反，如果在</a:t>
            </a:r>
            <a:r>
              <a:rPr lang="zh-CN" altLang="en-US" sz="16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9"/>
              </a:rPr>
              <a:t>热带雨林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随机取样，两株树同一种的概率很低，他从这个想法出发得出多样性指数。</a:t>
            </a:r>
            <a:r>
              <a:rPr lang="zh-CN" altLang="en-US" sz="1600" b="0" i="0" baseline="30000" dirty="0">
                <a:solidFill>
                  <a:srgbClr val="3366CC"/>
                </a:solidFill>
                <a:effectLst/>
                <a:latin typeface="Helvetica Neue"/>
              </a:rPr>
              <a:t> </a:t>
            </a:r>
            <a:r>
              <a:rPr lang="en-US" altLang="zh-CN" sz="1600" b="0" i="0" baseline="30000" dirty="0">
                <a:solidFill>
                  <a:srgbClr val="3366CC"/>
                </a:solidFill>
                <a:effectLst/>
                <a:latin typeface="Helvetica Neue"/>
              </a:rPr>
              <a:t>[3]</a:t>
            </a:r>
            <a:r>
              <a:rPr lang="zh-CN" altLang="en-US" sz="1600" b="0" i="0" u="none" strike="noStrike" dirty="0">
                <a:solidFill>
                  <a:srgbClr val="136EC2"/>
                </a:solidFill>
                <a:effectLst/>
                <a:latin typeface="Helvetica Neue"/>
              </a:rPr>
              <a:t> </a:t>
            </a:r>
            <a:endParaRPr lang="zh-CN" altLang="en-US" sz="16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sz="1100" dirty="0">
              <a:latin typeface="+mn-ea"/>
              <a:ea typeface="+mn-ea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CBEB63-61AF-458B-84AC-C3C5BF4D68FC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4503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 example, from Shenzhen to Beijing, we could take train, flight or coach. Therefore, we have 3 ways to get to Beijing.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CBEB63-61AF-458B-84AC-C3C5BF4D68FC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7588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 example, from Shenzhen to Beijing, there are many stops Guangzhou, Changsha, Shijiazhuang etc. From a stop to another, there should have many different ways.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CBEB63-61AF-458B-84AC-C3C5BF4D68FC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9816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CN" sz="12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CN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0" i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(𝑛(𝑛−1)…</a:t>
                </a:r>
                <a:r>
                  <a:rPr lang="en-US" altLang="zh-CN" sz="1200" b="0" i="0">
                    <a:solidFill>
                      <a:srgbClr val="C00000"/>
                    </a:solidFill>
                    <a:latin typeface="Cambria Math"/>
                  </a:rPr>
                  <a:t>(</a:t>
                </a:r>
                <a:r>
                  <a:rPr lang="en-US" altLang="zh-CN" sz="1200" b="0" i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𝑛−𝑘+1))/𝑘!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CBEB63-61AF-458B-84AC-C3C5BF4D68FC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1734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CBEB63-61AF-458B-84AC-C3C5BF4D68FC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0322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CBEB63-61AF-458B-84AC-C3C5BF4D68FC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2507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first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ball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can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be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put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into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any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of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boxes,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second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ball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can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be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put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into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remaining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N-1</a:t>
            </a:r>
            <a:r>
              <a:rPr lang="zh-CN" altLang="en-US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boxes.</a:t>
            </a:r>
            <a:endParaRPr lang="zh-CN" altLang="en-US" sz="12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CBEB63-61AF-458B-84AC-C3C5BF4D68FC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7521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fld id="{3480D437-0A1B-491E-AF58-752CF9C983DF}" type="slidenum">
              <a:rPr lang="en-US" altLang="zh-CN" sz="1200" b="0" smtClean="0">
                <a:latin typeface="Times New Roman" pitchFamily="18" charset="0"/>
                <a:ea typeface="宋体" charset="-122"/>
              </a:rPr>
              <a:pPr eaLnBrk="1" hangingPunct="1"/>
              <a:t>19</a:t>
            </a:fld>
            <a:endParaRPr lang="en-US" altLang="zh-CN" sz="1200" b="0">
              <a:latin typeface="Times New Roman" pitchFamily="18" charset="0"/>
              <a:ea typeface="宋体" charset="-122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zh-CN" altLang="en-US" dirty="0">
                <a:ea typeface="宋体" charset="-122"/>
              </a:rPr>
              <a:t>警告，千万不要去计算</a:t>
            </a:r>
            <a:r>
              <a:rPr lang="en-US" altLang="zh-CN" dirty="0">
                <a:ea typeface="宋体" charset="-122"/>
              </a:rPr>
              <a:t>e</a:t>
            </a:r>
            <a:r>
              <a:rPr lang="zh-CN" altLang="en-US" dirty="0">
                <a:ea typeface="宋体" charset="-122"/>
              </a:rPr>
              <a:t>的二进制表达。数学家们猜想</a:t>
            </a:r>
            <a:r>
              <a:rPr lang="en-US" altLang="zh-CN" dirty="0">
                <a:ea typeface="宋体" charset="-122"/>
              </a:rPr>
              <a:t>e</a:t>
            </a:r>
            <a:r>
              <a:rPr lang="zh-CN" altLang="en-US" dirty="0">
                <a:ea typeface="宋体" charset="-122"/>
              </a:rPr>
              <a:t>是一个正规数</a:t>
            </a:r>
            <a:r>
              <a:rPr lang="en-US" altLang="zh-CN" dirty="0">
                <a:ea typeface="宋体" charset="-122"/>
              </a:rPr>
              <a:t>(normal number)</a:t>
            </a:r>
            <a:r>
              <a:rPr lang="zh-CN" altLang="en-US" dirty="0">
                <a:ea typeface="宋体" charset="-122"/>
              </a:rPr>
              <a:t>，也就是说它包含了任意一个有限长的</a:t>
            </a:r>
            <a:r>
              <a:rPr lang="en-US" altLang="zh-CN" dirty="0">
                <a:ea typeface="宋体" charset="-122"/>
              </a:rPr>
              <a:t>01</a:t>
            </a:r>
            <a:r>
              <a:rPr lang="zh-CN" altLang="en-US" dirty="0">
                <a:ea typeface="宋体" charset="-122"/>
              </a:rPr>
              <a:t>串，所有</a:t>
            </a:r>
            <a:r>
              <a:rPr lang="en-US" altLang="zh-CN" dirty="0">
                <a:ea typeface="宋体" charset="-122"/>
              </a:rPr>
              <a:t>n</a:t>
            </a:r>
            <a:r>
              <a:rPr lang="zh-CN" altLang="en-US" dirty="0">
                <a:ea typeface="宋体" charset="-122"/>
              </a:rPr>
              <a:t>位长的</a:t>
            </a:r>
            <a:r>
              <a:rPr lang="en-US" altLang="zh-CN" dirty="0">
                <a:ea typeface="宋体" charset="-122"/>
              </a:rPr>
              <a:t>01</a:t>
            </a:r>
            <a:r>
              <a:rPr lang="zh-CN" altLang="en-US" dirty="0">
                <a:ea typeface="宋体" charset="-122"/>
              </a:rPr>
              <a:t>串都以相等的概率出现在</a:t>
            </a:r>
            <a:r>
              <a:rPr lang="en-US" altLang="zh-CN" dirty="0">
                <a:ea typeface="宋体" charset="-122"/>
              </a:rPr>
              <a:t>e</a:t>
            </a:r>
            <a:r>
              <a:rPr lang="zh-CN" altLang="en-US" dirty="0">
                <a:ea typeface="宋体" charset="-122"/>
              </a:rPr>
              <a:t>的二进制中。</a:t>
            </a:r>
            <a:br>
              <a:rPr lang="zh-CN" altLang="en-US" dirty="0">
                <a:ea typeface="宋体" charset="-122"/>
              </a:rPr>
            </a:br>
            <a:endParaRPr lang="zh-CN" altLang="en-US" dirty="0">
              <a:ea typeface="宋体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ea typeface="宋体" charset="-122"/>
              </a:rPr>
              <a:t>如果你偏要去计算它，你会：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ea typeface="宋体" charset="-122"/>
              </a:rPr>
              <a:t>侵犯版权（包括所有书籍、小说、报纸、杂志、网站、音乐、电影、软件，甚至是</a:t>
            </a:r>
            <a:r>
              <a:rPr lang="en-US" altLang="zh-CN" dirty="0">
                <a:ea typeface="宋体" charset="-122"/>
              </a:rPr>
              <a:t>Windows</a:t>
            </a:r>
            <a:r>
              <a:rPr lang="zh-CN" altLang="en-US" dirty="0">
                <a:ea typeface="宋体" charset="-122"/>
              </a:rPr>
              <a:t>源码）；</a:t>
            </a:r>
            <a:br>
              <a:rPr lang="zh-CN" altLang="en-US" dirty="0">
                <a:ea typeface="宋体" charset="-122"/>
              </a:rPr>
            </a:br>
            <a:r>
              <a:rPr lang="zh-CN" altLang="en-US" dirty="0">
                <a:ea typeface="宋体" charset="-122"/>
              </a:rPr>
              <a:t>侵犯商标权；</a:t>
            </a:r>
            <a:br>
              <a:rPr lang="zh-CN" altLang="en-US" dirty="0">
                <a:ea typeface="宋体" charset="-122"/>
              </a:rPr>
            </a:br>
            <a:r>
              <a:rPr lang="zh-CN" altLang="en-US" dirty="0">
                <a:ea typeface="宋体" charset="-122"/>
              </a:rPr>
              <a:t>拥有大量国家最高机密；</a:t>
            </a:r>
            <a:br>
              <a:rPr lang="zh-CN" altLang="en-US" dirty="0">
                <a:ea typeface="宋体" charset="-122"/>
              </a:rPr>
            </a:br>
            <a:r>
              <a:rPr lang="zh-CN" altLang="en-US" dirty="0">
                <a:ea typeface="宋体" charset="-122"/>
              </a:rPr>
              <a:t>制造出非法的</a:t>
            </a:r>
            <a:r>
              <a:rPr lang="en-US" altLang="zh-CN" dirty="0">
                <a:ea typeface="宋体" charset="-122"/>
              </a:rPr>
              <a:t>DVD</a:t>
            </a:r>
            <a:r>
              <a:rPr lang="zh-CN" altLang="en-US" dirty="0">
                <a:ea typeface="宋体" charset="-122"/>
              </a:rPr>
              <a:t>破解软件；</a:t>
            </a:r>
            <a:br>
              <a:rPr lang="zh-CN" altLang="en-US" dirty="0">
                <a:ea typeface="宋体" charset="-122"/>
              </a:rPr>
            </a:br>
            <a:r>
              <a:rPr lang="zh-CN" altLang="en-US" dirty="0">
                <a:ea typeface="宋体" charset="-122"/>
              </a:rPr>
              <a:t>拥有所有人的身份证号、信用卡号、电话号码和各种密码；</a:t>
            </a:r>
            <a:br>
              <a:rPr lang="zh-CN" altLang="en-US" dirty="0">
                <a:ea typeface="宋体" charset="-122"/>
              </a:rPr>
            </a:br>
            <a:r>
              <a:rPr lang="zh-CN" altLang="en-US" dirty="0">
                <a:ea typeface="宋体" charset="-122"/>
              </a:rPr>
              <a:t>亵渎伊斯兰教（理论上并不是非法的，但你下半辈子得和</a:t>
            </a:r>
            <a:r>
              <a:rPr lang="en-US" altLang="zh-CN" dirty="0">
                <a:ea typeface="宋体" charset="-122"/>
              </a:rPr>
              <a:t>Salman Rushdie</a:t>
            </a:r>
            <a:r>
              <a:rPr lang="zh-CN" altLang="en-US" dirty="0">
                <a:ea typeface="宋体" charset="-122"/>
              </a:rPr>
              <a:t>躲在一起）；</a:t>
            </a:r>
            <a:br>
              <a:rPr lang="zh-CN" altLang="en-US" dirty="0">
                <a:ea typeface="宋体" charset="-122"/>
              </a:rPr>
            </a:br>
            <a:r>
              <a:rPr lang="zh-CN" altLang="en-US" dirty="0">
                <a:ea typeface="宋体" charset="-122"/>
              </a:rPr>
              <a:t>亵渎科学论派（非法！问问</a:t>
            </a:r>
            <a:r>
              <a:rPr lang="en-US" altLang="zh-CN" dirty="0">
                <a:ea typeface="宋体" charset="-122"/>
              </a:rPr>
              <a:t>Keith Henson</a:t>
            </a:r>
            <a:r>
              <a:rPr lang="zh-CN" altLang="en-US" dirty="0">
                <a:ea typeface="宋体" charset="-122"/>
              </a:rPr>
              <a:t>就知道）。 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ea typeface="宋体" charset="-122"/>
              </a:rPr>
              <a:t>同时，你的电脑里会包含有目前所有已知的最邪恶的电脑病毒──事实上还包括有所有未知的最邪恶的病毒。</a:t>
            </a:r>
            <a:br>
              <a:rPr lang="zh-CN" altLang="en-US" dirty="0">
                <a:ea typeface="宋体" charset="-122"/>
              </a:rPr>
            </a:br>
            <a:r>
              <a:rPr lang="zh-CN" altLang="en-US" dirty="0">
                <a:ea typeface="宋体" charset="-122"/>
              </a:rPr>
              <a:t>我的电脑上有很多极度私密的文件，我不希望你把它们浏览个遍。</a:t>
            </a:r>
            <a:br>
              <a:rPr lang="zh-CN" altLang="en-US" dirty="0">
                <a:ea typeface="宋体" charset="-122"/>
              </a:rPr>
            </a:br>
            <a:r>
              <a:rPr lang="zh-CN" altLang="en-US" dirty="0">
                <a:ea typeface="宋体" charset="-122"/>
              </a:rPr>
              <a:t>你或许想，我只计算几位就行了；但何必去冒这个险呢？谁也说不准，算到哪一位时你会找到关于</a:t>
            </a:r>
            <a:r>
              <a:rPr lang="en-US" altLang="zh-CN" dirty="0">
                <a:ea typeface="宋体" charset="-122"/>
              </a:rPr>
              <a:t>Kennedy</a:t>
            </a:r>
            <a:r>
              <a:rPr lang="zh-CN" altLang="en-US" dirty="0">
                <a:ea typeface="宋体" charset="-122"/>
              </a:rPr>
              <a:t>刺杀案的秘密文件，或者还未发行的最新一部</a:t>
            </a:r>
            <a:r>
              <a:rPr lang="en-US" altLang="zh-CN" dirty="0">
                <a:ea typeface="宋体" charset="-122"/>
              </a:rPr>
              <a:t>Star Wars</a:t>
            </a:r>
            <a:r>
              <a:rPr lang="zh-CN" altLang="en-US" dirty="0">
                <a:ea typeface="宋体" charset="-122"/>
              </a:rPr>
              <a:t>的完整拷贝。反正，千万别去算它。</a:t>
            </a:r>
            <a:br>
              <a:rPr lang="zh-CN" altLang="en-US" dirty="0">
                <a:ea typeface="宋体" charset="-122"/>
              </a:rPr>
            </a:br>
            <a:r>
              <a:rPr lang="zh-CN" altLang="en-US" dirty="0">
                <a:ea typeface="宋体" charset="-122"/>
              </a:rPr>
              <a:t>同样的警告还适用于</a:t>
            </a:r>
            <a:r>
              <a:rPr lang="en-US" altLang="zh-CN" dirty="0">
                <a:ea typeface="宋体" charset="-122"/>
              </a:rPr>
              <a:t>PI</a:t>
            </a:r>
            <a:r>
              <a:rPr lang="zh-CN" altLang="en-US" dirty="0">
                <a:ea typeface="宋体" charset="-122"/>
              </a:rPr>
              <a:t>、根号</a:t>
            </a:r>
            <a:r>
              <a:rPr lang="en-US" altLang="zh-CN" dirty="0">
                <a:ea typeface="宋体" charset="-122"/>
              </a:rPr>
              <a:t>2</a:t>
            </a:r>
            <a:r>
              <a:rPr lang="zh-CN" altLang="en-US" dirty="0">
                <a:ea typeface="宋体" charset="-122"/>
              </a:rPr>
              <a:t>、</a:t>
            </a:r>
            <a:r>
              <a:rPr lang="en-US" altLang="zh-CN" dirty="0">
                <a:ea typeface="宋体" charset="-122"/>
              </a:rPr>
              <a:t>Euler</a:t>
            </a:r>
            <a:r>
              <a:rPr lang="zh-CN" altLang="en-US" dirty="0">
                <a:ea typeface="宋体" charset="-122"/>
              </a:rPr>
              <a:t>常数等无理数。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CBEB63-61AF-458B-84AC-C3C5BF4D68FC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CBEB63-61AF-458B-84AC-C3C5BF4D68FC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fld id="{29603525-E838-494F-A1F8-306E9CE57AF2}" type="slidenum">
              <a:rPr lang="en-US" altLang="zh-CN" sz="1200" b="0" smtClean="0">
                <a:latin typeface="Times New Roman" pitchFamily="18" charset="0"/>
                <a:ea typeface="宋体" charset="-122"/>
              </a:rPr>
              <a:pPr eaLnBrk="1" hangingPunct="1"/>
              <a:t>23</a:t>
            </a:fld>
            <a:endParaRPr lang="en-US" altLang="zh-CN" sz="1200" b="0">
              <a:latin typeface="Times New Roman" pitchFamily="18" charset="0"/>
              <a:ea typeface="宋体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关于小概率事件的</a:t>
            </a:r>
            <a:r>
              <a:rPr lang="zh-CN" altLang="en-US" dirty="0"/>
              <a:t>笑话：据说一个飞机上有炸弹的概率为十万分之一，但某人并不认为这个概率很小。概率小毕竟意味者可能，每天航班这么多，十万分之一确实不是一个小数目。因此，这个人从来不敢坐飞机。有一次，他居然和朋友上了飞机，朋友吃惊地问，你咋不害怕了。他说，飞机上有一个炸弹的概率不是十万分之一么？那么飞机上同时有两个炸弹的概率就是一百亿分之一了，对吧。朋友说，对，一百亿分之一已经很小了。这人说，那好，我自己已经带了一颗炸弹上来。</a:t>
            </a:r>
            <a:r>
              <a:rPr lang="zh-CN" altLang="en-US" b="1" dirty="0"/>
              <a:t/>
            </a:r>
            <a:br>
              <a:rPr lang="zh-CN" altLang="en-US" b="1" dirty="0"/>
            </a:br>
            <a:endParaRPr lang="zh-CN" altLang="en-US" b="1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CBEB63-61AF-458B-84AC-C3C5BF4D68FC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4298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2371-BE27-44AA-9741-54B2BA681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995B28-49EF-4DFC-A61E-EF552363B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D57006-2A6A-4676-AE89-BA8C2ABB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BFF53F-2A0C-46CE-975E-341482EF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C38C59-F4D5-440D-888B-F3B196A0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211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318E2-0480-4C41-BBD8-60778000E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10360F-10DC-49A0-99E4-EBC445730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84919-066D-4379-9AE3-873D93284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1AEAA3-A0C3-473C-B8C2-8811A41C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98375-FBEF-42F4-B218-32060DA3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42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BDCD4-CBF9-4175-BB13-F6341C0D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0EF871-5143-4BD1-A24A-0649C7BFC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641C3D-D4D9-4CCE-9423-3CB96957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1DDD4-2940-4603-A375-18898FD01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354739-FCA3-4F05-91F8-64A4B06CA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06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08BF6-F19D-49FC-80CB-A7F89E23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3FB5BC-F3A2-4F9A-8E60-4615E2C1B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340C30-C3AD-4957-96CF-B03E962A1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6F3DC6-6989-420F-9AF6-891B877F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6135F0-18E0-42CB-A2C1-C16B6B90E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D309BB-45A0-4362-91EF-AA58DA15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184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6D1B-3ADD-4BA5-8948-5CE6BE2B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EB74AA-E30F-4614-8F08-7B30FAB51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E609EF-CB1B-4F5D-BA97-166B2AFFD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5F61F9-4A7E-4B91-B6F6-E5A86AB10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7B6092-61B5-475A-BB22-91080744E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B6FA8B-107A-40A4-B1C3-962A6DDA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B30CA8-A923-4678-AC1B-BF9C84E7B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A1C3C5D-6007-4240-94F5-52615344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711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1FB63-64DE-44A7-BA72-1B23B0F6D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134FCC-F58B-49ED-AEAA-C63B2252A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4A8298-595F-4EF4-ACAC-2E74C2A1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D78DE6-7B47-4ACA-AEEE-2599BE8D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06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6E1F85-119E-4948-B37D-37BE581C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86AA30-C84B-4A03-936D-7DD0D892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061CC3-92B0-4805-8D43-5F0D066E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06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C1F2B-B4D7-4816-AD77-781F54E69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1F0EC3-1597-4C58-9195-59EE4FEC8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987217-C1F5-4EAA-ADA3-EA4811BDD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AA0700-A883-4A9D-90DA-98A94044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4D8D64-DADD-481D-B208-41097730B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18C6C2-F62E-452F-B563-7D502575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539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24D3E-EC37-49B9-8730-81D2CA61C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637E85-D159-40A2-80C3-E1AD4B8B4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285B22-1307-45FA-A6F8-71F158630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60A060-EC84-4817-9119-5054FB95E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F98FE0-9729-4575-9427-53D990148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4739FB-1087-46AF-AC02-24F41ADC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8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10C2A-E5A7-4301-96C8-B9B7A696B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C02742-C497-4279-8995-0D0F606D6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8D930F-060A-4BFD-82EB-1B544616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3CB6FC-7144-4E5F-911D-1BFA3FE99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627A9A-9421-4AA2-A20F-32D717086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48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4B8522D-E7B9-4E6B-B5A1-8EF6E3CC9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E3B9DC-398E-4DFE-B444-588FDFB56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C050B8-5AF2-48AD-B030-812A1AA3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72C34A-C59A-4465-8EC0-F178E1775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C7E6B-805A-4EE1-BB88-0FCC1E4A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412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02B9C-9BB3-48CC-A16E-84DF1DFE67C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990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2FE7-3714-4240-83CC-11D70940208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163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A1D0-855D-4F68-B2A8-836D6AC610B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262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92C5-5548-4418-86BD-E66B7D4E25E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916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C1355-9A2C-4091-8405-E04E0E067C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356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2A6C-B164-4B70-A474-84FAFDA63CD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547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B9AAE-CF24-4F0A-90A9-2AC5239B789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7432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21A7-0825-4B9A-ABF0-F2388D8DF24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7314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50A9-5D0B-4F08-A161-25AC64C4B0C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3451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AAD6-FFF6-49BC-8A75-C23C12C1B62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8547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FB55-7AE4-4AB9-9F6C-C2454A4133D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220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27B54-9132-466E-B31F-DF58A7837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ACE207-F5B1-49B8-B335-F0E5333EC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3D35AA-94B3-4983-8F51-2E3507665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F1AEC3-F872-44DF-B412-E05E03D1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9190C6-280A-48A5-B9AA-4E2B45A9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2053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3F591-4E8F-44D9-9C4C-459BF1D3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EAEFFF-04B0-42EB-8816-1FBA287E0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C26E5A-EF4E-44BA-B0EA-2110065D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BDFF35-041B-43FF-84FA-2AA9D10B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19C083-6AEF-457E-A9FA-DA6AF59A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737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31381-32BB-4220-88FD-43CD61ED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E258BC-1DB2-4ABA-80F3-566CA1BC0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86FAAC-D304-4914-88FC-9F0DD5447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7E73CC-425B-41BB-BDDE-F12F4B4A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4617DD-1B2A-4B14-AA4E-3670BDCC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2619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C6534-77FE-4609-ABB6-768C81EC0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82455-C464-4020-A129-156621CC1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C39525-8E09-4E6E-A71A-EF27F897E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1045F-4E7A-4FDD-925E-950B8260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A26ABC-9CBC-46FA-B4CC-44E9F649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4232D0-98CA-4F07-8C66-C40BC9BF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5743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1AB70-4BD3-4962-832A-D1B0FB7B6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A27CD6-E621-4800-A78E-A3C24E2E5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5AF5CB-0921-4F75-A4C4-ED04BAD82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820540-B2C8-4711-BDD9-7D749414B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1D63A9-6EF8-4E82-B8D5-FAE41CD3B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7977A1-5F8D-4B50-97C7-2A32B4C2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6289CE-D640-4B04-B31E-CC9442EC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02B124-AFCF-48CC-87C8-E308D663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5536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43533-0577-44A2-940A-4BA2A1C9D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17D3DD-E0B0-40F7-9616-624A7261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4AFF2B-1F2C-42F6-9FCF-A36170C54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2B428E-0487-405C-8612-CBDAE2D3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9059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D401D2-03A9-4012-9E2F-3FE6649E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398EC6-DF0B-4EF4-9BBA-E16B4A4D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4820B-774E-44F7-B7E5-2CF58D7F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1248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FF357-98AB-463F-AC13-1B17A664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9E2AD1-CBEB-4B47-B041-C3D8D3E8C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2350F3-C53E-41C9-89CB-435878E72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A2B70B-FF0E-4C2A-971E-3966F8B3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FFC9FB-7AAD-4332-8505-C7E5FA8C5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E7299E-C7B0-4B9E-88D1-82A64157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8545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C2925-14FB-4A22-8806-96075977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79CEFF-7289-450C-A1FA-7C2007E88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CCE62-7167-42AA-A9E7-9BBC493B7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093FD2-A443-492F-80AD-C8B8ADA0F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719813-6F46-4FA5-BC09-0454022E6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436645-54FE-4A27-B89A-380BECBB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0207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8762-75DB-4D45-B476-E1E6EB39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FBC7CB-6C59-4948-8B89-87E011D9E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E219FE-C93A-46AD-97A9-313989BA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471F8E-8775-47CE-B515-E9633098E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569A8D-CFA3-4A19-BCDC-62019A7B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2939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02DFCB-D50B-4F38-B9EE-E47FC1043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D0B79E-6D79-493F-B7D2-A1136BC8B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8B61E8-178A-4203-84B6-7A1F9025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86066A-448C-4E0E-A504-3CF22F1C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42748D-FEEB-45AE-B2A9-395CA8DEC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9708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628579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oleObject" Target="../embeddings/oleObject2.bin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vmlDrawing" Target="../drawings/vmlDrawing2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1CEFF5D-7F63-4C2D-8E7D-6D1E992B6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EF894B-0044-43B5-9490-41309930C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DAD086-6EB6-40BD-B8D0-DCFCBEBD6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BDFD7-9028-4668-9F0F-74352DCB701D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0B0547-7481-489A-ABEF-CCA6490CC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7FAF0-2545-4971-9896-0EA0ABD26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5B761-2B8C-46A9-ADAA-D8324681094B}" type="slidenum">
              <a:rPr lang="zh-CN" altLang="en-US" smtClean="0"/>
              <a:t>‹#›</a:t>
            </a:fld>
            <a:endParaRPr lang="zh-CN" altLang="en-US"/>
          </a:p>
        </p:txBody>
      </p:sp>
      <p:graphicFrame>
        <p:nvGraphicFramePr>
          <p:cNvPr id="7" name="Object 85">
            <a:extLst>
              <a:ext uri="{FF2B5EF4-FFF2-40B4-BE49-F238E27FC236}">
                <a16:creationId xmlns:a16="http://schemas.microsoft.com/office/drawing/2014/main" id="{3F633B55-A85F-4E4F-86A9-F837CCF00F1C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8555038" y="5949950"/>
          <a:ext cx="5699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剪辑" r:id="rId14" imgW="3154363" imgH="4708525" progId="">
                  <p:embed/>
                </p:oleObj>
              </mc:Choice>
              <mc:Fallback>
                <p:oleObj name="剪辑" r:id="rId14" imgW="3154363" imgH="4708525" progId="">
                  <p:embed/>
                  <p:pic>
                    <p:nvPicPr>
                      <p:cNvPr id="1026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5038" y="5949950"/>
                        <a:ext cx="569912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6">
            <a:extLst>
              <a:ext uri="{FF2B5EF4-FFF2-40B4-BE49-F238E27FC236}">
                <a16:creationId xmlns:a16="http://schemas.microsoft.com/office/drawing/2014/main" id="{E0FC4C46-E985-4747-887F-D9F5FF14D0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68071" y="-26988"/>
            <a:ext cx="44554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b="0" dirty="0">
                <a:solidFill>
                  <a:srgbClr val="66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§4 </a:t>
            </a:r>
            <a:r>
              <a:rPr lang="zh-CN" altLang="en-US" b="0" dirty="0">
                <a:solidFill>
                  <a:srgbClr val="66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概率计算：计数方法</a:t>
            </a:r>
          </a:p>
        </p:txBody>
      </p:sp>
      <p:sp>
        <p:nvSpPr>
          <p:cNvPr id="9" name="Rectangle 88">
            <a:extLst>
              <a:ext uri="{FF2B5EF4-FFF2-40B4-BE49-F238E27FC236}">
                <a16:creationId xmlns:a16="http://schemas.microsoft.com/office/drawing/2014/main" id="{3E77C51D-BE2F-4F3D-8740-AF9EA09E59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2700" y="511175"/>
            <a:ext cx="91805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114">
            <a:extLst>
              <a:ext uri="{FF2B5EF4-FFF2-40B4-BE49-F238E27FC236}">
                <a16:creationId xmlns:a16="http://schemas.microsoft.com/office/drawing/2014/main" id="{AB4D6379-1B87-47D5-943D-B8B1E7D3E3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81995" y="6400800"/>
            <a:ext cx="3181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2000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7777FF"/>
                    </a:outerShdw>
                  </a:cont>
                  <a:cont type="tree" name="">
                    <a:effect ref="fillLine"/>
                    <a:outerShdw dist="38100" dir="2700000" algn="tl">
                      <a:srgbClr val="1E1E99"/>
                    </a:outerShdw>
                  </a:cont>
                  <a:effect ref="fillLine"/>
                </a:effectDag>
                <a:latin typeface="黑体" pitchFamily="2" charset="-122"/>
                <a:ea typeface="黑体" pitchFamily="2" charset="-122"/>
              </a:rPr>
              <a:t>第一章  概率</a:t>
            </a:r>
            <a:endParaRPr lang="zh-CN" altLang="en-US" sz="2000" b="0" dirty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7777FF"/>
                  </a:outerShdw>
                </a:cont>
                <a:cont type="tree" name="">
                  <a:effect ref="fillLine"/>
                  <a:outerShdw dist="38100" dir="2700000" algn="tl">
                    <a:srgbClr val="1E1E99"/>
                  </a:outerShdw>
                </a:cont>
                <a:effect ref="fillLine"/>
              </a:effectDag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Rectangle 115">
            <a:extLst>
              <a:ext uri="{FF2B5EF4-FFF2-40B4-BE49-F238E27FC236}">
                <a16:creationId xmlns:a16="http://schemas.microsoft.com/office/drawing/2014/main" id="{CD600B1D-0C95-47F6-AC12-3C68367DDB6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7900" y="266700"/>
            <a:ext cx="7493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fld id="{13572706-198B-427A-8CAE-EA711217687D}" type="slidenum">
              <a:rPr lang="en-US" altLang="zh-CN" sz="1000" smtClean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pPr algn="l" eaLnBrk="1" hangingPunct="1">
                <a:lnSpc>
                  <a:spcPct val="120000"/>
                </a:lnSpc>
                <a:spcBef>
                  <a:spcPct val="50000"/>
                </a:spcBef>
              </a:pPr>
              <a:t>‹#›</a:t>
            </a:fld>
            <a:endParaRPr lang="en-US" altLang="zh-CN" sz="1000" dirty="0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7894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1DB61-CF58-4A45-BEA7-7AD2C1EA099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831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D55E09B-2F52-48C4-83A6-A3828923C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6F25A3-8DFF-4D45-A8A2-245D5D7C6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FD9162-5A83-4A39-A4C1-13D80D351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781065-C80E-41C0-B067-9FBDB0A8E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7934A7-2AD8-44F3-B1C9-DDCBF1374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Object 67">
            <a:extLst>
              <a:ext uri="{FF2B5EF4-FFF2-40B4-BE49-F238E27FC236}">
                <a16:creationId xmlns:a16="http://schemas.microsoft.com/office/drawing/2014/main" id="{732729EE-5B6E-49A2-9489-94243A6BA395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8555038" y="5949950"/>
          <a:ext cx="5699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剪辑" r:id="rId15" imgW="3154363" imgH="4708525" progId="MS_ClipArt_Gallery.2">
                  <p:embed/>
                </p:oleObj>
              </mc:Choice>
              <mc:Fallback>
                <p:oleObj name="剪辑" r:id="rId15" imgW="3154363" imgH="4708525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5038" y="5949950"/>
                        <a:ext cx="5699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4">
            <a:extLst>
              <a:ext uri="{FF2B5EF4-FFF2-40B4-BE49-F238E27FC236}">
                <a16:creationId xmlns:a16="http://schemas.microsoft.com/office/drawing/2014/main" id="{BE461B3F-CA98-4808-9EE6-27E30F6E2E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95" y="-26988"/>
            <a:ext cx="338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44546A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dirty="0">
                <a:solidFill>
                  <a:srgbClr val="66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§3 </a:t>
            </a:r>
            <a:r>
              <a:rPr lang="zh-CN" altLang="en-US" dirty="0">
                <a:solidFill>
                  <a:srgbClr val="66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概率测度</a:t>
            </a:r>
          </a:p>
        </p:txBody>
      </p:sp>
      <p:sp>
        <p:nvSpPr>
          <p:cNvPr id="9" name="Rectangle 81">
            <a:extLst>
              <a:ext uri="{FF2B5EF4-FFF2-40B4-BE49-F238E27FC236}">
                <a16:creationId xmlns:a16="http://schemas.microsoft.com/office/drawing/2014/main" id="{AB414E0F-3FC4-48B1-8F16-3375D607C5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2700" y="511175"/>
            <a:ext cx="91805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9">
            <a:extLst>
              <a:ext uri="{FF2B5EF4-FFF2-40B4-BE49-F238E27FC236}">
                <a16:creationId xmlns:a16="http://schemas.microsoft.com/office/drawing/2014/main" id="{3C00AEF0-0948-4691-85EE-A8EA0CFFF8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7900" y="266700"/>
            <a:ext cx="749300" cy="25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fld id="{5F205D10-2225-43A4-9F74-9776BABD8920}" type="slidenum">
              <a:rPr lang="en-US" altLang="zh-CN" sz="1000" smtClean="0">
                <a:solidFill>
                  <a:srgbClr val="954F72"/>
                </a:solidFill>
                <a:latin typeface="黑体" pitchFamily="49" charset="-122"/>
                <a:ea typeface="黑体" pitchFamily="49" charset="-122"/>
              </a:rPr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t>‹#›</a:t>
            </a:fld>
            <a:endParaRPr lang="en-US" altLang="zh-CN" sz="1000" dirty="0">
              <a:solidFill>
                <a:srgbClr val="954F7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Rectangle 106">
            <a:extLst>
              <a:ext uri="{FF2B5EF4-FFF2-40B4-BE49-F238E27FC236}">
                <a16:creationId xmlns:a16="http://schemas.microsoft.com/office/drawing/2014/main" id="{F3A4F8AD-665A-40A8-85D1-114948D92F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03550" y="6400800"/>
            <a:ext cx="3219450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2000" dirty="0">
                <a:solidFill>
                  <a:prstClr val="white"/>
                </a:solidFill>
                <a:effectDag name="">
                  <a:cont type="tree" name="">
                    <a:effect ref="fillLine"/>
                    <a:outerShdw dist="38100" dir="13500000" algn="br">
                      <a:srgbClr val="7777FF"/>
                    </a:outerShdw>
                  </a:cont>
                  <a:cont type="tree" name="">
                    <a:effect ref="fillLine"/>
                    <a:outerShdw dist="38100" dir="2700000" algn="tl">
                      <a:srgbClr val="1E1E99"/>
                    </a:outerShdw>
                  </a:cont>
                  <a:effect ref="fillLine"/>
                </a:effectDag>
                <a:latin typeface="黑体" pitchFamily="2" charset="-122"/>
                <a:ea typeface="黑体" pitchFamily="2" charset="-122"/>
              </a:rPr>
              <a:t>第一章  概率</a:t>
            </a:r>
          </a:p>
        </p:txBody>
      </p:sp>
    </p:spTree>
    <p:extLst>
      <p:ext uri="{BB962C8B-B14F-4D97-AF65-F5344CB8AC3E}">
        <p14:creationId xmlns:p14="http://schemas.microsoft.com/office/powerpoint/2010/main" val="2068533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gif"/><Relationship Id="rId9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.png"/><Relationship Id="rId7" Type="http://schemas.openxmlformats.org/officeDocument/2006/relationships/image" Target="../media/image200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12" Type="http://schemas.openxmlformats.org/officeDocument/2006/relationships/image" Target="../media/image24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33.png"/><Relationship Id="rId10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38.png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4.bin"/><Relationship Id="rId12" Type="http://schemas.openxmlformats.org/officeDocument/2006/relationships/image" Target="../media/image3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11" Type="http://schemas.openxmlformats.org/officeDocument/2006/relationships/image" Target="../media/image36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27.emf"/><Relationship Id="rId4" Type="http://schemas.openxmlformats.org/officeDocument/2006/relationships/image" Target="../media/image320.png"/><Relationship Id="rId9" Type="http://schemas.openxmlformats.org/officeDocument/2006/relationships/oleObject" Target="../embeddings/oleObject5.bin"/><Relationship Id="rId1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8.gif"/><Relationship Id="rId7" Type="http://schemas.openxmlformats.org/officeDocument/2006/relationships/image" Target="../media/image40.png"/><Relationship Id="rId12" Type="http://schemas.openxmlformats.org/officeDocument/2006/relationships/image" Target="../media/image4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0.png"/><Relationship Id="rId11" Type="http://schemas.openxmlformats.org/officeDocument/2006/relationships/image" Target="../media/image42.png"/><Relationship Id="rId5" Type="http://schemas.openxmlformats.org/officeDocument/2006/relationships/image" Target="../media/image35.png"/><Relationship Id="rId10" Type="http://schemas.openxmlformats.org/officeDocument/2006/relationships/image" Target="../media/image400.png"/><Relationship Id="rId4" Type="http://schemas.openxmlformats.org/officeDocument/2006/relationships/image" Target="../media/image34.png"/><Relationship Id="rId9" Type="http://schemas.openxmlformats.org/officeDocument/2006/relationships/image" Target="../media/image3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28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7" Type="http://schemas.openxmlformats.org/officeDocument/2006/relationships/image" Target="../media/image86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0.png"/><Relationship Id="rId5" Type="http://schemas.openxmlformats.org/officeDocument/2006/relationships/image" Target="../media/image840.png"/><Relationship Id="rId4" Type="http://schemas.openxmlformats.org/officeDocument/2006/relationships/image" Target="../media/image83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51.png"/><Relationship Id="rId7" Type="http://schemas.openxmlformats.org/officeDocument/2006/relationships/image" Target="../media/image88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480.png"/><Relationship Id="rId4" Type="http://schemas.openxmlformats.org/officeDocument/2006/relationships/image" Target="../media/image8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2">
            <a:extLst>
              <a:ext uri="{FF2B5EF4-FFF2-40B4-BE49-F238E27FC236}">
                <a16:creationId xmlns:a16="http://schemas.microsoft.com/office/drawing/2014/main" id="{D5DA6B12-5A40-4286-948E-8E831E43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533401"/>
            <a:ext cx="9142412" cy="76200"/>
          </a:xfrm>
          <a:prstGeom prst="rect">
            <a:avLst/>
          </a:prstGeom>
          <a:gradFill rotWithShape="0">
            <a:gsLst>
              <a:gs pos="0">
                <a:srgbClr val="00CCCC"/>
              </a:gs>
              <a:gs pos="100000">
                <a:srgbClr val="005D5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rgbClr val="FFFF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1" name="WordArt 147">
            <a:extLst>
              <a:ext uri="{FF2B5EF4-FFF2-40B4-BE49-F238E27FC236}">
                <a16:creationId xmlns:a16="http://schemas.microsoft.com/office/drawing/2014/main" id="{FA1D9EC9-917D-4885-BB37-3CF2C16C0BD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52583" y="1182688"/>
            <a:ext cx="4669653" cy="520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Chapter One  Probability</a:t>
            </a:r>
            <a:endParaRPr lang="zh-CN" altLang="en-US" sz="3600" b="1" kern="1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D573AB-1CCC-49B1-A84B-8A198166BF9D}"/>
              </a:ext>
            </a:extLst>
          </p:cNvPr>
          <p:cNvSpPr txBox="1"/>
          <p:nvPr/>
        </p:nvSpPr>
        <p:spPr>
          <a:xfrm>
            <a:off x="776394" y="2132785"/>
            <a:ext cx="78634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Sample space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（样本空间）</a:t>
            </a:r>
            <a:endParaRPr lang="en-US" altLang="zh-CN" sz="3200" kern="10" dirty="0">
              <a:ln w="0"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measure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（概率测度）</a:t>
            </a:r>
            <a:endParaRPr lang="en-US" altLang="zh-CN" sz="3200" kern="10" dirty="0">
              <a:ln w="0"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computation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（概率计算）</a:t>
            </a:r>
            <a:endParaRPr lang="en-US" altLang="zh-CN" sz="3200" kern="10" dirty="0">
              <a:ln w="0"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 probability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（条件概率）</a:t>
            </a:r>
            <a:endParaRPr lang="en-US" altLang="zh-CN" sz="3200" kern="10" dirty="0">
              <a:ln w="0"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Independence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（独立性）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16335791"/>
      </p:ext>
    </p:extLst>
  </p:cSld>
  <p:clrMapOvr>
    <a:masterClrMapping/>
  </p:clrMapOvr>
  <p:transition spd="med">
    <p:zoom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2">
            <a:extLst>
              <a:ext uri="{FF2B5EF4-FFF2-40B4-BE49-F238E27FC236}">
                <a16:creationId xmlns:a16="http://schemas.microsoft.com/office/drawing/2014/main" id="{D5DA6B12-5A40-4286-948E-8E831E43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533401"/>
            <a:ext cx="9142412" cy="76200"/>
          </a:xfrm>
          <a:prstGeom prst="rect">
            <a:avLst/>
          </a:prstGeom>
          <a:gradFill rotWithShape="0">
            <a:gsLst>
              <a:gs pos="0">
                <a:srgbClr val="00CCCC"/>
              </a:gs>
              <a:gs pos="100000">
                <a:srgbClr val="005D5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rgbClr val="FFFF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1" name="WordArt 147">
            <a:extLst>
              <a:ext uri="{FF2B5EF4-FFF2-40B4-BE49-F238E27FC236}">
                <a16:creationId xmlns:a16="http://schemas.microsoft.com/office/drawing/2014/main" id="{FA1D9EC9-917D-4885-BB37-3CF2C16C0BD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52583" y="1182688"/>
            <a:ext cx="4669653" cy="520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Chapter One  Probability</a:t>
            </a:r>
            <a:endParaRPr lang="zh-CN" altLang="en-US" sz="3600" b="1" kern="1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D573AB-1CCC-49B1-A84B-8A198166BF9D}"/>
              </a:ext>
            </a:extLst>
          </p:cNvPr>
          <p:cNvSpPr txBox="1"/>
          <p:nvPr/>
        </p:nvSpPr>
        <p:spPr>
          <a:xfrm>
            <a:off x="776394" y="2132785"/>
            <a:ext cx="78634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Sample space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（样本空间）</a:t>
            </a:r>
            <a:endParaRPr lang="en-US" altLang="zh-CN" sz="3200" kern="10" dirty="0">
              <a:ln w="0"/>
              <a:solidFill>
                <a:schemeClr val="bg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measure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（概率测度）</a:t>
            </a:r>
            <a:endParaRPr lang="en-US" altLang="zh-CN" sz="3200" kern="10" dirty="0">
              <a:ln w="0"/>
              <a:solidFill>
                <a:schemeClr val="bg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 eaLnBrk="1" fontAlgn="auto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computation</a:t>
            </a:r>
            <a:r>
              <a:rPr lang="zh-CN" altLang="en-US" sz="3200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（概率计算）</a:t>
            </a:r>
            <a:endParaRPr lang="en-US" altLang="zh-CN" sz="3200" kern="10" dirty="0">
              <a:ln w="0"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 probability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（条件概率）</a:t>
            </a:r>
            <a:endParaRPr lang="en-US" altLang="zh-CN" sz="3200" kern="10" dirty="0">
              <a:ln w="0"/>
              <a:solidFill>
                <a:schemeClr val="bg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Independence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（独立性）</a:t>
            </a:r>
            <a:endParaRPr lang="zh-CN" altLang="en-US" sz="3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516201"/>
      </p:ext>
    </p:extLst>
  </p:cSld>
  <p:clrMapOvr>
    <a:masterClrMapping/>
  </p:clrMapOvr>
  <p:transition spd="med">
    <p:zoom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ChangeArrowheads="1"/>
          </p:cNvSpPr>
          <p:nvPr/>
        </p:nvSpPr>
        <p:spPr bwMode="auto">
          <a:xfrm>
            <a:off x="6400800" y="3487468"/>
            <a:ext cx="1905000" cy="23622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4419" name="Oval 3"/>
          <p:cNvSpPr>
            <a:spLocks noChangeArrowheads="1"/>
          </p:cNvSpPr>
          <p:nvPr/>
        </p:nvSpPr>
        <p:spPr bwMode="auto">
          <a:xfrm>
            <a:off x="6400800" y="5697268"/>
            <a:ext cx="1905000" cy="381000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4420" name="Oval 4"/>
          <p:cNvSpPr>
            <a:spLocks noChangeArrowheads="1"/>
          </p:cNvSpPr>
          <p:nvPr/>
        </p:nvSpPr>
        <p:spPr bwMode="auto">
          <a:xfrm>
            <a:off x="6400800" y="3411268"/>
            <a:ext cx="19050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4421" name="Oval 5"/>
          <p:cNvSpPr>
            <a:spLocks noChangeArrowheads="1"/>
          </p:cNvSpPr>
          <p:nvPr/>
        </p:nvSpPr>
        <p:spPr bwMode="auto">
          <a:xfrm>
            <a:off x="7010400" y="5544868"/>
            <a:ext cx="304800" cy="3048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imes New Roman" pitchFamily="18" charset="0"/>
                <a:ea typeface="宋体" charset="-122"/>
              </a:rPr>
              <a:t>2</a:t>
            </a:r>
            <a:endParaRPr lang="en-US" altLang="zh-CN" sz="2400" b="0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444422" name="Oval 6"/>
          <p:cNvSpPr>
            <a:spLocks noChangeArrowheads="1"/>
          </p:cNvSpPr>
          <p:nvPr/>
        </p:nvSpPr>
        <p:spPr bwMode="auto">
          <a:xfrm>
            <a:off x="7315200" y="5544868"/>
            <a:ext cx="304800" cy="3048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imes New Roman" pitchFamily="18" charset="0"/>
                <a:ea typeface="宋体" charset="-122"/>
              </a:rPr>
              <a:t>3</a:t>
            </a:r>
            <a:endParaRPr lang="en-US" altLang="zh-CN" sz="2400" b="0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444423" name="Oval 7"/>
          <p:cNvSpPr>
            <a:spLocks noChangeArrowheads="1"/>
          </p:cNvSpPr>
          <p:nvPr/>
        </p:nvSpPr>
        <p:spPr bwMode="auto">
          <a:xfrm>
            <a:off x="7467600" y="5316268"/>
            <a:ext cx="304800" cy="3048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imes New Roman" pitchFamily="18" charset="0"/>
                <a:ea typeface="宋体" charset="-122"/>
              </a:rPr>
              <a:t>4</a:t>
            </a:r>
            <a:endParaRPr lang="en-US" altLang="zh-CN" sz="2400" b="0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444424" name="Oval 8"/>
          <p:cNvSpPr>
            <a:spLocks noChangeArrowheads="1"/>
          </p:cNvSpPr>
          <p:nvPr/>
        </p:nvSpPr>
        <p:spPr bwMode="auto">
          <a:xfrm>
            <a:off x="6781800" y="5621068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7676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宋体" charset="-122"/>
              </a:rPr>
              <a:t>7</a:t>
            </a:r>
            <a:endParaRPr lang="en-US" altLang="zh-CN" sz="2400" b="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44425" name="Oval 9"/>
          <p:cNvSpPr>
            <a:spLocks noChangeArrowheads="1"/>
          </p:cNvSpPr>
          <p:nvPr/>
        </p:nvSpPr>
        <p:spPr bwMode="auto">
          <a:xfrm>
            <a:off x="7162800" y="5240068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7676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宋体" charset="-122"/>
              </a:rPr>
              <a:t>9</a:t>
            </a:r>
            <a:endParaRPr lang="en-US" altLang="zh-CN" sz="2400" b="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44426" name="Oval 10"/>
          <p:cNvSpPr>
            <a:spLocks noChangeArrowheads="1"/>
          </p:cNvSpPr>
          <p:nvPr/>
        </p:nvSpPr>
        <p:spPr bwMode="auto">
          <a:xfrm>
            <a:off x="7640848" y="5553293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767676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FF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宋体" charset="-122"/>
              </a:rPr>
              <a:t>10</a:t>
            </a:r>
            <a:endParaRPr lang="en-US" altLang="zh-CN" sz="2400" b="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44427" name="Oval 11"/>
          <p:cNvSpPr>
            <a:spLocks noChangeArrowheads="1"/>
          </p:cNvSpPr>
          <p:nvPr/>
        </p:nvSpPr>
        <p:spPr bwMode="auto">
          <a:xfrm>
            <a:off x="7162800" y="4935268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7676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宋体" charset="-122"/>
              </a:rPr>
              <a:t>8</a:t>
            </a:r>
          </a:p>
        </p:txBody>
      </p:sp>
      <p:sp>
        <p:nvSpPr>
          <p:cNvPr id="444428" name="Oval 12"/>
          <p:cNvSpPr>
            <a:spLocks noChangeArrowheads="1"/>
          </p:cNvSpPr>
          <p:nvPr/>
        </p:nvSpPr>
        <p:spPr bwMode="auto">
          <a:xfrm>
            <a:off x="7772400" y="5265946"/>
            <a:ext cx="304800" cy="3048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imes New Roman" pitchFamily="18" charset="0"/>
                <a:ea typeface="宋体" charset="-122"/>
              </a:rPr>
              <a:t>6</a:t>
            </a:r>
            <a:endParaRPr lang="en-US" altLang="zh-CN" sz="2400" b="0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444429" name="Oval 13"/>
          <p:cNvSpPr>
            <a:spLocks noChangeArrowheads="1"/>
          </p:cNvSpPr>
          <p:nvPr/>
        </p:nvSpPr>
        <p:spPr bwMode="auto">
          <a:xfrm>
            <a:off x="6858000" y="5316268"/>
            <a:ext cx="304800" cy="3048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imes New Roman" pitchFamily="18" charset="0"/>
                <a:ea typeface="宋体" charset="-122"/>
              </a:rPr>
              <a:t>1</a:t>
            </a:r>
            <a:endParaRPr lang="en-US" altLang="zh-CN" sz="2400" b="0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444430" name="Oval 14"/>
          <p:cNvSpPr>
            <a:spLocks noChangeArrowheads="1"/>
          </p:cNvSpPr>
          <p:nvPr/>
        </p:nvSpPr>
        <p:spPr bwMode="auto">
          <a:xfrm>
            <a:off x="7467600" y="5011468"/>
            <a:ext cx="304800" cy="3048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itchFamily="18" charset="0"/>
                <a:ea typeface="宋体" charset="-122"/>
              </a:rPr>
              <a:t>5</a:t>
            </a:r>
          </a:p>
        </p:txBody>
      </p:sp>
      <p:sp>
        <p:nvSpPr>
          <p:cNvPr id="444431" name="Text Box 15"/>
          <p:cNvSpPr txBox="1">
            <a:spLocks noChangeArrowheads="1"/>
          </p:cNvSpPr>
          <p:nvPr/>
        </p:nvSpPr>
        <p:spPr bwMode="auto">
          <a:xfrm>
            <a:off x="469899" y="1599931"/>
            <a:ext cx="4857475" cy="1701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 balls with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same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shape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are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mixed in a bag and labeled with a number between 1~10, choose one randomly from the bag, then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44449" name="Group 33"/>
          <p:cNvGrpSpPr>
            <a:grpSpLocks/>
          </p:cNvGrpSpPr>
          <p:nvPr/>
        </p:nvGrpSpPr>
        <p:grpSpPr bwMode="auto">
          <a:xfrm>
            <a:off x="659779" y="4006412"/>
            <a:ext cx="4465638" cy="1744663"/>
            <a:chOff x="526" y="2852"/>
            <a:chExt cx="2813" cy="1099"/>
          </a:xfrm>
        </p:grpSpPr>
        <p:sp>
          <p:nvSpPr>
            <p:cNvPr id="2065" name="Oval 16"/>
            <p:cNvSpPr>
              <a:spLocks noChangeArrowheads="1"/>
            </p:cNvSpPr>
            <p:nvPr/>
          </p:nvSpPr>
          <p:spPr bwMode="auto">
            <a:xfrm>
              <a:off x="683" y="285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latin typeface="Times New Roman" pitchFamily="18" charset="0"/>
                  <a:ea typeface="宋体" charset="-122"/>
                </a:rPr>
                <a:t>1</a:t>
              </a:r>
              <a:endParaRPr lang="en-US" altLang="zh-CN" sz="2400" b="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66" name="Oval 17"/>
            <p:cNvSpPr>
              <a:spLocks noChangeArrowheads="1"/>
            </p:cNvSpPr>
            <p:nvPr/>
          </p:nvSpPr>
          <p:spPr bwMode="auto">
            <a:xfrm>
              <a:off x="1195" y="285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latin typeface="Times New Roman" pitchFamily="18" charset="0"/>
                  <a:ea typeface="宋体" charset="-122"/>
                </a:rPr>
                <a:t>3</a:t>
              </a:r>
              <a:endParaRPr lang="en-US" altLang="zh-CN" sz="2400" b="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67" name="Oval 18"/>
            <p:cNvSpPr>
              <a:spLocks noChangeArrowheads="1"/>
            </p:cNvSpPr>
            <p:nvPr/>
          </p:nvSpPr>
          <p:spPr bwMode="auto">
            <a:xfrm>
              <a:off x="942" y="285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latin typeface="Times New Roman" pitchFamily="18" charset="0"/>
                  <a:ea typeface="宋体" charset="-122"/>
                </a:rPr>
                <a:t>2</a:t>
              </a:r>
              <a:endParaRPr lang="en-US" altLang="zh-CN" sz="2400" b="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68" name="Oval 19"/>
            <p:cNvSpPr>
              <a:spLocks noChangeArrowheads="1"/>
            </p:cNvSpPr>
            <p:nvPr/>
          </p:nvSpPr>
          <p:spPr bwMode="auto">
            <a:xfrm>
              <a:off x="1471" y="285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latin typeface="Times New Roman" pitchFamily="18" charset="0"/>
                  <a:ea typeface="宋体" charset="-122"/>
                </a:rPr>
                <a:t>4</a:t>
              </a:r>
              <a:endParaRPr lang="en-US" altLang="zh-CN" sz="2400" b="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69" name="Oval 20"/>
            <p:cNvSpPr>
              <a:spLocks noChangeArrowheads="1"/>
            </p:cNvSpPr>
            <p:nvPr/>
          </p:nvSpPr>
          <p:spPr bwMode="auto">
            <a:xfrm>
              <a:off x="1719" y="285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latin typeface="Times New Roman" pitchFamily="18" charset="0"/>
                  <a:ea typeface="宋体" charset="-122"/>
                </a:rPr>
                <a:t>5</a:t>
              </a:r>
              <a:endParaRPr lang="en-US" altLang="zh-CN" sz="2400" b="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70" name="Oval 21"/>
            <p:cNvSpPr>
              <a:spLocks noChangeArrowheads="1"/>
            </p:cNvSpPr>
            <p:nvPr/>
          </p:nvSpPr>
          <p:spPr bwMode="auto">
            <a:xfrm>
              <a:off x="1959" y="285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latin typeface="Times New Roman" pitchFamily="18" charset="0"/>
                  <a:ea typeface="宋体" charset="-122"/>
                </a:rPr>
                <a:t>6</a:t>
              </a:r>
              <a:endParaRPr lang="en-US" altLang="zh-CN" sz="2400" b="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71" name="Oval 22"/>
            <p:cNvSpPr>
              <a:spLocks noChangeArrowheads="1"/>
            </p:cNvSpPr>
            <p:nvPr/>
          </p:nvSpPr>
          <p:spPr bwMode="auto">
            <a:xfrm>
              <a:off x="2211" y="2852"/>
              <a:ext cx="194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7</a:t>
              </a:r>
              <a:endParaRPr lang="en-US" altLang="zh-CN" sz="2400" b="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72" name="Oval 23"/>
            <p:cNvSpPr>
              <a:spLocks noChangeArrowheads="1"/>
            </p:cNvSpPr>
            <p:nvPr/>
          </p:nvSpPr>
          <p:spPr bwMode="auto">
            <a:xfrm>
              <a:off x="2451" y="2852"/>
              <a:ext cx="194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8</a:t>
              </a:r>
              <a:endParaRPr lang="en-US" altLang="zh-CN" sz="2400" b="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73" name="Oval 24"/>
            <p:cNvSpPr>
              <a:spLocks noChangeArrowheads="1"/>
            </p:cNvSpPr>
            <p:nvPr/>
          </p:nvSpPr>
          <p:spPr bwMode="auto">
            <a:xfrm>
              <a:off x="2691" y="2852"/>
              <a:ext cx="194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9</a:t>
              </a:r>
              <a:endParaRPr lang="en-US" altLang="zh-CN" sz="2400" b="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74" name="Oval 25"/>
            <p:cNvSpPr>
              <a:spLocks noChangeArrowheads="1"/>
            </p:cNvSpPr>
            <p:nvPr/>
          </p:nvSpPr>
          <p:spPr bwMode="auto">
            <a:xfrm>
              <a:off x="2945" y="2852"/>
              <a:ext cx="220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ea typeface="宋体" charset="-122"/>
                </a:rPr>
                <a:t>10</a:t>
              </a:r>
              <a:endParaRPr lang="en-US" altLang="zh-CN" sz="2000" b="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44442" name="Line 26"/>
            <p:cNvSpPr>
              <a:spLocks noChangeShapeType="1"/>
            </p:cNvSpPr>
            <p:nvPr/>
          </p:nvSpPr>
          <p:spPr bwMode="auto">
            <a:xfrm>
              <a:off x="855" y="3188"/>
              <a:ext cx="912" cy="1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4443" name="Line 27"/>
            <p:cNvSpPr>
              <a:spLocks noChangeShapeType="1"/>
            </p:cNvSpPr>
            <p:nvPr/>
          </p:nvSpPr>
          <p:spPr bwMode="auto">
            <a:xfrm>
              <a:off x="2055" y="3188"/>
              <a:ext cx="1056" cy="1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4444" name="Line 28"/>
            <p:cNvSpPr>
              <a:spLocks noChangeShapeType="1"/>
            </p:cNvSpPr>
            <p:nvPr/>
          </p:nvSpPr>
          <p:spPr bwMode="auto">
            <a:xfrm>
              <a:off x="615" y="2996"/>
              <a:ext cx="240" cy="192"/>
            </a:xfrm>
            <a:prstGeom prst="line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4445" name="Line 29"/>
            <p:cNvSpPr>
              <a:spLocks noChangeShapeType="1"/>
            </p:cNvSpPr>
            <p:nvPr/>
          </p:nvSpPr>
          <p:spPr bwMode="auto">
            <a:xfrm flipH="1">
              <a:off x="3099" y="2996"/>
              <a:ext cx="240" cy="192"/>
            </a:xfrm>
            <a:prstGeom prst="line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4446" name="Line 30"/>
            <p:cNvSpPr>
              <a:spLocks noChangeShapeType="1"/>
            </p:cNvSpPr>
            <p:nvPr/>
          </p:nvSpPr>
          <p:spPr bwMode="auto">
            <a:xfrm>
              <a:off x="1767" y="3188"/>
              <a:ext cx="144" cy="144"/>
            </a:xfrm>
            <a:prstGeom prst="line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4447" name="Line 31"/>
            <p:cNvSpPr>
              <a:spLocks noChangeShapeType="1"/>
            </p:cNvSpPr>
            <p:nvPr/>
          </p:nvSpPr>
          <p:spPr bwMode="auto">
            <a:xfrm flipH="1">
              <a:off x="1911" y="3188"/>
              <a:ext cx="144" cy="144"/>
            </a:xfrm>
            <a:prstGeom prst="line">
              <a:avLst/>
            </a:prstGeom>
            <a:noFill/>
            <a:ln w="5715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4448" name="Rectangle 32"/>
            <p:cNvSpPr>
              <a:spLocks noChangeArrowheads="1"/>
            </p:cNvSpPr>
            <p:nvPr/>
          </p:nvSpPr>
          <p:spPr bwMode="auto">
            <a:xfrm>
              <a:off x="526" y="3428"/>
              <a:ext cx="277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zh-CN" sz="2400" dirty="0">
                  <a:solidFill>
                    <a:schemeClr val="tx2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The probability for </a:t>
              </a:r>
              <a:r>
                <a: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each ball </a:t>
              </a:r>
              <a:r>
                <a:rPr lang="en-US" altLang="zh-CN" sz="2400" dirty="0">
                  <a:solidFill>
                    <a:schemeClr val="tx2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to be drawn  is 1/10.</a:t>
              </a: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A3BB0948-19C6-4B34-966C-4DBCCAF7B503}"/>
              </a:ext>
            </a:extLst>
          </p:cNvPr>
          <p:cNvSpPr txBox="1"/>
          <p:nvPr/>
        </p:nvSpPr>
        <p:spPr>
          <a:xfrm>
            <a:off x="346968" y="714931"/>
            <a:ext cx="849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600"/>
              </a:spcBef>
              <a:spcAft>
                <a:spcPts val="1800"/>
              </a:spcAft>
              <a:defRPr/>
            </a:pPr>
            <a:r>
              <a:rPr lang="en-US" altLang="zh-CN" sz="2800" b="1" kern="10" dirty="0">
                <a:ln w="0"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computation: counting method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4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4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4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44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4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4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4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44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4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44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4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8" grpId="0" animBg="1"/>
      <p:bldP spid="444419" grpId="0" animBg="1"/>
      <p:bldP spid="444420" grpId="0" animBg="1"/>
      <p:bldP spid="444421" grpId="0" animBg="1" autoUpdateAnimBg="0"/>
      <p:bldP spid="444422" grpId="0" animBg="1" autoUpdateAnimBg="0"/>
      <p:bldP spid="444423" grpId="0" animBg="1" autoUpdateAnimBg="0"/>
      <p:bldP spid="444424" grpId="0" animBg="1" autoUpdateAnimBg="0"/>
      <p:bldP spid="444425" grpId="0" animBg="1" autoUpdateAnimBg="0"/>
      <p:bldP spid="444426" grpId="0" animBg="1" autoUpdateAnimBg="0"/>
      <p:bldP spid="444427" grpId="0" animBg="1" autoUpdateAnimBg="0"/>
      <p:bldP spid="444428" grpId="0" animBg="1" autoUpdateAnimBg="0"/>
      <p:bldP spid="444429" grpId="0" animBg="1" autoUpdateAnimBg="0"/>
      <p:bldP spid="444430" grpId="0" animBg="1" autoUpdateAnimBg="0"/>
      <p:bldP spid="44443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6466" name="Text Box 2"/>
              <p:cNvSpPr txBox="1">
                <a:spLocks noChangeArrowheads="1"/>
              </p:cNvSpPr>
              <p:nvPr/>
            </p:nvSpPr>
            <p:spPr bwMode="auto">
              <a:xfrm>
                <a:off x="489493" y="842714"/>
                <a:ext cx="5825043" cy="9048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</a:pP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To take out a ball from the bag, let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sz="2400" i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denote</a:t>
                </a:r>
                <a:r>
                  <a:rPr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400" b="1" i="1" baseline="30000" dirty="0" smtClean="0">
                        <a:latin typeface="Cambria Math" panose="02040503050406030204" pitchFamily="18" charset="0"/>
                      </a:rPr>
                      <m:t>𝒕𝒉</m:t>
                    </m:r>
                  </m:oMath>
                </a14:m>
                <a:r>
                  <a:rPr lang="en-US" altLang="zh-CN" sz="2400" i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ball,</a:t>
                </a:r>
                <a:r>
                  <a:rPr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=1, 2, …, 10  </a:t>
                </a:r>
              </a:p>
            </p:txBody>
          </p:sp>
        </mc:Choice>
        <mc:Fallback xmlns="">
          <p:sp>
            <p:nvSpPr>
              <p:cNvPr id="446466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493" y="842714"/>
                <a:ext cx="5825043" cy="904863"/>
              </a:xfrm>
              <a:prstGeom prst="rect">
                <a:avLst/>
              </a:prstGeom>
              <a:blipFill>
                <a:blip r:embed="rId2"/>
                <a:stretch>
                  <a:fillRect l="-1525" t="-1370" b="-1095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6467" name="Rectangle 3"/>
          <p:cNvSpPr>
            <a:spLocks noChangeArrowheads="1"/>
          </p:cNvSpPr>
          <p:nvPr/>
        </p:nvSpPr>
        <p:spPr bwMode="auto">
          <a:xfrm>
            <a:off x="184727" y="4792313"/>
            <a:ext cx="5755699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We call this experiment </a:t>
            </a:r>
          </a:p>
          <a:p>
            <a:pPr algn="ctr">
              <a:lnSpc>
                <a:spcPct val="115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Classical</a:t>
            </a:r>
            <a:r>
              <a:rPr lang="zh-CN" altLang="en-US" sz="24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Probability Problem</a:t>
            </a:r>
            <a:r>
              <a:rPr lang="zh-CN" altLang="en-US" sz="24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古典概型</a:t>
            </a:r>
            <a:r>
              <a:rPr lang="en-US" altLang="zh-CN" sz="24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).</a:t>
            </a:r>
          </a:p>
        </p:txBody>
      </p:sp>
      <p:grpSp>
        <p:nvGrpSpPr>
          <p:cNvPr id="3076" name="Group 4"/>
          <p:cNvGrpSpPr>
            <a:grpSpLocks/>
          </p:cNvGrpSpPr>
          <p:nvPr/>
        </p:nvGrpSpPr>
        <p:grpSpPr bwMode="auto">
          <a:xfrm>
            <a:off x="6210300" y="3695700"/>
            <a:ext cx="1905000" cy="2667000"/>
            <a:chOff x="3840" y="1728"/>
            <a:chExt cx="1200" cy="1680"/>
          </a:xfrm>
        </p:grpSpPr>
        <p:sp>
          <p:nvSpPr>
            <p:cNvPr id="446469" name="Rectangle 5"/>
            <p:cNvSpPr>
              <a:spLocks noChangeArrowheads="1"/>
            </p:cNvSpPr>
            <p:nvPr/>
          </p:nvSpPr>
          <p:spPr bwMode="auto">
            <a:xfrm>
              <a:off x="3840" y="1776"/>
              <a:ext cx="1200" cy="1488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6470" name="Oval 6"/>
            <p:cNvSpPr>
              <a:spLocks noChangeArrowheads="1"/>
            </p:cNvSpPr>
            <p:nvPr/>
          </p:nvSpPr>
          <p:spPr bwMode="auto">
            <a:xfrm>
              <a:off x="3840" y="3168"/>
              <a:ext cx="1200" cy="240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6471" name="Oval 7"/>
            <p:cNvSpPr>
              <a:spLocks noChangeArrowheads="1"/>
            </p:cNvSpPr>
            <p:nvPr/>
          </p:nvSpPr>
          <p:spPr bwMode="auto">
            <a:xfrm>
              <a:off x="3840" y="1728"/>
              <a:ext cx="120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85" name="Oval 8"/>
            <p:cNvSpPr>
              <a:spLocks noChangeArrowheads="1"/>
            </p:cNvSpPr>
            <p:nvPr/>
          </p:nvSpPr>
          <p:spPr bwMode="auto">
            <a:xfrm>
              <a:off x="4416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latin typeface="Times New Roman" pitchFamily="18" charset="0"/>
                </a:rPr>
                <a:t>3</a:t>
              </a:r>
              <a:endParaRPr lang="en-US" altLang="zh-CN" sz="2400" b="0" dirty="0">
                <a:latin typeface="Times New Roman" pitchFamily="18" charset="0"/>
              </a:endParaRPr>
            </a:p>
          </p:txBody>
        </p:sp>
        <p:sp>
          <p:nvSpPr>
            <p:cNvPr id="3086" name="Oval 9"/>
            <p:cNvSpPr>
              <a:spLocks noChangeArrowheads="1"/>
            </p:cNvSpPr>
            <p:nvPr/>
          </p:nvSpPr>
          <p:spPr bwMode="auto">
            <a:xfrm>
              <a:off x="4512" y="292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latin typeface="Times New Roman" pitchFamily="18" charset="0"/>
                </a:rPr>
                <a:t>4</a:t>
              </a:r>
              <a:endParaRPr lang="en-US" altLang="zh-CN" sz="2400" b="0" dirty="0">
                <a:latin typeface="Times New Roman" pitchFamily="18" charset="0"/>
              </a:endParaRPr>
            </a:p>
          </p:txBody>
        </p:sp>
        <p:sp>
          <p:nvSpPr>
            <p:cNvPr id="3087" name="Oval 10"/>
            <p:cNvSpPr>
              <a:spLocks noChangeArrowheads="1"/>
            </p:cNvSpPr>
            <p:nvPr/>
          </p:nvSpPr>
          <p:spPr bwMode="auto">
            <a:xfrm>
              <a:off x="4080" y="3120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7</a:t>
              </a:r>
              <a:endParaRPr lang="en-US" altLang="zh-CN" sz="2400" b="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3088" name="Oval 11"/>
            <p:cNvSpPr>
              <a:spLocks noChangeArrowheads="1"/>
            </p:cNvSpPr>
            <p:nvPr/>
          </p:nvSpPr>
          <p:spPr bwMode="auto">
            <a:xfrm>
              <a:off x="4272" y="302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9</a:t>
              </a:r>
              <a:endParaRPr lang="en-US" altLang="zh-CN" sz="2400" b="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3089" name="Oval 12"/>
            <p:cNvSpPr>
              <a:spLocks noChangeArrowheads="1"/>
            </p:cNvSpPr>
            <p:nvPr/>
          </p:nvSpPr>
          <p:spPr bwMode="auto">
            <a:xfrm>
              <a:off x="4600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10</a:t>
              </a:r>
              <a:endParaRPr lang="en-US" altLang="zh-CN" sz="2400" b="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3090" name="Oval 13"/>
            <p:cNvSpPr>
              <a:spLocks noChangeArrowheads="1"/>
            </p:cNvSpPr>
            <p:nvPr/>
          </p:nvSpPr>
          <p:spPr bwMode="auto">
            <a:xfrm>
              <a:off x="4320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</a:rPr>
                <a:t>8</a:t>
              </a:r>
              <a:endParaRPr lang="en-US" altLang="zh-CN" sz="2400" b="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</a:endParaRPr>
            </a:p>
          </p:txBody>
        </p:sp>
        <p:sp>
          <p:nvSpPr>
            <p:cNvPr id="3091" name="Oval 14"/>
            <p:cNvSpPr>
              <a:spLocks noChangeArrowheads="1"/>
            </p:cNvSpPr>
            <p:nvPr/>
          </p:nvSpPr>
          <p:spPr bwMode="auto">
            <a:xfrm>
              <a:off x="4704" y="2880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latin typeface="Times New Roman" pitchFamily="18" charset="0"/>
                </a:rPr>
                <a:t>6</a:t>
              </a:r>
              <a:endParaRPr lang="en-US" altLang="zh-CN" sz="2400" b="0" dirty="0">
                <a:latin typeface="Times New Roman" pitchFamily="18" charset="0"/>
              </a:endParaRPr>
            </a:p>
          </p:txBody>
        </p:sp>
        <p:sp>
          <p:nvSpPr>
            <p:cNvPr id="3092" name="Oval 15"/>
            <p:cNvSpPr>
              <a:spLocks noChangeArrowheads="1"/>
            </p:cNvSpPr>
            <p:nvPr/>
          </p:nvSpPr>
          <p:spPr bwMode="auto">
            <a:xfrm>
              <a:off x="4128" y="292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latin typeface="Times New Roman" pitchFamily="18" charset="0"/>
                </a:rPr>
                <a:t>1</a:t>
              </a:r>
              <a:endParaRPr lang="en-US" altLang="zh-CN" sz="2400" b="0" dirty="0">
                <a:latin typeface="Times New Roman" pitchFamily="18" charset="0"/>
              </a:endParaRPr>
            </a:p>
          </p:txBody>
        </p:sp>
        <p:sp>
          <p:nvSpPr>
            <p:cNvPr id="3093" name="Oval 16"/>
            <p:cNvSpPr>
              <a:spLocks noChangeArrowheads="1"/>
            </p:cNvSpPr>
            <p:nvPr/>
          </p:nvSpPr>
          <p:spPr bwMode="auto">
            <a:xfrm>
              <a:off x="4512" y="2736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400" b="0" dirty="0">
                  <a:latin typeface="Times New Roman" pitchFamily="18" charset="0"/>
                </a:rPr>
                <a:t>5</a:t>
              </a:r>
            </a:p>
          </p:txBody>
        </p:sp>
      </p:grpSp>
      <p:sp>
        <p:nvSpPr>
          <p:cNvPr id="446481" name="Oval 17"/>
          <p:cNvSpPr>
            <a:spLocks noChangeArrowheads="1"/>
          </p:cNvSpPr>
          <p:nvPr/>
        </p:nvSpPr>
        <p:spPr bwMode="auto">
          <a:xfrm>
            <a:off x="7067909" y="1900238"/>
            <a:ext cx="304800" cy="304800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imes New Roman" pitchFamily="18" charset="0"/>
              </a:rPr>
              <a:t>2</a:t>
            </a:r>
            <a:endParaRPr lang="en-US" altLang="zh-CN" sz="2400" b="0" dirty="0">
              <a:latin typeface="Times New Roman" pitchFamily="18" charset="0"/>
            </a:endParaRPr>
          </a:p>
        </p:txBody>
      </p:sp>
      <p:sp>
        <p:nvSpPr>
          <p:cNvPr id="446482" name="Rectangle 18"/>
          <p:cNvSpPr>
            <a:spLocks noChangeArrowheads="1"/>
          </p:cNvSpPr>
          <p:nvPr/>
        </p:nvSpPr>
        <p:spPr bwMode="auto">
          <a:xfrm>
            <a:off x="611188" y="3632200"/>
            <a:ext cx="4287837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itchFamily="18" charset="0"/>
              </a:rPr>
              <a:t>and each element appears with the </a:t>
            </a:r>
            <a:r>
              <a:rPr lang="en-US" altLang="zh-CN" sz="2400" dirty="0">
                <a:solidFill>
                  <a:srgbClr val="C00000"/>
                </a:solidFill>
                <a:latin typeface="Times New Roman" pitchFamily="18" charset="0"/>
              </a:rPr>
              <a:t>same</a:t>
            </a:r>
            <a:r>
              <a:rPr lang="en-US" altLang="zh-CN" sz="2400" dirty="0">
                <a:latin typeface="Times New Roman" pitchFamily="18" charset="0"/>
              </a:rPr>
              <a:t> probability.</a:t>
            </a:r>
          </a:p>
        </p:txBody>
      </p:sp>
      <p:sp>
        <p:nvSpPr>
          <p:cNvPr id="446483" name="Rectangle 19"/>
          <p:cNvSpPr>
            <a:spLocks noChangeArrowheads="1"/>
          </p:cNvSpPr>
          <p:nvPr/>
        </p:nvSpPr>
        <p:spPr bwMode="auto">
          <a:xfrm>
            <a:off x="1600769" y="2933700"/>
            <a:ext cx="2311851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l-GR" altLang="zh-CN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zh-CN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={1, 2, …, 10} </a:t>
            </a:r>
          </a:p>
        </p:txBody>
      </p:sp>
      <p:sp>
        <p:nvSpPr>
          <p:cNvPr id="446484" name="Rectangle 20"/>
          <p:cNvSpPr>
            <a:spLocks noChangeArrowheads="1"/>
          </p:cNvSpPr>
          <p:nvPr/>
        </p:nvSpPr>
        <p:spPr bwMode="auto">
          <a:xfrm>
            <a:off x="489493" y="2347725"/>
            <a:ext cx="58865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 eaLnBrk="1" hangingPunct="1"/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</a:rPr>
              <a:t>Then the sample space of this experiment is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6485" name="Rectangle 21"/>
              <p:cNvSpPr>
                <a:spLocks noChangeArrowheads="1"/>
              </p:cNvSpPr>
              <p:nvPr/>
            </p:nvSpPr>
            <p:spPr bwMode="auto">
              <a:xfrm>
                <a:off x="6502469" y="1184781"/>
                <a:ext cx="168584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 eaLnBrk="1" hangingPunct="1"/>
                <a:r>
                  <a:rPr lang="en-US" altLang="zh-CN" i="1" dirty="0">
                    <a:solidFill>
                      <a:schemeClr val="accent5">
                        <a:lumMod val="75000"/>
                      </a:schemeClr>
                    </a:solidFill>
                    <a:latin typeface="Times New Roman" pitchFamily="18" charset="0"/>
                  </a:rPr>
                  <a:t>e.g.</a:t>
                </a:r>
                <a:r>
                  <a:rPr lang="zh-CN" altLang="en-US" i="1" dirty="0">
                    <a:solidFill>
                      <a:schemeClr val="accent5">
                        <a:lumMod val="75000"/>
                      </a:schemeClr>
                    </a:solidFill>
                    <a:latin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zh-CN" b="1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altLang="zh-CN" dirty="0">
                  <a:solidFill>
                    <a:schemeClr val="accent5">
                      <a:lumMod val="75000"/>
                    </a:schemeClr>
                  </a:solidFill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446485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02469" y="1184781"/>
                <a:ext cx="1685846" cy="523220"/>
              </a:xfrm>
              <a:prstGeom prst="rect">
                <a:avLst/>
              </a:prstGeom>
              <a:blipFill>
                <a:blip r:embed="rId3"/>
                <a:stretch>
                  <a:fillRect l="-7609" t="-11628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6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6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4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46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44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6" grpId="0" animBg="1" autoUpdateAnimBg="0"/>
      <p:bldP spid="446467" grpId="0" autoUpdateAnimBg="0"/>
      <p:bldP spid="446481" grpId="0" animBg="1" autoUpdateAnimBg="0"/>
      <p:bldP spid="446482" grpId="0" autoUpdateAnimBg="0"/>
      <p:bldP spid="446483" grpId="0"/>
      <p:bldP spid="446484" grpId="0" autoUpdateAnimBg="0"/>
      <p:bldP spid="4464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53" name="WordArt 77"/>
          <p:cNvSpPr>
            <a:spLocks noChangeArrowheads="1" noChangeShapeType="1" noTextEdit="1"/>
          </p:cNvSpPr>
          <p:nvPr/>
        </p:nvSpPr>
        <p:spPr bwMode="auto">
          <a:xfrm>
            <a:off x="467624" y="1785695"/>
            <a:ext cx="325437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i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①</a:t>
            </a:r>
          </a:p>
        </p:txBody>
      </p:sp>
      <p:sp>
        <p:nvSpPr>
          <p:cNvPr id="331854" name="WordArt 78"/>
          <p:cNvSpPr>
            <a:spLocks noChangeArrowheads="1" noChangeShapeType="1" noTextEdit="1"/>
          </p:cNvSpPr>
          <p:nvPr/>
        </p:nvSpPr>
        <p:spPr bwMode="auto">
          <a:xfrm>
            <a:off x="469211" y="2574682"/>
            <a:ext cx="325438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i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②</a:t>
            </a:r>
          </a:p>
        </p:txBody>
      </p:sp>
      <p:sp>
        <p:nvSpPr>
          <p:cNvPr id="331857" name="Rectangle 81"/>
          <p:cNvSpPr>
            <a:spLocks noChangeArrowheads="1"/>
          </p:cNvSpPr>
          <p:nvPr/>
        </p:nvSpPr>
        <p:spPr bwMode="auto">
          <a:xfrm>
            <a:off x="905531" y="2525237"/>
            <a:ext cx="823847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 fundamental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outcomes are equally likely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（等可能）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to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happen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1836" name="Rectangle 60"/>
          <p:cNvSpPr>
            <a:spLocks noChangeArrowheads="1"/>
          </p:cNvSpPr>
          <p:nvPr/>
        </p:nvSpPr>
        <p:spPr bwMode="auto">
          <a:xfrm>
            <a:off x="354646" y="3724570"/>
            <a:ext cx="76712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This is called a </a:t>
            </a:r>
            <a:r>
              <a:rPr lang="en-US" altLang="zh-CN" sz="24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Classical Probability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problem(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古典概型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).</a:t>
            </a:r>
            <a:endParaRPr lang="zh-CN" altLang="en-US" sz="2400" b="1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1848" name="Rectangle 72"/>
              <p:cNvSpPr>
                <a:spLocks noChangeArrowheads="1"/>
              </p:cNvSpPr>
              <p:nvPr/>
            </p:nvSpPr>
            <p:spPr bwMode="auto">
              <a:xfrm>
                <a:off x="287972" y="1187204"/>
                <a:ext cx="862021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lang="en-US" altLang="zh-CN" sz="2400" dirty="0">
                    <a:solidFill>
                      <a:schemeClr val="tx2">
                        <a:lumMod val="75000"/>
                      </a:schemeClr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sz="2400" dirty="0">
                    <a:solidFill>
                      <a:schemeClr val="tx2">
                        <a:lumMod val="75000"/>
                      </a:schemeClr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be the sample space of an</a:t>
                </a:r>
                <a:r>
                  <a:rPr lang="zh-CN" altLang="en-US" sz="2400" dirty="0">
                    <a:solidFill>
                      <a:schemeClr val="tx2">
                        <a:lumMod val="75000"/>
                      </a:schemeClr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solidFill>
                      <a:schemeClr val="tx2">
                        <a:lumMod val="75000"/>
                      </a:schemeClr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experiment, if</a:t>
                </a:r>
                <a:endParaRPr lang="zh-CN" altLang="en-US" sz="2400" dirty="0">
                  <a:solidFill>
                    <a:schemeClr val="tx2">
                      <a:lumMod val="75000"/>
                    </a:schemeClr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31848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972" y="1187204"/>
                <a:ext cx="8620218" cy="461665"/>
              </a:xfrm>
              <a:prstGeom prst="rect">
                <a:avLst/>
              </a:prstGeom>
              <a:blipFill>
                <a:blip r:embed="rId2"/>
                <a:stretch>
                  <a:fillRect l="-1061" t="-10667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1888" name="WordArt 112"/>
          <p:cNvSpPr>
            <a:spLocks noChangeArrowheads="1" noChangeShapeType="1" noTextEdit="1"/>
          </p:cNvSpPr>
          <p:nvPr/>
        </p:nvSpPr>
        <p:spPr bwMode="auto">
          <a:xfrm>
            <a:off x="6469600" y="3236253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1855" name="Rectangle 79"/>
              <p:cNvSpPr>
                <a:spLocks noChangeArrowheads="1"/>
              </p:cNvSpPr>
              <p:nvPr/>
            </p:nvSpPr>
            <p:spPr bwMode="auto">
              <a:xfrm>
                <a:off x="915299" y="1715555"/>
                <a:ext cx="649539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contains finite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number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of fundamental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outcomes:</a:t>
                </a:r>
                <a:endParaRPr lang="zh-CN" altLang="en-US" sz="220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31855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5299" y="1715555"/>
                <a:ext cx="6495397" cy="430887"/>
              </a:xfrm>
              <a:prstGeom prst="rect">
                <a:avLst/>
              </a:prstGeom>
              <a:blipFill>
                <a:blip r:embed="rId3"/>
                <a:stretch>
                  <a:fillRect l="-94" t="-7042" b="-295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1894" name="Group 118"/>
          <p:cNvGrpSpPr>
            <a:grpSpLocks/>
          </p:cNvGrpSpPr>
          <p:nvPr/>
        </p:nvGrpSpPr>
        <p:grpSpPr bwMode="auto">
          <a:xfrm>
            <a:off x="354647" y="5766410"/>
            <a:ext cx="773112" cy="536575"/>
            <a:chOff x="391" y="2327"/>
            <a:chExt cx="487" cy="338"/>
          </a:xfrm>
        </p:grpSpPr>
        <p:pic>
          <p:nvPicPr>
            <p:cNvPr id="4120" name="Picture 119" descr="k021"/>
            <p:cNvPicPr>
              <a:picLocks noChangeAspect="1" noChangeArrowheads="1" noCrop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" y="2327"/>
              <a:ext cx="33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21" name="WordArt 120"/>
            <p:cNvSpPr>
              <a:spLocks noChangeArrowheads="1" noChangeShapeType="1" noTextEdit="1"/>
            </p:cNvSpPr>
            <p:nvPr/>
          </p:nvSpPr>
          <p:spPr bwMode="auto">
            <a:xfrm>
              <a:off x="624" y="2398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/>
                  <a:ea typeface="华文新魏"/>
                </a:rPr>
                <a:t>?</a:t>
              </a:r>
              <a:endParaRPr lang="zh-CN" altLang="en-US" sz="3600" kern="10" dirty="0">
                <a:ln w="12700">
                  <a:solidFill>
                    <a:schemeClr val="tx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/>
                <a:ea typeface="华文新魏"/>
              </a:endParaRPr>
            </a:p>
          </p:txBody>
        </p:sp>
      </p:grpSp>
      <p:grpSp>
        <p:nvGrpSpPr>
          <p:cNvPr id="331899" name="Group 123"/>
          <p:cNvGrpSpPr>
            <a:grpSpLocks/>
          </p:cNvGrpSpPr>
          <p:nvPr/>
        </p:nvGrpSpPr>
        <p:grpSpPr bwMode="auto">
          <a:xfrm>
            <a:off x="1884441" y="704093"/>
            <a:ext cx="5443225" cy="410579"/>
            <a:chOff x="1374" y="352"/>
            <a:chExt cx="2557" cy="226"/>
          </a:xfrm>
        </p:grpSpPr>
        <p:sp>
          <p:nvSpPr>
            <p:cNvPr id="331900" name="Line 124"/>
            <p:cNvSpPr>
              <a:spLocks noChangeShapeType="1"/>
            </p:cNvSpPr>
            <p:nvPr/>
          </p:nvSpPr>
          <p:spPr bwMode="auto">
            <a:xfrm flipV="1">
              <a:off x="1374" y="574"/>
              <a:ext cx="2557" cy="4"/>
            </a:xfrm>
            <a:prstGeom prst="line">
              <a:avLst/>
            </a:prstGeom>
            <a:noFill/>
            <a:ln w="57150" cmpd="thinThick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19" name="WordArt 125"/>
            <p:cNvSpPr>
              <a:spLocks noChangeArrowheads="1" noChangeShapeType="1" noTextEdit="1"/>
            </p:cNvSpPr>
            <p:nvPr/>
          </p:nvSpPr>
          <p:spPr bwMode="auto">
            <a:xfrm>
              <a:off x="1463" y="352"/>
              <a:ext cx="2373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accent2">
                      <a:lumMod val="75000"/>
                    </a:schemeClr>
                  </a:soli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方正舒体"/>
                  <a:ea typeface="方正舒体"/>
                </a:rPr>
                <a:t>Definition of Classical probability problems</a:t>
              </a:r>
              <a:endParaRPr lang="zh-CN" altLang="en-US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accent2">
                    <a:lumMod val="75000"/>
                  </a:schemeClr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D4EE97A-7A89-4770-B01C-D2CC2763AB8E}"/>
                  </a:ext>
                </a:extLst>
              </p:cNvPr>
              <p:cNvSpPr txBox="1"/>
              <p:nvPr/>
            </p:nvSpPr>
            <p:spPr>
              <a:xfrm>
                <a:off x="2623207" y="2106126"/>
                <a:ext cx="26513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D4EE97A-7A89-4770-B01C-D2CC2763A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207" y="2106126"/>
                <a:ext cx="2651367" cy="369332"/>
              </a:xfrm>
              <a:prstGeom prst="rect">
                <a:avLst/>
              </a:prstGeom>
              <a:blipFill>
                <a:blip r:embed="rId5"/>
                <a:stretch>
                  <a:fillRect l="-1839" r="-3448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7FF13D-05EB-452E-B7E3-DE3F5F0AB1F5}"/>
                  </a:ext>
                </a:extLst>
              </p:cNvPr>
              <p:cNvSpPr txBox="1"/>
              <p:nvPr/>
            </p:nvSpPr>
            <p:spPr>
              <a:xfrm>
                <a:off x="2481551" y="3196659"/>
                <a:ext cx="39212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7FF13D-05EB-452E-B7E3-DE3F5F0AB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551" y="3196659"/>
                <a:ext cx="3921202" cy="369332"/>
              </a:xfrm>
              <a:prstGeom prst="rect">
                <a:avLst/>
              </a:prstGeom>
              <a:blipFill>
                <a:blip r:embed="rId6"/>
                <a:stretch>
                  <a:fillRect l="-1089" r="-156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CB0909D-3D5E-4900-9D12-50C76129AF67}"/>
                  </a:ext>
                </a:extLst>
              </p:cNvPr>
              <p:cNvSpPr txBox="1"/>
              <p:nvPr/>
            </p:nvSpPr>
            <p:spPr>
              <a:xfrm>
                <a:off x="6639709" y="2997503"/>
                <a:ext cx="266548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CB0909D-3D5E-4900-9D12-50C76129A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709" y="2997503"/>
                <a:ext cx="266548" cy="6939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B0099B0C-D877-47D9-994C-D12BFEA56C6D}"/>
              </a:ext>
            </a:extLst>
          </p:cNvPr>
          <p:cNvSpPr txBox="1"/>
          <p:nvPr/>
        </p:nvSpPr>
        <p:spPr>
          <a:xfrm>
            <a:off x="1299918" y="5972926"/>
            <a:ext cx="6330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How to compute the probability for an event?</a:t>
            </a:r>
            <a:endParaRPr lang="zh-CN" altLang="en-US" sz="2400" dirty="0">
              <a:solidFill>
                <a:schemeClr val="accent4">
                  <a:lumMod val="50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" name="Rectangle 59">
            <a:extLst>
              <a:ext uri="{FF2B5EF4-FFF2-40B4-BE49-F238E27FC236}">
                <a16:creationId xmlns:a16="http://schemas.microsoft.com/office/drawing/2014/main" id="{9D44F35B-FB42-4F61-83F3-CCC30DB78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71" y="4496033"/>
            <a:ext cx="89323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Coin tossing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and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dice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rolling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are Classical probability problems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" name="Rectangle 67">
            <a:extLst>
              <a:ext uri="{FF2B5EF4-FFF2-40B4-BE49-F238E27FC236}">
                <a16:creationId xmlns:a16="http://schemas.microsoft.com/office/drawing/2014/main" id="{5F4673D1-0709-4741-8BB3-DE7E7FDAF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002" y="5371076"/>
            <a:ext cx="70423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probabilities of all fundamental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outcomes are equal.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6" name="Picture 68" descr="f125">
            <a:extLst>
              <a:ext uri="{FF2B5EF4-FFF2-40B4-BE49-F238E27FC236}">
                <a16:creationId xmlns:a16="http://schemas.microsoft.com/office/drawing/2014/main" id="{0E0E69F7-1CAB-41AC-B2F0-F1D9558B9B7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02" y="4997384"/>
            <a:ext cx="3175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69" descr="f126">
            <a:extLst>
              <a:ext uri="{FF2B5EF4-FFF2-40B4-BE49-F238E27FC236}">
                <a16:creationId xmlns:a16="http://schemas.microsoft.com/office/drawing/2014/main" id="{78F01133-5945-4030-A23A-6E7DCCB76C7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02" y="5395847"/>
            <a:ext cx="3175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ectangle 70">
            <a:extLst>
              <a:ext uri="{FF2B5EF4-FFF2-40B4-BE49-F238E27FC236}">
                <a16:creationId xmlns:a16="http://schemas.microsoft.com/office/drawing/2014/main" id="{7D68E6A3-19EC-418B-A3F3-AB18580DE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982" y="4954520"/>
            <a:ext cx="716020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There are finite possible fundamental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outcomes.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1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1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1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1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1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1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3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1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1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318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3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31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31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3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853" grpId="0" animBg="1"/>
      <p:bldP spid="331854" grpId="0" animBg="1"/>
      <p:bldP spid="331857" grpId="0"/>
      <p:bldP spid="331836" grpId="0"/>
      <p:bldP spid="331848" grpId="0"/>
      <p:bldP spid="331888" grpId="0" animBg="1"/>
      <p:bldP spid="331888" grpId="1" animBg="1"/>
      <p:bldP spid="331855" grpId="0"/>
      <p:bldP spid="2" grpId="0"/>
      <p:bldP spid="3" grpId="0"/>
      <p:bldP spid="4" grpId="0"/>
      <p:bldP spid="6" grpId="0"/>
      <p:bldP spid="24" grpId="0"/>
      <p:bldP spid="25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5" name="Rectangle 35"/>
          <p:cNvSpPr>
            <a:spLocks noChangeArrowheads="1"/>
          </p:cNvSpPr>
          <p:nvPr/>
        </p:nvSpPr>
        <p:spPr bwMode="auto">
          <a:xfrm>
            <a:off x="570460" y="1280544"/>
            <a:ext cx="837960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Suppose Event A contains k sample points (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样本点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),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that is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4EE14DA-8DBE-491E-B158-621C14748B83}"/>
                  </a:ext>
                </a:extLst>
              </p:cNvPr>
              <p:cNvSpPr txBox="1"/>
              <p:nvPr/>
            </p:nvSpPr>
            <p:spPr>
              <a:xfrm>
                <a:off x="2631459" y="1728456"/>
                <a:ext cx="2700355" cy="3733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4EE14DA-8DBE-491E-B158-621C14748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459" y="1728456"/>
                <a:ext cx="2700355" cy="373307"/>
              </a:xfrm>
              <a:prstGeom prst="rect">
                <a:avLst/>
              </a:prstGeom>
              <a:blipFill>
                <a:blip r:embed="rId2"/>
                <a:stretch>
                  <a:fillRect l="-1402" r="-2804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6F120A6-CE1A-419B-AC77-6614146F878B}"/>
                  </a:ext>
                </a:extLst>
              </p:cNvPr>
              <p:cNvSpPr txBox="1"/>
              <p:nvPr/>
            </p:nvSpPr>
            <p:spPr>
              <a:xfrm>
                <a:off x="2906231" y="2190419"/>
                <a:ext cx="3021660" cy="39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altLang="zh-CN" sz="22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altLang="zh-CN" sz="2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…⋃{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6F120A6-CE1A-419B-AC77-6614146F8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231" y="2190419"/>
                <a:ext cx="3021660" cy="393185"/>
              </a:xfrm>
              <a:prstGeom prst="rect">
                <a:avLst/>
              </a:prstGeom>
              <a:blipFill>
                <a:blip r:embed="rId3"/>
                <a:stretch>
                  <a:fillRect r="-251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39FA111-8A5D-4458-B53A-ACFF06B7B7D9}"/>
                  </a:ext>
                </a:extLst>
              </p:cNvPr>
              <p:cNvSpPr txBox="1"/>
              <p:nvPr/>
            </p:nvSpPr>
            <p:spPr>
              <a:xfrm>
                <a:off x="1910885" y="2743531"/>
                <a:ext cx="4998035" cy="396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39FA111-8A5D-4458-B53A-ACFF06B7B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885" y="2743531"/>
                <a:ext cx="4998035" cy="396775"/>
              </a:xfrm>
              <a:prstGeom prst="rect">
                <a:avLst/>
              </a:prstGeom>
              <a:blipFill>
                <a:blip r:embed="rId4"/>
                <a:stretch>
                  <a:fillRect r="-126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E9DBF9A-0178-444F-ACCE-8C8AA2E314DB}"/>
                  </a:ext>
                </a:extLst>
              </p:cNvPr>
              <p:cNvSpPr txBox="1"/>
              <p:nvPr/>
            </p:nvSpPr>
            <p:spPr>
              <a:xfrm>
                <a:off x="2945945" y="3176406"/>
                <a:ext cx="2327432" cy="636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+…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E9DBF9A-0178-444F-ACCE-8C8AA2E31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45" y="3176406"/>
                <a:ext cx="2327432" cy="636072"/>
              </a:xfrm>
              <a:prstGeom prst="rect">
                <a:avLst/>
              </a:prstGeom>
              <a:blipFill>
                <a:blip r:embed="rId5"/>
                <a:stretch>
                  <a:fillRect l="-543" r="-1630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0B55B1A-4BA9-44BF-876B-5AD00219E7B6}"/>
                  </a:ext>
                </a:extLst>
              </p:cNvPr>
              <p:cNvSpPr txBox="1"/>
              <p:nvPr/>
            </p:nvSpPr>
            <p:spPr>
              <a:xfrm>
                <a:off x="2945945" y="3952548"/>
                <a:ext cx="532005" cy="6428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0B55B1A-4BA9-44BF-876B-5AD00219E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45" y="3952548"/>
                <a:ext cx="532005" cy="642805"/>
              </a:xfrm>
              <a:prstGeom prst="rect">
                <a:avLst/>
              </a:prstGeom>
              <a:blipFill>
                <a:blip r:embed="rId6"/>
                <a:stretch>
                  <a:fillRect l="-2326" t="-1923" r="-6977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2B36AA7-9A51-4800-B314-D59EFA732745}"/>
                  </a:ext>
                </a:extLst>
              </p:cNvPr>
              <p:cNvSpPr txBox="1"/>
              <p:nvPr/>
            </p:nvSpPr>
            <p:spPr>
              <a:xfrm>
                <a:off x="94129" y="4812080"/>
                <a:ext cx="8955742" cy="66172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ways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that</m:t>
                          </m:r>
                          <m:r>
                            <a:rPr lang="zh-CN" alt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can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occur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zh-CN" altLang="en-US" sz="2000" dirty="0" smtClean="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导致</m:t>
                          </m:r>
                          <m:r>
                            <m:rPr>
                              <m:nor/>
                            </m:rPr>
                            <a:rPr lang="en-US" altLang="zh-CN" sz="2000" b="0" i="0" dirty="0" smtClean="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zh-CN" altLang="en-US" sz="2000" dirty="0" smtClean="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发生的方式个数</m:t>
                          </m:r>
                          <m:r>
                            <a:rPr lang="en-US" altLang="zh-CN" sz="2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fundamental</m:t>
                          </m:r>
                          <m:r>
                            <a:rPr lang="zh-CN" alt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outcomes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所有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基本</m:t>
                          </m:r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结果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个数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2B36AA7-9A51-4800-B314-D59EFA732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9" y="4812080"/>
                <a:ext cx="8955742" cy="6617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AAD3112-F292-41DF-BCA8-A1C8B160C153}"/>
                  </a:ext>
                </a:extLst>
              </p:cNvPr>
              <p:cNvSpPr txBox="1"/>
              <p:nvPr/>
            </p:nvSpPr>
            <p:spPr>
              <a:xfrm>
                <a:off x="105716" y="5759588"/>
                <a:ext cx="8138159" cy="66223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CN" sz="2000" b="0" i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zh-CN" sz="2000" b="0" i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i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benefit</m:t>
                          </m:r>
                          <m:r>
                            <a:rPr lang="en-US" altLang="zh-CN" sz="2000" b="0" i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event</m:t>
                          </m:r>
                          <m:r>
                            <a:rPr lang="en-US" altLang="zh-CN" sz="2000" b="0" i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  <m:r>
                            <a:rPr lang="en-US" altLang="zh-CN" sz="20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有</m:t>
                          </m:r>
                          <m:r>
                            <a:rPr lang="zh-CN" altLang="en-US" sz="20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利</m:t>
                          </m:r>
                          <m:r>
                            <a:rPr lang="zh-CN" altLang="en-US" sz="200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场合</m:t>
                          </m:r>
                          <m:r>
                            <a:rPr lang="zh-CN" altLang="en-US" sz="20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数</m:t>
                          </m:r>
                          <m:r>
                            <a:rPr lang="en-US" altLang="zh-CN" sz="20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 i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altLang="zh-CN" sz="2000" i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i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CN" sz="2000" i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i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zh-CN" sz="2000" i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i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sample</m:t>
                          </m:r>
                          <m:r>
                            <a:rPr lang="en-US" altLang="zh-CN" sz="2000" i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000" i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points</m:t>
                          </m:r>
                          <m:r>
                            <a:rPr lang="zh-CN" altLang="en-US" sz="2000" b="0" i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样本点总数</m:t>
                          </m:r>
                          <m:r>
                            <a:rPr lang="en-US" altLang="zh-CN" sz="20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AAD3112-F292-41DF-BCA8-A1C8B160C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16" y="5759588"/>
                <a:ext cx="8138159" cy="6622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23">
            <a:extLst>
              <a:ext uri="{FF2B5EF4-FFF2-40B4-BE49-F238E27FC236}">
                <a16:creationId xmlns:a16="http://schemas.microsoft.com/office/drawing/2014/main" id="{9DD98A10-A060-644E-A2BA-00487DF60295}"/>
              </a:ext>
            </a:extLst>
          </p:cNvPr>
          <p:cNvGrpSpPr>
            <a:grpSpLocks/>
          </p:cNvGrpSpPr>
          <p:nvPr/>
        </p:nvGrpSpPr>
        <p:grpSpPr bwMode="auto">
          <a:xfrm>
            <a:off x="1884441" y="704093"/>
            <a:ext cx="5443225" cy="410579"/>
            <a:chOff x="1374" y="352"/>
            <a:chExt cx="2557" cy="226"/>
          </a:xfrm>
        </p:grpSpPr>
        <p:sp>
          <p:nvSpPr>
            <p:cNvPr id="12" name="Line 124">
              <a:extLst>
                <a:ext uri="{FF2B5EF4-FFF2-40B4-BE49-F238E27FC236}">
                  <a16:creationId xmlns:a16="http://schemas.microsoft.com/office/drawing/2014/main" id="{179A0510-F930-A74F-A8AC-061B510017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4" y="574"/>
              <a:ext cx="2557" cy="4"/>
            </a:xfrm>
            <a:prstGeom prst="line">
              <a:avLst/>
            </a:prstGeom>
            <a:noFill/>
            <a:ln w="57150" cmpd="thinThick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WordArt 125">
              <a:extLst>
                <a:ext uri="{FF2B5EF4-FFF2-40B4-BE49-F238E27FC236}">
                  <a16:creationId xmlns:a16="http://schemas.microsoft.com/office/drawing/2014/main" id="{951B5867-6C3C-A443-B3A2-F3B23D5BED3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63" y="352"/>
              <a:ext cx="2381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accent2">
                      <a:lumMod val="75000"/>
                    </a:schemeClr>
                  </a:soli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方正舒体"/>
                  <a:ea typeface="方正舒体"/>
                </a:rPr>
                <a:t>Computing</a:t>
              </a:r>
              <a:r>
                <a:rPr lang="zh-CN" altLang="en-US" sz="3600" kern="10" dirty="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accent2">
                      <a:lumMod val="75000"/>
                    </a:schemeClr>
                  </a:soli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方正舒体"/>
                  <a:ea typeface="方正舒体"/>
                </a:rPr>
                <a:t> </a:t>
              </a:r>
              <a:r>
                <a:rPr lang="en-US" altLang="zh-CN" sz="3600" kern="10" dirty="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accent2">
                      <a:lumMod val="75000"/>
                    </a:schemeClr>
                  </a:soli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方正舒体"/>
                  <a:ea typeface="方正舒体"/>
                </a:rPr>
                <a:t>Classical probability</a:t>
              </a:r>
              <a:endParaRPr lang="zh-CN" altLang="en-US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accent2">
                    <a:lumMod val="75000"/>
                  </a:schemeClr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D273D121-31A3-4E58-87DA-9D0CF5398E86}"/>
              </a:ext>
            </a:extLst>
          </p:cNvPr>
          <p:cNvSpPr txBox="1"/>
          <p:nvPr/>
        </p:nvSpPr>
        <p:spPr>
          <a:xfrm>
            <a:off x="6188426" y="1699015"/>
            <a:ext cx="1651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CN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: 1, 2, …, </a:t>
            </a:r>
            <a:r>
              <a:rPr lang="en-US" altLang="zh-CN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zh-CN" altLang="en-US" sz="2000" dirty="0">
              <a:latin typeface="Cambria Math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5" grpId="0"/>
      <p:bldP spid="2" grpId="0"/>
      <p:bldP spid="3" grpId="0"/>
      <p:bldP spid="4" grpId="0"/>
      <p:bldP spid="5" grpId="0"/>
      <p:bldP spid="6" grpId="0"/>
      <p:bldP spid="7" grpId="0" animBg="1"/>
      <p:bldP spid="14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2C44738-FD02-426E-94B6-138D800B90D6}"/>
              </a:ext>
            </a:extLst>
          </p:cNvPr>
          <p:cNvSpPr txBox="1"/>
          <p:nvPr/>
        </p:nvSpPr>
        <p:spPr>
          <a:xfrm>
            <a:off x="1128931" y="2069247"/>
            <a:ext cx="5605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sample space of the experiment is </a:t>
            </a:r>
          </a:p>
        </p:txBody>
      </p:sp>
      <p:sp>
        <p:nvSpPr>
          <p:cNvPr id="333989" name="Rectangle 165"/>
          <p:cNvSpPr>
            <a:spLocks noChangeArrowheads="1"/>
          </p:cNvSpPr>
          <p:nvPr/>
        </p:nvSpPr>
        <p:spPr bwMode="auto">
          <a:xfrm>
            <a:off x="1321554" y="729887"/>
            <a:ext cx="69339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Suppose that a fair coin is thrown twice, find the probability of 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one </a:t>
            </a:r>
            <a:r>
              <a:rPr lang="en-US" altLang="zh-CN" sz="2400" smtClean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Head 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and 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one </a:t>
            </a:r>
            <a:r>
              <a:rPr lang="en-US" altLang="zh-CN" sz="2400" smtClean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Tail.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3999" name="Rectangle 175"/>
          <p:cNvSpPr>
            <a:spLocks noChangeArrowheads="1"/>
          </p:cNvSpPr>
          <p:nvPr/>
        </p:nvSpPr>
        <p:spPr bwMode="auto">
          <a:xfrm>
            <a:off x="1406892" y="6038030"/>
            <a:ext cx="23796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He obtained</a:t>
            </a:r>
            <a:endParaRPr lang="zh-CN" altLang="en-US" sz="24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4004" name="WordArt 180"/>
          <p:cNvSpPr>
            <a:spLocks noChangeArrowheads="1" noChangeShapeType="1" noTextEdit="1"/>
          </p:cNvSpPr>
          <p:nvPr/>
        </p:nvSpPr>
        <p:spPr bwMode="auto">
          <a:xfrm>
            <a:off x="141033" y="2111229"/>
            <a:ext cx="972607" cy="27265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b="1" kern="10" dirty="0">
                <a:ln w="12700">
                  <a:solidFill>
                    <a:schemeClr val="folHlink"/>
                  </a:solidFill>
                  <a:round/>
                  <a:headEnd/>
                  <a:tailEnd/>
                </a:ln>
                <a:solidFill>
                  <a:schemeClr val="accent2">
                    <a:lumMod val="75000"/>
                  </a:schemeClr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Solution</a:t>
            </a:r>
            <a:r>
              <a:rPr lang="en-US" altLang="zh-CN" sz="3600" b="1" kern="10" dirty="0">
                <a:ln w="12700">
                  <a:solidFill>
                    <a:schemeClr val="folHlink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chemeClr val="bg1"/>
                    </a:gs>
                    <a:gs pos="50000">
                      <a:srgbClr val="CCFF99"/>
                    </a:gs>
                    <a:gs pos="100000">
                      <a:schemeClr val="bg1"/>
                    </a:gs>
                  </a:gsLst>
                  <a:lin ang="270000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endParaRPr lang="zh-CN" altLang="en-US" sz="3600" b="1" kern="10" dirty="0">
              <a:ln w="12700">
                <a:solidFill>
                  <a:schemeClr val="folHlink"/>
                </a:solidFill>
                <a:round/>
                <a:headEnd/>
                <a:tailEnd/>
              </a:ln>
              <a:gradFill rotWithShape="0">
                <a:gsLst>
                  <a:gs pos="0">
                    <a:schemeClr val="bg1"/>
                  </a:gs>
                  <a:gs pos="50000">
                    <a:srgbClr val="CCFF99"/>
                  </a:gs>
                  <a:gs pos="100000">
                    <a:schemeClr val="bg1"/>
                  </a:gs>
                </a:gsLst>
                <a:lin ang="270000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4005" name="WordArt 181"/>
          <p:cNvSpPr>
            <a:spLocks noChangeArrowheads="1" noChangeShapeType="1" noTextEdit="1"/>
          </p:cNvSpPr>
          <p:nvPr/>
        </p:nvSpPr>
        <p:spPr bwMode="auto">
          <a:xfrm>
            <a:off x="133165" y="752372"/>
            <a:ext cx="1156356" cy="34230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ln w="12700">
                  <a:noFill/>
                  <a:round/>
                  <a:headEnd/>
                  <a:tailEnd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Exercise</a:t>
            </a:r>
            <a:r>
              <a:rPr lang="en-US" altLang="zh-CN" sz="3600" b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endParaRPr lang="zh-CN" altLang="en-US" sz="3600" b="1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4008" name="Rectangle 184"/>
          <p:cNvSpPr>
            <a:spLocks noChangeArrowheads="1"/>
          </p:cNvSpPr>
          <p:nvPr/>
        </p:nvSpPr>
        <p:spPr bwMode="auto">
          <a:xfrm>
            <a:off x="1184710" y="2861671"/>
            <a:ext cx="7923896" cy="121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zh-CN" sz="22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It is Classical Probability. E</a:t>
            </a:r>
            <a:r>
              <a:rPr lang="en-US" altLang="zh-CN" sz="22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vent A of</a:t>
            </a:r>
            <a:r>
              <a:rPr lang="zh-CN" altLang="en-US" sz="22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22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one Head on</a:t>
            </a:r>
            <a:r>
              <a:rPr lang="zh-CN" altLang="en-US" sz="22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&amp; one Tail </a:t>
            </a:r>
            <a:r>
              <a:rPr lang="en-US" altLang="zh-CN" sz="2200" dirty="0" err="1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on”contains</a:t>
            </a:r>
            <a:r>
              <a:rPr lang="en-US" altLang="zh-CN" sz="22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endParaRPr lang="zh-CN" altLang="en-US" sz="2200" dirty="0">
              <a:solidFill>
                <a:schemeClr val="tx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4019" name="Rectangle 195"/>
          <p:cNvSpPr>
            <a:spLocks noChangeArrowheads="1"/>
          </p:cNvSpPr>
          <p:nvPr/>
        </p:nvSpPr>
        <p:spPr bwMode="auto">
          <a:xfrm>
            <a:off x="968429" y="4711699"/>
            <a:ext cx="7526215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In the 18</a:t>
            </a:r>
            <a:r>
              <a:rPr lang="en-US" altLang="zh-CN" sz="2400" baseline="30000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th</a:t>
            </a:r>
            <a:r>
              <a:rPr lang="en-US" altLang="zh-CN" sz="2400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 centenary, the famous French mathematician Darren Bell thought</a:t>
            </a:r>
            <a:r>
              <a:rPr lang="zh-CN" altLang="en-US" sz="2400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that the sample space was</a:t>
            </a:r>
            <a:endParaRPr lang="zh-CN" altLang="en-US" sz="2400" dirty="0">
              <a:solidFill>
                <a:schemeClr val="tx2"/>
              </a:solidFill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334024" name="Group 200"/>
          <p:cNvGrpSpPr>
            <a:grpSpLocks/>
          </p:cNvGrpSpPr>
          <p:nvPr/>
        </p:nvGrpSpPr>
        <p:grpSpPr bwMode="auto">
          <a:xfrm>
            <a:off x="5388023" y="6208436"/>
            <a:ext cx="280988" cy="255588"/>
            <a:chOff x="4234" y="2097"/>
            <a:chExt cx="177" cy="161"/>
          </a:xfrm>
        </p:grpSpPr>
        <p:grpSp>
          <p:nvGrpSpPr>
            <p:cNvPr id="6169" name="Group 201"/>
            <p:cNvGrpSpPr>
              <a:grpSpLocks/>
            </p:cNvGrpSpPr>
            <p:nvPr/>
          </p:nvGrpSpPr>
          <p:grpSpPr bwMode="auto">
            <a:xfrm>
              <a:off x="4276" y="2106"/>
              <a:ext cx="135" cy="152"/>
              <a:chOff x="4234" y="2097"/>
              <a:chExt cx="135" cy="152"/>
            </a:xfrm>
          </p:grpSpPr>
          <p:sp>
            <p:nvSpPr>
              <p:cNvPr id="334026" name="Line 202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34027" name="Line 203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6170" name="Group 204"/>
            <p:cNvGrpSpPr>
              <a:grpSpLocks/>
            </p:cNvGrpSpPr>
            <p:nvPr/>
          </p:nvGrpSpPr>
          <p:grpSpPr bwMode="auto">
            <a:xfrm>
              <a:off x="4234" y="2097"/>
              <a:ext cx="135" cy="152"/>
              <a:chOff x="4234" y="2097"/>
              <a:chExt cx="135" cy="152"/>
            </a:xfrm>
          </p:grpSpPr>
          <p:sp>
            <p:nvSpPr>
              <p:cNvPr id="334029" name="Line 205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34030" name="Line 206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334033" name="Group 209"/>
          <p:cNvGrpSpPr>
            <a:grpSpLocks/>
          </p:cNvGrpSpPr>
          <p:nvPr/>
        </p:nvGrpSpPr>
        <p:grpSpPr bwMode="auto">
          <a:xfrm>
            <a:off x="135871" y="4645571"/>
            <a:ext cx="836613" cy="911225"/>
            <a:chOff x="1724" y="2458"/>
            <a:chExt cx="527" cy="574"/>
          </a:xfrm>
        </p:grpSpPr>
        <p:pic>
          <p:nvPicPr>
            <p:cNvPr id="6167" name="Picture 207" descr="5_6"/>
            <p:cNvPicPr>
              <a:picLocks noChangeAspect="1" noChangeArrowheads="1" noCrop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4" y="2648"/>
              <a:ext cx="48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68" name="WordArt 194"/>
            <p:cNvSpPr>
              <a:spLocks noChangeArrowheads="1" noChangeShapeType="1" noTextEdit="1"/>
            </p:cNvSpPr>
            <p:nvPr/>
          </p:nvSpPr>
          <p:spPr bwMode="auto">
            <a:xfrm>
              <a:off x="1724" y="2458"/>
              <a:ext cx="527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12700">
                    <a:solidFill>
                      <a:srgbClr val="3399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3300"/>
                      </a:gs>
                      <a:gs pos="50000">
                        <a:srgbClr val="FFFFFF"/>
                      </a:gs>
                      <a:gs pos="100000">
                        <a:srgbClr val="FF3300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方正舒体"/>
                  <a:ea typeface="方正舒体"/>
                </a:rPr>
                <a:t>Funny</a:t>
              </a:r>
              <a:r>
                <a:rPr lang="zh-CN" altLang="en-US" sz="3600" kern="10" dirty="0">
                  <a:ln w="12700">
                    <a:solidFill>
                      <a:srgbClr val="3399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3300"/>
                      </a:gs>
                      <a:gs pos="50000">
                        <a:srgbClr val="FFFFFF"/>
                      </a:gs>
                      <a:gs pos="100000">
                        <a:srgbClr val="FF3300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方正舒体"/>
                  <a:ea typeface="方正舒体"/>
                </a:rPr>
                <a:t> </a:t>
              </a:r>
              <a:r>
                <a:rPr lang="en-US" altLang="zh-CN" sz="3600" kern="10" dirty="0">
                  <a:ln w="12700">
                    <a:solidFill>
                      <a:srgbClr val="3399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3300"/>
                      </a:gs>
                      <a:gs pos="50000">
                        <a:srgbClr val="FFFFFF"/>
                      </a:gs>
                      <a:gs pos="100000">
                        <a:srgbClr val="FF3300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方正舒体"/>
                  <a:ea typeface="方正舒体"/>
                </a:rPr>
                <a:t>story</a:t>
              </a:r>
              <a:endParaRPr lang="zh-CN" altLang="en-US" sz="3600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3300"/>
                    </a:gs>
                    <a:gs pos="50000">
                      <a:srgbClr val="FFFFFF"/>
                    </a:gs>
                    <a:gs pos="100000">
                      <a:srgbClr val="FF3300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endParaRPr>
            </a:p>
          </p:txBody>
        </p:sp>
      </p:grpSp>
      <p:sp>
        <p:nvSpPr>
          <p:cNvPr id="334039" name="Oval 215"/>
          <p:cNvSpPr>
            <a:spLocks noChangeArrowheads="1"/>
          </p:cNvSpPr>
          <p:nvPr/>
        </p:nvSpPr>
        <p:spPr bwMode="auto">
          <a:xfrm>
            <a:off x="4204252" y="5527387"/>
            <a:ext cx="1464759" cy="4699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 type="none" w="med" len="lg"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4036" name="AutoShape 212"/>
          <p:cNvSpPr>
            <a:spLocks noChangeArrowheads="1"/>
          </p:cNvSpPr>
          <p:nvPr/>
        </p:nvSpPr>
        <p:spPr bwMode="auto">
          <a:xfrm>
            <a:off x="6315918" y="5619704"/>
            <a:ext cx="2049947" cy="675044"/>
          </a:xfrm>
          <a:prstGeom prst="wedgeRectCallout">
            <a:avLst>
              <a:gd name="adj1" fmla="val -59944"/>
              <a:gd name="adj2" fmla="val -19112"/>
            </a:avLst>
          </a:prstGeom>
          <a:solidFill>
            <a:schemeClr val="bg1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They are </a:t>
            </a:r>
            <a:r>
              <a:rPr lang="en-US" altLang="zh-CN" dirty="0" err="1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NOTequally</a:t>
            </a: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 likely!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75B41B-E5DE-422C-AC46-D29AE85A96C5}"/>
                  </a:ext>
                </a:extLst>
              </p:cNvPr>
              <p:cNvSpPr txBox="1"/>
              <p:nvPr/>
            </p:nvSpPr>
            <p:spPr>
              <a:xfrm>
                <a:off x="2611002" y="2506961"/>
                <a:ext cx="33856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𝐻𝐻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𝐻𝑇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𝑇𝐻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𝑇𝑇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75B41B-E5DE-422C-AC46-D29AE85A9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002" y="2506961"/>
                <a:ext cx="3385696" cy="338554"/>
              </a:xfrm>
              <a:prstGeom prst="rect">
                <a:avLst/>
              </a:prstGeom>
              <a:blipFill>
                <a:blip r:embed="rId3"/>
                <a:stretch>
                  <a:fillRect t="-1786" b="-33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0B7D7E4-C6D0-45CF-A721-839261753039}"/>
                  </a:ext>
                </a:extLst>
              </p:cNvPr>
              <p:cNvSpPr txBox="1"/>
              <p:nvPr/>
            </p:nvSpPr>
            <p:spPr>
              <a:xfrm>
                <a:off x="3078441" y="3233708"/>
                <a:ext cx="94314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𝐻𝑇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𝑇𝐻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0B7D7E4-C6D0-45CF-A721-839261753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441" y="3233708"/>
                <a:ext cx="943142" cy="338554"/>
              </a:xfrm>
              <a:prstGeom prst="rect">
                <a:avLst/>
              </a:prstGeom>
              <a:blipFill>
                <a:blip r:embed="rId4"/>
                <a:stretch>
                  <a:fillRect l="-5806" r="-4516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5B08A11-CD6F-437B-87EE-07ECA04A7CBC}"/>
                  </a:ext>
                </a:extLst>
              </p:cNvPr>
              <p:cNvSpPr/>
              <p:nvPr/>
            </p:nvSpPr>
            <p:spPr>
              <a:xfrm>
                <a:off x="2742093" y="3831386"/>
                <a:ext cx="2142701" cy="7261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∴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𝐴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4</m:t>
                          </m:r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5B08A11-CD6F-437B-87EE-07ECA04A7C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093" y="3831386"/>
                <a:ext cx="2142701" cy="7261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0021261-0333-4CA2-8589-2FEF62B6C987}"/>
                  </a:ext>
                </a:extLst>
              </p:cNvPr>
              <p:cNvSpPr txBox="1"/>
              <p:nvPr/>
            </p:nvSpPr>
            <p:spPr>
              <a:xfrm>
                <a:off x="3452447" y="5563286"/>
                <a:ext cx="24023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𝐻𝐻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𝐻𝑇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𝑇𝑇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0021261-0333-4CA2-8589-2FEF62B6C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447" y="5563286"/>
                <a:ext cx="2402389" cy="369332"/>
              </a:xfrm>
              <a:prstGeom prst="rect">
                <a:avLst/>
              </a:prstGeom>
              <a:blipFill>
                <a:blip r:embed="rId6"/>
                <a:stretch>
                  <a:fillRect l="-2030" r="-3807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5BB10CF-6826-48D6-B1AE-DD1BCCC1AF8F}"/>
                  </a:ext>
                </a:extLst>
              </p:cNvPr>
              <p:cNvSpPr txBox="1"/>
              <p:nvPr/>
            </p:nvSpPr>
            <p:spPr>
              <a:xfrm>
                <a:off x="3999968" y="5921941"/>
                <a:ext cx="130734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BB10CF-6826-48D6-B1AE-DD1BCCC1A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968" y="5921941"/>
                <a:ext cx="1307346" cy="69384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4021583" y="3384354"/>
            <a:ext cx="4198502" cy="1147609"/>
            <a:chOff x="4056977" y="2472005"/>
            <a:chExt cx="4198502" cy="1147609"/>
          </a:xfrm>
        </p:grpSpPr>
        <p:sp>
          <p:nvSpPr>
            <p:cNvPr id="8" name="椭圆 7"/>
            <p:cNvSpPr/>
            <p:nvPr/>
          </p:nvSpPr>
          <p:spPr>
            <a:xfrm>
              <a:off x="5950707" y="2472005"/>
              <a:ext cx="2304772" cy="114760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number of ways that</a:t>
              </a:r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Event A</a:t>
              </a:r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 occur</a:t>
              </a:r>
            </a:p>
          </p:txBody>
        </p:sp>
        <p:cxnSp>
          <p:nvCxnSpPr>
            <p:cNvPr id="10" name="直接箭头连接符 9"/>
            <p:cNvCxnSpPr>
              <a:cxnSpLocks/>
              <a:stCxn id="8" idx="2"/>
            </p:cNvCxnSpPr>
            <p:nvPr/>
          </p:nvCxnSpPr>
          <p:spPr>
            <a:xfrm flipH="1" flipV="1">
              <a:off x="4056977" y="2472006"/>
              <a:ext cx="1893730" cy="573804"/>
            </a:xfrm>
            <a:prstGeom prst="straightConnector1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5B8F977-ACD7-406B-89AE-56971FF39D75}"/>
                  </a:ext>
                </a:extLst>
              </p:cNvPr>
              <p:cNvSpPr txBox="1"/>
              <p:nvPr/>
            </p:nvSpPr>
            <p:spPr>
              <a:xfrm>
                <a:off x="5915312" y="1478698"/>
                <a:ext cx="3169405" cy="351058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ways</m:t>
                          </m:r>
                          <m: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that</m:t>
                          </m:r>
                          <m:r>
                            <a:rPr lang="zh-CN" altLang="en-US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can</m:t>
                          </m:r>
                          <m: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occur</m:t>
                          </m:r>
                          <m:r>
                            <a:rPr lang="zh-CN" alt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fundamental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5B8F977-ACD7-406B-89AE-56971FF39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312" y="1478698"/>
                <a:ext cx="3169405" cy="3510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4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4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3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4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4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3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4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4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3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3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40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40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4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4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33989" grpId="0"/>
      <p:bldP spid="333999" grpId="0"/>
      <p:bldP spid="334005" grpId="0"/>
      <p:bldP spid="334008" grpId="0"/>
      <p:bldP spid="334019" grpId="0"/>
      <p:bldP spid="334039" grpId="0" animBg="1"/>
      <p:bldP spid="334036" grpId="0" animBg="1"/>
      <p:bldP spid="3" grpId="0"/>
      <p:bldP spid="4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742399" y="748050"/>
            <a:ext cx="62062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It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was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suspected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that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sex discrimination existed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in Law School and Business School when recruiting fresh students. The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results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of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 survey were listed in the following tables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892792"/>
              </p:ext>
            </p:extLst>
          </p:nvPr>
        </p:nvGraphicFramePr>
        <p:xfrm>
          <a:off x="275616" y="3084466"/>
          <a:ext cx="4353290" cy="11506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78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08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Gender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Accepted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Refused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Total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Acceptance rate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F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8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45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53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35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15.1%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M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51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101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152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</a:rPr>
                        <a:t>33.6%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Total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59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146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205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​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75879" y="2582859"/>
            <a:ext cx="15224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Arial" pitchFamily="34" charset="0"/>
              </a:rPr>
              <a:t>Law School</a:t>
            </a:r>
            <a:endParaRPr kumimoji="0" lang="zh-CN" altLang="zh-CN" sz="5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75879" y="4584712"/>
            <a:ext cx="17234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Arial" pitchFamily="34" charset="0"/>
              </a:rPr>
              <a:t>Business School</a:t>
            </a:r>
            <a:endParaRPr kumimoji="0" lang="zh-CN" altLang="zh-CN" sz="5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444843"/>
              </p:ext>
            </p:extLst>
          </p:nvPr>
        </p:nvGraphicFramePr>
        <p:xfrm>
          <a:off x="275618" y="5066115"/>
          <a:ext cx="4353291" cy="11506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797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4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Gender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Accepted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Refused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Total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Acceptance rate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F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50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251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</a:rPr>
                        <a:t>80.1%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M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92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9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101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</a:rPr>
                        <a:t>91.1%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Total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293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59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352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​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561966"/>
              </p:ext>
            </p:extLst>
          </p:nvPr>
        </p:nvGraphicFramePr>
        <p:xfrm>
          <a:off x="4917566" y="3515836"/>
          <a:ext cx="4129555" cy="11506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74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66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Gender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Accepted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Refused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Total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Acceptance</a:t>
                      </a:r>
                      <a:r>
                        <a:rPr lang="zh-CN" altLang="en-US" dirty="0">
                          <a:effectLst/>
                        </a:rPr>
                        <a:t> </a:t>
                      </a:r>
                      <a:r>
                        <a:rPr lang="en-US" altLang="zh-CN" dirty="0">
                          <a:effectLst/>
                        </a:rPr>
                        <a:t>rate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F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209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95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304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</a:rPr>
                        <a:t>68.8%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M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143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110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253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</a:rPr>
                        <a:t>56.5%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Total</a:t>
                      </a:r>
                      <a:endParaRPr lang="zh-CN" altLang="en-US" dirty="0">
                        <a:effectLst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352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205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557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​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5997768" y="2947395"/>
            <a:ext cx="1706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itchFamily="34" charset="0"/>
              </a:rPr>
              <a:t>In total</a:t>
            </a:r>
            <a:endParaRPr kumimoji="0" lang="zh-CN" altLang="zh-CN" sz="5400" b="1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3575CF3-A6F6-4EB0-A224-0BE83C97C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03" y="812497"/>
            <a:ext cx="2417017" cy="139314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F904485-1D10-41A6-8B61-3147811F9566}"/>
              </a:ext>
            </a:extLst>
          </p:cNvPr>
          <p:cNvSpPr/>
          <p:nvPr/>
        </p:nvSpPr>
        <p:spPr>
          <a:xfrm>
            <a:off x="6428935" y="5528603"/>
            <a:ext cx="2715065" cy="1289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Picture 2" descr="c:\users\nbkuser\appdata\roaming\360se6\User Data\temp\t01f1badc4df7bc69ca.jpg">
            <a:extLst>
              <a:ext uri="{FF2B5EF4-FFF2-40B4-BE49-F238E27FC236}">
                <a16:creationId xmlns:a16="http://schemas.microsoft.com/office/drawing/2014/main" id="{2D7C7DA6-8779-40C2-895E-147251C7A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131" y="5435447"/>
            <a:ext cx="2184621" cy="12427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D2CA947-A29C-4E7A-A76B-71BD014CCF5B}"/>
              </a:ext>
            </a:extLst>
          </p:cNvPr>
          <p:cNvSpPr txBox="1"/>
          <p:nvPr/>
        </p:nvSpPr>
        <p:spPr>
          <a:xfrm>
            <a:off x="5997768" y="5066115"/>
            <a:ext cx="263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Simpson’s Paradox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5899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立方体 1"/>
          <p:cNvSpPr/>
          <p:nvPr/>
        </p:nvSpPr>
        <p:spPr bwMode="auto">
          <a:xfrm>
            <a:off x="710918" y="3149817"/>
            <a:ext cx="1507787" cy="1031132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立方体 2"/>
          <p:cNvSpPr/>
          <p:nvPr/>
        </p:nvSpPr>
        <p:spPr bwMode="auto">
          <a:xfrm>
            <a:off x="771874" y="5143635"/>
            <a:ext cx="1507787" cy="1031132"/>
          </a:xfrm>
          <a:prstGeom prst="cube">
            <a:avLst/>
          </a:prstGeom>
          <a:solidFill>
            <a:schemeClr val="bg1">
              <a:lumMod val="65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106" y="2604413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5R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6G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9134" y="683512"/>
            <a:ext cx="8909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Exercise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Some number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of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Red and Green balls are mixed in the two boxes </a:t>
            </a:r>
            <a:r>
              <a:rPr lang="en-GB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as shown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Yellow and Grey as below. You can choose one ball from one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of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 boxes at random. If it is </a:t>
            </a:r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Red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you win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 prize. Which box should you choose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62978" y="3140089"/>
                <a:ext cx="522899" cy="616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>
                            <a:rPr lang="en-US" altLang="zh-CN" b="1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𝟏𝟏</m:t>
                          </m:r>
                        </m:den>
                      </m:f>
                    </m:oMath>
                  </m:oMathPara>
                </a14:m>
                <a:endParaRPr lang="zh-CN" altLang="en-US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978" y="3140089"/>
                <a:ext cx="522899" cy="616515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80889" y="5102629"/>
                <a:ext cx="385042" cy="6113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889" y="5102629"/>
                <a:ext cx="385042" cy="6113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立方体 8"/>
          <p:cNvSpPr/>
          <p:nvPr/>
        </p:nvSpPr>
        <p:spPr bwMode="auto">
          <a:xfrm>
            <a:off x="3570882" y="3182640"/>
            <a:ext cx="1507787" cy="1031132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立方体 9"/>
          <p:cNvSpPr/>
          <p:nvPr/>
        </p:nvSpPr>
        <p:spPr bwMode="auto">
          <a:xfrm>
            <a:off x="3631838" y="5176458"/>
            <a:ext cx="1507787" cy="1031132"/>
          </a:xfrm>
          <a:prstGeom prst="cube">
            <a:avLst/>
          </a:prstGeom>
          <a:solidFill>
            <a:schemeClr val="bg1">
              <a:lumMod val="65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61070" y="2637236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6R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3G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17116" y="4723742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9R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5G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430344" y="3172912"/>
                <a:ext cx="38504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</m:num>
                        <m:den>
                          <m:r>
                            <a:rPr lang="en-US" altLang="zh-CN" b="1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zh-CN" altLang="en-US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4" y="3172912"/>
                <a:ext cx="385041" cy="612732"/>
              </a:xfrm>
              <a:prstGeom prst="rect">
                <a:avLst/>
              </a:prstGeom>
              <a:blipFill>
                <a:blip r:embed="rId10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362207" y="5122177"/>
                <a:ext cx="522900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  <m:t>𝟗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  <m:t>𝟏𝟒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207" y="5122177"/>
                <a:ext cx="522900" cy="6109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立方体 17"/>
          <p:cNvSpPr/>
          <p:nvPr/>
        </p:nvSpPr>
        <p:spPr bwMode="auto">
          <a:xfrm>
            <a:off x="6724294" y="3149817"/>
            <a:ext cx="1507787" cy="1031132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" name="立方体 18"/>
          <p:cNvSpPr/>
          <p:nvPr/>
        </p:nvSpPr>
        <p:spPr bwMode="auto">
          <a:xfrm>
            <a:off x="6785250" y="5143635"/>
            <a:ext cx="1507787" cy="1031132"/>
          </a:xfrm>
          <a:prstGeom prst="cube">
            <a:avLst/>
          </a:prstGeom>
          <a:solidFill>
            <a:schemeClr val="bg1">
              <a:lumMod val="65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79871" y="268948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11R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9G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7555" y="4690919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12R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9G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4036" name="Picture 4" descr="c:\users\nbkuser\appdata\roaming\360se6\User Data\temp\tick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2" y="3103896"/>
            <a:ext cx="1157023" cy="115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c:\users\nbkuser\appdata\roaming\360se6\User Data\temp\tick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838" y="3069496"/>
            <a:ext cx="1157023" cy="115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4">
            <a:extLst>
              <a:ext uri="{FF2B5EF4-FFF2-40B4-BE49-F238E27FC236}">
                <a16:creationId xmlns:a16="http://schemas.microsoft.com/office/drawing/2014/main" id="{22CE917C-E787-43A9-9D5E-703FC0A29939}"/>
              </a:ext>
            </a:extLst>
          </p:cNvPr>
          <p:cNvSpPr txBox="1"/>
          <p:nvPr/>
        </p:nvSpPr>
        <p:spPr>
          <a:xfrm>
            <a:off x="1091952" y="459960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3R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4G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92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4" presetClass="path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96296E-6 L 0.08316 -0.04004 C 0.10052 -0.04907 0.12656 -0.05393 0.15382 -0.05393 C 0.18472 -0.05393 0.20955 -0.04907 0.22691 -0.04004 L 0.31024 -2.96296E-6 " pathEditMode="relative" rAng="0" ptsTypes="AAAAA">
                                      <p:cBhvr>
                                        <p:cTn id="4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03" y="-2708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6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8" presetID="4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3.7037E-6 L 0.08403 -0.04004 C 0.10174 -0.04907 0.12813 -0.05393 0.15556 -0.05393 C 0.18698 -0.05393 0.21164 -0.04907 0.22986 -0.04004 L 0.31407 -3.7037E-6 " pathEditMode="relative" rAng="0" ptsTypes="AAAAA">
                                      <p:cBhvr>
                                        <p:cTn id="4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94" y="-2708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8"/>
                                            </p:cond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4" grpId="0"/>
      <p:bldP spid="18" grpId="0" animBg="1"/>
      <p:bldP spid="19" grpId="0" animBg="1"/>
      <p:bldP spid="20" grpId="0"/>
      <p:bldP spid="21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立方体 1"/>
          <p:cNvSpPr/>
          <p:nvPr/>
        </p:nvSpPr>
        <p:spPr bwMode="auto">
          <a:xfrm>
            <a:off x="710918" y="3149817"/>
            <a:ext cx="1507787" cy="1031132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立方体 2"/>
          <p:cNvSpPr/>
          <p:nvPr/>
        </p:nvSpPr>
        <p:spPr bwMode="auto">
          <a:xfrm>
            <a:off x="771874" y="5143635"/>
            <a:ext cx="1507787" cy="1031132"/>
          </a:xfrm>
          <a:prstGeom prst="cube">
            <a:avLst/>
          </a:prstGeom>
          <a:solidFill>
            <a:schemeClr val="bg1">
              <a:lumMod val="65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106" y="2604413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5R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6G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9134" y="683512"/>
            <a:ext cx="8909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Exercise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Some number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of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Red and Green balls are mixed in the two boxes </a:t>
            </a:r>
            <a:r>
              <a:rPr lang="en-GB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as shown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Yellow and Grey below. You can choose one ball from one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of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 boxes at random. If it is </a:t>
            </a:r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Red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you win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 prize. Which box should you choose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62978" y="3140089"/>
                <a:ext cx="522899" cy="616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>
                            <a:rPr lang="en-US" altLang="zh-CN" b="1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𝟏𝟏</m:t>
                          </m:r>
                        </m:den>
                      </m:f>
                    </m:oMath>
                  </m:oMathPara>
                </a14:m>
                <a:endParaRPr lang="zh-CN" altLang="en-US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978" y="3140089"/>
                <a:ext cx="522899" cy="6165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80889" y="5102629"/>
                <a:ext cx="385042" cy="6113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889" y="5102629"/>
                <a:ext cx="385042" cy="6113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立方体 8"/>
          <p:cNvSpPr/>
          <p:nvPr/>
        </p:nvSpPr>
        <p:spPr bwMode="auto">
          <a:xfrm>
            <a:off x="3570882" y="3182640"/>
            <a:ext cx="1507787" cy="1031132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立方体 9"/>
          <p:cNvSpPr/>
          <p:nvPr/>
        </p:nvSpPr>
        <p:spPr bwMode="auto">
          <a:xfrm>
            <a:off x="3631838" y="5176458"/>
            <a:ext cx="1507787" cy="1031132"/>
          </a:xfrm>
          <a:prstGeom prst="cube">
            <a:avLst/>
          </a:prstGeom>
          <a:solidFill>
            <a:schemeClr val="bg1">
              <a:lumMod val="65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61070" y="2637236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6R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3G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17116" y="4723742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9R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5G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430344" y="3172912"/>
                <a:ext cx="38504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</m:num>
                        <m:den>
                          <m:r>
                            <a:rPr lang="en-US" altLang="zh-CN" b="1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zh-CN" altLang="en-US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4" y="3172912"/>
                <a:ext cx="385041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362207" y="5122177"/>
                <a:ext cx="522900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  <m:t>𝟗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  <m:t>𝟏𝟒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207" y="5122177"/>
                <a:ext cx="522900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立方体 17"/>
          <p:cNvSpPr/>
          <p:nvPr/>
        </p:nvSpPr>
        <p:spPr bwMode="auto">
          <a:xfrm>
            <a:off x="6724294" y="3149817"/>
            <a:ext cx="1507787" cy="1031132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" name="立方体 18"/>
          <p:cNvSpPr/>
          <p:nvPr/>
        </p:nvSpPr>
        <p:spPr bwMode="auto">
          <a:xfrm>
            <a:off x="6785250" y="5143635"/>
            <a:ext cx="1507787" cy="1031132"/>
          </a:xfrm>
          <a:prstGeom prst="cube">
            <a:avLst/>
          </a:prstGeom>
          <a:solidFill>
            <a:schemeClr val="bg1">
              <a:lumMod val="65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79871" y="268948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11R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9G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7555" y="4690919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12R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9G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4036" name="Picture 4" descr="c:\users\nbkuser\appdata\roaming\360se6\User Data\temp\tick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2" y="3103896"/>
            <a:ext cx="1157023" cy="115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c:\users\nbkuser\appdata\roaming\360se6\User Data\temp\tick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838" y="3069496"/>
            <a:ext cx="1157023" cy="115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c:\users\nbkuser\appdata\roaming\360se6\User Data\temp\tick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631" y="5067942"/>
            <a:ext cx="1157023" cy="115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utoShape 38">
            <a:extLst>
              <a:ext uri="{FF2B5EF4-FFF2-40B4-BE49-F238E27FC236}">
                <a16:creationId xmlns:a16="http://schemas.microsoft.com/office/drawing/2014/main" id="{D8626082-67C2-4216-8C1F-92A7F70FB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239" y="1970597"/>
            <a:ext cx="2820110" cy="565150"/>
          </a:xfrm>
          <a:custGeom>
            <a:avLst/>
            <a:gdLst>
              <a:gd name="connsiteX0" fmla="*/ 0 w 2820110"/>
              <a:gd name="connsiteY0" fmla="*/ 0 h 565150"/>
              <a:gd name="connsiteX1" fmla="*/ 1645064 w 2820110"/>
              <a:gd name="connsiteY1" fmla="*/ 0 h 565150"/>
              <a:gd name="connsiteX2" fmla="*/ 2028872 w 2820110"/>
              <a:gd name="connsiteY2" fmla="*/ -11032 h 565150"/>
              <a:gd name="connsiteX3" fmla="*/ 2350092 w 2820110"/>
              <a:gd name="connsiteY3" fmla="*/ 0 h 565150"/>
              <a:gd name="connsiteX4" fmla="*/ 2820110 w 2820110"/>
              <a:gd name="connsiteY4" fmla="*/ 0 h 565150"/>
              <a:gd name="connsiteX5" fmla="*/ 2820110 w 2820110"/>
              <a:gd name="connsiteY5" fmla="*/ 94192 h 565150"/>
              <a:gd name="connsiteX6" fmla="*/ 2820110 w 2820110"/>
              <a:gd name="connsiteY6" fmla="*/ 94192 h 565150"/>
              <a:gd name="connsiteX7" fmla="*/ 2820110 w 2820110"/>
              <a:gd name="connsiteY7" fmla="*/ 235479 h 565150"/>
              <a:gd name="connsiteX8" fmla="*/ 2820110 w 2820110"/>
              <a:gd name="connsiteY8" fmla="*/ 565150 h 565150"/>
              <a:gd name="connsiteX9" fmla="*/ 2350092 w 2820110"/>
              <a:gd name="connsiteY9" fmla="*/ 565150 h 565150"/>
              <a:gd name="connsiteX10" fmla="*/ 1645064 w 2820110"/>
              <a:gd name="connsiteY10" fmla="*/ 565150 h 565150"/>
              <a:gd name="connsiteX11" fmla="*/ 1645064 w 2820110"/>
              <a:gd name="connsiteY11" fmla="*/ 565150 h 565150"/>
              <a:gd name="connsiteX12" fmla="*/ 0 w 2820110"/>
              <a:gd name="connsiteY12" fmla="*/ 565150 h 565150"/>
              <a:gd name="connsiteX13" fmla="*/ 0 w 2820110"/>
              <a:gd name="connsiteY13" fmla="*/ 235479 h 565150"/>
              <a:gd name="connsiteX14" fmla="*/ 0 w 2820110"/>
              <a:gd name="connsiteY14" fmla="*/ 94192 h 565150"/>
              <a:gd name="connsiteX15" fmla="*/ 0 w 2820110"/>
              <a:gd name="connsiteY15" fmla="*/ 94192 h 565150"/>
              <a:gd name="connsiteX16" fmla="*/ 0 w 2820110"/>
              <a:gd name="connsiteY16" fmla="*/ 0 h 56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20110" h="565150" fill="none" extrusionOk="0">
                <a:moveTo>
                  <a:pt x="0" y="0"/>
                </a:moveTo>
                <a:cubicBezTo>
                  <a:pt x="474908" y="-144187"/>
                  <a:pt x="1171193" y="-16591"/>
                  <a:pt x="1645064" y="0"/>
                </a:cubicBezTo>
                <a:cubicBezTo>
                  <a:pt x="1712884" y="-20104"/>
                  <a:pt x="1924328" y="17793"/>
                  <a:pt x="2028872" y="-11032"/>
                </a:cubicBezTo>
                <a:cubicBezTo>
                  <a:pt x="2177999" y="-17678"/>
                  <a:pt x="2230898" y="-25363"/>
                  <a:pt x="2350092" y="0"/>
                </a:cubicBezTo>
                <a:cubicBezTo>
                  <a:pt x="2446588" y="-38376"/>
                  <a:pt x="2730906" y="-11850"/>
                  <a:pt x="2820110" y="0"/>
                </a:cubicBezTo>
                <a:cubicBezTo>
                  <a:pt x="2815937" y="34095"/>
                  <a:pt x="2823221" y="64362"/>
                  <a:pt x="2820110" y="94192"/>
                </a:cubicBezTo>
                <a:lnTo>
                  <a:pt x="2820110" y="94192"/>
                </a:lnTo>
                <a:cubicBezTo>
                  <a:pt x="2826482" y="118376"/>
                  <a:pt x="2828137" y="204130"/>
                  <a:pt x="2820110" y="235479"/>
                </a:cubicBezTo>
                <a:cubicBezTo>
                  <a:pt x="2806720" y="314049"/>
                  <a:pt x="2846281" y="483185"/>
                  <a:pt x="2820110" y="565150"/>
                </a:cubicBezTo>
                <a:cubicBezTo>
                  <a:pt x="2734287" y="530292"/>
                  <a:pt x="2557089" y="606283"/>
                  <a:pt x="2350092" y="565150"/>
                </a:cubicBezTo>
                <a:cubicBezTo>
                  <a:pt x="2262631" y="561346"/>
                  <a:pt x="1838539" y="560861"/>
                  <a:pt x="1645064" y="565150"/>
                </a:cubicBezTo>
                <a:lnTo>
                  <a:pt x="1645064" y="565150"/>
                </a:lnTo>
                <a:cubicBezTo>
                  <a:pt x="920373" y="491206"/>
                  <a:pt x="731867" y="709180"/>
                  <a:pt x="0" y="565150"/>
                </a:cubicBezTo>
                <a:cubicBezTo>
                  <a:pt x="15712" y="531063"/>
                  <a:pt x="14849" y="379543"/>
                  <a:pt x="0" y="235479"/>
                </a:cubicBezTo>
                <a:cubicBezTo>
                  <a:pt x="-8565" y="172582"/>
                  <a:pt x="7989" y="164135"/>
                  <a:pt x="0" y="94192"/>
                </a:cubicBezTo>
                <a:lnTo>
                  <a:pt x="0" y="94192"/>
                </a:lnTo>
                <a:cubicBezTo>
                  <a:pt x="3353" y="72284"/>
                  <a:pt x="-4309" y="18589"/>
                  <a:pt x="0" y="0"/>
                </a:cubicBezTo>
                <a:close/>
              </a:path>
              <a:path w="2820110" h="565150" stroke="0" extrusionOk="0">
                <a:moveTo>
                  <a:pt x="0" y="0"/>
                </a:moveTo>
                <a:cubicBezTo>
                  <a:pt x="650076" y="82755"/>
                  <a:pt x="1105949" y="-51501"/>
                  <a:pt x="1645064" y="0"/>
                </a:cubicBezTo>
                <a:cubicBezTo>
                  <a:pt x="1815055" y="-12823"/>
                  <a:pt x="1934612" y="-13055"/>
                  <a:pt x="2028872" y="-11032"/>
                </a:cubicBezTo>
                <a:cubicBezTo>
                  <a:pt x="2132370" y="-13924"/>
                  <a:pt x="2268108" y="21767"/>
                  <a:pt x="2350092" y="0"/>
                </a:cubicBezTo>
                <a:cubicBezTo>
                  <a:pt x="2449480" y="-12497"/>
                  <a:pt x="2594422" y="4905"/>
                  <a:pt x="2820110" y="0"/>
                </a:cubicBezTo>
                <a:cubicBezTo>
                  <a:pt x="2812107" y="45316"/>
                  <a:pt x="2817271" y="63542"/>
                  <a:pt x="2820110" y="94192"/>
                </a:cubicBezTo>
                <a:lnTo>
                  <a:pt x="2820110" y="94192"/>
                </a:lnTo>
                <a:cubicBezTo>
                  <a:pt x="2814898" y="134288"/>
                  <a:pt x="2821161" y="199620"/>
                  <a:pt x="2820110" y="235479"/>
                </a:cubicBezTo>
                <a:cubicBezTo>
                  <a:pt x="2837559" y="375001"/>
                  <a:pt x="2829987" y="525381"/>
                  <a:pt x="2820110" y="565150"/>
                </a:cubicBezTo>
                <a:cubicBezTo>
                  <a:pt x="2742803" y="583578"/>
                  <a:pt x="2442123" y="598958"/>
                  <a:pt x="2350092" y="565150"/>
                </a:cubicBezTo>
                <a:cubicBezTo>
                  <a:pt x="2198350" y="564999"/>
                  <a:pt x="1833359" y="555582"/>
                  <a:pt x="1645064" y="565150"/>
                </a:cubicBezTo>
                <a:lnTo>
                  <a:pt x="1645064" y="565150"/>
                </a:lnTo>
                <a:cubicBezTo>
                  <a:pt x="1473641" y="532474"/>
                  <a:pt x="752281" y="430181"/>
                  <a:pt x="0" y="565150"/>
                </a:cubicBezTo>
                <a:cubicBezTo>
                  <a:pt x="15780" y="519335"/>
                  <a:pt x="-9199" y="269017"/>
                  <a:pt x="0" y="235479"/>
                </a:cubicBezTo>
                <a:cubicBezTo>
                  <a:pt x="9074" y="197719"/>
                  <a:pt x="5852" y="136811"/>
                  <a:pt x="0" y="94192"/>
                </a:cubicBezTo>
                <a:lnTo>
                  <a:pt x="0" y="94192"/>
                </a:lnTo>
                <a:cubicBezTo>
                  <a:pt x="-5088" y="69781"/>
                  <a:pt x="-7338" y="22661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 cmpd="tri" algn="ctr">
            <a:gradFill flip="none" rotWithShape="1">
              <a:gsLst>
                <a:gs pos="6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xmlns="" sd="1219033472">
                  <a:prstGeom prst="wedgeRectCallout">
                    <a:avLst>
                      <a:gd name="adj1" fmla="val 21943"/>
                      <a:gd name="adj2" fmla="val -51952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Counter intuitive ! ! !</a:t>
            </a:r>
            <a:endParaRPr lang="zh-CN" alt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0" name="TextBox 4">
            <a:extLst>
              <a:ext uri="{FF2B5EF4-FFF2-40B4-BE49-F238E27FC236}">
                <a16:creationId xmlns:a16="http://schemas.microsoft.com/office/drawing/2014/main" id="{22CE917C-E787-43A9-9D5E-703FC0A29939}"/>
              </a:ext>
            </a:extLst>
          </p:cNvPr>
          <p:cNvSpPr txBox="1"/>
          <p:nvPr/>
        </p:nvSpPr>
        <p:spPr>
          <a:xfrm>
            <a:off x="1091952" y="459960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3R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4G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12">
                <a:extLst>
                  <a:ext uri="{FF2B5EF4-FFF2-40B4-BE49-F238E27FC236}">
                    <a16:creationId xmlns:a16="http://schemas.microsoft.com/office/drawing/2014/main" id="{310A2A51-91F5-48F9-A48F-6CA81F8A3E9B}"/>
                  </a:ext>
                </a:extLst>
              </p:cNvPr>
              <p:cNvSpPr txBox="1"/>
              <p:nvPr/>
            </p:nvSpPr>
            <p:spPr>
              <a:xfrm>
                <a:off x="8445397" y="3224415"/>
                <a:ext cx="524503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num>
                        <m:den>
                          <m:r>
                            <a:rPr lang="en-US" altLang="zh-CN" b="1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den>
                      </m:f>
                    </m:oMath>
                  </m:oMathPara>
                </a14:m>
                <a:endParaRPr lang="zh-CN" altLang="en-US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12">
                <a:extLst>
                  <a:ext uri="{FF2B5EF4-FFF2-40B4-BE49-F238E27FC236}">
                    <a16:creationId xmlns:a16="http://schemas.microsoft.com/office/drawing/2014/main" id="{310A2A51-91F5-48F9-A48F-6CA81F8A3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397" y="3224415"/>
                <a:ext cx="524503" cy="6365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13">
                <a:extLst>
                  <a:ext uri="{FF2B5EF4-FFF2-40B4-BE49-F238E27FC236}">
                    <a16:creationId xmlns:a16="http://schemas.microsoft.com/office/drawing/2014/main" id="{C0B4C982-D342-4F80-A3E0-F4B47B8F81E4}"/>
                  </a:ext>
                </a:extLst>
              </p:cNvPr>
              <p:cNvSpPr txBox="1"/>
              <p:nvPr/>
            </p:nvSpPr>
            <p:spPr>
              <a:xfrm>
                <a:off x="8467572" y="5173680"/>
                <a:ext cx="522900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13">
                <a:extLst>
                  <a:ext uri="{FF2B5EF4-FFF2-40B4-BE49-F238E27FC236}">
                    <a16:creationId xmlns:a16="http://schemas.microsoft.com/office/drawing/2014/main" id="{C0B4C982-D342-4F80-A3E0-F4B47B8F8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572" y="5173680"/>
                <a:ext cx="522900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76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28" name="Line 108"/>
          <p:cNvSpPr>
            <a:spLocks noChangeShapeType="1"/>
          </p:cNvSpPr>
          <p:nvPr/>
        </p:nvSpPr>
        <p:spPr bwMode="auto">
          <a:xfrm>
            <a:off x="4470400" y="4818965"/>
            <a:ext cx="10922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89266" name="Group 146"/>
          <p:cNvGrpSpPr>
            <a:grpSpLocks/>
          </p:cNvGrpSpPr>
          <p:nvPr/>
        </p:nvGrpSpPr>
        <p:grpSpPr bwMode="auto">
          <a:xfrm>
            <a:off x="2575983" y="1775640"/>
            <a:ext cx="5542106" cy="1790700"/>
            <a:chOff x="1972" y="961"/>
            <a:chExt cx="3229" cy="1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259" name="Rectangle 139"/>
                <p:cNvSpPr>
                  <a:spLocks noChangeArrowheads="1"/>
                </p:cNvSpPr>
                <p:nvPr/>
              </p:nvSpPr>
              <p:spPr bwMode="auto">
                <a:xfrm>
                  <a:off x="1972" y="961"/>
                  <a:ext cx="3229" cy="11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l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Monotype Sorts" pitchFamily="2" charset="2"/>
                    <a:buNone/>
                    <a:defRPr/>
                  </a:pP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There</a:t>
                  </a:r>
                  <a:r>
                    <a:rPr lang="zh-CN" altLang="en-US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are</a:t>
                  </a:r>
                  <a:r>
                    <a:rPr lang="zh-CN" altLang="en-US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ways from the </a:t>
                  </a:r>
                  <a14:m>
                    <m:oMath xmlns:m="http://schemas.openxmlformats.org/officeDocument/2006/math">
                      <m:r>
                        <a:rPr lang="en-US" altLang="zh-CN" sz="2400" b="1" i="1" dirty="0" smtClean="0"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 baseline="30000" dirty="0">
                          <a:effectLst/>
                          <a:latin typeface="Cambria Math" panose="02040503050406030204" pitchFamily="18" charset="0"/>
                        </a:rPr>
                        <m:t>𝒔𝒕</m:t>
                      </m:r>
                    </m:oMath>
                  </a14:m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method</a:t>
                  </a:r>
                  <a:endPara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algn="l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Monotype Sorts" pitchFamily="2" charset="2"/>
                    <a:buNone/>
                    <a:defRPr/>
                  </a:pP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There</a:t>
                  </a:r>
                  <a:r>
                    <a:rPr lang="zh-CN" altLang="en-US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are</a:t>
                  </a:r>
                  <a:r>
                    <a:rPr lang="zh-CN" altLang="en-US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ways from the </a:t>
                  </a:r>
                  <a14:m>
                    <m:oMath xmlns:m="http://schemas.openxmlformats.org/officeDocument/2006/math">
                      <m:r>
                        <a:rPr lang="en-US" altLang="zh-CN" sz="2400" b="1" i="1" dirty="0" smtClean="0">
                          <a:effectLst/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 baseline="30000" dirty="0">
                          <a:effectLst/>
                          <a:latin typeface="Cambria Math" panose="02040503050406030204" pitchFamily="18" charset="0"/>
                        </a:rPr>
                        <m:t>𝒏𝒅</m:t>
                      </m:r>
                    </m:oMath>
                  </a14:m>
                  <a:r>
                    <a:rPr lang="en-US" altLang="zh-CN" sz="2400" baseline="300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method</a:t>
                  </a:r>
                  <a:endPara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algn="l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Monotype Sorts" pitchFamily="2" charset="2"/>
                    <a:buNone/>
                    <a:defRPr/>
                  </a:pPr>
                  <a:endPara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algn="l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Monotype Sorts" pitchFamily="2" charset="2"/>
                    <a:buNone/>
                    <a:defRPr/>
                  </a:pP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There</a:t>
                  </a:r>
                  <a:r>
                    <a:rPr lang="zh-CN" altLang="en-US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are</a:t>
                  </a:r>
                  <a:r>
                    <a:rPr lang="zh-CN" altLang="en-US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ways from the </a:t>
                  </a:r>
                  <a14:m>
                    <m:oMath xmlns:m="http://schemas.openxmlformats.org/officeDocument/2006/math">
                      <m:r>
                        <a:rPr lang="en-US" altLang="zh-CN" sz="2400" b="1" i="1" dirty="0" smtClean="0">
                          <a:effectLst/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en-US" altLang="zh-CN" sz="2400" b="1" i="1" baseline="30000" dirty="0">
                      <a:latin typeface="Cambria Math" panose="02040503050406030204" pitchFamily="18" charset="0"/>
                    </a:rPr>
                    <a:t>th</a:t>
                  </a: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method</a:t>
                  </a:r>
                  <a:endPara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389259" name="Rectangle 1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72" y="961"/>
                  <a:ext cx="3229" cy="1128"/>
                </a:xfrm>
                <a:prstGeom prst="rect">
                  <a:avLst/>
                </a:prstGeom>
                <a:blipFill>
                  <a:blip r:embed="rId3"/>
                  <a:stretch>
                    <a:fillRect l="-1602" t="-2817" r="-229" b="-704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9265" name="Rectangle 145"/>
            <p:cNvSpPr>
              <a:spLocks noChangeArrowheads="1"/>
            </p:cNvSpPr>
            <p:nvPr/>
          </p:nvSpPr>
          <p:spPr bwMode="auto">
            <a:xfrm>
              <a:off x="2012" y="151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accent1">
                          <a:gamma/>
                          <a:shade val="46275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/>
                </a:rPr>
                <a:t>……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389268" name="Rectangle 148"/>
          <p:cNvSpPr>
            <a:spLocks noChangeArrowheads="1"/>
          </p:cNvSpPr>
          <p:nvPr/>
        </p:nvSpPr>
        <p:spPr bwMode="auto">
          <a:xfrm>
            <a:off x="733290" y="2218886"/>
            <a:ext cx="178074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n different methods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89271" name="AutoShape 151"/>
          <p:cNvSpPr>
            <a:spLocks/>
          </p:cNvSpPr>
          <p:nvPr/>
        </p:nvSpPr>
        <p:spPr bwMode="auto">
          <a:xfrm>
            <a:off x="2342486" y="1869303"/>
            <a:ext cx="194478" cy="1554081"/>
          </a:xfrm>
          <a:prstGeom prst="leftBrace">
            <a:avLst>
              <a:gd name="adj1" fmla="val 176190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/>
                    </a:gs>
                    <a:gs pos="5000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9273" name="Rectangle 153"/>
          <p:cNvSpPr>
            <a:spLocks noChangeArrowheads="1"/>
          </p:cNvSpPr>
          <p:nvPr/>
        </p:nvSpPr>
        <p:spPr bwMode="auto">
          <a:xfrm>
            <a:off x="721577" y="6019307"/>
            <a:ext cx="38850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 total number of ways is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89301" name="Group 181"/>
          <p:cNvGrpSpPr>
            <a:grpSpLocks/>
          </p:cNvGrpSpPr>
          <p:nvPr/>
        </p:nvGrpSpPr>
        <p:grpSpPr bwMode="auto">
          <a:xfrm>
            <a:off x="4635500" y="3752165"/>
            <a:ext cx="1970088" cy="1892300"/>
            <a:chOff x="2920" y="2096"/>
            <a:chExt cx="1241" cy="1192"/>
          </a:xfrm>
        </p:grpSpPr>
        <p:sp>
          <p:nvSpPr>
            <p:cNvPr id="389289" name="Freeform 169"/>
            <p:cNvSpPr>
              <a:spLocks/>
            </p:cNvSpPr>
            <p:nvPr/>
          </p:nvSpPr>
          <p:spPr bwMode="auto">
            <a:xfrm>
              <a:off x="2920" y="2104"/>
              <a:ext cx="1089" cy="1184"/>
            </a:xfrm>
            <a:custGeom>
              <a:avLst/>
              <a:gdLst>
                <a:gd name="T0" fmla="*/ 8 w 1089"/>
                <a:gd name="T1" fmla="*/ 0 h 1184"/>
                <a:gd name="T2" fmla="*/ 1088 w 1089"/>
                <a:gd name="T3" fmla="*/ 680 h 1184"/>
                <a:gd name="T4" fmla="*/ 0 w 1089"/>
                <a:gd name="T5" fmla="*/ 1184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9" h="1184">
                  <a:moveTo>
                    <a:pt x="8" y="0"/>
                  </a:moveTo>
                  <a:cubicBezTo>
                    <a:pt x="548" y="241"/>
                    <a:pt x="1089" y="483"/>
                    <a:pt x="1088" y="680"/>
                  </a:cubicBezTo>
                  <a:cubicBezTo>
                    <a:pt x="1087" y="877"/>
                    <a:pt x="543" y="1030"/>
                    <a:pt x="0" y="1184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9290" name="Freeform 170"/>
            <p:cNvSpPr>
              <a:spLocks/>
            </p:cNvSpPr>
            <p:nvPr/>
          </p:nvSpPr>
          <p:spPr bwMode="auto">
            <a:xfrm>
              <a:off x="2920" y="2104"/>
              <a:ext cx="1241" cy="1184"/>
            </a:xfrm>
            <a:custGeom>
              <a:avLst/>
              <a:gdLst>
                <a:gd name="T0" fmla="*/ 0 w 1241"/>
                <a:gd name="T1" fmla="*/ 0 h 1184"/>
                <a:gd name="T2" fmla="*/ 1232 w 1241"/>
                <a:gd name="T3" fmla="*/ 680 h 1184"/>
                <a:gd name="T4" fmla="*/ 56 w 1241"/>
                <a:gd name="T5" fmla="*/ 1184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41" h="1184">
                  <a:moveTo>
                    <a:pt x="0" y="0"/>
                  </a:moveTo>
                  <a:cubicBezTo>
                    <a:pt x="611" y="241"/>
                    <a:pt x="1223" y="483"/>
                    <a:pt x="1232" y="680"/>
                  </a:cubicBezTo>
                  <a:cubicBezTo>
                    <a:pt x="1241" y="877"/>
                    <a:pt x="648" y="1030"/>
                    <a:pt x="56" y="1184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9291" name="Freeform 171"/>
            <p:cNvSpPr>
              <a:spLocks/>
            </p:cNvSpPr>
            <p:nvPr/>
          </p:nvSpPr>
          <p:spPr bwMode="auto">
            <a:xfrm>
              <a:off x="2920" y="2096"/>
              <a:ext cx="1007" cy="1160"/>
            </a:xfrm>
            <a:custGeom>
              <a:avLst/>
              <a:gdLst>
                <a:gd name="T0" fmla="*/ 0 w 1007"/>
                <a:gd name="T1" fmla="*/ 0 h 1160"/>
                <a:gd name="T2" fmla="*/ 1000 w 1007"/>
                <a:gd name="T3" fmla="*/ 680 h 1160"/>
                <a:gd name="T4" fmla="*/ 40 w 1007"/>
                <a:gd name="T5" fmla="*/ 1160 h 1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7" h="1160">
                  <a:moveTo>
                    <a:pt x="0" y="0"/>
                  </a:moveTo>
                  <a:cubicBezTo>
                    <a:pt x="496" y="243"/>
                    <a:pt x="993" y="487"/>
                    <a:pt x="1000" y="680"/>
                  </a:cubicBezTo>
                  <a:cubicBezTo>
                    <a:pt x="1007" y="873"/>
                    <a:pt x="523" y="1016"/>
                    <a:pt x="40" y="1160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89296" name="Group 176"/>
          <p:cNvGrpSpPr>
            <a:grpSpLocks/>
          </p:cNvGrpSpPr>
          <p:nvPr/>
        </p:nvGrpSpPr>
        <p:grpSpPr bwMode="auto">
          <a:xfrm>
            <a:off x="2676525" y="3737878"/>
            <a:ext cx="1944688" cy="1955800"/>
            <a:chOff x="1695" y="2088"/>
            <a:chExt cx="1225" cy="1232"/>
          </a:xfrm>
        </p:grpSpPr>
        <p:sp>
          <p:nvSpPr>
            <p:cNvPr id="389280" name="Freeform 160"/>
            <p:cNvSpPr>
              <a:spLocks/>
            </p:cNvSpPr>
            <p:nvPr/>
          </p:nvSpPr>
          <p:spPr bwMode="auto">
            <a:xfrm>
              <a:off x="1832" y="2096"/>
              <a:ext cx="1088" cy="1224"/>
            </a:xfrm>
            <a:custGeom>
              <a:avLst/>
              <a:gdLst>
                <a:gd name="T0" fmla="*/ 1088 w 1088"/>
                <a:gd name="T1" fmla="*/ 0 h 1224"/>
                <a:gd name="T2" fmla="*/ 0 w 1088"/>
                <a:gd name="T3" fmla="*/ 680 h 1224"/>
                <a:gd name="T4" fmla="*/ 1088 w 1088"/>
                <a:gd name="T5" fmla="*/ 1224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8" h="1224">
                  <a:moveTo>
                    <a:pt x="1088" y="0"/>
                  </a:moveTo>
                  <a:cubicBezTo>
                    <a:pt x="544" y="238"/>
                    <a:pt x="0" y="476"/>
                    <a:pt x="0" y="680"/>
                  </a:cubicBezTo>
                  <a:cubicBezTo>
                    <a:pt x="0" y="884"/>
                    <a:pt x="907" y="1133"/>
                    <a:pt x="1088" y="1224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9281" name="Freeform 161"/>
            <p:cNvSpPr>
              <a:spLocks/>
            </p:cNvSpPr>
            <p:nvPr/>
          </p:nvSpPr>
          <p:spPr bwMode="auto">
            <a:xfrm>
              <a:off x="1695" y="2096"/>
              <a:ext cx="1225" cy="1224"/>
            </a:xfrm>
            <a:custGeom>
              <a:avLst/>
              <a:gdLst>
                <a:gd name="T0" fmla="*/ 1217 w 1225"/>
                <a:gd name="T1" fmla="*/ 0 h 1224"/>
                <a:gd name="T2" fmla="*/ 1 w 1225"/>
                <a:gd name="T3" fmla="*/ 672 h 1224"/>
                <a:gd name="T4" fmla="*/ 1225 w 1225"/>
                <a:gd name="T5" fmla="*/ 1224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5" h="1224">
                  <a:moveTo>
                    <a:pt x="1217" y="0"/>
                  </a:moveTo>
                  <a:cubicBezTo>
                    <a:pt x="608" y="234"/>
                    <a:pt x="0" y="468"/>
                    <a:pt x="1" y="672"/>
                  </a:cubicBezTo>
                  <a:cubicBezTo>
                    <a:pt x="2" y="876"/>
                    <a:pt x="613" y="1050"/>
                    <a:pt x="1225" y="1224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9282" name="Freeform 162"/>
            <p:cNvSpPr>
              <a:spLocks/>
            </p:cNvSpPr>
            <p:nvPr/>
          </p:nvSpPr>
          <p:spPr bwMode="auto">
            <a:xfrm>
              <a:off x="1976" y="2088"/>
              <a:ext cx="944" cy="1208"/>
            </a:xfrm>
            <a:custGeom>
              <a:avLst/>
              <a:gdLst>
                <a:gd name="T0" fmla="*/ 944 w 944"/>
                <a:gd name="T1" fmla="*/ 0 h 1208"/>
                <a:gd name="T2" fmla="*/ 0 w 944"/>
                <a:gd name="T3" fmla="*/ 688 h 1208"/>
                <a:gd name="T4" fmla="*/ 944 w 944"/>
                <a:gd name="T5" fmla="*/ 1208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44" h="1208">
                  <a:moveTo>
                    <a:pt x="944" y="0"/>
                  </a:moveTo>
                  <a:cubicBezTo>
                    <a:pt x="472" y="243"/>
                    <a:pt x="0" y="487"/>
                    <a:pt x="0" y="688"/>
                  </a:cubicBezTo>
                  <a:cubicBezTo>
                    <a:pt x="0" y="889"/>
                    <a:pt x="787" y="1123"/>
                    <a:pt x="944" y="1208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89217" name="Rectangle 97"/>
          <p:cNvSpPr>
            <a:spLocks noChangeArrowheads="1"/>
          </p:cNvSpPr>
          <p:nvPr/>
        </p:nvSpPr>
        <p:spPr bwMode="auto">
          <a:xfrm>
            <a:off x="4483100" y="5695265"/>
            <a:ext cx="330200" cy="2032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50000">
                <a:schemeClr val="folHlink">
                  <a:gamma/>
                  <a:shade val="46275"/>
                  <a:invGamma/>
                </a:schemeClr>
              </a:gs>
              <a:gs pos="100000">
                <a:schemeClr val="folHlink"/>
              </a:gs>
            </a:gsLst>
            <a:lin ang="2700000" scaled="1"/>
          </a:gradFill>
          <a:ln w="2857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89299" name="Group 179"/>
          <p:cNvGrpSpPr>
            <a:grpSpLocks/>
          </p:cNvGrpSpPr>
          <p:nvPr/>
        </p:nvGrpSpPr>
        <p:grpSpPr bwMode="auto">
          <a:xfrm>
            <a:off x="3646488" y="3636278"/>
            <a:ext cx="1035050" cy="2008187"/>
            <a:chOff x="2297" y="2023"/>
            <a:chExt cx="652" cy="1265"/>
          </a:xfrm>
        </p:grpSpPr>
        <p:sp>
          <p:nvSpPr>
            <p:cNvPr id="389283" name="Freeform 163"/>
            <p:cNvSpPr>
              <a:spLocks/>
            </p:cNvSpPr>
            <p:nvPr/>
          </p:nvSpPr>
          <p:spPr bwMode="auto">
            <a:xfrm>
              <a:off x="2401" y="2023"/>
              <a:ext cx="548" cy="1257"/>
            </a:xfrm>
            <a:custGeom>
              <a:avLst/>
              <a:gdLst>
                <a:gd name="T0" fmla="*/ 519 w 548"/>
                <a:gd name="T1" fmla="*/ 81 h 1257"/>
                <a:gd name="T2" fmla="*/ 463 w 548"/>
                <a:gd name="T3" fmla="*/ 113 h 1257"/>
                <a:gd name="T4" fmla="*/ 7 w 548"/>
                <a:gd name="T5" fmla="*/ 761 h 1257"/>
                <a:gd name="T6" fmla="*/ 503 w 548"/>
                <a:gd name="T7" fmla="*/ 1257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8" h="1257">
                  <a:moveTo>
                    <a:pt x="519" y="81"/>
                  </a:moveTo>
                  <a:cubicBezTo>
                    <a:pt x="533" y="40"/>
                    <a:pt x="548" y="0"/>
                    <a:pt x="463" y="113"/>
                  </a:cubicBezTo>
                  <a:cubicBezTo>
                    <a:pt x="378" y="226"/>
                    <a:pt x="0" y="570"/>
                    <a:pt x="7" y="761"/>
                  </a:cubicBezTo>
                  <a:cubicBezTo>
                    <a:pt x="14" y="952"/>
                    <a:pt x="420" y="1174"/>
                    <a:pt x="503" y="1257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9284" name="Freeform 164"/>
            <p:cNvSpPr>
              <a:spLocks/>
            </p:cNvSpPr>
            <p:nvPr/>
          </p:nvSpPr>
          <p:spPr bwMode="auto">
            <a:xfrm>
              <a:off x="2517" y="2096"/>
              <a:ext cx="403" cy="1192"/>
            </a:xfrm>
            <a:custGeom>
              <a:avLst/>
              <a:gdLst>
                <a:gd name="T0" fmla="*/ 403 w 403"/>
                <a:gd name="T1" fmla="*/ 0 h 1152"/>
                <a:gd name="T2" fmla="*/ 3 w 403"/>
                <a:gd name="T3" fmla="*/ 680 h 1152"/>
                <a:gd name="T4" fmla="*/ 387 w 403"/>
                <a:gd name="T5" fmla="*/ 115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3" h="1152">
                  <a:moveTo>
                    <a:pt x="403" y="0"/>
                  </a:moveTo>
                  <a:cubicBezTo>
                    <a:pt x="204" y="244"/>
                    <a:pt x="6" y="488"/>
                    <a:pt x="3" y="680"/>
                  </a:cubicBezTo>
                  <a:cubicBezTo>
                    <a:pt x="0" y="872"/>
                    <a:pt x="323" y="1075"/>
                    <a:pt x="387" y="1152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9285" name="Freeform 165"/>
            <p:cNvSpPr>
              <a:spLocks/>
            </p:cNvSpPr>
            <p:nvPr/>
          </p:nvSpPr>
          <p:spPr bwMode="auto">
            <a:xfrm>
              <a:off x="2297" y="2112"/>
              <a:ext cx="615" cy="1168"/>
            </a:xfrm>
            <a:custGeom>
              <a:avLst/>
              <a:gdLst>
                <a:gd name="T0" fmla="*/ 615 w 615"/>
                <a:gd name="T1" fmla="*/ 0 h 1168"/>
                <a:gd name="T2" fmla="*/ 7 w 615"/>
                <a:gd name="T3" fmla="*/ 664 h 1168"/>
                <a:gd name="T4" fmla="*/ 575 w 615"/>
                <a:gd name="T5" fmla="*/ 1168 h 1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5" h="1168">
                  <a:moveTo>
                    <a:pt x="615" y="0"/>
                  </a:moveTo>
                  <a:cubicBezTo>
                    <a:pt x="314" y="234"/>
                    <a:pt x="14" y="469"/>
                    <a:pt x="7" y="664"/>
                  </a:cubicBezTo>
                  <a:cubicBezTo>
                    <a:pt x="0" y="859"/>
                    <a:pt x="287" y="1013"/>
                    <a:pt x="575" y="1168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89216" name="Oval 96"/>
          <p:cNvSpPr>
            <a:spLocks noChangeArrowheads="1"/>
          </p:cNvSpPr>
          <p:nvPr/>
        </p:nvSpPr>
        <p:spPr bwMode="auto">
          <a:xfrm>
            <a:off x="4302823" y="3579237"/>
            <a:ext cx="177800" cy="1778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tx2"/>
            </a:solidFill>
            <a:round/>
            <a:headEnd/>
            <a:tailEnd/>
          </a:ln>
          <a:effectLst>
            <a:outerShdw dist="45791" dir="337859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768D57-84AB-44E4-8F44-9238A8AF6260}"/>
              </a:ext>
            </a:extLst>
          </p:cNvPr>
          <p:cNvSpPr txBox="1"/>
          <p:nvPr/>
        </p:nvSpPr>
        <p:spPr>
          <a:xfrm>
            <a:off x="1839002" y="1212618"/>
            <a:ext cx="5144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Addition Principle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（加法原理）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3A49D0E-2A17-4DBD-848F-906EE186765A}"/>
                  </a:ext>
                </a:extLst>
              </p:cNvPr>
              <p:cNvSpPr txBox="1"/>
              <p:nvPr/>
            </p:nvSpPr>
            <p:spPr>
              <a:xfrm>
                <a:off x="4491517" y="6073675"/>
                <a:ext cx="32774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3A49D0E-2A17-4DBD-848F-906EE1867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517" y="6073675"/>
                <a:ext cx="3277436" cy="369332"/>
              </a:xfrm>
              <a:prstGeom prst="rect">
                <a:avLst/>
              </a:prstGeom>
              <a:blipFill>
                <a:blip r:embed="rId4"/>
                <a:stretch>
                  <a:fillRect l="-1544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33B7BD8F-4F9F-452F-988F-C2AB8FF3F331}"/>
              </a:ext>
            </a:extLst>
          </p:cNvPr>
          <p:cNvGrpSpPr/>
          <p:nvPr/>
        </p:nvGrpSpPr>
        <p:grpSpPr>
          <a:xfrm>
            <a:off x="2412012" y="4445129"/>
            <a:ext cx="854269" cy="497661"/>
            <a:chOff x="2412012" y="4071164"/>
            <a:chExt cx="854269" cy="497661"/>
          </a:xfrm>
        </p:grpSpPr>
        <p:sp>
          <p:nvSpPr>
            <p:cNvPr id="389279" name="Oval 159"/>
            <p:cNvSpPr>
              <a:spLocks noChangeArrowheads="1"/>
            </p:cNvSpPr>
            <p:nvPr/>
          </p:nvSpPr>
          <p:spPr bwMode="auto">
            <a:xfrm>
              <a:off x="2567781" y="4225925"/>
              <a:ext cx="698500" cy="342900"/>
            </a:xfrm>
            <a:prstGeom prst="ellipse">
              <a:avLst/>
            </a:prstGeom>
            <a:noFill/>
            <a:ln w="28575" algn="ctr">
              <a:solidFill>
                <a:schemeClr val="accent2"/>
              </a:solidFill>
              <a:prstDash val="dash"/>
              <a:round/>
              <a:headEnd/>
              <a:tailEnd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8C7A2F6-6746-41D5-9F50-4CBCBE5B16BC}"/>
                    </a:ext>
                  </a:extLst>
                </p:cNvPr>
                <p:cNvSpPr txBox="1"/>
                <p:nvPr/>
              </p:nvSpPr>
              <p:spPr>
                <a:xfrm>
                  <a:off x="2412012" y="4071164"/>
                  <a:ext cx="3584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8C7A2F6-6746-41D5-9F50-4CBCBE5B1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2012" y="4071164"/>
                  <a:ext cx="35849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8621" r="-5172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D61F274-1D37-44B2-9895-27F0CD89F839}"/>
              </a:ext>
            </a:extLst>
          </p:cNvPr>
          <p:cNvGrpSpPr/>
          <p:nvPr/>
        </p:nvGrpSpPr>
        <p:grpSpPr>
          <a:xfrm>
            <a:off x="3471863" y="4465502"/>
            <a:ext cx="746125" cy="520151"/>
            <a:chOff x="3471863" y="4091537"/>
            <a:chExt cx="746125" cy="520151"/>
          </a:xfrm>
        </p:grpSpPr>
        <p:sp>
          <p:nvSpPr>
            <p:cNvPr id="389286" name="Oval 166"/>
            <p:cNvSpPr>
              <a:spLocks noChangeArrowheads="1"/>
            </p:cNvSpPr>
            <p:nvPr/>
          </p:nvSpPr>
          <p:spPr bwMode="auto">
            <a:xfrm>
              <a:off x="3532188" y="4268788"/>
              <a:ext cx="685800" cy="342900"/>
            </a:xfrm>
            <a:prstGeom prst="ellipse">
              <a:avLst/>
            </a:prstGeom>
            <a:noFill/>
            <a:ln w="28575" algn="ctr">
              <a:solidFill>
                <a:schemeClr val="accent2"/>
              </a:solidFill>
              <a:prstDash val="dash"/>
              <a:round/>
              <a:headEnd/>
              <a:tailEnd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B264060F-0336-4767-A49E-328E4830151B}"/>
                    </a:ext>
                  </a:extLst>
                </p:cNvPr>
                <p:cNvSpPr txBox="1"/>
                <p:nvPr/>
              </p:nvSpPr>
              <p:spPr>
                <a:xfrm>
                  <a:off x="3471863" y="4091537"/>
                  <a:ext cx="3638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B264060F-0336-4767-A49E-328E483015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1863" y="4091537"/>
                  <a:ext cx="36381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8475" r="-5085"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7A10E4D-0058-44E5-8300-F84177B3DD97}"/>
              </a:ext>
            </a:extLst>
          </p:cNvPr>
          <p:cNvGrpSpPr/>
          <p:nvPr/>
        </p:nvGrpSpPr>
        <p:grpSpPr>
          <a:xfrm>
            <a:off x="5929708" y="4523304"/>
            <a:ext cx="790180" cy="487749"/>
            <a:chOff x="5929708" y="4149339"/>
            <a:chExt cx="790180" cy="487749"/>
          </a:xfrm>
        </p:grpSpPr>
        <p:sp>
          <p:nvSpPr>
            <p:cNvPr id="389293" name="Oval 173"/>
            <p:cNvSpPr>
              <a:spLocks noChangeArrowheads="1"/>
            </p:cNvSpPr>
            <p:nvPr/>
          </p:nvSpPr>
          <p:spPr bwMode="auto">
            <a:xfrm>
              <a:off x="6021388" y="4294188"/>
              <a:ext cx="698500" cy="342900"/>
            </a:xfrm>
            <a:prstGeom prst="ellipse">
              <a:avLst/>
            </a:prstGeom>
            <a:noFill/>
            <a:ln w="28575" algn="ctr">
              <a:solidFill>
                <a:schemeClr val="accent2"/>
              </a:solidFill>
              <a:prstDash val="dash"/>
              <a:round/>
              <a:headEnd/>
              <a:tailEnd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772E2B8-1F5C-47FD-B6AB-231B3DEBD062}"/>
                    </a:ext>
                  </a:extLst>
                </p:cNvPr>
                <p:cNvSpPr txBox="1"/>
                <p:nvPr/>
              </p:nvSpPr>
              <p:spPr>
                <a:xfrm>
                  <a:off x="5929708" y="4149339"/>
                  <a:ext cx="3779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772E2B8-1F5C-47FD-B6AB-231B3DEBD0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9708" y="4149339"/>
                  <a:ext cx="37792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8065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WordArt 42">
            <a:extLst>
              <a:ext uri="{FF2B5EF4-FFF2-40B4-BE49-F238E27FC236}">
                <a16:creationId xmlns:a16="http://schemas.microsoft.com/office/drawing/2014/main" id="{5EBB9836-0CC0-44EC-A80B-758BEB86AE0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24659" y="746565"/>
            <a:ext cx="4139629" cy="388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rPr>
              <a:t>How to count the ways ?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/>
              <a:ea typeface="方正舒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9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9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8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9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9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9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9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8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8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89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89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8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8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68" grpId="0"/>
      <p:bldP spid="389271" grpId="0" animBg="1"/>
      <p:bldP spid="389273" grpId="0"/>
      <p:bldP spid="389217" grpId="0" animBg="1"/>
      <p:bldP spid="389216" grpId="0" animBg="1"/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56" name="Line 12"/>
          <p:cNvSpPr>
            <a:spLocks noChangeShapeType="1"/>
          </p:cNvSpPr>
          <p:nvPr/>
        </p:nvSpPr>
        <p:spPr bwMode="auto">
          <a:xfrm>
            <a:off x="4813300" y="4510128"/>
            <a:ext cx="6350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15791" name="Group 47"/>
          <p:cNvGrpSpPr>
            <a:grpSpLocks/>
          </p:cNvGrpSpPr>
          <p:nvPr/>
        </p:nvGrpSpPr>
        <p:grpSpPr bwMode="auto">
          <a:xfrm>
            <a:off x="3101843" y="1516103"/>
            <a:ext cx="4633979" cy="1791342"/>
            <a:chOff x="2998" y="666"/>
            <a:chExt cx="2556" cy="17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5778" name="Rectangle 34"/>
                <p:cNvSpPr>
                  <a:spLocks noChangeArrowheads="1"/>
                </p:cNvSpPr>
                <p:nvPr/>
              </p:nvSpPr>
              <p:spPr bwMode="auto">
                <a:xfrm>
                  <a:off x="2998" y="666"/>
                  <a:ext cx="2556" cy="17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l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Monotype Sorts" pitchFamily="2" charset="2"/>
                    <a:buNone/>
                    <a:defRPr/>
                  </a:pP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There</a:t>
                  </a:r>
                  <a:r>
                    <a:rPr lang="zh-CN" altLang="en-US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are</a:t>
                  </a:r>
                  <a:r>
                    <a:rPr lang="zh-CN" altLang="en-US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m</m:t>
                          </m:r>
                        </m:e>
                        <m:sub>
                          <m:r>
                            <a:rPr lang="en-US" altLang="zh-CN" sz="2400" b="0" i="1" dirty="0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ways in the 1</a:t>
                  </a:r>
                  <a:r>
                    <a:rPr lang="en-US" altLang="zh-CN" sz="2400" baseline="300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st</a:t>
                  </a: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step</a:t>
                  </a:r>
                  <a:endPara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defRPr/>
                  </a:pP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There</a:t>
                  </a:r>
                  <a:r>
                    <a:rPr lang="zh-CN" altLang="en-US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are</a:t>
                  </a:r>
                  <a:r>
                    <a:rPr lang="zh-CN" altLang="en-US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m</m:t>
                          </m:r>
                        </m:e>
                        <m:sub>
                          <m:r>
                            <a:rPr lang="en-US" altLang="zh-CN" sz="2400" b="0" i="1" dirty="0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ways in the 2</a:t>
                  </a:r>
                  <a:r>
                    <a:rPr lang="en-US" altLang="zh-CN" sz="2400" baseline="300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nd </a:t>
                  </a: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step</a:t>
                  </a:r>
                  <a:endPara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algn="l"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Monotype Sorts" pitchFamily="2" charset="2"/>
                    <a:buNone/>
                    <a:defRPr/>
                  </a:pPr>
                  <a:endPara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eaLnBrk="0" hangingPunct="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defRPr/>
                  </a:pP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There</a:t>
                  </a:r>
                  <a:r>
                    <a:rPr lang="zh-CN" altLang="en-US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</a:t>
                  </a: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are</a:t>
                  </a:r>
                  <a:r>
                    <a:rPr lang="en-US" altLang="zh-CN" sz="2400" dirty="0">
                      <a:effectLst/>
                      <a:ea typeface="华文新魏" panose="02010800040101010101" pitchFamily="2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m</m:t>
                          </m:r>
                        </m:e>
                        <m:sub>
                          <m:r>
                            <a:rPr lang="en-US" altLang="zh-CN" sz="2400" b="0" i="1" dirty="0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ways in the n</a:t>
                  </a:r>
                  <a:r>
                    <a:rPr lang="en-US" altLang="zh-CN" sz="2400" baseline="300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th</a:t>
                  </a:r>
                  <a:r>
                    <a:rPr lang="en-US" altLang="zh-CN" sz="240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step</a:t>
                  </a:r>
                  <a:endPara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415778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98" y="666"/>
                  <a:ext cx="2556" cy="1714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519" t="-2721" b="-714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5783" name="Rectangle 39"/>
            <p:cNvSpPr>
              <a:spLocks noChangeArrowheads="1"/>
            </p:cNvSpPr>
            <p:nvPr/>
          </p:nvSpPr>
          <p:spPr bwMode="auto">
            <a:xfrm>
              <a:off x="3088" y="1523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accent1">
                          <a:gamma/>
                          <a:shade val="46275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/>
                </a:rPr>
                <a:t>……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415785" name="Rectangle 41"/>
          <p:cNvSpPr>
            <a:spLocks noChangeArrowheads="1"/>
          </p:cNvSpPr>
          <p:nvPr/>
        </p:nvSpPr>
        <p:spPr bwMode="auto">
          <a:xfrm>
            <a:off x="635743" y="2184232"/>
            <a:ext cx="24173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n different steps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15787" name="AutoShape 43"/>
          <p:cNvSpPr>
            <a:spLocks/>
          </p:cNvSpPr>
          <p:nvPr/>
        </p:nvSpPr>
        <p:spPr bwMode="auto">
          <a:xfrm>
            <a:off x="2944342" y="1533101"/>
            <a:ext cx="88900" cy="1879600"/>
          </a:xfrm>
          <a:prstGeom prst="leftBrace">
            <a:avLst>
              <a:gd name="adj1" fmla="val 176190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/>
                    </a:gs>
                    <a:gs pos="5000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5788" name="Rectangle 44"/>
          <p:cNvSpPr>
            <a:spLocks noChangeArrowheads="1"/>
          </p:cNvSpPr>
          <p:nvPr/>
        </p:nvSpPr>
        <p:spPr bwMode="auto">
          <a:xfrm>
            <a:off x="1190921" y="5852277"/>
            <a:ext cx="53975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total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number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of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ways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15842" name="Group 98"/>
          <p:cNvGrpSpPr>
            <a:grpSpLocks/>
          </p:cNvGrpSpPr>
          <p:nvPr/>
        </p:nvGrpSpPr>
        <p:grpSpPr bwMode="auto">
          <a:xfrm>
            <a:off x="431801" y="4384716"/>
            <a:ext cx="2159000" cy="188912"/>
            <a:chOff x="272" y="2456"/>
            <a:chExt cx="1446" cy="112"/>
          </a:xfrm>
        </p:grpSpPr>
        <p:sp>
          <p:nvSpPr>
            <p:cNvPr id="415807" name="Oval 63"/>
            <p:cNvSpPr>
              <a:spLocks noChangeArrowheads="1"/>
            </p:cNvSpPr>
            <p:nvPr/>
          </p:nvSpPr>
          <p:spPr bwMode="auto">
            <a:xfrm>
              <a:off x="272" y="2456"/>
              <a:ext cx="112" cy="112"/>
            </a:xfrm>
            <a:prstGeom prst="ellipse">
              <a:avLst/>
            </a:prstGeom>
            <a:noFill/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15" name="Line 71"/>
            <p:cNvSpPr>
              <a:spLocks noChangeShapeType="1"/>
            </p:cNvSpPr>
            <p:nvPr/>
          </p:nvSpPr>
          <p:spPr bwMode="auto">
            <a:xfrm flipV="1">
              <a:off x="1030" y="2519"/>
              <a:ext cx="688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15812" name="Group 68"/>
          <p:cNvGrpSpPr>
            <a:grpSpLocks/>
          </p:cNvGrpSpPr>
          <p:nvPr/>
        </p:nvGrpSpPr>
        <p:grpSpPr bwMode="auto">
          <a:xfrm>
            <a:off x="2003425" y="3865608"/>
            <a:ext cx="968375" cy="1573215"/>
            <a:chOff x="1710" y="2296"/>
            <a:chExt cx="610" cy="991"/>
          </a:xfrm>
        </p:grpSpPr>
        <p:sp>
          <p:nvSpPr>
            <p:cNvPr id="415810" name="Rectangle 66"/>
            <p:cNvSpPr>
              <a:spLocks noChangeArrowheads="1"/>
            </p:cNvSpPr>
            <p:nvPr/>
          </p:nvSpPr>
          <p:spPr bwMode="auto">
            <a:xfrm>
              <a:off x="2080" y="2296"/>
              <a:ext cx="240" cy="776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2857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9263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7864727"/>
                </p:ext>
              </p:extLst>
            </p:nvPr>
          </p:nvGraphicFramePr>
          <p:xfrm>
            <a:off x="1710" y="3079"/>
            <a:ext cx="19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" name="Equation" r:id="rId5" imgW="88560" imgH="139680" progId="Equation.DSMT4">
                    <p:embed/>
                  </p:oleObj>
                </mc:Choice>
                <mc:Fallback>
                  <p:oleObj name="Equation" r:id="rId5" imgW="88560" imgH="139680" progId="Equation.DSMT4">
                    <p:embed/>
                    <p:pic>
                      <p:nvPicPr>
                        <p:cNvPr id="0" name="Picture 1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0" y="3079"/>
                          <a:ext cx="198" cy="208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5843" name="Group 99"/>
          <p:cNvGrpSpPr>
            <a:grpSpLocks/>
          </p:cNvGrpSpPr>
          <p:nvPr/>
        </p:nvGrpSpPr>
        <p:grpSpPr bwMode="auto">
          <a:xfrm>
            <a:off x="2973388" y="4105316"/>
            <a:ext cx="661987" cy="795337"/>
            <a:chOff x="1961" y="2273"/>
            <a:chExt cx="417" cy="501"/>
          </a:xfrm>
        </p:grpSpPr>
        <p:sp>
          <p:nvSpPr>
            <p:cNvPr id="415822" name="Line 78"/>
            <p:cNvSpPr>
              <a:spLocks noChangeShapeType="1"/>
            </p:cNvSpPr>
            <p:nvPr/>
          </p:nvSpPr>
          <p:spPr bwMode="auto">
            <a:xfrm flipV="1">
              <a:off x="1965" y="2273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23" name="Line 79"/>
            <p:cNvSpPr>
              <a:spLocks noChangeShapeType="1"/>
            </p:cNvSpPr>
            <p:nvPr/>
          </p:nvSpPr>
          <p:spPr bwMode="auto">
            <a:xfrm flipV="1">
              <a:off x="1964" y="2402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24" name="Line 80"/>
            <p:cNvSpPr>
              <a:spLocks noChangeShapeType="1"/>
            </p:cNvSpPr>
            <p:nvPr/>
          </p:nvSpPr>
          <p:spPr bwMode="auto">
            <a:xfrm flipV="1">
              <a:off x="1961" y="2519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25" name="Line 81"/>
            <p:cNvSpPr>
              <a:spLocks noChangeShapeType="1"/>
            </p:cNvSpPr>
            <p:nvPr/>
          </p:nvSpPr>
          <p:spPr bwMode="auto">
            <a:xfrm flipV="1">
              <a:off x="1963" y="2647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26" name="Line 82"/>
            <p:cNvSpPr>
              <a:spLocks noChangeShapeType="1"/>
            </p:cNvSpPr>
            <p:nvPr/>
          </p:nvSpPr>
          <p:spPr bwMode="auto">
            <a:xfrm flipV="1">
              <a:off x="1966" y="2774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15821" name="Group 77"/>
          <p:cNvGrpSpPr>
            <a:grpSpLocks/>
          </p:cNvGrpSpPr>
          <p:nvPr/>
        </p:nvGrpSpPr>
        <p:grpSpPr bwMode="auto">
          <a:xfrm>
            <a:off x="3135313" y="3867191"/>
            <a:ext cx="879475" cy="1584325"/>
            <a:chOff x="2383" y="2339"/>
            <a:chExt cx="554" cy="998"/>
          </a:xfrm>
        </p:grpSpPr>
        <p:sp>
          <p:nvSpPr>
            <p:cNvPr id="415819" name="Rectangle 75"/>
            <p:cNvSpPr>
              <a:spLocks noChangeArrowheads="1"/>
            </p:cNvSpPr>
            <p:nvPr/>
          </p:nvSpPr>
          <p:spPr bwMode="auto">
            <a:xfrm>
              <a:off x="2697" y="2339"/>
              <a:ext cx="240" cy="776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2857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9256" name="Object 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0787094"/>
                </p:ext>
              </p:extLst>
            </p:nvPr>
          </p:nvGraphicFramePr>
          <p:xfrm>
            <a:off x="2383" y="3116"/>
            <a:ext cx="205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Equation" r:id="rId7" imgW="114120" imgH="139680" progId="Equation.DSMT4">
                    <p:embed/>
                  </p:oleObj>
                </mc:Choice>
                <mc:Fallback>
                  <p:oleObj name="Equation" r:id="rId7" imgW="114120" imgH="139680" progId="Equation.DSMT4">
                    <p:embed/>
                    <p:pic>
                      <p:nvPicPr>
                        <p:cNvPr id="0" name="Picture 2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3" y="3116"/>
                          <a:ext cx="205" cy="221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5839" name="Line 95"/>
          <p:cNvSpPr>
            <a:spLocks noChangeShapeType="1"/>
          </p:cNvSpPr>
          <p:nvPr/>
        </p:nvSpPr>
        <p:spPr bwMode="auto">
          <a:xfrm rot="10800000" flipV="1">
            <a:off x="6615113" y="4497428"/>
            <a:ext cx="10922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stealth" w="med" len="lg"/>
            <a:tailEnd type="none" w="med" len="lg"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5776" name="Rectangle 32"/>
          <p:cNvSpPr>
            <a:spLocks noChangeArrowheads="1"/>
          </p:cNvSpPr>
          <p:nvPr/>
        </p:nvSpPr>
        <p:spPr bwMode="auto">
          <a:xfrm>
            <a:off x="7731125" y="4384716"/>
            <a:ext cx="279400" cy="250825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50000">
                <a:schemeClr val="folHlink">
                  <a:gamma/>
                  <a:shade val="46275"/>
                  <a:invGamma/>
                </a:schemeClr>
              </a:gs>
              <a:gs pos="100000">
                <a:schemeClr val="folHlink"/>
              </a:gs>
            </a:gsLst>
            <a:lin ang="2700000" scaled="1"/>
          </a:gradFill>
          <a:ln w="2857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15844" name="Group 100"/>
          <p:cNvGrpSpPr>
            <a:grpSpLocks/>
          </p:cNvGrpSpPr>
          <p:nvPr/>
        </p:nvGrpSpPr>
        <p:grpSpPr bwMode="auto">
          <a:xfrm>
            <a:off x="5578475" y="4106903"/>
            <a:ext cx="661988" cy="795338"/>
            <a:chOff x="3514" y="2274"/>
            <a:chExt cx="417" cy="501"/>
          </a:xfrm>
        </p:grpSpPr>
        <p:sp>
          <p:nvSpPr>
            <p:cNvPr id="415827" name="Line 83"/>
            <p:cNvSpPr>
              <a:spLocks noChangeShapeType="1"/>
            </p:cNvSpPr>
            <p:nvPr/>
          </p:nvSpPr>
          <p:spPr bwMode="auto">
            <a:xfrm flipV="1">
              <a:off x="3518" y="2274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28" name="Line 84"/>
            <p:cNvSpPr>
              <a:spLocks noChangeShapeType="1"/>
            </p:cNvSpPr>
            <p:nvPr/>
          </p:nvSpPr>
          <p:spPr bwMode="auto">
            <a:xfrm flipV="1">
              <a:off x="3517" y="2403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29" name="Line 85"/>
            <p:cNvSpPr>
              <a:spLocks noChangeShapeType="1"/>
            </p:cNvSpPr>
            <p:nvPr/>
          </p:nvSpPr>
          <p:spPr bwMode="auto">
            <a:xfrm flipV="1">
              <a:off x="3514" y="2512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30" name="Line 86"/>
            <p:cNvSpPr>
              <a:spLocks noChangeShapeType="1"/>
            </p:cNvSpPr>
            <p:nvPr/>
          </p:nvSpPr>
          <p:spPr bwMode="auto">
            <a:xfrm flipV="1">
              <a:off x="3516" y="2640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31" name="Line 87"/>
            <p:cNvSpPr>
              <a:spLocks noChangeShapeType="1"/>
            </p:cNvSpPr>
            <p:nvPr/>
          </p:nvSpPr>
          <p:spPr bwMode="auto">
            <a:xfrm flipV="1">
              <a:off x="3519" y="2775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15832" name="Group 88"/>
          <p:cNvGrpSpPr>
            <a:grpSpLocks/>
          </p:cNvGrpSpPr>
          <p:nvPr/>
        </p:nvGrpSpPr>
        <p:grpSpPr bwMode="auto">
          <a:xfrm>
            <a:off x="6229557" y="3896149"/>
            <a:ext cx="1127126" cy="1544638"/>
            <a:chOff x="2697" y="2339"/>
            <a:chExt cx="710" cy="973"/>
          </a:xfrm>
        </p:grpSpPr>
        <p:sp>
          <p:nvSpPr>
            <p:cNvPr id="415833" name="Rectangle 89"/>
            <p:cNvSpPr>
              <a:spLocks noChangeArrowheads="1"/>
            </p:cNvSpPr>
            <p:nvPr/>
          </p:nvSpPr>
          <p:spPr bwMode="auto">
            <a:xfrm>
              <a:off x="2697" y="2339"/>
              <a:ext cx="240" cy="776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2857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9244" name="Object 9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9927693"/>
                </p:ext>
              </p:extLst>
            </p:nvPr>
          </p:nvGraphicFramePr>
          <p:xfrm>
            <a:off x="3181" y="3076"/>
            <a:ext cx="226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9" imgW="25560" imgH="38160" progId="Equation.DSMT4">
                    <p:embed/>
                  </p:oleObj>
                </mc:Choice>
                <mc:Fallback>
                  <p:oleObj name="Equation" r:id="rId9" imgW="25560" imgH="38160" progId="Equation.DSMT4">
                    <p:embed/>
                    <p:pic>
                      <p:nvPicPr>
                        <p:cNvPr id="0" name="Picture 2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1" y="3076"/>
                          <a:ext cx="226" cy="236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5848" name="Group 104"/>
          <p:cNvGrpSpPr>
            <a:grpSpLocks/>
          </p:cNvGrpSpPr>
          <p:nvPr/>
        </p:nvGrpSpPr>
        <p:grpSpPr bwMode="auto">
          <a:xfrm>
            <a:off x="4041775" y="4106903"/>
            <a:ext cx="661988" cy="795338"/>
            <a:chOff x="1961" y="2273"/>
            <a:chExt cx="417" cy="501"/>
          </a:xfrm>
        </p:grpSpPr>
        <p:sp>
          <p:nvSpPr>
            <p:cNvPr id="415849" name="Line 105"/>
            <p:cNvSpPr>
              <a:spLocks noChangeShapeType="1"/>
            </p:cNvSpPr>
            <p:nvPr/>
          </p:nvSpPr>
          <p:spPr bwMode="auto">
            <a:xfrm flipV="1">
              <a:off x="1965" y="2273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50" name="Line 106"/>
            <p:cNvSpPr>
              <a:spLocks noChangeShapeType="1"/>
            </p:cNvSpPr>
            <p:nvPr/>
          </p:nvSpPr>
          <p:spPr bwMode="auto">
            <a:xfrm flipV="1">
              <a:off x="1964" y="2402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51" name="Line 107"/>
            <p:cNvSpPr>
              <a:spLocks noChangeShapeType="1"/>
            </p:cNvSpPr>
            <p:nvPr/>
          </p:nvSpPr>
          <p:spPr bwMode="auto">
            <a:xfrm flipV="1">
              <a:off x="1961" y="2519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52" name="Line 108"/>
            <p:cNvSpPr>
              <a:spLocks noChangeShapeType="1"/>
            </p:cNvSpPr>
            <p:nvPr/>
          </p:nvSpPr>
          <p:spPr bwMode="auto">
            <a:xfrm flipV="1">
              <a:off x="1963" y="2647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5853" name="Line 109"/>
            <p:cNvSpPr>
              <a:spLocks noChangeShapeType="1"/>
            </p:cNvSpPr>
            <p:nvPr/>
          </p:nvSpPr>
          <p:spPr bwMode="auto">
            <a:xfrm flipV="1">
              <a:off x="1966" y="2774"/>
              <a:ext cx="4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4015059-7BCD-4585-B2A3-B4E52D5DF9C2}"/>
                  </a:ext>
                </a:extLst>
              </p:cNvPr>
              <p:cNvSpPr txBox="1"/>
              <p:nvPr/>
            </p:nvSpPr>
            <p:spPr>
              <a:xfrm>
                <a:off x="5163335" y="5906662"/>
                <a:ext cx="24902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4015059-7BCD-4585-B2A3-B4E52D5DF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335" y="5906662"/>
                <a:ext cx="2490297" cy="369332"/>
              </a:xfrm>
              <a:prstGeom prst="rect">
                <a:avLst/>
              </a:prstGeom>
              <a:blipFill>
                <a:blip r:embed="rId11"/>
                <a:stretch>
                  <a:fillRect l="-1956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本框 60">
            <a:extLst>
              <a:ext uri="{FF2B5EF4-FFF2-40B4-BE49-F238E27FC236}">
                <a16:creationId xmlns:a16="http://schemas.microsoft.com/office/drawing/2014/main" id="{3A558163-7542-4FDD-8083-C59DB24D01A0}"/>
              </a:ext>
            </a:extLst>
          </p:cNvPr>
          <p:cNvSpPr txBox="1"/>
          <p:nvPr/>
        </p:nvSpPr>
        <p:spPr>
          <a:xfrm>
            <a:off x="2136408" y="829824"/>
            <a:ext cx="5131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Multiplication Principle</a:t>
            </a:r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（乘法原理）</a:t>
            </a:r>
          </a:p>
        </p:txBody>
      </p:sp>
      <p:sp>
        <p:nvSpPr>
          <p:cNvPr id="54" name="Line 95">
            <a:extLst>
              <a:ext uri="{FF2B5EF4-FFF2-40B4-BE49-F238E27FC236}">
                <a16:creationId xmlns:a16="http://schemas.microsoft.com/office/drawing/2014/main" id="{D1C1D7F2-0B4B-4A87-82DC-CAADDC8884BF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6643687" y="4514224"/>
            <a:ext cx="1063626" cy="12128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stealth" w="med" len="lg"/>
            <a:tailEnd type="none" w="med" len="lg"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" name="Line 95">
            <a:extLst>
              <a:ext uri="{FF2B5EF4-FFF2-40B4-BE49-F238E27FC236}">
                <a16:creationId xmlns:a16="http://schemas.microsoft.com/office/drawing/2014/main" id="{43E948F0-3B29-4E90-B6EE-288C9AF23B6A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637336" y="4349789"/>
            <a:ext cx="1041401" cy="14604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stealth" w="med" len="lg"/>
            <a:tailEnd type="none" w="med" len="lg"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Line 95">
            <a:extLst>
              <a:ext uri="{FF2B5EF4-FFF2-40B4-BE49-F238E27FC236}">
                <a16:creationId xmlns:a16="http://schemas.microsoft.com/office/drawing/2014/main" id="{9155AD66-25EE-4ED5-87C5-F3F99F825224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6602412" y="4510128"/>
            <a:ext cx="1063627" cy="31668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stealth" w="med" len="lg"/>
            <a:tailEnd type="none" w="med" len="lg"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" name="Line 95">
            <a:extLst>
              <a:ext uri="{FF2B5EF4-FFF2-40B4-BE49-F238E27FC236}">
                <a16:creationId xmlns:a16="http://schemas.microsoft.com/office/drawing/2014/main" id="{2E423B0D-296A-433F-8A37-B8AD30C27A5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586537" y="4133086"/>
            <a:ext cx="1063628" cy="36274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stealth" w="med" len="lg"/>
            <a:tailEnd type="none" w="med" len="lg"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Line 95">
            <a:extLst>
              <a:ext uri="{FF2B5EF4-FFF2-40B4-BE49-F238E27FC236}">
                <a16:creationId xmlns:a16="http://schemas.microsoft.com/office/drawing/2014/main" id="{2E423B0D-296A-433F-8A37-B8AD30C27A52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1639163" y="4105315"/>
            <a:ext cx="926039" cy="37385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stealth" w="med" len="lg"/>
            <a:tailEnd type="none" w="med" len="lg"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Line 95">
            <a:extLst>
              <a:ext uri="{FF2B5EF4-FFF2-40B4-BE49-F238E27FC236}">
                <a16:creationId xmlns:a16="http://schemas.microsoft.com/office/drawing/2014/main" id="{2E423B0D-296A-433F-8A37-B8AD30C27A52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1639165" y="4292243"/>
            <a:ext cx="926037" cy="198736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stealth" w="med" len="lg"/>
            <a:tailEnd type="none" w="med" len="lg"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" name="Line 95">
            <a:extLst>
              <a:ext uri="{FF2B5EF4-FFF2-40B4-BE49-F238E27FC236}">
                <a16:creationId xmlns:a16="http://schemas.microsoft.com/office/drawing/2014/main" id="{2E423B0D-296A-433F-8A37-B8AD30C27A5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1576160" y="4479172"/>
            <a:ext cx="989041" cy="208756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stealth" w="med" len="lg"/>
            <a:tailEnd type="none" w="med" len="lg"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Line 95">
            <a:extLst>
              <a:ext uri="{FF2B5EF4-FFF2-40B4-BE49-F238E27FC236}">
                <a16:creationId xmlns:a16="http://schemas.microsoft.com/office/drawing/2014/main" id="{2E423B0D-296A-433F-8A37-B8AD30C27A5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1590475" y="4487094"/>
            <a:ext cx="959292" cy="415146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stealth" w="med" len="lg"/>
            <a:tailEnd type="none" w="med" len="lg"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5775" name="Oval 31"/>
          <p:cNvSpPr>
            <a:spLocks noChangeArrowheads="1"/>
          </p:cNvSpPr>
          <p:nvPr/>
        </p:nvSpPr>
        <p:spPr bwMode="auto">
          <a:xfrm>
            <a:off x="1465263" y="4391066"/>
            <a:ext cx="177800" cy="1778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tx2"/>
            </a:solidFill>
            <a:round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4C0A8A8-E096-41BC-96ED-71B716DC5914}"/>
              </a:ext>
            </a:extLst>
          </p:cNvPr>
          <p:cNvCxnSpPr>
            <a:stCxn id="415775" idx="6"/>
            <a:endCxn id="415815" idx="1"/>
          </p:cNvCxnSpPr>
          <p:nvPr/>
        </p:nvCxnSpPr>
        <p:spPr>
          <a:xfrm>
            <a:off x="1643063" y="4479966"/>
            <a:ext cx="947738" cy="11012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07BB3A6-E887-46D4-A243-1B290BF62EC0}"/>
              </a:ext>
            </a:extLst>
          </p:cNvPr>
          <p:cNvCxnSpPr>
            <a:stCxn id="415810" idx="1"/>
            <a:endCxn id="415823" idx="0"/>
          </p:cNvCxnSpPr>
          <p:nvPr/>
        </p:nvCxnSpPr>
        <p:spPr>
          <a:xfrm flipV="1">
            <a:off x="2590800" y="4310103"/>
            <a:ext cx="387350" cy="171455"/>
          </a:xfrm>
          <a:prstGeom prst="straightConnector1">
            <a:avLst/>
          </a:prstGeom>
          <a:ln w="31750" cmpd="sng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034C2BD-D81D-459D-A945-6A2CB2C9DB7B}"/>
              </a:ext>
            </a:extLst>
          </p:cNvPr>
          <p:cNvCxnSpPr>
            <a:cxnSpLocks/>
            <a:endCxn id="415823" idx="1"/>
          </p:cNvCxnSpPr>
          <p:nvPr/>
        </p:nvCxnSpPr>
        <p:spPr>
          <a:xfrm flipV="1">
            <a:off x="2971800" y="4310102"/>
            <a:ext cx="660400" cy="10272"/>
          </a:xfrm>
          <a:prstGeom prst="straightConnector1">
            <a:avLst/>
          </a:prstGeom>
          <a:ln w="31750" cmpd="sng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BEAA55C2-7514-427A-8AD9-4B1C1AE8D65D}"/>
              </a:ext>
            </a:extLst>
          </p:cNvPr>
          <p:cNvCxnSpPr>
            <a:cxnSpLocks/>
            <a:endCxn id="415853" idx="0"/>
          </p:cNvCxnSpPr>
          <p:nvPr/>
        </p:nvCxnSpPr>
        <p:spPr>
          <a:xfrm>
            <a:off x="3601209" y="4311273"/>
            <a:ext cx="448504" cy="590968"/>
          </a:xfrm>
          <a:prstGeom prst="straightConnector1">
            <a:avLst/>
          </a:prstGeom>
          <a:ln w="31750" cmpd="sng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EABDD985-7C0B-43DE-B0E7-B5391B83937F}"/>
              </a:ext>
            </a:extLst>
          </p:cNvPr>
          <p:cNvCxnSpPr>
            <a:cxnSpLocks/>
            <a:stCxn id="415829" idx="0"/>
            <a:endCxn id="415833" idx="3"/>
          </p:cNvCxnSpPr>
          <p:nvPr/>
        </p:nvCxnSpPr>
        <p:spPr>
          <a:xfrm>
            <a:off x="5578475" y="4484728"/>
            <a:ext cx="1032082" cy="27371"/>
          </a:xfrm>
          <a:prstGeom prst="straightConnector1">
            <a:avLst/>
          </a:prstGeom>
          <a:ln w="31750" cmpd="sng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2522DE0-D0CF-4BB1-ABEF-3FA4235F5AB4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6618495" y="4479942"/>
            <a:ext cx="1031670" cy="15887"/>
          </a:xfrm>
          <a:prstGeom prst="straightConnector1">
            <a:avLst/>
          </a:prstGeom>
          <a:ln w="31750" cmpd="sng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2A502DD-E0B1-4FD1-9888-6E868D77F8CB}"/>
              </a:ext>
            </a:extLst>
          </p:cNvPr>
          <p:cNvCxnSpPr>
            <a:cxnSpLocks/>
            <a:endCxn id="415853" idx="1"/>
          </p:cNvCxnSpPr>
          <p:nvPr/>
        </p:nvCxnSpPr>
        <p:spPr>
          <a:xfrm>
            <a:off x="4047868" y="4895805"/>
            <a:ext cx="655895" cy="6435"/>
          </a:xfrm>
          <a:prstGeom prst="straightConnector1">
            <a:avLst/>
          </a:prstGeom>
          <a:ln w="31750" cmpd="sng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A87F633F-F3B1-4201-9DAD-209B26972567}"/>
                  </a:ext>
                </a:extLst>
              </p:cNvPr>
              <p:cNvSpPr txBox="1"/>
              <p:nvPr/>
            </p:nvSpPr>
            <p:spPr>
              <a:xfrm>
                <a:off x="1880320" y="3568954"/>
                <a:ext cx="459976" cy="369332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m</m:t>
                        </m:r>
                      </m:e>
                      <m:sub>
                        <m:r>
                          <a:rPr lang="en-US" altLang="zh-CN" sz="1800" b="0" i="1" dirty="0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A87F633F-F3B1-4201-9DAD-209B26972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320" y="3568954"/>
                <a:ext cx="45997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5B7EEFD-2970-4656-97FA-159D4858643A}"/>
                  </a:ext>
                </a:extLst>
              </p:cNvPr>
              <p:cNvSpPr txBox="1"/>
              <p:nvPr/>
            </p:nvSpPr>
            <p:spPr>
              <a:xfrm>
                <a:off x="3079847" y="3571478"/>
                <a:ext cx="459976" cy="369332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m</m:t>
                        </m:r>
                      </m:e>
                      <m:sub>
                        <m:r>
                          <a:rPr lang="en-US" altLang="zh-CN" sz="1800" b="0" i="1" dirty="0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5B7EEFD-2970-4656-97FA-159D48586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847" y="3571478"/>
                <a:ext cx="45997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6F80D122-757B-47FE-B702-F122527A8114}"/>
                  </a:ext>
                </a:extLst>
              </p:cNvPr>
              <p:cNvSpPr txBox="1"/>
              <p:nvPr/>
            </p:nvSpPr>
            <p:spPr>
              <a:xfrm>
                <a:off x="6997908" y="3510312"/>
                <a:ext cx="459976" cy="369332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dirty="0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m</m:t>
                        </m:r>
                      </m:e>
                      <m:sub>
                        <m:r>
                          <a:rPr lang="en-US" altLang="zh-CN" sz="1800" b="0" i="1" dirty="0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6F80D122-757B-47FE-B702-F122527A8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908" y="3510312"/>
                <a:ext cx="45997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505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500"/>
                                        <p:tgtEl>
                                          <p:spTgt spid="41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1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5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5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5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1000"/>
                                        <p:tgtEl>
                                          <p:spTgt spid="41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1000"/>
                                        <p:tgtEl>
                                          <p:spTgt spid="41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1000"/>
                                        <p:tgtEl>
                                          <p:spTgt spid="415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5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5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5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5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157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157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5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5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1" dur="1000"/>
                                        <p:tgtEl>
                                          <p:spTgt spid="41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00"/>
                            </p:stCondLst>
                            <p:childTnLst>
                              <p:par>
                                <p:cTn id="84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6" dur="1000"/>
                                        <p:tgtEl>
                                          <p:spTgt spid="415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1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1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0"/>
                            </p:stCondLst>
                            <p:childTnLst>
                              <p:par>
                                <p:cTn id="12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000"/>
                            </p:stCondLst>
                            <p:childTnLst>
                              <p:par>
                                <p:cTn id="12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41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85" grpId="0"/>
      <p:bldP spid="415787" grpId="0" animBg="1"/>
      <p:bldP spid="415788" grpId="0"/>
      <p:bldP spid="415839" grpId="0" animBg="1"/>
      <p:bldP spid="415776" grpId="0" animBg="1"/>
      <p:bldP spid="2" grpId="0"/>
      <p:bldP spid="54" grpId="0" animBg="1"/>
      <p:bldP spid="55" grpId="0" animBg="1"/>
      <p:bldP spid="56" grpId="0" animBg="1"/>
      <p:bldP spid="57" grpId="0" animBg="1"/>
      <p:bldP spid="48" grpId="0" animBg="1"/>
      <p:bldP spid="49" grpId="0" animBg="1"/>
      <p:bldP spid="50" grpId="0" animBg="1"/>
      <p:bldP spid="51" grpId="0" animBg="1"/>
      <p:bldP spid="415775" grpId="0" animBg="1"/>
      <p:bldP spid="74" grpId="0" animBg="1"/>
      <p:bldP spid="75" grpId="0" animBg="1"/>
      <p:bldP spid="7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168" name="Group 96"/>
          <p:cNvGrpSpPr>
            <a:grpSpLocks/>
          </p:cNvGrpSpPr>
          <p:nvPr/>
        </p:nvGrpSpPr>
        <p:grpSpPr bwMode="auto">
          <a:xfrm>
            <a:off x="1460391" y="612529"/>
            <a:ext cx="771525" cy="611187"/>
            <a:chOff x="807" y="564"/>
            <a:chExt cx="486" cy="385"/>
          </a:xfrm>
        </p:grpSpPr>
        <p:sp>
          <p:nvSpPr>
            <p:cNvPr id="387166" name="Rectangle 94"/>
            <p:cNvSpPr>
              <a:spLocks noChangeArrowheads="1"/>
            </p:cNvSpPr>
            <p:nvPr/>
          </p:nvSpPr>
          <p:spPr bwMode="auto">
            <a:xfrm>
              <a:off x="834" y="592"/>
              <a:ext cx="459" cy="35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7201" name="Picture 93" descr="k123"/>
            <p:cNvPicPr>
              <a:picLocks noChangeAspect="1" noChangeArrowheads="1" noCrop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" y="564"/>
              <a:ext cx="45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7167" name="Rectangle 95"/>
            <p:cNvSpPr>
              <a:spLocks noChangeArrowheads="1"/>
            </p:cNvSpPr>
            <p:nvPr/>
          </p:nvSpPr>
          <p:spPr bwMode="auto">
            <a:xfrm>
              <a:off x="807" y="564"/>
              <a:ext cx="459" cy="357"/>
            </a:xfrm>
            <a:prstGeom prst="rect">
              <a:avLst/>
            </a:prstGeom>
            <a:noFill/>
            <a:ln w="9525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87169" name="WordArt 97"/>
          <p:cNvSpPr>
            <a:spLocks noChangeArrowheads="1" noChangeShapeType="1" noTextEdit="1"/>
          </p:cNvSpPr>
          <p:nvPr/>
        </p:nvSpPr>
        <p:spPr bwMode="auto">
          <a:xfrm>
            <a:off x="2415749" y="735344"/>
            <a:ext cx="4845083" cy="386419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91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</p:spPr>
        <p:txBody>
          <a:bodyPr wrap="none" fromWordArt="1">
            <a:prstTxWarp prst="textPlain">
              <a:avLst>
                <a:gd name="adj" fmla="val 50161"/>
              </a:avLst>
            </a:prstTxWarp>
          </a:bodyPr>
          <a:lstStyle/>
          <a:p>
            <a:r>
              <a:rPr lang="en-US" altLang="zh-CN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Permutation</a:t>
            </a:r>
            <a:r>
              <a:rPr lang="zh-CN" altLang="en-US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排列</a:t>
            </a:r>
            <a:r>
              <a:rPr lang="en-US" altLang="zh-CN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) and Combination</a:t>
            </a:r>
            <a:r>
              <a:rPr lang="zh-CN" altLang="en-US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组合</a:t>
            </a:r>
            <a:r>
              <a:rPr lang="en-US" altLang="zh-CN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)</a:t>
            </a:r>
            <a:endParaRPr lang="zh-CN" altLang="en-US" sz="3600" b="1" kern="10" dirty="0">
              <a:ln w="15875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0066CC"/>
                  </a:gs>
                  <a:gs pos="50000">
                    <a:srgbClr val="FFFFFF"/>
                  </a:gs>
                  <a:gs pos="100000">
                    <a:srgbClr val="0066CC"/>
                  </a:gs>
                </a:gsLst>
                <a:lin ang="2700000" scaled="1"/>
              </a:gradFill>
              <a:latin typeface="STXinwei" panose="02010800040101010101" pitchFamily="2" charset="-122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7160" name="Rectangle 88"/>
              <p:cNvSpPr>
                <a:spLocks noChangeArrowheads="1"/>
              </p:cNvSpPr>
              <p:nvPr/>
            </p:nvSpPr>
            <p:spPr bwMode="auto">
              <a:xfrm>
                <a:off x="1634587" y="3593200"/>
                <a:ext cx="723232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When</a:t>
                </a:r>
                <a:r>
                  <a:rPr lang="zh-CN" altLang="en-US" sz="2400" i="1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，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it is called Full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ermutation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全排列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endParaRPr lang="zh-CN" altLang="en-US" sz="240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87160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4587" y="3593200"/>
                <a:ext cx="7232322" cy="461665"/>
              </a:xfrm>
              <a:prstGeom prst="rect">
                <a:avLst/>
              </a:prstGeom>
              <a:blipFill>
                <a:blip r:embed="rId4"/>
                <a:stretch>
                  <a:fillRect l="-1404" t="-10811" b="-297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7156" name="Rectangle 84"/>
              <p:cNvSpPr>
                <a:spLocks noChangeArrowheads="1"/>
              </p:cNvSpPr>
              <p:nvPr/>
            </p:nvSpPr>
            <p:spPr bwMode="auto">
              <a:xfrm>
                <a:off x="1612900" y="1472803"/>
                <a:ext cx="7383463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hoose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(≤</m:t>
                    </m:r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 objects from n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objects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and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arrange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them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row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certain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order, </a:t>
                </a:r>
                <a:r>
                  <a:rPr lang="en-US" altLang="zh-CN" sz="24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 number of different ways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is</a:t>
                </a:r>
                <a:endParaRPr lang="zh-CN" altLang="en-US" sz="240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87156" name="Rectangle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2900" y="1472803"/>
                <a:ext cx="7383463" cy="1200329"/>
              </a:xfrm>
              <a:prstGeom prst="rect">
                <a:avLst/>
              </a:prstGeom>
              <a:blipFill>
                <a:blip r:embed="rId5"/>
                <a:stretch>
                  <a:fillRect l="-1203" t="-4211" b="-1157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7186" name="Rectangle 114"/>
              <p:cNvSpPr>
                <a:spLocks noChangeArrowheads="1"/>
              </p:cNvSpPr>
              <p:nvPr/>
            </p:nvSpPr>
            <p:spPr bwMode="auto">
              <a:xfrm>
                <a:off x="1634587" y="4649320"/>
                <a:ext cx="7383463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Choose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b="0" i="1" smtClean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objects from n objects, </a:t>
                </a:r>
                <a:r>
                  <a:rPr lang="en-US" altLang="zh-CN" sz="24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 number of different ways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is</a:t>
                </a:r>
                <a:endParaRPr lang="zh-CN" altLang="en-US" sz="240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87186" name="Rectangle 1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4587" y="4649320"/>
                <a:ext cx="7383463" cy="830997"/>
              </a:xfrm>
              <a:prstGeom prst="rect">
                <a:avLst/>
              </a:prstGeom>
              <a:blipFill>
                <a:blip r:embed="rId6"/>
                <a:stretch>
                  <a:fillRect l="-1375" t="-4478" b="-149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7194" name="AutoShape 122"/>
          <p:cNvSpPr>
            <a:spLocks noChangeArrowheads="1"/>
          </p:cNvSpPr>
          <p:nvPr/>
        </p:nvSpPr>
        <p:spPr bwMode="auto">
          <a:xfrm>
            <a:off x="6696364" y="2369406"/>
            <a:ext cx="2170545" cy="637279"/>
          </a:xfrm>
          <a:prstGeom prst="wedgeRectCallout">
            <a:avLst>
              <a:gd name="adj1" fmla="val -76201"/>
              <a:gd name="adj2" fmla="val 43442"/>
            </a:avLst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Permutation is related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to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order.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DD0216E-E1C9-4D78-95BD-E6C0239FDD80}"/>
                  </a:ext>
                </a:extLst>
              </p:cNvPr>
              <p:cNvSpPr txBox="1"/>
              <p:nvPr/>
            </p:nvSpPr>
            <p:spPr>
              <a:xfrm>
                <a:off x="733192" y="2528043"/>
                <a:ext cx="5388591" cy="743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DD0216E-E1C9-4D78-95BD-E6C0239FD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92" y="2528043"/>
                <a:ext cx="5388591" cy="743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8428B7F-9ADE-4A3E-92C8-B448F9B8A3AD}"/>
                  </a:ext>
                </a:extLst>
              </p:cNvPr>
              <p:cNvSpPr txBox="1"/>
              <p:nvPr/>
            </p:nvSpPr>
            <p:spPr>
              <a:xfrm>
                <a:off x="3517852" y="4068379"/>
                <a:ext cx="11018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8428B7F-9ADE-4A3E-92C8-B448F9B8A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852" y="4068379"/>
                <a:ext cx="1101840" cy="369332"/>
              </a:xfrm>
              <a:prstGeom prst="rect">
                <a:avLst/>
              </a:prstGeom>
              <a:blipFill>
                <a:blip r:embed="rId8"/>
                <a:stretch>
                  <a:fillRect l="-4972" r="-5525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38F6FFD-B319-453E-87C1-AC64DED40275}"/>
                  </a:ext>
                </a:extLst>
              </p:cNvPr>
              <p:cNvSpPr txBox="1"/>
              <p:nvPr/>
            </p:nvSpPr>
            <p:spPr>
              <a:xfrm>
                <a:off x="766550" y="5826903"/>
                <a:ext cx="511871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38F6FFD-B319-453E-87C1-AC64DED40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50" y="5826903"/>
                <a:ext cx="511871" cy="375872"/>
              </a:xfrm>
              <a:prstGeom prst="rect">
                <a:avLst/>
              </a:prstGeom>
              <a:blipFill>
                <a:blip r:embed="rId9"/>
                <a:stretch>
                  <a:fillRect l="-4878" t="-333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E8F9FCF-6BFB-43C1-91FB-FC19BEFA2F62}"/>
                  </a:ext>
                </a:extLst>
              </p:cNvPr>
              <p:cNvSpPr txBox="1"/>
              <p:nvPr/>
            </p:nvSpPr>
            <p:spPr>
              <a:xfrm>
                <a:off x="3689463" y="5737615"/>
                <a:ext cx="882999" cy="5544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E8F9FCF-6BFB-43C1-91FB-FC19BEFA2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463" y="5737615"/>
                <a:ext cx="882999" cy="554447"/>
              </a:xfrm>
              <a:prstGeom prst="rect">
                <a:avLst/>
              </a:prstGeom>
              <a:blipFill>
                <a:blip r:embed="rId10"/>
                <a:stretch>
                  <a:fillRect l="-2857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C9BF2946-5B9F-437A-AF99-AC65EC3BBB4C}"/>
              </a:ext>
            </a:extLst>
          </p:cNvPr>
          <p:cNvSpPr txBox="1"/>
          <p:nvPr/>
        </p:nvSpPr>
        <p:spPr>
          <a:xfrm>
            <a:off x="137061" y="1518969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Permutation:</a:t>
            </a:r>
            <a:endParaRPr lang="zh-CN" altLang="en-US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7D3BE8-2E6B-48DD-A572-F83AEFF61C75}"/>
              </a:ext>
            </a:extLst>
          </p:cNvPr>
          <p:cNvSpPr txBox="1"/>
          <p:nvPr/>
        </p:nvSpPr>
        <p:spPr>
          <a:xfrm>
            <a:off x="159289" y="3459462"/>
            <a:ext cx="150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Full permutation:</a:t>
            </a:r>
            <a:endParaRPr lang="zh-CN" altLang="en-US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A032C1-B0B3-402C-B1E9-9F552BDA0720}"/>
              </a:ext>
            </a:extLst>
          </p:cNvPr>
          <p:cNvSpPr txBox="1"/>
          <p:nvPr/>
        </p:nvSpPr>
        <p:spPr>
          <a:xfrm>
            <a:off x="167557" y="4687577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Combination:</a:t>
            </a:r>
            <a:endParaRPr lang="zh-CN" altLang="en-US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3">
                <a:extLst>
                  <a:ext uri="{FF2B5EF4-FFF2-40B4-BE49-F238E27FC236}">
                    <a16:creationId xmlns:a16="http://schemas.microsoft.com/office/drawing/2014/main" id="{038F6FFD-B319-453E-87C1-AC64DED40275}"/>
                  </a:ext>
                </a:extLst>
              </p:cNvPr>
              <p:cNvSpPr txBox="1"/>
              <p:nvPr/>
            </p:nvSpPr>
            <p:spPr>
              <a:xfrm>
                <a:off x="1259671" y="5691088"/>
                <a:ext cx="921702" cy="6799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den>
                    </m:f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sz="2400" b="1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2" name="文本框 3">
                <a:extLst>
                  <a:ext uri="{FF2B5EF4-FFF2-40B4-BE49-F238E27FC236}">
                    <a16:creationId xmlns:a16="http://schemas.microsoft.com/office/drawing/2014/main" id="{038F6FFD-B319-453E-87C1-AC64DED40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71" y="5691088"/>
                <a:ext cx="921702" cy="6799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7197" name="AutoShape 125"/>
          <p:cNvSpPr>
            <a:spLocks noChangeArrowheads="1"/>
          </p:cNvSpPr>
          <p:nvPr/>
        </p:nvSpPr>
        <p:spPr bwMode="auto">
          <a:xfrm>
            <a:off x="5440318" y="5488589"/>
            <a:ext cx="2348966" cy="676627"/>
          </a:xfrm>
          <a:prstGeom prst="wedgeRectCallout">
            <a:avLst>
              <a:gd name="adj1" fmla="val -85571"/>
              <a:gd name="adj2" fmla="val 41882"/>
            </a:avLst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Combination is not related to order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C86ED1A-7782-8B47-AFEA-A6617E750E8C}"/>
                  </a:ext>
                </a:extLst>
              </p:cNvPr>
              <p:cNvSpPr/>
              <p:nvPr/>
            </p:nvSpPr>
            <p:spPr>
              <a:xfrm>
                <a:off x="1818112" y="5596840"/>
                <a:ext cx="1955343" cy="835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C86ED1A-7782-8B47-AFEA-A6617E750E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112" y="5596840"/>
                <a:ext cx="1955343" cy="8359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7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7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8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169" grpId="0" animBg="1"/>
      <p:bldP spid="387160" grpId="0"/>
      <p:bldP spid="387156" grpId="0"/>
      <p:bldP spid="387186" grpId="0"/>
      <p:bldP spid="387194" grpId="0" animBg="1"/>
      <p:bldP spid="2" grpId="0"/>
      <p:bldP spid="3" grpId="0"/>
      <p:bldP spid="4" grpId="0"/>
      <p:bldP spid="6" grpId="0"/>
      <p:bldP spid="7" grpId="0"/>
      <p:bldP spid="8" grpId="0"/>
      <p:bldP spid="9" grpId="0"/>
      <p:bldP spid="22" grpId="0"/>
      <p:bldP spid="387197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75">
            <a:extLst>
              <a:ext uri="{FF2B5EF4-FFF2-40B4-BE49-F238E27FC236}">
                <a16:creationId xmlns:a16="http://schemas.microsoft.com/office/drawing/2014/main" id="{86EDCD15-13AD-4388-BBC7-DFF871431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87" y="1746065"/>
            <a:ext cx="5507230" cy="1836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In general, randomly divide </a:t>
            </a:r>
            <a:r>
              <a:rPr lang="en-US" altLang="zh-CN" sz="2400" i="1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balls into </a:t>
            </a:r>
            <a:r>
              <a:rPr lang="en-US" altLang="zh-CN" sz="2400" i="1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groups, such</a:t>
            </a: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that</a:t>
            </a: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the </a:t>
            </a:r>
            <a:r>
              <a:rPr lang="en-US" altLang="zh-CN" sz="2400" i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aseline="30000" dirty="0" err="1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th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group has </a:t>
            </a:r>
            <a:r>
              <a:rPr lang="en-US" altLang="zh-CN" sz="2400" i="1" dirty="0" err="1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400" i="1" baseline="-25000" dirty="0" err="1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i="1" baseline="-250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balls (</a:t>
            </a:r>
            <a:r>
              <a:rPr lang="en-US" altLang="zh-CN" sz="2400" dirty="0" err="1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=1, 2,… r). The</a:t>
            </a: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total number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of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ways in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dividing is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1779FC-0460-45DC-B671-9494C0FFA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995" y="1763768"/>
            <a:ext cx="3245005" cy="1819275"/>
          </a:xfrm>
          <a:prstGeom prst="rect">
            <a:avLst/>
          </a:prstGeom>
        </p:spPr>
      </p:pic>
      <p:grpSp>
        <p:nvGrpSpPr>
          <p:cNvPr id="18" name="Group 96">
            <a:extLst>
              <a:ext uri="{FF2B5EF4-FFF2-40B4-BE49-F238E27FC236}">
                <a16:creationId xmlns:a16="http://schemas.microsoft.com/office/drawing/2014/main" id="{B1030FB0-06F4-0A48-9BB2-2F46604D8E6E}"/>
              </a:ext>
            </a:extLst>
          </p:cNvPr>
          <p:cNvGrpSpPr>
            <a:grpSpLocks/>
          </p:cNvGrpSpPr>
          <p:nvPr/>
        </p:nvGrpSpPr>
        <p:grpSpPr bwMode="auto">
          <a:xfrm>
            <a:off x="1460391" y="612529"/>
            <a:ext cx="771525" cy="611187"/>
            <a:chOff x="807" y="564"/>
            <a:chExt cx="486" cy="385"/>
          </a:xfrm>
        </p:grpSpPr>
        <p:sp>
          <p:nvSpPr>
            <p:cNvPr id="19" name="Rectangle 94">
              <a:extLst>
                <a:ext uri="{FF2B5EF4-FFF2-40B4-BE49-F238E27FC236}">
                  <a16:creationId xmlns:a16="http://schemas.microsoft.com/office/drawing/2014/main" id="{86778436-46A7-114A-9E74-3EED09E07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592"/>
              <a:ext cx="459" cy="35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20" name="Picture 93" descr="k123">
              <a:extLst>
                <a:ext uri="{FF2B5EF4-FFF2-40B4-BE49-F238E27FC236}">
                  <a16:creationId xmlns:a16="http://schemas.microsoft.com/office/drawing/2014/main" id="{9102D247-B959-ED4D-ADE7-B2D3F2A59A35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" y="564"/>
              <a:ext cx="45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Rectangle 95">
              <a:extLst>
                <a:ext uri="{FF2B5EF4-FFF2-40B4-BE49-F238E27FC236}">
                  <a16:creationId xmlns:a16="http://schemas.microsoft.com/office/drawing/2014/main" id="{E9D4C9DD-8E9B-0B46-BE05-07A306D96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564"/>
              <a:ext cx="459" cy="357"/>
            </a:xfrm>
            <a:prstGeom prst="rect">
              <a:avLst/>
            </a:prstGeom>
            <a:noFill/>
            <a:ln w="9525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4" name="WordArt 97">
            <a:extLst>
              <a:ext uri="{FF2B5EF4-FFF2-40B4-BE49-F238E27FC236}">
                <a16:creationId xmlns:a16="http://schemas.microsoft.com/office/drawing/2014/main" id="{76440720-81D2-E349-A7CA-C810719E765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15749" y="735344"/>
            <a:ext cx="4845083" cy="386419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91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</p:spPr>
        <p:txBody>
          <a:bodyPr wrap="none" fromWordArt="1">
            <a:prstTxWarp prst="textPlain">
              <a:avLst>
                <a:gd name="adj" fmla="val 50161"/>
              </a:avLst>
            </a:prstTxWarp>
          </a:bodyPr>
          <a:lstStyle/>
          <a:p>
            <a:r>
              <a:rPr lang="en-US" altLang="zh-CN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Permutation</a:t>
            </a:r>
            <a:r>
              <a:rPr lang="zh-CN" altLang="en-US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排列</a:t>
            </a:r>
            <a:r>
              <a:rPr lang="en-US" altLang="zh-CN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) and Combination</a:t>
            </a:r>
            <a:r>
              <a:rPr lang="zh-CN" altLang="en-US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组合</a:t>
            </a:r>
            <a:r>
              <a:rPr lang="en-US" altLang="zh-CN" sz="3600" b="1" dirty="0">
                <a:latin typeface="STXinwei" panose="02010800040101010101" pitchFamily="2" charset="-122"/>
                <a:ea typeface="STXinwei" panose="02010800040101010101" pitchFamily="2" charset="-122"/>
                <a:cs typeface="Arial" panose="020B0604020202020204" pitchFamily="34" charset="0"/>
              </a:rPr>
              <a:t>)</a:t>
            </a:r>
            <a:endParaRPr lang="zh-CN" altLang="en-US" sz="3600" b="1" kern="10" dirty="0">
              <a:ln w="15875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0066CC"/>
                  </a:gs>
                  <a:gs pos="50000">
                    <a:srgbClr val="FFFFFF"/>
                  </a:gs>
                  <a:gs pos="100000">
                    <a:srgbClr val="0066CC"/>
                  </a:gs>
                </a:gsLst>
                <a:lin ang="2700000" scaled="1"/>
              </a:gradFill>
              <a:latin typeface="STXinwei" panose="02010800040101010101" pitchFamily="2" charset="-122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957D76B-0AC9-C749-B5CA-4028BD7E7FB3}"/>
                  </a:ext>
                </a:extLst>
              </p:cNvPr>
              <p:cNvSpPr/>
              <p:nvPr/>
            </p:nvSpPr>
            <p:spPr>
              <a:xfrm>
                <a:off x="1867585" y="3818812"/>
                <a:ext cx="3944734" cy="844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!⋯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957D76B-0AC9-C749-B5CA-4028BD7E7F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585" y="3818812"/>
                <a:ext cx="3944734" cy="844205"/>
              </a:xfrm>
              <a:prstGeom prst="rect">
                <a:avLst/>
              </a:prstGeom>
              <a:blipFill>
                <a:blip r:embed="rId5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81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985" name="Group 73"/>
          <p:cNvGrpSpPr>
            <a:grpSpLocks/>
          </p:cNvGrpSpPr>
          <p:nvPr/>
        </p:nvGrpSpPr>
        <p:grpSpPr bwMode="auto">
          <a:xfrm>
            <a:off x="189108" y="2536448"/>
            <a:ext cx="1524563" cy="469900"/>
            <a:chOff x="407" y="1025"/>
            <a:chExt cx="608" cy="296"/>
          </a:xfrm>
        </p:grpSpPr>
        <p:sp>
          <p:nvSpPr>
            <p:cNvPr id="20520" name="AutoShape 71"/>
            <p:cNvSpPr>
              <a:spLocks noChangeArrowheads="1"/>
            </p:cNvSpPr>
            <p:nvPr/>
          </p:nvSpPr>
          <p:spPr bwMode="auto">
            <a:xfrm>
              <a:off x="407" y="1025"/>
              <a:ext cx="608" cy="296"/>
            </a:xfrm>
            <a:prstGeom prst="star16">
              <a:avLst>
                <a:gd name="adj" fmla="val 37500"/>
              </a:avLst>
            </a:prstGeom>
            <a:gradFill rotWithShape="1">
              <a:gsLst>
                <a:gs pos="0">
                  <a:srgbClr val="FFFF00"/>
                </a:gs>
                <a:gs pos="100000">
                  <a:srgbClr val="FF0000">
                    <a:alpha val="67998"/>
                  </a:srgb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endParaRPr lang="zh-CN" altLang="zh-CN">
                <a:solidFill>
                  <a:srgbClr val="FF9933"/>
                </a:solidFill>
              </a:endParaRPr>
            </a:p>
          </p:txBody>
        </p:sp>
        <p:sp>
          <p:nvSpPr>
            <p:cNvPr id="20521" name="WordArt 72"/>
            <p:cNvSpPr>
              <a:spLocks noChangeArrowheads="1" noChangeShapeType="1" noTextEdit="1"/>
            </p:cNvSpPr>
            <p:nvPr/>
          </p:nvSpPr>
          <p:spPr bwMode="auto">
            <a:xfrm>
              <a:off x="470" y="1092"/>
              <a:ext cx="488" cy="15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12700">
                    <a:solidFill>
                      <a:srgbClr val="99CC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/>
                  <a:ea typeface="黑体"/>
                </a:rPr>
                <a:t>attention</a:t>
              </a:r>
              <a:endParaRPr lang="zh-CN" altLang="en-US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endParaRPr>
            </a:p>
          </p:txBody>
        </p:sp>
      </p:grpSp>
      <p:sp>
        <p:nvSpPr>
          <p:cNvPr id="422986" name="Rectangle 74"/>
          <p:cNvSpPr>
            <a:spLocks noChangeArrowheads="1"/>
          </p:cNvSpPr>
          <p:nvPr/>
        </p:nvSpPr>
        <p:spPr bwMode="auto">
          <a:xfrm>
            <a:off x="1634175" y="3483593"/>
            <a:ext cx="64801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 balls are distinguishable, apart from color. 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22987" name="WordArt 75"/>
          <p:cNvSpPr>
            <a:spLocks noChangeArrowheads="1" noChangeShapeType="1" noTextEdit="1"/>
          </p:cNvSpPr>
          <p:nvPr/>
        </p:nvSpPr>
        <p:spPr bwMode="auto">
          <a:xfrm>
            <a:off x="559043" y="3494705"/>
            <a:ext cx="881062" cy="2571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chemeClr val="accent2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Solution 1</a:t>
            </a:r>
            <a:endParaRPr lang="zh-CN" altLang="en-US" sz="3600" kern="10" dirty="0">
              <a:ln w="12700">
                <a:solidFill>
                  <a:schemeClr val="accent2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sp>
        <p:nvSpPr>
          <p:cNvPr id="422989" name="WordArt 77"/>
          <p:cNvSpPr>
            <a:spLocks noChangeArrowheads="1" noChangeShapeType="1" noTextEdit="1"/>
          </p:cNvSpPr>
          <p:nvPr/>
        </p:nvSpPr>
        <p:spPr bwMode="auto">
          <a:xfrm>
            <a:off x="596849" y="4099983"/>
            <a:ext cx="881062" cy="2571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chemeClr val="accent2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Solution 2</a:t>
            </a:r>
            <a:endParaRPr lang="zh-CN" altLang="en-US" sz="3600" kern="10" dirty="0">
              <a:ln w="12700">
                <a:solidFill>
                  <a:schemeClr val="accent2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sp>
        <p:nvSpPr>
          <p:cNvPr id="42" name="Rectangle 74">
            <a:extLst>
              <a:ext uri="{FF2B5EF4-FFF2-40B4-BE49-F238E27FC236}">
                <a16:creationId xmlns:a16="http://schemas.microsoft.com/office/drawing/2014/main" id="{5EBB371B-EC29-45A7-88F9-AFE109F5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3073" y="4096985"/>
            <a:ext cx="65527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 balls are indistinguishable, except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color. 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375"/>
              <p:cNvSpPr>
                <a:spLocks noChangeArrowheads="1"/>
              </p:cNvSpPr>
              <p:nvPr/>
            </p:nvSpPr>
            <p:spPr bwMode="auto">
              <a:xfrm>
                <a:off x="1134672" y="689165"/>
                <a:ext cx="7387741" cy="21685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 bag contains </a:t>
                </a:r>
                <a:r>
                  <a:rPr lang="en-US" altLang="zh-CN" sz="2400" dirty="0">
                    <a:solidFill>
                      <a:srgbClr val="C0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red balls and </a:t>
                </a:r>
                <a:r>
                  <a:rPr lang="en-US" altLang="zh-CN" sz="2400" b="1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green balls,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randomly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get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ball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from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bag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each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time,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what is the probability of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getting</a:t>
                </a:r>
                <a:r>
                  <a:rPr lang="zh-CN" altLang="en-US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 red ball at the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effectLst/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 baseline="30000" dirty="0" smtClean="0">
                        <a:effectLst/>
                        <a:latin typeface="Cambria Math" panose="02040503050406030204" pitchFamily="18" charset="0"/>
                      </a:rPr>
                      <m:t>𝒕𝒉</m:t>
                    </m:r>
                  </m:oMath>
                </a14:m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time?</a:t>
                </a:r>
                <a:endParaRPr lang="en-US" altLang="zh-CN" sz="2400" b="0" i="1" dirty="0">
                  <a:effectLst/>
                  <a:latin typeface="Cambria Math" panose="02040503050406030204" pitchFamily="18" charset="0"/>
                  <a:ea typeface="华文新魏" panose="02010800040101010101" pitchFamily="2" charset="-122"/>
                </a:endParaRPr>
              </a:p>
              <a:p>
                <a:pPr algn="l"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(1≤</m:t>
                      </m:r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𝑘</m:t>
                      </m:r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≤</m:t>
                      </m:r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𝑎</m:t>
                      </m:r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+</m:t>
                      </m:r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𝑏</m:t>
                      </m:r>
                      <m:r>
                        <a:rPr lang="en-US" altLang="zh-CN" sz="2400" b="0" i="1" smtClean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endParaRPr>
              </a:p>
              <a:p>
                <a:pPr algn="l">
                  <a:lnSpc>
                    <a:spcPct val="120000"/>
                  </a:lnSpc>
                  <a:defRPr/>
                </a:pPr>
                <a:endPara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5" name="Rectangle 3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4672" y="689165"/>
                <a:ext cx="7387741" cy="2168542"/>
              </a:xfrm>
              <a:prstGeom prst="rect">
                <a:avLst/>
              </a:prstGeom>
              <a:blipFill>
                <a:blip r:embed="rId3"/>
                <a:stretch>
                  <a:fillRect l="-120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utoShape 84"/>
          <p:cNvSpPr>
            <a:spLocks noChangeArrowheads="1"/>
          </p:cNvSpPr>
          <p:nvPr/>
        </p:nvSpPr>
        <p:spPr bwMode="auto">
          <a:xfrm>
            <a:off x="7329080" y="4187295"/>
            <a:ext cx="1581344" cy="390525"/>
          </a:xfrm>
          <a:prstGeom prst="wedgeRectCallout">
            <a:avLst>
              <a:gd name="adj1" fmla="val -109450"/>
              <a:gd name="adj2" fmla="val -17174"/>
            </a:avLst>
          </a:prstGeom>
          <a:solidFill>
            <a:schemeClr val="bg1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Combination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7" name="AutoShape 79"/>
          <p:cNvSpPr>
            <a:spLocks noChangeArrowheads="1"/>
          </p:cNvSpPr>
          <p:nvPr/>
        </p:nvSpPr>
        <p:spPr bwMode="auto">
          <a:xfrm>
            <a:off x="7329080" y="3494705"/>
            <a:ext cx="1581344" cy="390525"/>
          </a:xfrm>
          <a:prstGeom prst="wedgeRectCallout">
            <a:avLst>
              <a:gd name="adj1" fmla="val -108909"/>
              <a:gd name="adj2" fmla="val 17722"/>
            </a:avLst>
          </a:prstGeom>
          <a:solidFill>
            <a:schemeClr val="bg1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Permutation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4" name="WordArt 387">
            <a:extLst>
              <a:ext uri="{FF2B5EF4-FFF2-40B4-BE49-F238E27FC236}">
                <a16:creationId xmlns:a16="http://schemas.microsoft.com/office/drawing/2014/main" id="{D190186D-7E47-4A94-AB87-ACC6B561ECB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037" y="787314"/>
            <a:ext cx="951624" cy="346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Exercise: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71DAEBF-743C-491E-B36A-950CB7438FCE}"/>
                  </a:ext>
                </a:extLst>
              </p:cNvPr>
              <p:cNvSpPr txBox="1"/>
              <p:nvPr/>
            </p:nvSpPr>
            <p:spPr>
              <a:xfrm>
                <a:off x="1570743" y="5087401"/>
                <a:ext cx="6357774" cy="703013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2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ways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that</m:t>
                          </m:r>
                          <m:r>
                            <a:rPr lang="zh-CN" altLang="en-US" sz="2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can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occur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fundamental</m:t>
                          </m:r>
                          <m:r>
                            <a:rPr lang="zh-CN" altLang="en-US" sz="2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outcomes</m:t>
                          </m:r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71DAEBF-743C-491E-B36A-950CB7438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743" y="5087401"/>
                <a:ext cx="6357774" cy="703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29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29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2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22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86" grpId="0"/>
      <p:bldP spid="422987" grpId="0" animBg="1"/>
      <p:bldP spid="422989" grpId="0" animBg="1"/>
      <p:bldP spid="42" grpId="0"/>
      <p:bldP spid="26" grpId="0" animBg="1"/>
      <p:bldP spid="27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6498" name="AutoShape 450"/>
              <p:cNvSpPr>
                <a:spLocks noChangeArrowheads="1"/>
              </p:cNvSpPr>
              <p:nvPr/>
            </p:nvSpPr>
            <p:spPr bwMode="auto">
              <a:xfrm>
                <a:off x="4568267" y="2983678"/>
                <a:ext cx="4161352" cy="475829"/>
              </a:xfrm>
              <a:prstGeom prst="wedgeRectCallout">
                <a:avLst>
                  <a:gd name="adj1" fmla="val -25018"/>
                  <a:gd name="adj2" fmla="val -97427"/>
                </a:avLst>
              </a:prstGeom>
              <a:solidFill>
                <a:schemeClr val="bg1"/>
              </a:solidFill>
              <a:ln w="9525" algn="ctr">
                <a:solidFill>
                  <a:srgbClr val="FFCC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anchor="ctr"/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  <a:defRPr/>
                </a:pP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C00000"/>
                        </a:solidFill>
                        <a:latin typeface="Cambria Math"/>
                        <a:ea typeface="华文新魏" pitchFamily="2" charset="-122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新魏" pitchFamily="2" charset="-122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新魏" pitchFamily="2" charset="-122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新魏" pitchFamily="2" charset="-122"/>
                      </a:rPr>
                      <m:t>𝑏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新魏" pitchFamily="2" charset="-122"/>
                      </a:rPr>
                      <m:t>−1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latin typeface="华文新魏" pitchFamily="2" charset="-122"/>
                    <a:ea typeface="华文新魏" pitchFamily="2" charset="-122"/>
                  </a:rPr>
                  <a:t>) places for putting other balls </a:t>
                </a:r>
                <a:endParaRPr lang="zh-CN" altLang="zh-CN" dirty="0">
                  <a:solidFill>
                    <a:srgbClr val="C00000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</mc:Choice>
        <mc:Fallback xmlns="">
          <p:sp>
            <p:nvSpPr>
              <p:cNvPr id="386498" name="AutoShape 4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8267" y="2983678"/>
                <a:ext cx="4161352" cy="475829"/>
              </a:xfrm>
              <a:prstGeom prst="wedgeRectCallout">
                <a:avLst>
                  <a:gd name="adj1" fmla="val -25018"/>
                  <a:gd name="adj2" fmla="val -97427"/>
                </a:avLst>
              </a:prstGeom>
              <a:blipFill>
                <a:blip r:embed="rId2"/>
                <a:stretch>
                  <a:fillRect l="-590"/>
                </a:stretch>
              </a:blipFill>
              <a:ln w="9525" algn="ctr">
                <a:solidFill>
                  <a:srgbClr val="FFCC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6429" name="Rectangle 381"/>
              <p:cNvSpPr>
                <a:spLocks noChangeArrowheads="1"/>
              </p:cNvSpPr>
              <p:nvPr/>
            </p:nvSpPr>
            <p:spPr bwMode="auto">
              <a:xfrm>
                <a:off x="266418" y="4506377"/>
                <a:ext cx="660641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Total number of fundamental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outcomes: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b="0" i="1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𝑎</m:t>
                        </m:r>
                        <m:r>
                          <a:rPr lang="en-US" altLang="zh-CN" sz="2200" b="0" i="1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+</m:t>
                        </m:r>
                        <m:r>
                          <a:rPr lang="en-US" altLang="zh-CN" sz="2200" b="0" i="1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𝑏</m:t>
                        </m:r>
                      </m:e>
                    </m:d>
                    <m:r>
                      <a:rPr lang="en-US" altLang="zh-CN" sz="2200" b="0" i="1" smtClean="0"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!</m:t>
                    </m:r>
                  </m:oMath>
                </a14:m>
                <a:endParaRPr lang="zh-CN" altLang="en-US" sz="220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86429" name="Rectangle 3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418" y="4506377"/>
                <a:ext cx="6606411" cy="430887"/>
              </a:xfrm>
              <a:prstGeom prst="rect">
                <a:avLst/>
              </a:prstGeom>
              <a:blipFill>
                <a:blip r:embed="rId3"/>
                <a:stretch>
                  <a:fillRect l="-1152" t="-8571" b="-22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6424" name="Rectangle 376"/>
          <p:cNvSpPr>
            <a:spLocks noChangeArrowheads="1"/>
          </p:cNvSpPr>
          <p:nvPr/>
        </p:nvSpPr>
        <p:spPr bwMode="auto">
          <a:xfrm>
            <a:off x="1244300" y="828837"/>
            <a:ext cx="752422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Suppose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balls are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different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apart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from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color, arrange all the balls in a line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6427" name="Rectangle 379"/>
              <p:cNvSpPr>
                <a:spLocks noChangeArrowheads="1"/>
              </p:cNvSpPr>
              <p:nvPr/>
            </p:nvSpPr>
            <p:spPr bwMode="auto">
              <a:xfrm>
                <a:off x="302524" y="4972488"/>
                <a:ext cx="8314612" cy="7771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defRPr/>
                </a:pP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Number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of</a:t>
                </a:r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ways</a:t>
                </a:r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that</a:t>
                </a:r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</a:t>
                </a:r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event</a:t>
                </a:r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can</a:t>
                </a:r>
                <a:r>
                  <a:rPr lang="zh-CN" altLang="en-US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occur:</a:t>
                </a:r>
              </a:p>
              <a:p>
                <a:pPr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Sup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𝑎</m:t>
                          </m:r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𝑎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+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𝑏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!</m:t>
                          </m:r>
                          <m:r>
                            <m:rPr>
                              <m:nor/>
                            </m:rPr>
                            <a:rPr lang="zh-CN" altLang="en-US" sz="2200" dirty="0">
                              <a:latin typeface="华文新魏" panose="02010800040101010101" pitchFamily="2" charset="-122"/>
                              <a:ea typeface="华文新魏" panose="02010800040101010101" pitchFamily="2" charset="-122"/>
                            </a:rPr>
                            <m:t> </m:t>
                          </m:r>
                          <m:r>
                            <a:rPr lang="en-US" altLang="zh-CN" sz="2200" dirty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= </m:t>
                          </m:r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1</m:t>
                          </m:r>
                        </m:sup>
                      </m:sSubSup>
                      <m:r>
                        <a:rPr lang="en-US" altLang="zh-CN" sz="220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∙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𝑎</m:t>
                          </m:r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+</m:t>
                          </m:r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𝑏</m:t>
                          </m:r>
                          <m:r>
                            <a:rPr lang="en-US" altLang="zh-CN" sz="220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−1</m:t>
                          </m:r>
                        </m:e>
                      </m:d>
                      <m:r>
                        <a:rPr lang="en-US" altLang="zh-CN" sz="220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!</m:t>
                      </m:r>
                    </m:oMath>
                  </m:oMathPara>
                </a14:m>
                <a:endParaRPr lang="zh-CN" altLang="en-US" sz="22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86427" name="Rectangle 3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524" y="4972488"/>
                <a:ext cx="8314612" cy="777136"/>
              </a:xfrm>
              <a:prstGeom prst="rect">
                <a:avLst/>
              </a:prstGeom>
              <a:blipFill>
                <a:blip r:embed="rId4"/>
                <a:stretch>
                  <a:fillRect l="-1069" t="-4839" b="-96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6441" name="Rectangle 393"/>
          <p:cNvSpPr>
            <a:spLocks noChangeArrowheads="1"/>
          </p:cNvSpPr>
          <p:nvPr/>
        </p:nvSpPr>
        <p:spPr bwMode="auto">
          <a:xfrm>
            <a:off x="649442" y="1364459"/>
            <a:ext cx="4603312" cy="565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defRPr/>
            </a:pP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86459" name="WordArt 411"/>
          <p:cNvSpPr>
            <a:spLocks noChangeArrowheads="1" noChangeShapeType="1" noTextEdit="1"/>
          </p:cNvSpPr>
          <p:nvPr/>
        </p:nvSpPr>
        <p:spPr bwMode="auto">
          <a:xfrm>
            <a:off x="230180" y="933020"/>
            <a:ext cx="881062" cy="2571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chemeClr val="accent2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Solution 1:</a:t>
            </a:r>
            <a:endParaRPr lang="zh-CN" altLang="en-US" sz="3600" kern="10" dirty="0">
              <a:ln w="12700">
                <a:solidFill>
                  <a:schemeClr val="accent2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grpSp>
        <p:nvGrpSpPr>
          <p:cNvPr id="386491" name="Group 443"/>
          <p:cNvGrpSpPr>
            <a:grpSpLocks/>
          </p:cNvGrpSpPr>
          <p:nvPr/>
        </p:nvGrpSpPr>
        <p:grpSpPr bwMode="auto">
          <a:xfrm>
            <a:off x="1565817" y="2474564"/>
            <a:ext cx="5307013" cy="176213"/>
            <a:chOff x="936" y="1584"/>
            <a:chExt cx="3343" cy="111"/>
          </a:xfrm>
        </p:grpSpPr>
        <p:sp>
          <p:nvSpPr>
            <p:cNvPr id="386460" name="Oval 412"/>
            <p:cNvSpPr>
              <a:spLocks noChangeArrowheads="1"/>
            </p:cNvSpPr>
            <p:nvPr/>
          </p:nvSpPr>
          <p:spPr bwMode="auto">
            <a:xfrm>
              <a:off x="1259" y="1585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61" name="Oval 413"/>
            <p:cNvSpPr>
              <a:spLocks noChangeArrowheads="1"/>
            </p:cNvSpPr>
            <p:nvPr/>
          </p:nvSpPr>
          <p:spPr bwMode="auto">
            <a:xfrm>
              <a:off x="936" y="1585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63" name="Oval 415"/>
            <p:cNvSpPr>
              <a:spLocks noChangeArrowheads="1"/>
            </p:cNvSpPr>
            <p:nvPr/>
          </p:nvSpPr>
          <p:spPr bwMode="auto">
            <a:xfrm>
              <a:off x="1097" y="1584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64" name="Oval 416"/>
            <p:cNvSpPr>
              <a:spLocks noChangeArrowheads="1"/>
            </p:cNvSpPr>
            <p:nvPr/>
          </p:nvSpPr>
          <p:spPr bwMode="auto">
            <a:xfrm>
              <a:off x="1426" y="1585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65" name="Oval 417"/>
            <p:cNvSpPr>
              <a:spLocks noChangeArrowheads="1"/>
            </p:cNvSpPr>
            <p:nvPr/>
          </p:nvSpPr>
          <p:spPr bwMode="auto">
            <a:xfrm>
              <a:off x="1739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66" name="Oval 418"/>
            <p:cNvSpPr>
              <a:spLocks noChangeArrowheads="1"/>
            </p:cNvSpPr>
            <p:nvPr/>
          </p:nvSpPr>
          <p:spPr bwMode="auto">
            <a:xfrm>
              <a:off x="2426" y="1585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67" name="Oval 419"/>
            <p:cNvSpPr>
              <a:spLocks noChangeArrowheads="1"/>
            </p:cNvSpPr>
            <p:nvPr/>
          </p:nvSpPr>
          <p:spPr bwMode="auto">
            <a:xfrm>
              <a:off x="2759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68" name="Oval 420"/>
            <p:cNvSpPr>
              <a:spLocks noChangeArrowheads="1"/>
            </p:cNvSpPr>
            <p:nvPr/>
          </p:nvSpPr>
          <p:spPr bwMode="auto">
            <a:xfrm>
              <a:off x="1586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69" name="Oval 421"/>
            <p:cNvSpPr>
              <a:spLocks noChangeArrowheads="1"/>
            </p:cNvSpPr>
            <p:nvPr/>
          </p:nvSpPr>
          <p:spPr bwMode="auto">
            <a:xfrm>
              <a:off x="3467" y="1587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70" name="Oval 422"/>
            <p:cNvSpPr>
              <a:spLocks noChangeArrowheads="1"/>
            </p:cNvSpPr>
            <p:nvPr/>
          </p:nvSpPr>
          <p:spPr bwMode="auto">
            <a:xfrm>
              <a:off x="2588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71" name="Oval 423"/>
            <p:cNvSpPr>
              <a:spLocks noChangeArrowheads="1"/>
            </p:cNvSpPr>
            <p:nvPr/>
          </p:nvSpPr>
          <p:spPr bwMode="auto">
            <a:xfrm>
              <a:off x="3637" y="1585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72" name="Oval 424"/>
            <p:cNvSpPr>
              <a:spLocks noChangeArrowheads="1"/>
            </p:cNvSpPr>
            <p:nvPr/>
          </p:nvSpPr>
          <p:spPr bwMode="auto">
            <a:xfrm>
              <a:off x="1925" y="1625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73" name="Oval 425"/>
            <p:cNvSpPr>
              <a:spLocks noChangeArrowheads="1"/>
            </p:cNvSpPr>
            <p:nvPr/>
          </p:nvSpPr>
          <p:spPr bwMode="auto">
            <a:xfrm>
              <a:off x="2028" y="1626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74" name="Oval 426"/>
            <p:cNvSpPr>
              <a:spLocks noChangeArrowheads="1"/>
            </p:cNvSpPr>
            <p:nvPr/>
          </p:nvSpPr>
          <p:spPr bwMode="auto">
            <a:xfrm>
              <a:off x="2127" y="1625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75" name="Oval 427"/>
            <p:cNvSpPr>
              <a:spLocks noChangeArrowheads="1"/>
            </p:cNvSpPr>
            <p:nvPr/>
          </p:nvSpPr>
          <p:spPr bwMode="auto">
            <a:xfrm>
              <a:off x="2225" y="1626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80" name="Oval 432"/>
            <p:cNvSpPr>
              <a:spLocks noChangeArrowheads="1"/>
            </p:cNvSpPr>
            <p:nvPr/>
          </p:nvSpPr>
          <p:spPr bwMode="auto">
            <a:xfrm>
              <a:off x="3813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82" name="Oval 434"/>
            <p:cNvSpPr>
              <a:spLocks noChangeArrowheads="1"/>
            </p:cNvSpPr>
            <p:nvPr/>
          </p:nvSpPr>
          <p:spPr bwMode="auto">
            <a:xfrm>
              <a:off x="4165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83" name="Oval 435"/>
            <p:cNvSpPr>
              <a:spLocks noChangeArrowheads="1"/>
            </p:cNvSpPr>
            <p:nvPr/>
          </p:nvSpPr>
          <p:spPr bwMode="auto">
            <a:xfrm>
              <a:off x="3990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85" name="Oval 437"/>
            <p:cNvSpPr>
              <a:spLocks noChangeArrowheads="1"/>
            </p:cNvSpPr>
            <p:nvPr/>
          </p:nvSpPr>
          <p:spPr bwMode="auto">
            <a:xfrm>
              <a:off x="2322" y="1625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86" name="Oval 438"/>
            <p:cNvSpPr>
              <a:spLocks noChangeArrowheads="1"/>
            </p:cNvSpPr>
            <p:nvPr/>
          </p:nvSpPr>
          <p:spPr bwMode="auto">
            <a:xfrm>
              <a:off x="2974" y="1626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87" name="Oval 439"/>
            <p:cNvSpPr>
              <a:spLocks noChangeArrowheads="1"/>
            </p:cNvSpPr>
            <p:nvPr/>
          </p:nvSpPr>
          <p:spPr bwMode="auto">
            <a:xfrm>
              <a:off x="3077" y="1627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88" name="Oval 440"/>
            <p:cNvSpPr>
              <a:spLocks noChangeArrowheads="1"/>
            </p:cNvSpPr>
            <p:nvPr/>
          </p:nvSpPr>
          <p:spPr bwMode="auto">
            <a:xfrm>
              <a:off x="3176" y="1626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89" name="Oval 441"/>
            <p:cNvSpPr>
              <a:spLocks noChangeArrowheads="1"/>
            </p:cNvSpPr>
            <p:nvPr/>
          </p:nvSpPr>
          <p:spPr bwMode="auto">
            <a:xfrm>
              <a:off x="3274" y="1627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6490" name="Oval 442"/>
            <p:cNvSpPr>
              <a:spLocks noChangeArrowheads="1"/>
            </p:cNvSpPr>
            <p:nvPr/>
          </p:nvSpPr>
          <p:spPr bwMode="auto">
            <a:xfrm>
              <a:off x="3371" y="1626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86495" name="WordArt 447"/>
          <p:cNvSpPr>
            <a:spLocks noChangeArrowheads="1" noChangeShapeType="1" noTextEdit="1"/>
          </p:cNvSpPr>
          <p:nvPr/>
        </p:nvSpPr>
        <p:spPr bwMode="auto">
          <a:xfrm>
            <a:off x="4194717" y="2728564"/>
            <a:ext cx="149225" cy="184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i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/>
                <a:cs typeface="Times New Roman"/>
              </a:rPr>
              <a:t>k</a:t>
            </a:r>
            <a:endParaRPr lang="zh-CN" altLang="en-US" sz="3600" i="1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386493" name="AutoShape 445"/>
          <p:cNvSpPr>
            <a:spLocks noChangeArrowheads="1"/>
          </p:cNvSpPr>
          <p:nvPr/>
        </p:nvSpPr>
        <p:spPr bwMode="auto">
          <a:xfrm>
            <a:off x="972092" y="3054481"/>
            <a:ext cx="2536826" cy="392606"/>
          </a:xfrm>
          <a:prstGeom prst="wedgeRectCallout">
            <a:avLst>
              <a:gd name="adj1" fmla="val 11487"/>
              <a:gd name="adj2" fmla="val -117043"/>
            </a:avLst>
          </a:prstGeom>
          <a:solidFill>
            <a:schemeClr val="bg1"/>
          </a:solidFill>
          <a:ln w="9525" algn="ctr">
            <a:solidFill>
              <a:srgbClr val="FFCC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One ball is in one place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86517" name="Rectangle 469"/>
          <p:cNvSpPr>
            <a:spLocks noChangeArrowheads="1"/>
          </p:cNvSpPr>
          <p:nvPr/>
        </p:nvSpPr>
        <p:spPr bwMode="auto">
          <a:xfrm>
            <a:off x="350586" y="5938987"/>
            <a:ext cx="297497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probability is: 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6496" name="AutoShape 448"/>
              <p:cNvSpPr>
                <a:spLocks noChangeArrowheads="1"/>
              </p:cNvSpPr>
              <p:nvPr/>
            </p:nvSpPr>
            <p:spPr bwMode="auto">
              <a:xfrm>
                <a:off x="2840580" y="1708998"/>
                <a:ext cx="3754437" cy="441325"/>
              </a:xfrm>
              <a:prstGeom prst="wedgeRectCallout">
                <a:avLst>
                  <a:gd name="adj1" fmla="val -12260"/>
                  <a:gd name="adj2" fmla="val 110447"/>
                </a:avLst>
              </a:prstGeom>
              <a:solidFill>
                <a:schemeClr val="bg1"/>
              </a:solidFill>
              <a:ln w="9525" algn="ctr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anchor="ctr"/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  <a:defRPr/>
                </a:pP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Fix the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华文新魏" pitchFamily="2" charset="-122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th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place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to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be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a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red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ball</a:t>
                </a:r>
                <a:endParaRPr lang="zh-CN" altLang="zh-CN" dirty="0">
                  <a:solidFill>
                    <a:srgbClr val="C00000"/>
                  </a:solidFill>
                  <a:effectLst/>
                  <a:latin typeface="华文新魏" pitchFamily="2" charset="-122"/>
                  <a:ea typeface="华文新魏" pitchFamily="2" charset="-122"/>
                </a:endParaRPr>
              </a:p>
            </p:txBody>
          </p:sp>
        </mc:Choice>
        <mc:Fallback xmlns="">
          <p:sp>
            <p:nvSpPr>
              <p:cNvPr id="386496" name="AutoShape 4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0580" y="1708998"/>
                <a:ext cx="3754437" cy="441325"/>
              </a:xfrm>
              <a:prstGeom prst="wedgeRectCallout">
                <a:avLst>
                  <a:gd name="adj1" fmla="val -12260"/>
                  <a:gd name="adj2" fmla="val 110447"/>
                </a:avLst>
              </a:prstGeom>
              <a:blipFill>
                <a:blip r:embed="rId5"/>
                <a:stretch>
                  <a:fillRect l="-1320"/>
                </a:stretch>
              </a:blipFill>
              <a:ln w="9525" algn="ctr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6528" name="Oval 480"/>
          <p:cNvSpPr>
            <a:spLocks noChangeArrowheads="1"/>
          </p:cNvSpPr>
          <p:nvPr/>
        </p:nvSpPr>
        <p:spPr bwMode="auto">
          <a:xfrm>
            <a:off x="7635511" y="274151"/>
            <a:ext cx="104598" cy="101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63500" dir="2212194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000B150-366F-419F-9AFF-87A8CEA49A37}"/>
                  </a:ext>
                </a:extLst>
              </p:cNvPr>
              <p:cNvSpPr txBox="1"/>
              <p:nvPr/>
            </p:nvSpPr>
            <p:spPr>
              <a:xfrm>
                <a:off x="2756704" y="5780749"/>
                <a:ext cx="2290820" cy="5393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200" b="0" dirty="0"/>
                  <a:t>P</a:t>
                </a:r>
                <a:r>
                  <a:rPr lang="zh-CN" altLang="en-US" sz="2200" b="0" dirty="0"/>
                  <a:t>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</a:rPr>
                      <m:t>E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）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000B150-366F-419F-9AFF-87A8CEA49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704" y="5780749"/>
                <a:ext cx="2290820" cy="539315"/>
              </a:xfrm>
              <a:prstGeom prst="rect">
                <a:avLst/>
              </a:prstGeom>
              <a:blipFill>
                <a:blip r:embed="rId6"/>
                <a:stretch>
                  <a:fillRect l="-7447" b="-123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9A3D6DF-0B65-4C10-B1BE-F26DFE7EFD21}"/>
                  </a:ext>
                </a:extLst>
              </p:cNvPr>
              <p:cNvSpPr txBox="1"/>
              <p:nvPr/>
            </p:nvSpPr>
            <p:spPr>
              <a:xfrm>
                <a:off x="5118313" y="5861689"/>
                <a:ext cx="3205493" cy="585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GB" altLang="zh-CN" sz="22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(1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9A3D6DF-0B65-4C10-B1BE-F26DFE7EF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313" y="5861689"/>
                <a:ext cx="3205493" cy="585481"/>
              </a:xfrm>
              <a:prstGeom prst="rect">
                <a:avLst/>
              </a:prstGeom>
              <a:blipFill>
                <a:blip r:embed="rId7"/>
                <a:stretch>
                  <a:fillRect t="-2128" r="-2372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AutoShape 79"/>
          <p:cNvSpPr>
            <a:spLocks noChangeArrowheads="1"/>
          </p:cNvSpPr>
          <p:nvPr/>
        </p:nvSpPr>
        <p:spPr bwMode="auto">
          <a:xfrm>
            <a:off x="7334428" y="1553180"/>
            <a:ext cx="1434095" cy="390525"/>
          </a:xfrm>
          <a:prstGeom prst="wedgeRectCallout">
            <a:avLst>
              <a:gd name="adj1" fmla="val -82785"/>
              <a:gd name="adj2" fmla="val -97954"/>
            </a:avLst>
          </a:prstGeom>
          <a:solidFill>
            <a:schemeClr val="bg1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Permutation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F1F7371-9C7D-4203-B3CB-162ED35933B0}"/>
                  </a:ext>
                </a:extLst>
              </p:cNvPr>
              <p:cNvSpPr txBox="1"/>
              <p:nvPr/>
            </p:nvSpPr>
            <p:spPr>
              <a:xfrm>
                <a:off x="2343691" y="3767736"/>
                <a:ext cx="4759635" cy="511294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ways</m:t>
                          </m:r>
                          <m:r>
                            <a:rPr lang="zh-CN" alt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that</m:t>
                          </m:r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can</m:t>
                          </m:r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occur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fundamental</m:t>
                          </m:r>
                          <m:r>
                            <a:rPr lang="zh-CN" alt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outcomes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F1F7371-9C7D-4203-B3CB-162ED3593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691" y="3767736"/>
                <a:ext cx="4759635" cy="5112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8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1000"/>
                                        <p:tgtEl>
                                          <p:spTgt spid="386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8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6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6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6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8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8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498" grpId="0" animBg="1"/>
      <p:bldP spid="386429" grpId="0"/>
      <p:bldP spid="386424" grpId="0"/>
      <p:bldP spid="386427" grpId="0"/>
      <p:bldP spid="386459" grpId="0" animBg="1"/>
      <p:bldP spid="386495" grpId="0" animBg="1"/>
      <p:bldP spid="386493" grpId="0" animBg="1"/>
      <p:bldP spid="386517" grpId="0"/>
      <p:bldP spid="386496" grpId="0" animBg="1"/>
      <p:bldP spid="2" grpId="0"/>
      <p:bldP spid="3" grpId="0"/>
      <p:bldP spid="45" grpId="0" animBg="1"/>
      <p:bldP spid="4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6" name="Rectangle 8"/>
          <p:cNvSpPr>
            <a:spLocks noChangeArrowheads="1"/>
          </p:cNvSpPr>
          <p:nvPr/>
        </p:nvSpPr>
        <p:spPr bwMode="auto">
          <a:xfrm>
            <a:off x="1399365" y="872508"/>
            <a:ext cx="7296689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Suppose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 balls are the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same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except colors, arrange all the balls in a line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21904" name="WordArt 16"/>
          <p:cNvSpPr>
            <a:spLocks noChangeArrowheads="1" noChangeShapeType="1" noTextEdit="1"/>
          </p:cNvSpPr>
          <p:nvPr/>
        </p:nvSpPr>
        <p:spPr bwMode="auto">
          <a:xfrm>
            <a:off x="187325" y="984521"/>
            <a:ext cx="881062" cy="2571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chemeClr val="accent2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Solution 2:</a:t>
            </a:r>
            <a:r>
              <a:rPr lang="zh-CN" altLang="en-US" sz="3600" kern="10" dirty="0">
                <a:ln w="12700">
                  <a:solidFill>
                    <a:schemeClr val="accent2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 </a:t>
            </a:r>
          </a:p>
        </p:txBody>
      </p:sp>
      <p:grpSp>
        <p:nvGrpSpPr>
          <p:cNvPr id="421906" name="Group 18"/>
          <p:cNvGrpSpPr>
            <a:grpSpLocks/>
          </p:cNvGrpSpPr>
          <p:nvPr/>
        </p:nvGrpSpPr>
        <p:grpSpPr bwMode="auto">
          <a:xfrm>
            <a:off x="1866900" y="2492785"/>
            <a:ext cx="5307013" cy="176213"/>
            <a:chOff x="936" y="1584"/>
            <a:chExt cx="3343" cy="111"/>
          </a:xfrm>
        </p:grpSpPr>
        <p:sp>
          <p:nvSpPr>
            <p:cNvPr id="421907" name="Oval 19"/>
            <p:cNvSpPr>
              <a:spLocks noChangeArrowheads="1"/>
            </p:cNvSpPr>
            <p:nvPr/>
          </p:nvSpPr>
          <p:spPr bwMode="auto">
            <a:xfrm>
              <a:off x="1259" y="1585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08" name="Oval 20"/>
            <p:cNvSpPr>
              <a:spLocks noChangeArrowheads="1"/>
            </p:cNvSpPr>
            <p:nvPr/>
          </p:nvSpPr>
          <p:spPr bwMode="auto">
            <a:xfrm>
              <a:off x="936" y="1585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09" name="Oval 21"/>
            <p:cNvSpPr>
              <a:spLocks noChangeArrowheads="1"/>
            </p:cNvSpPr>
            <p:nvPr/>
          </p:nvSpPr>
          <p:spPr bwMode="auto">
            <a:xfrm>
              <a:off x="1097" y="1584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10" name="Oval 22"/>
            <p:cNvSpPr>
              <a:spLocks noChangeArrowheads="1"/>
            </p:cNvSpPr>
            <p:nvPr/>
          </p:nvSpPr>
          <p:spPr bwMode="auto">
            <a:xfrm>
              <a:off x="1426" y="1585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11" name="Oval 23"/>
            <p:cNvSpPr>
              <a:spLocks noChangeArrowheads="1"/>
            </p:cNvSpPr>
            <p:nvPr/>
          </p:nvSpPr>
          <p:spPr bwMode="auto">
            <a:xfrm>
              <a:off x="1739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12" name="Oval 24"/>
            <p:cNvSpPr>
              <a:spLocks noChangeArrowheads="1"/>
            </p:cNvSpPr>
            <p:nvPr/>
          </p:nvSpPr>
          <p:spPr bwMode="auto">
            <a:xfrm>
              <a:off x="2426" y="1585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13" name="Oval 25"/>
            <p:cNvSpPr>
              <a:spLocks noChangeArrowheads="1"/>
            </p:cNvSpPr>
            <p:nvPr/>
          </p:nvSpPr>
          <p:spPr bwMode="auto">
            <a:xfrm>
              <a:off x="2759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14" name="Oval 26"/>
            <p:cNvSpPr>
              <a:spLocks noChangeArrowheads="1"/>
            </p:cNvSpPr>
            <p:nvPr/>
          </p:nvSpPr>
          <p:spPr bwMode="auto">
            <a:xfrm>
              <a:off x="1586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15" name="Oval 27"/>
            <p:cNvSpPr>
              <a:spLocks noChangeArrowheads="1"/>
            </p:cNvSpPr>
            <p:nvPr/>
          </p:nvSpPr>
          <p:spPr bwMode="auto">
            <a:xfrm>
              <a:off x="3467" y="1587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16" name="Oval 28"/>
            <p:cNvSpPr>
              <a:spLocks noChangeArrowheads="1"/>
            </p:cNvSpPr>
            <p:nvPr/>
          </p:nvSpPr>
          <p:spPr bwMode="auto">
            <a:xfrm>
              <a:off x="2588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17" name="Oval 29"/>
            <p:cNvSpPr>
              <a:spLocks noChangeArrowheads="1"/>
            </p:cNvSpPr>
            <p:nvPr/>
          </p:nvSpPr>
          <p:spPr bwMode="auto">
            <a:xfrm>
              <a:off x="3637" y="1585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18" name="Oval 30"/>
            <p:cNvSpPr>
              <a:spLocks noChangeArrowheads="1"/>
            </p:cNvSpPr>
            <p:nvPr/>
          </p:nvSpPr>
          <p:spPr bwMode="auto">
            <a:xfrm>
              <a:off x="1925" y="1625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19" name="Oval 31"/>
            <p:cNvSpPr>
              <a:spLocks noChangeArrowheads="1"/>
            </p:cNvSpPr>
            <p:nvPr/>
          </p:nvSpPr>
          <p:spPr bwMode="auto">
            <a:xfrm>
              <a:off x="2028" y="1626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20" name="Oval 32"/>
            <p:cNvSpPr>
              <a:spLocks noChangeArrowheads="1"/>
            </p:cNvSpPr>
            <p:nvPr/>
          </p:nvSpPr>
          <p:spPr bwMode="auto">
            <a:xfrm>
              <a:off x="2127" y="1625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21" name="Oval 33"/>
            <p:cNvSpPr>
              <a:spLocks noChangeArrowheads="1"/>
            </p:cNvSpPr>
            <p:nvPr/>
          </p:nvSpPr>
          <p:spPr bwMode="auto">
            <a:xfrm>
              <a:off x="2225" y="1626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22" name="Oval 34"/>
            <p:cNvSpPr>
              <a:spLocks noChangeArrowheads="1"/>
            </p:cNvSpPr>
            <p:nvPr/>
          </p:nvSpPr>
          <p:spPr bwMode="auto">
            <a:xfrm>
              <a:off x="3813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23" name="Oval 35"/>
            <p:cNvSpPr>
              <a:spLocks noChangeArrowheads="1"/>
            </p:cNvSpPr>
            <p:nvPr/>
          </p:nvSpPr>
          <p:spPr bwMode="auto">
            <a:xfrm>
              <a:off x="4165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24" name="Oval 36"/>
            <p:cNvSpPr>
              <a:spLocks noChangeArrowheads="1"/>
            </p:cNvSpPr>
            <p:nvPr/>
          </p:nvSpPr>
          <p:spPr bwMode="auto">
            <a:xfrm>
              <a:off x="3990" y="1586"/>
              <a:ext cx="114" cy="108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6600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25" name="Oval 37"/>
            <p:cNvSpPr>
              <a:spLocks noChangeArrowheads="1"/>
            </p:cNvSpPr>
            <p:nvPr/>
          </p:nvSpPr>
          <p:spPr bwMode="auto">
            <a:xfrm>
              <a:off x="2322" y="1625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26" name="Oval 38"/>
            <p:cNvSpPr>
              <a:spLocks noChangeArrowheads="1"/>
            </p:cNvSpPr>
            <p:nvPr/>
          </p:nvSpPr>
          <p:spPr bwMode="auto">
            <a:xfrm>
              <a:off x="2974" y="1626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27" name="Oval 39"/>
            <p:cNvSpPr>
              <a:spLocks noChangeArrowheads="1"/>
            </p:cNvSpPr>
            <p:nvPr/>
          </p:nvSpPr>
          <p:spPr bwMode="auto">
            <a:xfrm>
              <a:off x="3077" y="1627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28" name="Oval 40"/>
            <p:cNvSpPr>
              <a:spLocks noChangeArrowheads="1"/>
            </p:cNvSpPr>
            <p:nvPr/>
          </p:nvSpPr>
          <p:spPr bwMode="auto">
            <a:xfrm>
              <a:off x="3176" y="1626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29" name="Oval 41"/>
            <p:cNvSpPr>
              <a:spLocks noChangeArrowheads="1"/>
            </p:cNvSpPr>
            <p:nvPr/>
          </p:nvSpPr>
          <p:spPr bwMode="auto">
            <a:xfrm>
              <a:off x="3274" y="1627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1930" name="Oval 42"/>
            <p:cNvSpPr>
              <a:spLocks noChangeArrowheads="1"/>
            </p:cNvSpPr>
            <p:nvPr/>
          </p:nvSpPr>
          <p:spPr bwMode="auto">
            <a:xfrm>
              <a:off x="3371" y="1626"/>
              <a:ext cx="33" cy="3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FF"/>
              </a:solidFill>
              <a:round/>
              <a:headEnd/>
              <a:tailEnd type="none" w="med" len="lg"/>
            </a:ln>
            <a:effectLst>
              <a:outerShdw dist="63500" dir="221219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21931" name="WordArt 43"/>
          <p:cNvSpPr>
            <a:spLocks noChangeArrowheads="1" noChangeShapeType="1" noTextEdit="1"/>
          </p:cNvSpPr>
          <p:nvPr/>
        </p:nvSpPr>
        <p:spPr bwMode="auto">
          <a:xfrm>
            <a:off x="4495800" y="2746785"/>
            <a:ext cx="149225" cy="184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i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/>
                <a:cs typeface="Times New Roman"/>
              </a:rPr>
              <a:t>k</a:t>
            </a:r>
            <a:endParaRPr lang="zh-CN" altLang="en-US" sz="3600" i="1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21935" name="AutoShape 47"/>
          <p:cNvSpPr>
            <a:spLocks noChangeArrowheads="1"/>
          </p:cNvSpPr>
          <p:nvPr/>
        </p:nvSpPr>
        <p:spPr bwMode="auto">
          <a:xfrm>
            <a:off x="627856" y="3097872"/>
            <a:ext cx="3198019" cy="454025"/>
          </a:xfrm>
          <a:prstGeom prst="wedgeRectCallout">
            <a:avLst>
              <a:gd name="adj1" fmla="val 23674"/>
              <a:gd name="adj2" fmla="val -114204"/>
            </a:avLst>
          </a:prstGeom>
          <a:solidFill>
            <a:schemeClr val="bg1"/>
          </a:solidFill>
          <a:ln w="9525" algn="ctr">
            <a:solidFill>
              <a:srgbClr val="FFCC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 Only consider the red balls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1938" name="AutoShape 50"/>
              <p:cNvSpPr>
                <a:spLocks noChangeArrowheads="1"/>
              </p:cNvSpPr>
              <p:nvPr/>
            </p:nvSpPr>
            <p:spPr bwMode="auto">
              <a:xfrm>
                <a:off x="4749664" y="3015494"/>
                <a:ext cx="4069021" cy="784225"/>
              </a:xfrm>
              <a:prstGeom prst="wedgeRectCallout">
                <a:avLst>
                  <a:gd name="adj1" fmla="val -23148"/>
                  <a:gd name="adj2" fmla="val -83806"/>
                </a:avLst>
              </a:prstGeom>
              <a:solidFill>
                <a:schemeClr val="bg1"/>
              </a:solidFill>
              <a:ln w="9525" algn="ctr">
                <a:solidFill>
                  <a:srgbClr val="FFCC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anchor="ctr"/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  <a:defRPr/>
                </a:pP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Put the rest 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solidFill>
                          <a:srgbClr val="C00000"/>
                        </a:solidFill>
                        <a:effectLst/>
                        <a:latin typeface="Cambria Math"/>
                        <a:ea typeface="华文新魏" pitchFamily="2" charset="-122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华文新魏" pitchFamily="2" charset="-122"/>
                      </a:rPr>
                      <m:t>𝑎</m:t>
                    </m:r>
                    <m:r>
                      <a:rPr lang="en-US" altLang="zh-CN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华文新魏" pitchFamily="2" charset="-122"/>
                      </a:rPr>
                      <m:t>−1)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red balls in the other 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solidFill>
                          <a:srgbClr val="C00000"/>
                        </a:solidFill>
                        <a:effectLst/>
                        <a:latin typeface="Cambria Math"/>
                        <a:ea typeface="华文新魏" pitchFamily="2" charset="-122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华文新魏" pitchFamily="2" charset="-122"/>
                      </a:rPr>
                      <m:t>𝑎</m:t>
                    </m:r>
                    <m:r>
                      <a:rPr lang="en-US" altLang="zh-CN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华文新魏" pitchFamily="2" charset="-122"/>
                      </a:rPr>
                      <m:t>+</m:t>
                    </m:r>
                    <m:r>
                      <a:rPr lang="en-US" altLang="zh-CN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华文新魏" pitchFamily="2" charset="-122"/>
                      </a:rPr>
                      <m:t>𝑏</m:t>
                    </m:r>
                    <m:r>
                      <a:rPr lang="en-US" altLang="zh-CN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华文新魏" pitchFamily="2" charset="-122"/>
                      </a:rPr>
                      <m:t>−1) 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places</a:t>
                </a:r>
                <a:endParaRPr lang="zh-CN" altLang="zh-CN" dirty="0">
                  <a:solidFill>
                    <a:srgbClr val="C00000"/>
                  </a:solidFill>
                  <a:effectLst/>
                  <a:latin typeface="华文新魏" pitchFamily="2" charset="-122"/>
                  <a:ea typeface="华文新魏" pitchFamily="2" charset="-122"/>
                </a:endParaRPr>
              </a:p>
            </p:txBody>
          </p:sp>
        </mc:Choice>
        <mc:Fallback xmlns="">
          <p:sp>
            <p:nvSpPr>
              <p:cNvPr id="421938" name="AutoShap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9664" y="3015494"/>
                <a:ext cx="4069021" cy="784225"/>
              </a:xfrm>
              <a:prstGeom prst="wedgeRectCallout">
                <a:avLst>
                  <a:gd name="adj1" fmla="val -23148"/>
                  <a:gd name="adj2" fmla="val -83806"/>
                </a:avLst>
              </a:prstGeom>
              <a:blipFill>
                <a:blip r:embed="rId2"/>
                <a:stretch>
                  <a:fillRect l="-915"/>
                </a:stretch>
              </a:blipFill>
              <a:ln w="9525" algn="ctr">
                <a:solidFill>
                  <a:srgbClr val="FFCC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1968" name="WordArt 80"/>
          <p:cNvSpPr>
            <a:spLocks noChangeArrowheads="1" noChangeShapeType="1" noTextEdit="1"/>
          </p:cNvSpPr>
          <p:nvPr/>
        </p:nvSpPr>
        <p:spPr bwMode="auto">
          <a:xfrm>
            <a:off x="3860801" y="3059772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381">
                <a:extLst>
                  <a:ext uri="{FF2B5EF4-FFF2-40B4-BE49-F238E27FC236}">
                    <a16:creationId xmlns:a16="http://schemas.microsoft.com/office/drawing/2014/main" id="{2E4E7FDE-F8C1-470D-86E8-C7C601BB77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475" y="4189000"/>
                <a:ext cx="59857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defRPr/>
                </a:pP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Total n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umber of fundamental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outcomes: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effectLst/>
                        <a:latin typeface="Cambria Math"/>
                        <a:ea typeface="华文新魏" panose="02010800040101010101" pitchFamily="2" charset="-122"/>
                      </a:rPr>
                      <m:t> </m:t>
                    </m:r>
                  </m:oMath>
                </a14:m>
                <a:endParaRPr lang="zh-CN" altLang="en-US" sz="220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0" name="Rectangle 38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E4E7FDE-F8C1-470D-86E8-C7C601BB77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475" y="4189000"/>
                <a:ext cx="5985750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1325" t="-8451" b="-267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379">
                <a:extLst>
                  <a:ext uri="{FF2B5EF4-FFF2-40B4-BE49-F238E27FC236}">
                    <a16:creationId xmlns:a16="http://schemas.microsoft.com/office/drawing/2014/main" id="{B1A00E81-61AF-4285-B32C-C274FBE50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465" y="4718809"/>
                <a:ext cx="7537304" cy="4455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defRPr/>
                </a:pP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Number of the ways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that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event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can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occur: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C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𝑎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+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𝑏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−1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𝑎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−1</m:t>
                        </m:r>
                      </m:sup>
                    </m:sSubSup>
                  </m:oMath>
                </a14:m>
                <a:endParaRPr lang="zh-CN" altLang="en-US" sz="220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1" name="Rectangle 37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1A00E81-61AF-4285-B32C-C274FBE50F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465" y="4718809"/>
                <a:ext cx="7537304" cy="445571"/>
              </a:xfrm>
              <a:prstGeom prst="rect">
                <a:avLst/>
              </a:prstGeom>
              <a:blipFill rotWithShape="1">
                <a:blip r:embed="rId4"/>
                <a:stretch>
                  <a:fillRect l="-970" t="-4110" b="-2739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469">
            <a:extLst>
              <a:ext uri="{FF2B5EF4-FFF2-40B4-BE49-F238E27FC236}">
                <a16:creationId xmlns:a16="http://schemas.microsoft.com/office/drawing/2014/main" id="{C2E889D6-526A-4363-85FA-9A9E584F9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5300393"/>
            <a:ext cx="249603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probability is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4CE863-A9A8-48D2-A438-D09C3D556024}"/>
                  </a:ext>
                </a:extLst>
              </p:cNvPr>
              <p:cNvSpPr txBox="1"/>
              <p:nvPr/>
            </p:nvSpPr>
            <p:spPr>
              <a:xfrm>
                <a:off x="2683360" y="5207740"/>
                <a:ext cx="1962397" cy="6161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200" b="0" dirty="0"/>
                  <a:t>P</a:t>
                </a:r>
                <a:r>
                  <a:rPr lang="zh-CN" altLang="en-US" sz="2200" b="0" dirty="0"/>
                  <a:t>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</a:rPr>
                      <m:t>E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）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200" dirty="0">
                    <a:ea typeface="华文新魏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𝑎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𝑏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𝑎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−1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sz="2200" i="1" smtClean="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𝑎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𝑎</m:t>
                            </m:r>
                          </m:sup>
                        </m:sSubSup>
                      </m:den>
                    </m:f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4CE863-A9A8-48D2-A438-D09C3D556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360" y="5207740"/>
                <a:ext cx="1962397" cy="616194"/>
              </a:xfrm>
              <a:prstGeom prst="rect">
                <a:avLst/>
              </a:prstGeom>
              <a:blipFill>
                <a:blip r:embed="rId5"/>
                <a:stretch>
                  <a:fillRect l="-8696" b="-5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57F0EB1-909E-4DD4-B917-53B143D2CF74}"/>
                  </a:ext>
                </a:extLst>
              </p:cNvPr>
              <p:cNvSpPr txBox="1"/>
              <p:nvPr/>
            </p:nvSpPr>
            <p:spPr>
              <a:xfrm>
                <a:off x="4851399" y="5223096"/>
                <a:ext cx="3967285" cy="5854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GB" altLang="zh-CN" sz="22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(1≤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57F0EB1-909E-4DD4-B917-53B143D2C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399" y="5223096"/>
                <a:ext cx="3967285" cy="58548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AutoShape 84"/>
          <p:cNvSpPr>
            <a:spLocks noChangeArrowheads="1"/>
          </p:cNvSpPr>
          <p:nvPr/>
        </p:nvSpPr>
        <p:spPr bwMode="auto">
          <a:xfrm>
            <a:off x="7173913" y="1426426"/>
            <a:ext cx="1771679" cy="390525"/>
          </a:xfrm>
          <a:prstGeom prst="wedgeRectCallout">
            <a:avLst>
              <a:gd name="adj1" fmla="val -58717"/>
              <a:gd name="adj2" fmla="val -94487"/>
            </a:avLst>
          </a:prstGeom>
          <a:solidFill>
            <a:schemeClr val="bg1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Combination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5884863" y="4173610"/>
                <a:ext cx="1198562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C</m:t>
                          </m:r>
                        </m:e>
                        <m:sub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𝑎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+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863" y="4173610"/>
                <a:ext cx="1198562" cy="430887"/>
              </a:xfrm>
              <a:prstGeom prst="rect">
                <a:avLst/>
              </a:prstGeom>
              <a:blipFill rotWithShape="1">
                <a:blip r:embed="rId7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AutoShape 448">
                <a:extLst>
                  <a:ext uri="{FF2B5EF4-FFF2-40B4-BE49-F238E27FC236}">
                    <a16:creationId xmlns:a16="http://schemas.microsoft.com/office/drawing/2014/main" id="{906B1886-AC4C-E144-8674-D571992CC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3360" y="1721050"/>
                <a:ext cx="4235485" cy="441325"/>
              </a:xfrm>
              <a:prstGeom prst="wedgeRectCallout">
                <a:avLst>
                  <a:gd name="adj1" fmla="val -12260"/>
                  <a:gd name="adj2" fmla="val 110447"/>
                </a:avLst>
              </a:prstGeom>
              <a:solidFill>
                <a:schemeClr val="bg1"/>
              </a:solidFill>
              <a:ln w="9525" algn="ctr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anchor="ctr"/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  <a:defRPr/>
                </a:pP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Fix the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华文新魏" pitchFamily="2" charset="-122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th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place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to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be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a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red</a:t>
                </a:r>
                <a:r>
                  <a:rPr lang="zh-CN" altLang="en-US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effectLst/>
                    <a:latin typeface="华文新魏" pitchFamily="2" charset="-122"/>
                    <a:ea typeface="华文新魏" pitchFamily="2" charset="-122"/>
                  </a:rPr>
                  <a:t>ball</a:t>
                </a:r>
                <a:endParaRPr lang="zh-CN" altLang="zh-CN" dirty="0">
                  <a:solidFill>
                    <a:srgbClr val="C00000"/>
                  </a:solidFill>
                  <a:effectLst/>
                  <a:latin typeface="华文新魏" pitchFamily="2" charset="-122"/>
                  <a:ea typeface="华文新魏" pitchFamily="2" charset="-122"/>
                </a:endParaRPr>
              </a:p>
            </p:txBody>
          </p:sp>
        </mc:Choice>
        <mc:Fallback xmlns="">
          <p:sp>
            <p:nvSpPr>
              <p:cNvPr id="45" name="AutoShape 4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06B1886-AC4C-E144-8674-D571992CC5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3360" y="1721050"/>
                <a:ext cx="4235485" cy="441325"/>
              </a:xfrm>
              <a:prstGeom prst="wedgeRectCallout">
                <a:avLst>
                  <a:gd name="adj1" fmla="val -12260"/>
                  <a:gd name="adj2" fmla="val 110447"/>
                </a:avLst>
              </a:prstGeom>
              <a:blipFill rotWithShape="1">
                <a:blip r:embed="rId8"/>
                <a:stretch>
                  <a:fillRect l="-986"/>
                </a:stretch>
              </a:blipFill>
              <a:ln w="9525" algn="ctr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74">
            <a:extLst>
              <a:ext uri="{FF2B5EF4-FFF2-40B4-BE49-F238E27FC236}">
                <a16:creationId xmlns:a16="http://schemas.microsoft.com/office/drawing/2014/main" id="{749A47C5-D4D7-F148-B105-A6B7D0E9E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6024511"/>
            <a:ext cx="49255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result is not related to the </a:t>
            </a:r>
            <a:r>
              <a:rPr lang="en-US" altLang="zh-CN" sz="2400" i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 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!!! 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1000"/>
                                        <p:tgtEl>
                                          <p:spTgt spid="42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1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1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1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1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6" grpId="0"/>
      <p:bldP spid="421904" grpId="0" animBg="1"/>
      <p:bldP spid="421931" grpId="0" animBg="1"/>
      <p:bldP spid="421935" grpId="0" animBg="1"/>
      <p:bldP spid="421938" grpId="0" animBg="1"/>
      <p:bldP spid="421968" grpId="0" animBg="1"/>
      <p:bldP spid="421968" grpId="1"/>
      <p:bldP spid="60" grpId="0"/>
      <p:bldP spid="61" grpId="0"/>
      <p:bldP spid="62" grpId="0"/>
      <p:bldP spid="2" grpId="0"/>
      <p:bldP spid="3" grpId="0"/>
      <p:bldP spid="46" grpId="0" animBg="1"/>
      <p:bldP spid="4" grpId="0"/>
      <p:bldP spid="45" grpId="0" animBg="1"/>
      <p:bldP spid="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0182" name="Rectangle 38"/>
              <p:cNvSpPr>
                <a:spLocks noChangeArrowheads="1"/>
              </p:cNvSpPr>
              <p:nvPr/>
            </p:nvSpPr>
            <p:spPr bwMode="auto">
              <a:xfrm>
                <a:off x="1069868" y="1482096"/>
                <a:ext cx="8185644" cy="7694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Put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i="1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balls 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randomly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into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effectLst/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200" b="0" i="1" smtClean="0">
                        <a:effectLst/>
                        <a:latin typeface="Cambria Math" panose="02040503050406030204" pitchFamily="18" charset="0"/>
                      </a:rPr>
                      <m:t>(≥</m:t>
                    </m:r>
                    <m:r>
                      <a:rPr lang="en-US" altLang="zh-CN" sz="2200" b="0" i="1" smtClean="0"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b="0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boxes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 compute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the probability of the event </a:t>
                </a:r>
                <a:r>
                  <a:rPr lang="en-US" altLang="zh-CN" sz="2200" dirty="0" err="1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that“there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is</a:t>
                </a:r>
                <a:r>
                  <a:rPr lang="zh-CN" altLang="en-US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2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at most one ball in each box”</a:t>
                </a:r>
                <a:r>
                  <a:rPr lang="en-US" altLang="zh-CN" sz="22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.</a:t>
                </a:r>
                <a:endParaRPr lang="zh-CN" altLang="en-US" sz="220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90182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9868" y="1482096"/>
                <a:ext cx="8185644" cy="769441"/>
              </a:xfrm>
              <a:prstGeom prst="rect">
                <a:avLst/>
              </a:prstGeom>
              <a:blipFill>
                <a:blip r:embed="rId3"/>
                <a:stretch>
                  <a:fillRect l="-969" t="-4762" r="-671" b="-1587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185" name="Rectangle 41"/>
          <p:cNvSpPr>
            <a:spLocks noChangeArrowheads="1"/>
          </p:cNvSpPr>
          <p:nvPr/>
        </p:nvSpPr>
        <p:spPr bwMode="auto">
          <a:xfrm>
            <a:off x="1146897" y="2417880"/>
            <a:ext cx="757642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It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is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equally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likely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for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each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ball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to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be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put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into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each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box,</a:t>
            </a:r>
            <a:r>
              <a:rPr lang="zh-CN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which is Classical Probability.</a:t>
            </a:r>
            <a:endParaRPr lang="zh-CN" altLang="en-US" sz="2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90190" name="Rectangle 46"/>
          <p:cNvSpPr>
            <a:spLocks noChangeArrowheads="1"/>
          </p:cNvSpPr>
          <p:nvPr/>
        </p:nvSpPr>
        <p:spPr bwMode="auto">
          <a:xfrm>
            <a:off x="616137" y="5472470"/>
            <a:ext cx="250714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probability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is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sp>
        <p:nvSpPr>
          <p:cNvPr id="390194" name="Rectangle 50"/>
          <p:cNvSpPr>
            <a:spLocks noChangeArrowheads="1"/>
          </p:cNvSpPr>
          <p:nvPr/>
        </p:nvSpPr>
        <p:spPr bwMode="auto">
          <a:xfrm>
            <a:off x="510957" y="3388766"/>
            <a:ext cx="555530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Total number of fundamental</a:t>
            </a:r>
            <a:r>
              <a:rPr lang="zh-CN" altLang="en-US" sz="2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outcomes:</a:t>
            </a:r>
            <a:endParaRPr lang="zh-CN" altLang="en-US" sz="22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0187" name="Rectangle 43"/>
          <p:cNvSpPr>
            <a:spLocks noChangeArrowheads="1"/>
          </p:cNvSpPr>
          <p:nvPr/>
        </p:nvSpPr>
        <p:spPr bwMode="auto">
          <a:xfrm>
            <a:off x="510957" y="4171261"/>
            <a:ext cx="67785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number of ways that the event can</a:t>
            </a:r>
            <a:r>
              <a:rPr lang="zh-CN" altLang="en-US" sz="2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occur 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0205" name="WordArt 61"/>
          <p:cNvSpPr>
            <a:spLocks noChangeArrowheads="1" noChangeShapeType="1" noTextEdit="1"/>
          </p:cNvSpPr>
          <p:nvPr/>
        </p:nvSpPr>
        <p:spPr bwMode="auto">
          <a:xfrm>
            <a:off x="212926" y="2533378"/>
            <a:ext cx="933971" cy="2905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5875">
                  <a:solidFill>
                    <a:srgbClr val="3399FF"/>
                  </a:solidFill>
                  <a:round/>
                  <a:headEnd/>
                  <a:tailE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rPr>
              <a:t>Analysis </a:t>
            </a:r>
            <a:endParaRPr lang="zh-CN" altLang="en-US" sz="3600" kern="10" dirty="0">
              <a:ln w="15875">
                <a:solidFill>
                  <a:srgbClr val="3399FF"/>
                </a:solidFill>
                <a:round/>
                <a:headEnd/>
                <a:tailE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/>
              <a:ea typeface="方正舒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F4213B-FFEE-42DE-9C46-796B607399FF}"/>
              </a:ext>
            </a:extLst>
          </p:cNvPr>
          <p:cNvSpPr/>
          <p:nvPr/>
        </p:nvSpPr>
        <p:spPr>
          <a:xfrm>
            <a:off x="507390" y="4512162"/>
            <a:ext cx="39779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(at most one ball in each box)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D8379A-99BD-481E-836E-C3FBA2C7547C}"/>
                  </a:ext>
                </a:extLst>
              </p:cNvPr>
              <p:cNvSpPr txBox="1"/>
              <p:nvPr/>
            </p:nvSpPr>
            <p:spPr>
              <a:xfrm>
                <a:off x="3653987" y="3813752"/>
                <a:ext cx="1966243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D8379A-99BD-481E-836E-C3FBA2C75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987" y="3813752"/>
                <a:ext cx="1966243" cy="338554"/>
              </a:xfrm>
              <a:prstGeom prst="rect">
                <a:avLst/>
              </a:prstGeom>
              <a:blipFill>
                <a:blip r:embed="rId4"/>
                <a:stretch>
                  <a:fillRect l="-2477" b="-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DD6367E-6DE6-45DA-B054-75797C77E151}"/>
                  </a:ext>
                </a:extLst>
              </p:cNvPr>
              <p:cNvSpPr txBox="1"/>
              <p:nvPr/>
            </p:nvSpPr>
            <p:spPr>
              <a:xfrm>
                <a:off x="2821681" y="5038903"/>
                <a:ext cx="3858813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…[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DD6367E-6DE6-45DA-B054-75797C77E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681" y="5038903"/>
                <a:ext cx="3858813" cy="338554"/>
              </a:xfrm>
              <a:prstGeom prst="rect">
                <a:avLst/>
              </a:prstGeom>
              <a:blipFill>
                <a:blip r:embed="rId5"/>
                <a:stretch>
                  <a:fillRect l="-1106" t="-3636" r="-1896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03BFD0A-CF2F-4FD0-89F2-5A2A66A67C84}"/>
                  </a:ext>
                </a:extLst>
              </p:cNvPr>
              <p:cNvSpPr txBox="1"/>
              <p:nvPr/>
            </p:nvSpPr>
            <p:spPr>
              <a:xfrm>
                <a:off x="507391" y="5956877"/>
                <a:ext cx="4650088" cy="655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m:rPr>
                          <m:sty m:val="p"/>
                        </m:rPr>
                        <a:rPr lang="en-US" altLang="zh-CN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zh-CN" alt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altLang="zh-C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CN" sz="2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03BFD0A-CF2F-4FD0-89F2-5A2A66A67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1" y="5956877"/>
                <a:ext cx="4650088" cy="6558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6F77FE2-53FE-43DC-B0F3-1AE8CCAB8636}"/>
                  </a:ext>
                </a:extLst>
              </p:cNvPr>
              <p:cNvSpPr txBox="1"/>
              <p:nvPr/>
            </p:nvSpPr>
            <p:spPr>
              <a:xfrm>
                <a:off x="3545767" y="5956877"/>
                <a:ext cx="3506338" cy="654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…(</m:t>
                          </m:r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6F77FE2-53FE-43DC-B0F3-1AE8CCAB8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767" y="5956877"/>
                <a:ext cx="3506338" cy="6548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WordArt 387"/>
          <p:cNvSpPr>
            <a:spLocks noChangeArrowheads="1" noChangeShapeType="1" noTextEdit="1"/>
          </p:cNvSpPr>
          <p:nvPr/>
        </p:nvSpPr>
        <p:spPr bwMode="auto">
          <a:xfrm>
            <a:off x="118244" y="1523795"/>
            <a:ext cx="951624" cy="4511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Example: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  <p:sp>
        <p:nvSpPr>
          <p:cNvPr id="17" name="AutoShape 79"/>
          <p:cNvSpPr>
            <a:spLocks noChangeArrowheads="1"/>
          </p:cNvSpPr>
          <p:nvPr/>
        </p:nvSpPr>
        <p:spPr bwMode="auto">
          <a:xfrm>
            <a:off x="7311287" y="4817655"/>
            <a:ext cx="1670481" cy="390525"/>
          </a:xfrm>
          <a:prstGeom prst="wedgeRectCallout">
            <a:avLst>
              <a:gd name="adj1" fmla="val -147931"/>
              <a:gd name="adj2" fmla="val -84450"/>
            </a:avLst>
          </a:prstGeom>
          <a:solidFill>
            <a:schemeClr val="bg1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Permutation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19" name="Group 102">
            <a:extLst>
              <a:ext uri="{FF2B5EF4-FFF2-40B4-BE49-F238E27FC236}">
                <a16:creationId xmlns:a16="http://schemas.microsoft.com/office/drawing/2014/main" id="{C4D6C395-0A5C-47CF-A0FE-94200E8B96CE}"/>
              </a:ext>
            </a:extLst>
          </p:cNvPr>
          <p:cNvGrpSpPr>
            <a:grpSpLocks/>
          </p:cNvGrpSpPr>
          <p:nvPr/>
        </p:nvGrpSpPr>
        <p:grpSpPr bwMode="auto">
          <a:xfrm>
            <a:off x="442833" y="-38151"/>
            <a:ext cx="7647300" cy="1403509"/>
            <a:chOff x="1085" y="3428"/>
            <a:chExt cx="2961" cy="421"/>
          </a:xfrm>
        </p:grpSpPr>
        <p:sp>
          <p:nvSpPr>
            <p:cNvPr id="20" name="WordArt 103">
              <a:extLst>
                <a:ext uri="{FF2B5EF4-FFF2-40B4-BE49-F238E27FC236}">
                  <a16:creationId xmlns:a16="http://schemas.microsoft.com/office/drawing/2014/main" id="{F7A5174E-72E1-4E14-AB25-32EB9DCECD5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085" y="3618"/>
              <a:ext cx="2961" cy="23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marL="742950" indent="-742950" algn="ctr">
                <a:buFont typeface="+mj-ea"/>
                <a:buAutoNum type="circleNumDbPlain"/>
              </a:pPr>
              <a:r>
                <a:rPr lang="en-US" altLang="zh-CN" sz="3600" b="1" kern="10" dirty="0"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rgbClr val="FF2525"/>
                  </a:solidFill>
                  <a:latin typeface="黑体"/>
                  <a:ea typeface="黑体"/>
                </a:rPr>
                <a:t>Ball drawing models: </a:t>
              </a:r>
            </a:p>
            <a:p>
              <a:pPr algn="ctr"/>
              <a:r>
                <a:rPr lang="en-US" altLang="zh-CN" sz="3600" kern="10" dirty="0">
                  <a:ln w="12700">
                    <a:solidFill>
                      <a:srgbClr val="3399FF"/>
                    </a:solidFill>
                    <a:round/>
                    <a:headEnd/>
                    <a:tailEnd/>
                  </a:ln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黑体"/>
                  <a:ea typeface="黑体"/>
                </a:rPr>
                <a:t>Many</a:t>
              </a:r>
              <a:r>
                <a:rPr lang="zh-CN" altLang="en-US" sz="3600" kern="10" dirty="0">
                  <a:ln w="12700">
                    <a:solidFill>
                      <a:srgbClr val="3399FF"/>
                    </a:solidFill>
                    <a:round/>
                    <a:headEnd/>
                    <a:tailEnd/>
                  </a:ln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黑体"/>
                  <a:ea typeface="黑体"/>
                </a:rPr>
                <a:t> </a:t>
              </a:r>
              <a:r>
                <a:rPr lang="en-US" altLang="zh-CN" sz="3600" kern="10" dirty="0">
                  <a:ln w="12700">
                    <a:solidFill>
                      <a:srgbClr val="3399FF"/>
                    </a:solidFill>
                    <a:round/>
                    <a:headEnd/>
                    <a:tailEnd/>
                  </a:ln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黑体"/>
                  <a:ea typeface="黑体"/>
                </a:rPr>
                <a:t>practical</a:t>
              </a:r>
              <a:r>
                <a:rPr lang="zh-CN" altLang="en-US" sz="3600" kern="10" dirty="0">
                  <a:ln w="12700">
                    <a:solidFill>
                      <a:srgbClr val="3399FF"/>
                    </a:solidFill>
                    <a:round/>
                    <a:headEnd/>
                    <a:tailEnd/>
                  </a:ln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黑体"/>
                  <a:ea typeface="黑体"/>
                </a:rPr>
                <a:t> </a:t>
              </a:r>
              <a:r>
                <a:rPr lang="en-US" altLang="zh-CN" sz="3600" kern="10" dirty="0">
                  <a:ln w="12700">
                    <a:solidFill>
                      <a:srgbClr val="3399FF"/>
                    </a:solidFill>
                    <a:round/>
                    <a:headEnd/>
                    <a:tailEnd/>
                  </a:ln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黑体"/>
                  <a:ea typeface="黑体"/>
                </a:rPr>
                <a:t>problems can be considered as this</a:t>
              </a:r>
              <a:endParaRPr lang="zh-CN" altLang="en-US" sz="3600" kern="10" dirty="0">
                <a:ln w="12700">
                  <a:solidFill>
                    <a:schemeClr val="accent2"/>
                  </a:solidFill>
                  <a:round/>
                  <a:headEnd/>
                  <a:tailEnd/>
                </a:ln>
                <a:solidFill>
                  <a:srgbClr val="FF2525"/>
                </a:solidFill>
                <a:latin typeface="黑体"/>
                <a:ea typeface="黑体"/>
              </a:endParaRPr>
            </a:p>
          </p:txBody>
        </p:sp>
        <p:sp>
          <p:nvSpPr>
            <p:cNvPr id="21" name="WordArt 104">
              <a:extLst>
                <a:ext uri="{FF2B5EF4-FFF2-40B4-BE49-F238E27FC236}">
                  <a16:creationId xmlns:a16="http://schemas.microsoft.com/office/drawing/2014/main" id="{8124D09A-3E41-4D6E-ABFE-8544A8A02D8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869" y="3428"/>
              <a:ext cx="1135" cy="15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endParaRPr lang="zh-CN" altLang="en-US" sz="3600" b="1" kern="10" dirty="0">
                <a:ln w="12700">
                  <a:solidFill>
                    <a:schemeClr val="accent2"/>
                  </a:solidFill>
                  <a:round/>
                  <a:headEnd/>
                  <a:tailEnd/>
                </a:ln>
                <a:solidFill>
                  <a:srgbClr val="FF2525"/>
                </a:solidFill>
                <a:latin typeface="黑体"/>
                <a:ea typeface="黑体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0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0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9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9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9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75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82" grpId="0"/>
      <p:bldP spid="390185" grpId="0"/>
      <p:bldP spid="390190" grpId="0"/>
      <p:bldP spid="390194" grpId="0"/>
      <p:bldP spid="390187" grpId="0"/>
      <p:bldP spid="390205" grpId="0" animBg="1"/>
      <p:bldP spid="2" grpId="0"/>
      <p:bldP spid="3" grpId="0"/>
      <p:bldP spid="4" grpId="0"/>
      <p:bldP spid="5" grpId="0"/>
      <p:bldP spid="6" grpId="0"/>
      <p:bldP spid="16" grpId="0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9" name="Rectangle 3"/>
          <p:cNvSpPr>
            <a:spLocks noChangeArrowheads="1"/>
          </p:cNvSpPr>
          <p:nvPr/>
        </p:nvSpPr>
        <p:spPr bwMode="auto">
          <a:xfrm>
            <a:off x="1233996" y="816436"/>
            <a:ext cx="77218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Randomly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choose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number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from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0,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1,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2,…,9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with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replacement, and do it five times. What is the probability to get 5 different numbers?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EB0C492-11F2-4B10-9A18-A419BFE7E1F2}"/>
                  </a:ext>
                </a:extLst>
              </p:cNvPr>
              <p:cNvSpPr txBox="1"/>
              <p:nvPr/>
            </p:nvSpPr>
            <p:spPr>
              <a:xfrm>
                <a:off x="2803495" y="2346482"/>
                <a:ext cx="4268156" cy="540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200" b="0" dirty="0"/>
                  <a:t>P</a:t>
                </a:r>
                <a:r>
                  <a:rPr lang="zh-CN" altLang="en-US" sz="2200" b="0" dirty="0"/>
                  <a:t>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</a:rPr>
                      <m:t>E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）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b="0" i="1" smtClean="0">
                                <a:latin typeface="Cambria Math"/>
                              </a:rPr>
                              <m:t>  </m:t>
                            </m:r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/>
                              </a:rPr>
                              <m:t>10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/>
                              </a:rPr>
                              <m:t>5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zh-CN" altLang="en-US" sz="2200"/>
                          <m:t> </m:t>
                        </m:r>
                      </m:num>
                      <m:den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10∙9∙8∙7∙6</m:t>
                        </m:r>
                      </m:num>
                      <m:den>
                        <m:sSup>
                          <m:sSup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=0.3024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EB0C492-11F2-4B10-9A18-A419BFE7E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495" y="2346482"/>
                <a:ext cx="4268156" cy="540597"/>
              </a:xfrm>
              <a:prstGeom prst="rect">
                <a:avLst/>
              </a:prstGeom>
              <a:blipFill>
                <a:blip r:embed="rId3"/>
                <a:stretch>
                  <a:fillRect l="-4000" b="-17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WordArt 387"/>
          <p:cNvSpPr>
            <a:spLocks noChangeArrowheads="1" noChangeShapeType="1" noTextEdit="1"/>
          </p:cNvSpPr>
          <p:nvPr/>
        </p:nvSpPr>
        <p:spPr bwMode="auto">
          <a:xfrm>
            <a:off x="188203" y="816436"/>
            <a:ext cx="951624" cy="4511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Exercise: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33995" y="3723752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" dirty="0">
                <a:ln w="12700">
                  <a:solidFill>
                    <a:schemeClr val="accent2"/>
                  </a:solidFill>
                  <a:round/>
                  <a:headEnd/>
                  <a:tailEnd/>
                </a:ln>
                <a:solidFill>
                  <a:srgbClr val="FF2525"/>
                </a:solidFill>
                <a:latin typeface="黑体"/>
                <a:ea typeface="黑体"/>
              </a:rPr>
              <a:t>Ball drawing models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90BDB20-F56A-46C3-AB28-CA5F72AED45A}"/>
                  </a:ext>
                </a:extLst>
              </p:cNvPr>
              <p:cNvSpPr txBox="1"/>
              <p:nvPr/>
            </p:nvSpPr>
            <p:spPr>
              <a:xfrm>
                <a:off x="2355073" y="4308833"/>
                <a:ext cx="1985831" cy="5245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200" b="0" dirty="0">
                    <a:solidFill>
                      <a:schemeClr val="tx1"/>
                    </a:solidFill>
                  </a:rPr>
                  <a:t>P</a:t>
                </a:r>
                <a:r>
                  <a:rPr lang="zh-CN" altLang="en-US" sz="2200" b="0" dirty="0">
                    <a:solidFill>
                      <a:schemeClr val="tx1"/>
                    </a:solidFill>
                  </a:rPr>
                  <a:t>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</a:rPr>
                      <m:t>E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）</m:t>
                    </m:r>
                    <m:r>
                      <a:rPr lang="en-US" altLang="zh-CN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90BDB20-F56A-46C3-AB28-CA5F72AED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073" y="4308833"/>
                <a:ext cx="1985831" cy="524567"/>
              </a:xfrm>
              <a:prstGeom prst="rect">
                <a:avLst/>
              </a:prstGeom>
              <a:blipFill>
                <a:blip r:embed="rId4"/>
                <a:stretch>
                  <a:fillRect l="-8589" b="-197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0F76BD8-5702-4C5F-B09A-1CC8C78B4BB0}"/>
                  </a:ext>
                </a:extLst>
              </p:cNvPr>
              <p:cNvSpPr txBox="1"/>
              <p:nvPr/>
            </p:nvSpPr>
            <p:spPr>
              <a:xfrm>
                <a:off x="3939153" y="4308833"/>
                <a:ext cx="3263970" cy="6548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…(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0F76BD8-5702-4C5F-B09A-1CC8C78B4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153" y="4308833"/>
                <a:ext cx="3263970" cy="6548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79">
            <a:extLst>
              <a:ext uri="{FF2B5EF4-FFF2-40B4-BE49-F238E27FC236}">
                <a16:creationId xmlns:a16="http://schemas.microsoft.com/office/drawing/2014/main" id="{ED3DE264-6A19-4077-AD3D-82BEF6879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0845" y="1878780"/>
            <a:ext cx="1657093" cy="390525"/>
          </a:xfrm>
          <a:prstGeom prst="wedgeRectCallout">
            <a:avLst>
              <a:gd name="adj1" fmla="val -242392"/>
              <a:gd name="adj2" fmla="val -31454"/>
            </a:avLst>
          </a:prstGeom>
          <a:solidFill>
            <a:schemeClr val="bg1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Permutation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9" grpId="0"/>
      <p:bldP spid="3" grpId="0"/>
      <p:bldP spid="6" grpId="0"/>
      <p:bldP spid="7" grpId="0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410" name="Rectangle 42"/>
          <p:cNvSpPr>
            <a:spLocks noChangeArrowheads="1"/>
          </p:cNvSpPr>
          <p:nvPr/>
        </p:nvSpPr>
        <p:spPr bwMode="auto">
          <a:xfrm>
            <a:off x="1150120" y="2199380"/>
            <a:ext cx="780494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Consider throwing 5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bombs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to 5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target: 5*5*5*5*5</a:t>
            </a:r>
          </a:p>
        </p:txBody>
      </p:sp>
      <p:grpSp>
        <p:nvGrpSpPr>
          <p:cNvPr id="442412" name="Group 44"/>
          <p:cNvGrpSpPr>
            <a:grpSpLocks/>
          </p:cNvGrpSpPr>
          <p:nvPr/>
        </p:nvGrpSpPr>
        <p:grpSpPr bwMode="auto">
          <a:xfrm>
            <a:off x="574804" y="966785"/>
            <a:ext cx="8338377" cy="1108074"/>
            <a:chOff x="-56" y="1554"/>
            <a:chExt cx="5904" cy="698"/>
          </a:xfrm>
        </p:grpSpPr>
        <p:sp>
          <p:nvSpPr>
            <p:cNvPr id="442413" name="Rectangle 45"/>
            <p:cNvSpPr>
              <a:spLocks noChangeArrowheads="1"/>
            </p:cNvSpPr>
            <p:nvPr/>
          </p:nvSpPr>
          <p:spPr bwMode="auto">
            <a:xfrm>
              <a:off x="355" y="1554"/>
              <a:ext cx="5432" cy="6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zh-CN" sz="2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5 soldiers are randomly assigned to destroy 5 targets. Each soldier throws a bomb at a target </a:t>
              </a:r>
              <a:r>
                <a:rPr lang="zh-CN" altLang="en-US" sz="2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（</a:t>
              </a:r>
              <a:r>
                <a:rPr lang="en-US" altLang="zh-CN" sz="2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once</a:t>
              </a:r>
              <a:r>
                <a:rPr lang="zh-CN" altLang="en-US" sz="2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） </a:t>
              </a:r>
              <a:r>
                <a:rPr lang="en-US" altLang="zh-CN" sz="2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to</a:t>
              </a:r>
              <a:r>
                <a:rPr lang="zh-CN" altLang="en-US" sz="2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destroy</a:t>
              </a:r>
              <a:r>
                <a:rPr lang="zh-CN" altLang="en-US" sz="2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the target. Find the probability that all 5 targets are destroyed.</a:t>
              </a:r>
              <a:endPara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2414" name="Rectangle 46"/>
            <p:cNvSpPr>
              <a:spLocks noChangeArrowheads="1"/>
            </p:cNvSpPr>
            <p:nvPr/>
          </p:nvSpPr>
          <p:spPr bwMode="auto">
            <a:xfrm>
              <a:off x="-56" y="1676"/>
              <a:ext cx="590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endPara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442416" name="WordArt 48"/>
          <p:cNvSpPr>
            <a:spLocks noChangeArrowheads="1" noChangeShapeType="1" noTextEdit="1"/>
          </p:cNvSpPr>
          <p:nvPr/>
        </p:nvSpPr>
        <p:spPr bwMode="auto">
          <a:xfrm>
            <a:off x="209056" y="2228030"/>
            <a:ext cx="768350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chemeClr val="folHlink"/>
                  </a:solidFill>
                  <a:round/>
                  <a:headEnd/>
                  <a:tailEnd/>
                </a:ln>
                <a:solidFill>
                  <a:srgbClr val="C00000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/>
                <a:ea typeface="黑体"/>
              </a:rPr>
              <a:t>Solution:</a:t>
            </a:r>
            <a:endParaRPr lang="zh-CN" altLang="en-US" sz="3600" kern="10" dirty="0">
              <a:ln w="12700">
                <a:solidFill>
                  <a:schemeClr val="folHlink"/>
                </a:solidFill>
                <a:round/>
                <a:headEnd/>
                <a:tailEnd/>
              </a:ln>
              <a:solidFill>
                <a:srgbClr val="C00000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442417" name="Rectangle 49"/>
          <p:cNvSpPr>
            <a:spLocks noChangeArrowheads="1"/>
          </p:cNvSpPr>
          <p:nvPr/>
        </p:nvSpPr>
        <p:spPr bwMode="auto">
          <a:xfrm>
            <a:off x="1150120" y="2662066"/>
            <a:ext cx="761843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Destroying the 5 targets is like putting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one ball into each box: 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2419" name="Oval 51"/>
          <p:cNvSpPr>
            <a:spLocks noChangeArrowheads="1"/>
          </p:cNvSpPr>
          <p:nvPr/>
        </p:nvSpPr>
        <p:spPr bwMode="auto">
          <a:xfrm>
            <a:off x="3768203" y="3983084"/>
            <a:ext cx="1138190" cy="4445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2421" name="AutoShape 53"/>
          <p:cNvSpPr>
            <a:spLocks noChangeArrowheads="1"/>
          </p:cNvSpPr>
          <p:nvPr/>
        </p:nvSpPr>
        <p:spPr bwMode="auto">
          <a:xfrm>
            <a:off x="4401229" y="4848410"/>
            <a:ext cx="3621894" cy="444500"/>
          </a:xfrm>
          <a:prstGeom prst="wedgeRectCallout">
            <a:avLst>
              <a:gd name="adj1" fmla="val -42209"/>
              <a:gd name="adj2" fmla="val -142725"/>
            </a:avLst>
          </a:prstGeom>
          <a:solidFill>
            <a:schemeClr val="bg1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Soldiers</a:t>
            </a:r>
            <a:r>
              <a:rPr lang="zh-CN" altLang="en-US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must be collaborative.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9E17354-1EF9-4C5A-B106-57420986E486}"/>
                  </a:ext>
                </a:extLst>
              </p:cNvPr>
              <p:cNvSpPr txBox="1"/>
              <p:nvPr/>
            </p:nvSpPr>
            <p:spPr>
              <a:xfrm>
                <a:off x="1822223" y="3856656"/>
                <a:ext cx="4085196" cy="5322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b="0" dirty="0"/>
                  <a:t>P</a:t>
                </a:r>
                <a:r>
                  <a:rPr lang="zh-CN" altLang="en-US" sz="2400" b="0" dirty="0"/>
                  <a:t>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E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）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=0.0384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9E17354-1EF9-4C5A-B106-57420986E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223" y="3856656"/>
                <a:ext cx="4085196" cy="532262"/>
              </a:xfrm>
              <a:prstGeom prst="rect">
                <a:avLst/>
              </a:prstGeom>
              <a:blipFill>
                <a:blip r:embed="rId2"/>
                <a:stretch>
                  <a:fillRect l="-4627" t="-1149" b="-20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WordArt 387"/>
          <p:cNvSpPr>
            <a:spLocks noChangeArrowheads="1" noChangeShapeType="1" noTextEdit="1"/>
          </p:cNvSpPr>
          <p:nvPr/>
        </p:nvSpPr>
        <p:spPr bwMode="auto">
          <a:xfrm>
            <a:off x="210503" y="946679"/>
            <a:ext cx="951624" cy="4511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Exercise: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  <p:sp>
        <p:nvSpPr>
          <p:cNvPr id="13" name="AutoShape 79"/>
          <p:cNvSpPr>
            <a:spLocks noChangeArrowheads="1"/>
          </p:cNvSpPr>
          <p:nvPr/>
        </p:nvSpPr>
        <p:spPr bwMode="auto">
          <a:xfrm>
            <a:off x="6994103" y="3315349"/>
            <a:ext cx="1611581" cy="390525"/>
          </a:xfrm>
          <a:prstGeom prst="wedgeRectCallout">
            <a:avLst>
              <a:gd name="adj1" fmla="val -85837"/>
              <a:gd name="adj2" fmla="val -131422"/>
            </a:avLst>
          </a:prstGeom>
          <a:solidFill>
            <a:schemeClr val="bg1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Permutation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050234" y="3105818"/>
                <a:ext cx="1254959" cy="481799"/>
              </a:xfrm>
              <a:prstGeom prst="rect">
                <a:avLst/>
              </a:prstGeom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5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5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=5!</m:t>
                    </m:r>
                  </m:oMath>
                </a14:m>
                <a:r>
                  <a:rPr lang="zh-CN" altLang="en-US" sz="24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234" y="3105818"/>
                <a:ext cx="1254959" cy="4817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7C69F258-0733-47D8-93AC-D869AA0EAA75}"/>
              </a:ext>
            </a:extLst>
          </p:cNvPr>
          <p:cNvSpPr/>
          <p:nvPr/>
        </p:nvSpPr>
        <p:spPr>
          <a:xfrm>
            <a:off x="1092496" y="5335251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10" dirty="0">
                <a:ln w="12700">
                  <a:solidFill>
                    <a:schemeClr val="accent2"/>
                  </a:solidFill>
                  <a:round/>
                  <a:headEnd/>
                  <a:tailEnd/>
                </a:ln>
                <a:solidFill>
                  <a:srgbClr val="FF2525"/>
                </a:solidFill>
                <a:latin typeface="黑体"/>
                <a:ea typeface="黑体"/>
              </a:rPr>
              <a:t>Ball drawing models</a:t>
            </a:r>
            <a:endParaRPr lang="zh-CN" altLang="en-US" sz="24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BE200B9-72C2-48D8-9C9F-5F0DA56C7525}"/>
              </a:ext>
            </a:extLst>
          </p:cNvPr>
          <p:cNvGrpSpPr/>
          <p:nvPr/>
        </p:nvGrpSpPr>
        <p:grpSpPr>
          <a:xfrm>
            <a:off x="1738016" y="5847587"/>
            <a:ext cx="5846194" cy="670908"/>
            <a:chOff x="2590120" y="3886075"/>
            <a:chExt cx="5846194" cy="6709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780ADD4-3553-4023-B6FD-4E42A5FFD8B0}"/>
                    </a:ext>
                  </a:extLst>
                </p:cNvPr>
                <p:cNvSpPr txBox="1"/>
                <p:nvPr/>
              </p:nvSpPr>
              <p:spPr>
                <a:xfrm>
                  <a:off x="2590120" y="3886075"/>
                  <a:ext cx="1537409" cy="5245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CN" sz="2200" b="0" dirty="0">
                      <a:solidFill>
                        <a:schemeClr val="tx1"/>
                      </a:solidFill>
                    </a:rPr>
                    <a:t>P</a:t>
                  </a:r>
                  <a:r>
                    <a:rPr lang="zh-CN" altLang="en-US" sz="2200" b="0" dirty="0">
                      <a:solidFill>
                        <a:schemeClr val="tx1"/>
                      </a:solidFill>
                    </a:rPr>
                    <a:t>（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i="1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CN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780ADD4-3553-4023-B6FD-4E42A5FFD8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0120" y="3886075"/>
                  <a:ext cx="1537409" cy="524567"/>
                </a:xfrm>
                <a:prstGeom prst="rect">
                  <a:avLst/>
                </a:prstGeom>
                <a:blipFill>
                  <a:blip r:embed="rId4"/>
                  <a:stretch>
                    <a:fillRect l="-11111" b="-197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D42CECF-AAC1-401F-A303-2C61863F038E}"/>
                    </a:ext>
                  </a:extLst>
                </p:cNvPr>
                <p:cNvSpPr txBox="1"/>
                <p:nvPr/>
              </p:nvSpPr>
              <p:spPr>
                <a:xfrm>
                  <a:off x="3585842" y="3902124"/>
                  <a:ext cx="4850472" cy="6548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…(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D42CECF-AAC1-401F-A303-2C61863F03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5842" y="3902124"/>
                  <a:ext cx="4850472" cy="6548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4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410" grpId="0"/>
      <p:bldP spid="442417" grpId="0"/>
      <p:bldP spid="442419" grpId="0" animBg="1"/>
      <p:bldP spid="442421" grpId="0" animBg="1"/>
      <p:bldP spid="2" grpId="0"/>
      <p:bldP spid="13" grpId="0" animBg="1"/>
      <p:bldP spid="3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155" name="WordArt 123"/>
          <p:cNvSpPr>
            <a:spLocks noChangeArrowheads="1" noChangeShapeType="1" noTextEdit="1"/>
          </p:cNvSpPr>
          <p:nvPr/>
        </p:nvSpPr>
        <p:spPr bwMode="auto">
          <a:xfrm>
            <a:off x="2901461" y="1586930"/>
            <a:ext cx="3270739" cy="73567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Question</a:t>
            </a:r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？</a:t>
            </a:r>
          </a:p>
        </p:txBody>
      </p:sp>
      <p:sp>
        <p:nvSpPr>
          <p:cNvPr id="428156" name="Rectangle 124"/>
          <p:cNvSpPr>
            <a:spLocks noChangeArrowheads="1"/>
          </p:cNvSpPr>
          <p:nvPr/>
        </p:nvSpPr>
        <p:spPr bwMode="auto">
          <a:xfrm>
            <a:off x="463798" y="3381226"/>
            <a:ext cx="847985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zh-CN" sz="2400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a class with 50 students,</a:t>
            </a:r>
            <a:r>
              <a:rPr lang="zh-CN" altLang="en-US" sz="2400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do you think it is possible that at least two students have the same birthday?  </a:t>
            </a:r>
            <a:endParaRPr lang="zh-CN" altLang="en-US" sz="2400" dirty="0">
              <a:solidFill>
                <a:srgbClr val="00206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F66B69-812D-4C9D-9773-7814C1461FD8}"/>
              </a:ext>
            </a:extLst>
          </p:cNvPr>
          <p:cNvSpPr txBox="1"/>
          <p:nvPr/>
        </p:nvSpPr>
        <p:spPr>
          <a:xfrm>
            <a:off x="2949587" y="4916317"/>
            <a:ext cx="3314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黑体" pitchFamily="49" charset="-122"/>
                <a:ea typeface="黑体" pitchFamily="49" charset="-122"/>
              </a:rPr>
              <a:t>Birthday problem</a:t>
            </a:r>
            <a:endParaRPr lang="zh-CN" altLang="en-US" sz="2400" b="1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solidFill>
                <a:srgbClr val="FF0000"/>
              </a:solidFill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8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8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155" grpId="0" animBg="1"/>
      <p:bldP spid="428156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73" name="WordArt 41"/>
          <p:cNvSpPr>
            <a:spLocks noChangeArrowheads="1" noChangeShapeType="1" noTextEdit="1"/>
          </p:cNvSpPr>
          <p:nvPr/>
        </p:nvSpPr>
        <p:spPr bwMode="auto">
          <a:xfrm>
            <a:off x="3049569" y="621159"/>
            <a:ext cx="2420883" cy="39820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742950" indent="-742950">
              <a:buFont typeface="+mj-lt"/>
              <a:buAutoNum type="alphaLcParenR" startAt="2"/>
              <a:defRPr/>
            </a:pP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黑体" pitchFamily="49" charset="-122"/>
                <a:ea typeface="黑体" pitchFamily="49" charset="-122"/>
              </a:rPr>
              <a:t>Birthday problem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solidFill>
                <a:srgbClr val="FF0000"/>
              </a:solidFill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28075" name="Rectangle 43"/>
          <p:cNvSpPr>
            <a:spLocks noChangeArrowheads="1"/>
          </p:cNvSpPr>
          <p:nvPr/>
        </p:nvSpPr>
        <p:spPr bwMode="auto">
          <a:xfrm>
            <a:off x="1211798" y="964705"/>
            <a:ext cx="783104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There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are n students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class, what is the probability that every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student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has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different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birthday?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28093" name="AutoShape 61"/>
          <p:cNvSpPr>
            <a:spLocks noChangeArrowheads="1"/>
          </p:cNvSpPr>
          <p:nvPr/>
        </p:nvSpPr>
        <p:spPr bwMode="auto">
          <a:xfrm>
            <a:off x="2386160" y="1933359"/>
            <a:ext cx="369887" cy="165100"/>
          </a:xfrm>
          <a:prstGeom prst="leftRightArrow">
            <a:avLst>
              <a:gd name="adj1" fmla="val 50000"/>
              <a:gd name="adj2" fmla="val 44808"/>
            </a:avLst>
          </a:prstGeom>
          <a:solidFill>
            <a:schemeClr val="tx1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8094" name="AutoShape 62"/>
          <p:cNvSpPr>
            <a:spLocks noChangeArrowheads="1"/>
          </p:cNvSpPr>
          <p:nvPr/>
        </p:nvSpPr>
        <p:spPr bwMode="auto">
          <a:xfrm>
            <a:off x="4757854" y="1904677"/>
            <a:ext cx="369888" cy="165100"/>
          </a:xfrm>
          <a:prstGeom prst="leftRightArrow">
            <a:avLst>
              <a:gd name="adj1" fmla="val 50000"/>
              <a:gd name="adj2" fmla="val 44808"/>
            </a:avLst>
          </a:prstGeom>
          <a:solidFill>
            <a:schemeClr val="tx1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8155" name="WordArt 123"/>
          <p:cNvSpPr>
            <a:spLocks noChangeArrowheads="1" noChangeShapeType="1" noTextEdit="1"/>
          </p:cNvSpPr>
          <p:nvPr/>
        </p:nvSpPr>
        <p:spPr bwMode="auto">
          <a:xfrm>
            <a:off x="646841" y="5483704"/>
            <a:ext cx="1006535" cy="39256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Interesting: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  <p:sp>
        <p:nvSpPr>
          <p:cNvPr id="428156" name="Rectangle 124"/>
          <p:cNvSpPr>
            <a:spLocks noChangeArrowheads="1"/>
          </p:cNvSpPr>
          <p:nvPr/>
        </p:nvSpPr>
        <p:spPr bwMode="auto">
          <a:xfrm>
            <a:off x="1966301" y="5411853"/>
            <a:ext cx="71776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zh-CN" sz="2000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a class of size n which is more than 100,</a:t>
            </a:r>
            <a:r>
              <a:rPr lang="zh-CN" altLang="en-US" sz="2000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it is almost sure that at least two people have the same birthday. </a:t>
            </a:r>
            <a:endParaRPr lang="zh-CN" altLang="en-US" sz="2000" dirty="0">
              <a:solidFill>
                <a:srgbClr val="00206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269554" y="2338746"/>
            <a:ext cx="4599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P{everyone has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a different birthday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}=  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16103" y="3643427"/>
            <a:ext cx="5762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P{at least two students have the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same birthday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}=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889921" y="2118560"/>
            <a:ext cx="1201531" cy="736282"/>
            <a:chOff x="5176356" y="1842925"/>
            <a:chExt cx="649288" cy="736282"/>
          </a:xfrm>
        </p:grpSpPr>
        <p:sp>
          <p:nvSpPr>
            <p:cNvPr id="4" name="Line 928">
              <a:extLst>
                <a:ext uri="{FF2B5EF4-FFF2-40B4-BE49-F238E27FC236}">
                  <a16:creationId xmlns:a16="http://schemas.microsoft.com/office/drawing/2014/main" id="{9F4A5706-38D5-4233-BE0F-9E4A94AA6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6356" y="2269645"/>
              <a:ext cx="649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Rectangle 929">
              <a:extLst>
                <a:ext uri="{FF2B5EF4-FFF2-40B4-BE49-F238E27FC236}">
                  <a16:creationId xmlns:a16="http://schemas.microsoft.com/office/drawing/2014/main" id="{4CF52E0C-A793-41BF-A28F-D38C7B940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0994" y="2002945"/>
              <a:ext cx="288541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365</a:t>
              </a:r>
              <a:endParaRPr kumimoji="0" lang="zh-CN" altLang="zh-CN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930">
              <a:extLst>
                <a:ext uri="{FF2B5EF4-FFF2-40B4-BE49-F238E27FC236}">
                  <a16:creationId xmlns:a16="http://schemas.microsoft.com/office/drawing/2014/main" id="{CC273A73-0C8D-48A3-AB6A-12D61ED81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356" y="2302982"/>
              <a:ext cx="38893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365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Rectangle 931">
              <a:extLst>
                <a:ext uri="{FF2B5EF4-FFF2-40B4-BE49-F238E27FC236}">
                  <a16:creationId xmlns:a16="http://schemas.microsoft.com/office/drawing/2014/main" id="{D387DF3B-8840-44BE-B034-B79785E32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1842" y="2266510"/>
              <a:ext cx="24230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n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932">
              <a:extLst>
                <a:ext uri="{FF2B5EF4-FFF2-40B4-BE49-F238E27FC236}">
                  <a16:creationId xmlns:a16="http://schemas.microsoft.com/office/drawing/2014/main" id="{F3A76064-68B1-47D3-852E-ACF84B49B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5029" y="1842925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n</a:t>
              </a:r>
              <a:endParaRPr kumimoji="0" lang="zh-CN" altLang="zh-CN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933">
              <a:extLst>
                <a:ext uri="{FF2B5EF4-FFF2-40B4-BE49-F238E27FC236}">
                  <a16:creationId xmlns:a16="http://schemas.microsoft.com/office/drawing/2014/main" id="{7D5C2A9B-E2B4-4CB6-A14B-1853CBEDB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3359" y="1875977"/>
              <a:ext cx="748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endPara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936">
            <a:extLst>
              <a:ext uri="{FF2B5EF4-FFF2-40B4-BE49-F238E27FC236}">
                <a16:creationId xmlns:a16="http://schemas.microsoft.com/office/drawing/2014/main" id="{533E0315-1321-4D6E-82F7-772E498DF23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48632" y="3487959"/>
            <a:ext cx="1279566" cy="754063"/>
            <a:chOff x="4288" y="1613"/>
            <a:chExt cx="806" cy="475"/>
          </a:xfrm>
        </p:grpSpPr>
        <p:sp>
          <p:nvSpPr>
            <p:cNvPr id="12" name="Line 937">
              <a:extLst>
                <a:ext uri="{FF2B5EF4-FFF2-40B4-BE49-F238E27FC236}">
                  <a16:creationId xmlns:a16="http://schemas.microsoft.com/office/drawing/2014/main" id="{D4CE45C8-0072-4743-8167-1E9666AF2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1874"/>
              <a:ext cx="354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938">
              <a:extLst>
                <a:ext uri="{FF2B5EF4-FFF2-40B4-BE49-F238E27FC236}">
                  <a16:creationId xmlns:a16="http://schemas.microsoft.com/office/drawing/2014/main" id="{BAA5BD36-3D9D-4769-A185-999F72DD7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1735"/>
              <a:ext cx="182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365</a:t>
              </a:r>
              <a:endPara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" name="Rectangle 939">
              <a:extLst>
                <a:ext uri="{FF2B5EF4-FFF2-40B4-BE49-F238E27FC236}">
                  <a16:creationId xmlns:a16="http://schemas.microsoft.com/office/drawing/2014/main" id="{30FCAEE5-5B3B-437D-BCAD-94DB56A8E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914"/>
              <a:ext cx="21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365</a:t>
              </a:r>
              <a:endPara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5" name="Rectangle 940">
              <a:extLst>
                <a:ext uri="{FF2B5EF4-FFF2-40B4-BE49-F238E27FC236}">
                  <a16:creationId xmlns:a16="http://schemas.microsoft.com/office/drawing/2014/main" id="{5E1ADB5E-6C8C-41DE-9EEE-3E1A00B71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8" y="1737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6" name="Rectangle 941">
              <a:extLst>
                <a:ext uri="{FF2B5EF4-FFF2-40B4-BE49-F238E27FC236}">
                  <a16:creationId xmlns:a16="http://schemas.microsoft.com/office/drawing/2014/main" id="{72814F6C-90CF-440E-BDB6-0B04A98D8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889"/>
              <a:ext cx="53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n</a:t>
              </a:r>
              <a:endParaRPr kumimoji="0" lang="zh-CN" altLang="zh-CN" sz="1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" name="Rectangle 942">
              <a:extLst>
                <a:ext uri="{FF2B5EF4-FFF2-40B4-BE49-F238E27FC236}">
                  <a16:creationId xmlns:a16="http://schemas.microsoft.com/office/drawing/2014/main" id="{B4519647-E1B7-4CF0-A033-8C468E2AC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8" y="1613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n</a:t>
              </a:r>
              <a:endPara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8" name="Rectangle 943">
              <a:extLst>
                <a:ext uri="{FF2B5EF4-FFF2-40B4-BE49-F238E27FC236}">
                  <a16:creationId xmlns:a16="http://schemas.microsoft.com/office/drawing/2014/main" id="{3AED71B4-3E4E-48CF-AD3C-F129BCB71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1643"/>
              <a:ext cx="49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endParaRPr kumimoji="0" lang="zh-CN" altLang="zh-C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" name="Rectangle 944">
              <a:extLst>
                <a:ext uri="{FF2B5EF4-FFF2-40B4-BE49-F238E27FC236}">
                  <a16:creationId xmlns:a16="http://schemas.microsoft.com/office/drawing/2014/main" id="{7EC1FC20-7D58-4449-8D8C-490B4E027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" y="1713"/>
              <a:ext cx="12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70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Symbol" panose="05050102010706020507" pitchFamily="18" charset="2"/>
                </a:rPr>
                <a:t>-</a:t>
              </a:r>
              <a:endPara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4CA30B81-7EA6-4D74-B8BD-E3E0DBA0D8DF}"/>
              </a:ext>
            </a:extLst>
          </p:cNvPr>
          <p:cNvSpPr txBox="1"/>
          <p:nvPr/>
        </p:nvSpPr>
        <p:spPr>
          <a:xfrm>
            <a:off x="1247873" y="1805835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n student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9990A98-5E1D-4573-8E03-F2E08E0FB81C}"/>
              </a:ext>
            </a:extLst>
          </p:cNvPr>
          <p:cNvSpPr txBox="1"/>
          <p:nvPr/>
        </p:nvSpPr>
        <p:spPr>
          <a:xfrm>
            <a:off x="2752923" y="1797106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n balls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E975EE4-354A-4CBD-90B2-7AD0C7D5D596}"/>
              </a:ext>
            </a:extLst>
          </p:cNvPr>
          <p:cNvSpPr txBox="1"/>
          <p:nvPr/>
        </p:nvSpPr>
        <p:spPr>
          <a:xfrm>
            <a:off x="3660034" y="180907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365 days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130F2F5-4077-4D3B-B0DC-1C7DC353FA75}"/>
              </a:ext>
            </a:extLst>
          </p:cNvPr>
          <p:cNvSpPr txBox="1"/>
          <p:nvPr/>
        </p:nvSpPr>
        <p:spPr>
          <a:xfrm>
            <a:off x="5127319" y="179082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365 boxes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29AB067A-E42A-40E6-8264-297A542F7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121481"/>
              </p:ext>
            </p:extLst>
          </p:nvPr>
        </p:nvGraphicFramePr>
        <p:xfrm>
          <a:off x="591343" y="4268047"/>
          <a:ext cx="8017216" cy="1083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152">
                  <a:extLst>
                    <a:ext uri="{9D8B030D-6E8A-4147-A177-3AD203B41FA5}">
                      <a16:colId xmlns:a16="http://schemas.microsoft.com/office/drawing/2014/main" val="151040173"/>
                    </a:ext>
                  </a:extLst>
                </a:gridCol>
                <a:gridCol w="1002152">
                  <a:extLst>
                    <a:ext uri="{9D8B030D-6E8A-4147-A177-3AD203B41FA5}">
                      <a16:colId xmlns:a16="http://schemas.microsoft.com/office/drawing/2014/main" val="2007366575"/>
                    </a:ext>
                  </a:extLst>
                </a:gridCol>
                <a:gridCol w="1002152">
                  <a:extLst>
                    <a:ext uri="{9D8B030D-6E8A-4147-A177-3AD203B41FA5}">
                      <a16:colId xmlns:a16="http://schemas.microsoft.com/office/drawing/2014/main" val="2443139061"/>
                    </a:ext>
                  </a:extLst>
                </a:gridCol>
                <a:gridCol w="1002152">
                  <a:extLst>
                    <a:ext uri="{9D8B030D-6E8A-4147-A177-3AD203B41FA5}">
                      <a16:colId xmlns:a16="http://schemas.microsoft.com/office/drawing/2014/main" val="1091470672"/>
                    </a:ext>
                  </a:extLst>
                </a:gridCol>
                <a:gridCol w="1002152">
                  <a:extLst>
                    <a:ext uri="{9D8B030D-6E8A-4147-A177-3AD203B41FA5}">
                      <a16:colId xmlns:a16="http://schemas.microsoft.com/office/drawing/2014/main" val="2294643280"/>
                    </a:ext>
                  </a:extLst>
                </a:gridCol>
                <a:gridCol w="1002152">
                  <a:extLst>
                    <a:ext uri="{9D8B030D-6E8A-4147-A177-3AD203B41FA5}">
                      <a16:colId xmlns:a16="http://schemas.microsoft.com/office/drawing/2014/main" val="344737164"/>
                    </a:ext>
                  </a:extLst>
                </a:gridCol>
                <a:gridCol w="1002152">
                  <a:extLst>
                    <a:ext uri="{9D8B030D-6E8A-4147-A177-3AD203B41FA5}">
                      <a16:colId xmlns:a16="http://schemas.microsoft.com/office/drawing/2014/main" val="1389478600"/>
                    </a:ext>
                  </a:extLst>
                </a:gridCol>
                <a:gridCol w="1002152">
                  <a:extLst>
                    <a:ext uri="{9D8B030D-6E8A-4147-A177-3AD203B41FA5}">
                      <a16:colId xmlns:a16="http://schemas.microsoft.com/office/drawing/2014/main" val="195409044"/>
                    </a:ext>
                  </a:extLst>
                </a:gridCol>
              </a:tblGrid>
              <a:tr h="359091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The probability that at least two people have a same birthday</a:t>
                      </a:r>
                      <a:endParaRPr lang="zh-CN" altLang="en-US" sz="1800" dirty="0"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154202"/>
                  </a:ext>
                </a:extLst>
              </a:tr>
              <a:tr h="359091">
                <a:tc>
                  <a:txBody>
                    <a:bodyPr/>
                    <a:lstStyle/>
                    <a:p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88276"/>
                  </a:ext>
                </a:extLst>
              </a:tr>
              <a:tr h="359091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0.89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0.9999997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730919"/>
                  </a:ext>
                </a:extLst>
              </a:tr>
            </a:tbl>
          </a:graphicData>
        </a:graphic>
      </p:graphicFrame>
      <p:sp>
        <p:nvSpPr>
          <p:cNvPr id="428144" name="AutoShape 112"/>
          <p:cNvSpPr>
            <a:spLocks noChangeArrowheads="1"/>
          </p:cNvSpPr>
          <p:nvPr/>
        </p:nvSpPr>
        <p:spPr bwMode="auto">
          <a:xfrm>
            <a:off x="432823" y="6237303"/>
            <a:ext cx="6268614" cy="379563"/>
          </a:xfrm>
          <a:prstGeom prst="wedgeRectCallout">
            <a:avLst>
              <a:gd name="adj1" fmla="val 36056"/>
              <a:gd name="adj2" fmla="val -83178"/>
            </a:avLst>
          </a:prstGeom>
          <a:solidFill>
            <a:schemeClr val="bg1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A popular problem in Probability. Did you expect this result?</a:t>
            </a:r>
            <a:endParaRPr lang="zh-CN" altLang="zh-CN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6" name="WordArt 387"/>
          <p:cNvSpPr>
            <a:spLocks noChangeArrowheads="1" noChangeShapeType="1" noTextEdit="1"/>
          </p:cNvSpPr>
          <p:nvPr/>
        </p:nvSpPr>
        <p:spPr bwMode="auto">
          <a:xfrm>
            <a:off x="224539" y="1019363"/>
            <a:ext cx="951624" cy="39360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Exercise: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0284" y="2897072"/>
            <a:ext cx="8201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We may be more interested in </a:t>
            </a:r>
            <a:r>
              <a:rPr lang="en-US" altLang="zh-CN" sz="2000" b="1" u="sng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how many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students there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should be to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be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very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sure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that </a:t>
            </a:r>
            <a:r>
              <a:rPr lang="en-US" altLang="zh-CN" sz="2000" b="1" u="sng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at least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two students have the same birthday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" name="WordArt 41"/>
          <p:cNvSpPr>
            <a:spLocks noChangeArrowheads="1" noChangeShapeType="1" noTextEdit="1"/>
          </p:cNvSpPr>
          <p:nvPr/>
        </p:nvSpPr>
        <p:spPr bwMode="auto">
          <a:xfrm>
            <a:off x="6465076" y="1806661"/>
            <a:ext cx="2091236" cy="32364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黑体" pitchFamily="49" charset="-122"/>
                <a:ea typeface="黑体" pitchFamily="49" charset="-122"/>
              </a:rPr>
              <a:t>(Ball drawing models)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42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8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8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28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8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8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28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28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28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28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28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2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75" grpId="0"/>
      <p:bldP spid="428093" grpId="0" animBg="1"/>
      <p:bldP spid="428094" grpId="0" animBg="1"/>
      <p:bldP spid="428155" grpId="0" animBg="1"/>
      <p:bldP spid="428156" grpId="0"/>
      <p:bldP spid="59" grpId="0"/>
      <p:bldP spid="55" grpId="0"/>
      <p:bldP spid="20" grpId="0"/>
      <p:bldP spid="72" grpId="0"/>
      <p:bldP spid="73" grpId="0"/>
      <p:bldP spid="74" grpId="0"/>
      <p:bldP spid="428144" grpId="0" animBg="1"/>
      <p:bldP spid="36" grpId="0"/>
      <p:bldP spid="2" grpId="0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7" name="Rectangle 7"/>
          <p:cNvSpPr>
            <a:spLocks noChangeArrowheads="1"/>
          </p:cNvSpPr>
          <p:nvPr/>
        </p:nvSpPr>
        <p:spPr bwMode="auto">
          <a:xfrm>
            <a:off x="1298046" y="590022"/>
            <a:ext cx="757878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defRPr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A medical center had 12 times of visiting in a week, and all were on Tuesday and Thursday. Can you infer that there is a restriction for visitors who can visit the center only on Tuesday and Thursday?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35210" name="WordArt 10"/>
          <p:cNvSpPr>
            <a:spLocks noChangeArrowheads="1" noChangeShapeType="1" noTextEdit="1"/>
          </p:cNvSpPr>
          <p:nvPr/>
        </p:nvSpPr>
        <p:spPr bwMode="auto">
          <a:xfrm>
            <a:off x="166458" y="1693863"/>
            <a:ext cx="1056399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chemeClr val="folHlink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chemeClr val="bg1"/>
                    </a:gs>
                    <a:gs pos="50000">
                      <a:srgbClr val="CCFF99"/>
                    </a:gs>
                    <a:gs pos="100000">
                      <a:schemeClr val="bg1"/>
                    </a:gs>
                  </a:gsLst>
                  <a:lin ang="270000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/>
                <a:ea typeface="黑体"/>
              </a:rPr>
              <a:t>solution:</a:t>
            </a:r>
            <a:endParaRPr lang="zh-CN" altLang="en-US" sz="3600" kern="10" dirty="0">
              <a:ln w="12700">
                <a:solidFill>
                  <a:schemeClr val="folHlink"/>
                </a:solidFill>
                <a:round/>
                <a:headEnd/>
                <a:tailEnd/>
              </a:ln>
              <a:gradFill rotWithShape="0">
                <a:gsLst>
                  <a:gs pos="0">
                    <a:schemeClr val="bg1"/>
                  </a:gs>
                  <a:gs pos="50000">
                    <a:srgbClr val="CCFF99"/>
                  </a:gs>
                  <a:gs pos="100000">
                    <a:schemeClr val="bg1"/>
                  </a:gs>
                </a:gsLst>
                <a:lin ang="270000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435255" name="Rectangle 55"/>
          <p:cNvSpPr>
            <a:spLocks noChangeArrowheads="1"/>
          </p:cNvSpPr>
          <p:nvPr/>
        </p:nvSpPr>
        <p:spPr bwMode="auto">
          <a:xfrm>
            <a:off x="1273146" y="1678847"/>
            <a:ext cx="776610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defRPr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Assume there is no restriction. So each visitor can arrive equally likely in seven days of a week. 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35256" name="Rectangle 56"/>
          <p:cNvSpPr>
            <a:spLocks noChangeArrowheads="1"/>
          </p:cNvSpPr>
          <p:nvPr/>
        </p:nvSpPr>
        <p:spPr bwMode="auto">
          <a:xfrm>
            <a:off x="1298046" y="2101850"/>
            <a:ext cx="6423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                    </a:t>
            </a:r>
            <a:endParaRPr lang="en-US" altLang="zh-CN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35265" name="Oval 65"/>
          <p:cNvSpPr>
            <a:spLocks noChangeArrowheads="1"/>
          </p:cNvSpPr>
          <p:nvPr/>
        </p:nvSpPr>
        <p:spPr bwMode="auto">
          <a:xfrm>
            <a:off x="6180242" y="2367913"/>
            <a:ext cx="584200" cy="406400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5266" name="Oval 66"/>
          <p:cNvSpPr>
            <a:spLocks noChangeArrowheads="1"/>
          </p:cNvSpPr>
          <p:nvPr/>
        </p:nvSpPr>
        <p:spPr bwMode="auto">
          <a:xfrm>
            <a:off x="6180242" y="2811975"/>
            <a:ext cx="584200" cy="406400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5228" name="AutoShape 28"/>
          <p:cNvSpPr>
            <a:spLocks noChangeArrowheads="1"/>
          </p:cNvSpPr>
          <p:nvPr/>
        </p:nvSpPr>
        <p:spPr bwMode="auto">
          <a:xfrm>
            <a:off x="6899982" y="2091422"/>
            <a:ext cx="2244018" cy="646331"/>
          </a:xfrm>
          <a:prstGeom prst="wedgeRectCallout">
            <a:avLst>
              <a:gd name="adj1" fmla="val -57767"/>
              <a:gd name="adj2" fmla="val 45357"/>
            </a:avLst>
          </a:prstGeom>
          <a:noFill/>
          <a:ln w="9525" algn="ctr">
            <a:solidFill>
              <a:srgbClr val="FFCC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12 balls are thrown into two fixed boxes (No. 2, 4)</a:t>
            </a:r>
            <a:endParaRPr lang="zh-CN" altLang="zh-CN" sz="1400" dirty="0">
              <a:solidFill>
                <a:schemeClr val="accent2">
                  <a:lumMod val="7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35282" name="Rectangle 82"/>
          <p:cNvSpPr>
            <a:spLocks noChangeArrowheads="1"/>
          </p:cNvSpPr>
          <p:nvPr/>
        </p:nvSpPr>
        <p:spPr bwMode="auto">
          <a:xfrm>
            <a:off x="719639" y="5789534"/>
            <a:ext cx="75803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Then we can infer that there should have a restriction for visitors.</a:t>
            </a:r>
          </a:p>
        </p:txBody>
      </p:sp>
      <p:sp>
        <p:nvSpPr>
          <p:cNvPr id="435303" name="Freeform 103"/>
          <p:cNvSpPr>
            <a:spLocks/>
          </p:cNvSpPr>
          <p:nvPr/>
        </p:nvSpPr>
        <p:spPr bwMode="auto">
          <a:xfrm>
            <a:off x="1572919" y="2890837"/>
            <a:ext cx="4383851" cy="103782"/>
          </a:xfrm>
          <a:custGeom>
            <a:avLst/>
            <a:gdLst>
              <a:gd name="T0" fmla="*/ 0 w 2144"/>
              <a:gd name="T1" fmla="*/ 35 h 36"/>
              <a:gd name="T2" fmla="*/ 432 w 2144"/>
              <a:gd name="T3" fmla="*/ 19 h 36"/>
              <a:gd name="T4" fmla="*/ 928 w 2144"/>
              <a:gd name="T5" fmla="*/ 35 h 36"/>
              <a:gd name="T6" fmla="*/ 1280 w 2144"/>
              <a:gd name="T7" fmla="*/ 11 h 36"/>
              <a:gd name="T8" fmla="*/ 1776 w 2144"/>
              <a:gd name="T9" fmla="*/ 35 h 36"/>
              <a:gd name="T10" fmla="*/ 1976 w 2144"/>
              <a:gd name="T11" fmla="*/ 3 h 36"/>
              <a:gd name="T12" fmla="*/ 2144 w 2144"/>
              <a:gd name="T13" fmla="*/ 19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44" h="36">
                <a:moveTo>
                  <a:pt x="0" y="35"/>
                </a:moveTo>
                <a:cubicBezTo>
                  <a:pt x="138" y="27"/>
                  <a:pt x="277" y="19"/>
                  <a:pt x="432" y="19"/>
                </a:cubicBezTo>
                <a:cubicBezTo>
                  <a:pt x="587" y="19"/>
                  <a:pt x="787" y="36"/>
                  <a:pt x="928" y="35"/>
                </a:cubicBezTo>
                <a:cubicBezTo>
                  <a:pt x="1069" y="34"/>
                  <a:pt x="1139" y="11"/>
                  <a:pt x="1280" y="11"/>
                </a:cubicBezTo>
                <a:cubicBezTo>
                  <a:pt x="1421" y="11"/>
                  <a:pt x="1660" y="36"/>
                  <a:pt x="1776" y="35"/>
                </a:cubicBezTo>
                <a:cubicBezTo>
                  <a:pt x="1892" y="34"/>
                  <a:pt x="1915" y="6"/>
                  <a:pt x="1976" y="3"/>
                </a:cubicBezTo>
                <a:cubicBezTo>
                  <a:pt x="2037" y="0"/>
                  <a:pt x="2090" y="9"/>
                  <a:pt x="2144" y="19"/>
                </a:cubicBezTo>
              </a:path>
            </a:pathLst>
          </a:custGeom>
          <a:noFill/>
          <a:ln w="3175" cap="flat" cmpd="sng">
            <a:solidFill>
              <a:srgbClr val="FF0000"/>
            </a:solidFill>
            <a:prstDash val="solid"/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35302" name="Group 102"/>
          <p:cNvGrpSpPr>
            <a:grpSpLocks/>
          </p:cNvGrpSpPr>
          <p:nvPr/>
        </p:nvGrpSpPr>
        <p:grpSpPr bwMode="auto">
          <a:xfrm>
            <a:off x="797395" y="4030628"/>
            <a:ext cx="5159375" cy="390525"/>
            <a:chOff x="892" y="2015"/>
            <a:chExt cx="2398" cy="246"/>
          </a:xfrm>
        </p:grpSpPr>
        <p:sp>
          <p:nvSpPr>
            <p:cNvPr id="435300" name="AutoShape 100"/>
            <p:cNvSpPr>
              <a:spLocks noChangeArrowheads="1"/>
            </p:cNvSpPr>
            <p:nvPr/>
          </p:nvSpPr>
          <p:spPr bwMode="auto">
            <a:xfrm>
              <a:off x="892" y="2015"/>
              <a:ext cx="2398" cy="246"/>
            </a:xfrm>
            <a:prstGeom prst="wedgeRectCallout">
              <a:avLst>
                <a:gd name="adj1" fmla="val 29750"/>
                <a:gd name="adj2" fmla="val -302694"/>
              </a:avLst>
            </a:prstGeom>
            <a:gradFill rotWithShape="1">
              <a:gsLst>
                <a:gs pos="0">
                  <a:srgbClr val="5E9EFF"/>
                </a:gs>
                <a:gs pos="50000">
                  <a:srgbClr val="5E9EFF">
                    <a:gamma/>
                    <a:shade val="46275"/>
                    <a:invGamma/>
                  </a:srgbClr>
                </a:gs>
                <a:gs pos="100000">
                  <a:srgbClr val="5E9EFF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20000"/>
                </a:lnSpc>
                <a:spcBef>
                  <a:spcPct val="50000"/>
                </a:spcBef>
                <a:defRPr/>
              </a:pPr>
              <a:endParaRPr lang="zh-CN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27681" name="WordArt 101"/>
            <p:cNvSpPr>
              <a:spLocks noChangeArrowheads="1" noChangeShapeType="1" noTextEdit="1"/>
            </p:cNvSpPr>
            <p:nvPr/>
          </p:nvSpPr>
          <p:spPr bwMode="auto">
            <a:xfrm>
              <a:off x="939" y="2061"/>
              <a:ext cx="2309" cy="1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12700">
                    <a:solidFill>
                      <a:srgbClr val="FFFF99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/>
                  <a:ea typeface="黑体"/>
                </a:rPr>
                <a:t>The probability is so small</a:t>
              </a:r>
              <a:r>
                <a:rPr lang="zh-CN" altLang="en-US" sz="3600" kern="10" dirty="0">
                  <a:ln w="12700">
                    <a:solidFill>
                      <a:srgbClr val="FFFF99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/>
                  <a:ea typeface="黑体"/>
                </a:rPr>
                <a:t>，</a:t>
              </a:r>
              <a:r>
                <a:rPr lang="en-US" altLang="zh-CN" sz="3600" kern="10" dirty="0">
                  <a:ln w="12700">
                    <a:solidFill>
                      <a:srgbClr val="FFFF99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/>
                  <a:ea typeface="黑体"/>
                </a:rPr>
                <a:t>the event should not happen.</a:t>
              </a:r>
              <a:endParaRPr lang="zh-CN" altLang="en-US" sz="3600" kern="10" dirty="0">
                <a:ln w="12700">
                  <a:solidFill>
                    <a:srgbClr val="FFFF99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CA36D0D-E6CD-49EC-B901-EE3A88279A62}"/>
                  </a:ext>
                </a:extLst>
              </p:cNvPr>
              <p:cNvSpPr txBox="1"/>
              <p:nvPr/>
            </p:nvSpPr>
            <p:spPr>
              <a:xfrm>
                <a:off x="1246188" y="2466181"/>
                <a:ext cx="5486566" cy="554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𝑡𝑖𝑚𝑒𝑠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𝑣𝑖𝑠𝑖𝑡𝑖𝑛𝑔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𝑎𝑟𝑒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𝑇𝑢𝑒𝑠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𝑇h𝑢𝑟𝑠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CA36D0D-E6CD-49EC-B901-EE3A88279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188" y="2466181"/>
                <a:ext cx="5486566" cy="5548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D6E9EF7-7B67-4FE6-9B3E-82CEA1781FFC}"/>
                  </a:ext>
                </a:extLst>
              </p:cNvPr>
              <p:cNvSpPr txBox="1"/>
              <p:nvPr/>
            </p:nvSpPr>
            <p:spPr>
              <a:xfrm>
                <a:off x="5370508" y="3338531"/>
                <a:ext cx="13737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=0.0000003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D6E9EF7-7B67-4FE6-9B3E-82CEA1781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508" y="3338531"/>
                <a:ext cx="1373774" cy="276999"/>
              </a:xfrm>
              <a:prstGeom prst="rect">
                <a:avLst/>
              </a:prstGeom>
              <a:blipFill>
                <a:blip r:embed="rId4"/>
                <a:stretch>
                  <a:fillRect l="-1333" r="-3556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55177B06-E37F-46A7-A638-E265EFF40529}"/>
              </a:ext>
            </a:extLst>
          </p:cNvPr>
          <p:cNvSpPr txBox="1"/>
          <p:nvPr/>
        </p:nvSpPr>
        <p:spPr>
          <a:xfrm>
            <a:off x="757944" y="4799928"/>
            <a:ext cx="7732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Practical inference principle: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Small probability events are almost impossible to happen.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" name="WordArt 387">
            <a:extLst>
              <a:ext uri="{FF2B5EF4-FFF2-40B4-BE49-F238E27FC236}">
                <a16:creationId xmlns:a16="http://schemas.microsoft.com/office/drawing/2014/main" id="{5CF48EFB-5BF5-45CF-BF3D-C4FE485DD4A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9789" y="604362"/>
            <a:ext cx="951624" cy="39360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Exercise: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5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5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3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3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35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5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5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5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35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35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435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435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35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35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35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3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35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35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3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435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435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07" grpId="0"/>
      <p:bldP spid="435255" grpId="0"/>
      <p:bldP spid="435256" grpId="0"/>
      <p:bldP spid="435265" grpId="0" animBg="1"/>
      <p:bldP spid="435265" grpId="1" animBg="1"/>
      <p:bldP spid="435266" grpId="0" animBg="1"/>
      <p:bldP spid="435266" grpId="1" animBg="1"/>
      <p:bldP spid="435228" grpId="0" animBg="1"/>
      <p:bldP spid="435228" grpId="1" animBg="1"/>
      <p:bldP spid="435282" grpId="0"/>
      <p:bldP spid="2" grpId="0"/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1268895" y="2256795"/>
            <a:ext cx="7675274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Randomly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number the 4 keys and their doors and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let: </a:t>
            </a:r>
          </a:p>
          <a:p>
            <a:pPr>
              <a:spcAft>
                <a:spcPts val="1200"/>
              </a:spcAft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={ the 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baseline="30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th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key opens the 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baseline="30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th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door}   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=1, 2, 3, 4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P(A)=P(A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∪A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∪A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∪A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>
              <a:spcAft>
                <a:spcPts val="1200"/>
              </a:spcAft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=P(A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)+P(A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)+P(A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)+P(A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>
              <a:spcAft>
                <a:spcPts val="1200"/>
              </a:spcAft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- 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)-P(A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)-P(A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)-P(A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)-P(A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)-P(A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>
              <a:spcAft>
                <a:spcPts val="1200"/>
              </a:spcAft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+ 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)+P(A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)+P(A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)+P(A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>
              <a:spcAft>
                <a:spcPts val="1200"/>
              </a:spcAft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- P(A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</p:txBody>
      </p:sp>
      <p:sp>
        <p:nvSpPr>
          <p:cNvPr id="13" name="WordArt 39"/>
          <p:cNvSpPr>
            <a:spLocks noChangeArrowheads="1" noChangeShapeType="1" noTextEdit="1"/>
          </p:cNvSpPr>
          <p:nvPr/>
        </p:nvSpPr>
        <p:spPr bwMode="auto">
          <a:xfrm>
            <a:off x="2804094" y="603910"/>
            <a:ext cx="2682306" cy="39313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742950" indent="-742950">
              <a:buFont typeface="+mj-lt"/>
              <a:buAutoNum type="alphaLcParenR" startAt="3"/>
              <a:defRPr/>
            </a:pPr>
            <a:r>
              <a:rPr lang="en-US" altLang="zh-CN" sz="3600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黑体" pitchFamily="49" charset="-122"/>
                <a:ea typeface="黑体" pitchFamily="49" charset="-122"/>
              </a:rPr>
              <a:t>Matching problem</a:t>
            </a:r>
            <a:endParaRPr lang="zh-CN" altLang="en-US" sz="3600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solidFill>
                <a:srgbClr val="FF0000"/>
              </a:solidFill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328934" y="997040"/>
            <a:ext cx="745214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 keys are randomly assigned to open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different doors, what is the probability of event A ={ at least one door can be opened}?</a:t>
            </a:r>
          </a:p>
        </p:txBody>
      </p:sp>
      <p:sp>
        <p:nvSpPr>
          <p:cNvPr id="19" name="WordArt 387"/>
          <p:cNvSpPr>
            <a:spLocks noChangeArrowheads="1" noChangeShapeType="1" noTextEdit="1"/>
          </p:cNvSpPr>
          <p:nvPr/>
        </p:nvSpPr>
        <p:spPr bwMode="auto">
          <a:xfrm>
            <a:off x="291595" y="905757"/>
            <a:ext cx="951624" cy="43931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Exercise: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  <p:sp>
        <p:nvSpPr>
          <p:cNvPr id="7" name="WordArt 48"/>
          <p:cNvSpPr>
            <a:spLocks noChangeArrowheads="1" noChangeShapeType="1" noTextEdit="1"/>
          </p:cNvSpPr>
          <p:nvPr/>
        </p:nvSpPr>
        <p:spPr bwMode="auto">
          <a:xfrm>
            <a:off x="291595" y="2256795"/>
            <a:ext cx="768350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chemeClr val="folHlink"/>
                  </a:solidFill>
                  <a:round/>
                  <a:headEnd/>
                  <a:tailEnd/>
                </a:ln>
                <a:solidFill>
                  <a:srgbClr val="C00000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/>
                <a:ea typeface="黑体"/>
              </a:rPr>
              <a:t>Solution:</a:t>
            </a:r>
            <a:endParaRPr lang="zh-CN" altLang="en-US" sz="3600" kern="10" dirty="0">
              <a:ln w="12700">
                <a:solidFill>
                  <a:schemeClr val="folHlink"/>
                </a:solidFill>
                <a:round/>
                <a:headEnd/>
                <a:tailEnd/>
              </a:ln>
              <a:solidFill>
                <a:srgbClr val="C00000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8" name="AutoShape 38"/>
          <p:cNvSpPr>
            <a:spLocks noChangeArrowheads="1"/>
          </p:cNvSpPr>
          <p:nvPr/>
        </p:nvSpPr>
        <p:spPr bwMode="auto">
          <a:xfrm>
            <a:off x="0" y="6292850"/>
            <a:ext cx="2479271" cy="565150"/>
          </a:xfrm>
          <a:prstGeom prst="wedgeRectCallout">
            <a:avLst>
              <a:gd name="adj1" fmla="val 21943"/>
              <a:gd name="adj2" fmla="val -51952"/>
            </a:avLst>
          </a:prstGeom>
          <a:solidFill>
            <a:srgbClr val="FF3300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+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”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for odd number </a:t>
            </a:r>
          </a:p>
          <a:p>
            <a:pPr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–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” 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for even number </a:t>
            </a:r>
            <a:endParaRPr lang="zh-CN" altLang="en-US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60569" y="5005144"/>
            <a:ext cx="1598751" cy="947099"/>
            <a:chOff x="1260629" y="4674381"/>
            <a:chExt cx="1447060" cy="758753"/>
          </a:xfrm>
        </p:grpSpPr>
        <p:sp>
          <p:nvSpPr>
            <p:cNvPr id="11" name="椭圆 10"/>
            <p:cNvSpPr/>
            <p:nvPr/>
          </p:nvSpPr>
          <p:spPr>
            <a:xfrm>
              <a:off x="1260629" y="4674381"/>
              <a:ext cx="1447060" cy="758753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50473" y="4875843"/>
              <a:ext cx="1267370" cy="320542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加奇减偶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433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1245989" y="2719815"/>
            <a:ext cx="671739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)=1/4</a:t>
            </a:r>
          </a:p>
          <a:p>
            <a:pPr>
              <a:defRPr/>
            </a:pP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defRPr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>
              <a:defRPr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=1/4x1/3 =1/12</a:t>
            </a:r>
          </a:p>
          <a:p>
            <a:pPr>
              <a:defRPr/>
            </a:pP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defRPr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>
              <a:defRPr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=1/4x1/3x1/2 = 1/24</a:t>
            </a:r>
          </a:p>
          <a:p>
            <a:pPr>
              <a:defRPr/>
            </a:pP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defRPr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P(A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)=1/4x1/3x1/2x1/1 = 1/24</a:t>
            </a:r>
          </a:p>
          <a:p>
            <a:pPr>
              <a:defRPr/>
            </a:pP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P(A)=P(A</a:t>
            </a:r>
            <a:r>
              <a:rPr lang="en-US" altLang="zh-CN" baseline="-25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∪A</a:t>
            </a:r>
            <a:r>
              <a:rPr lang="en-US" altLang="zh-CN" baseline="-25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∪A</a:t>
            </a:r>
            <a:r>
              <a:rPr lang="en-US" altLang="zh-CN" baseline="-25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∪A</a:t>
            </a:r>
            <a:r>
              <a:rPr lang="en-US" altLang="zh-CN" baseline="-250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)=4x1/4 - 6x1/12 + 4x1/24 - 1/24=0.625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364" y="6024575"/>
            <a:ext cx="2600392" cy="400110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Matching Problem:</a:t>
            </a:r>
            <a:endParaRPr lang="zh-CN" altLang="en-US" sz="2000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2">
                <a:extLst>
                  <a:ext uri="{FF2B5EF4-FFF2-40B4-BE49-F238E27FC236}">
                    <a16:creationId xmlns:a16="http://schemas.microsoft.com/office/drawing/2014/main" id="{08F6520D-8761-4B4E-BBF3-EBE328CD873E}"/>
                  </a:ext>
                </a:extLst>
              </p:cNvPr>
              <p:cNvSpPr txBox="1"/>
              <p:nvPr/>
            </p:nvSpPr>
            <p:spPr>
              <a:xfrm>
                <a:off x="2877236" y="6067204"/>
                <a:ext cx="67338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2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文本框 2">
                <a:extLst>
                  <a:ext uri="{FF2B5EF4-FFF2-40B4-BE49-F238E27FC236}">
                    <a16:creationId xmlns:a16="http://schemas.microsoft.com/office/drawing/2014/main" id="{08F6520D-8761-4B4E-BBF3-EBE328CD8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236" y="6067204"/>
                <a:ext cx="673389" cy="338554"/>
              </a:xfrm>
              <a:prstGeom prst="rect">
                <a:avLst/>
              </a:prstGeom>
              <a:blipFill>
                <a:blip r:embed="rId2"/>
                <a:stretch>
                  <a:fillRect l="-8182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3">
                <a:extLst>
                  <a:ext uri="{FF2B5EF4-FFF2-40B4-BE49-F238E27FC236}">
                    <a16:creationId xmlns:a16="http://schemas.microsoft.com/office/drawing/2014/main" id="{E315ECA8-A269-4354-AE39-00898D3757B7}"/>
                  </a:ext>
                </a:extLst>
              </p:cNvPr>
              <p:cNvSpPr txBox="1"/>
              <p:nvPr/>
            </p:nvSpPr>
            <p:spPr>
              <a:xfrm>
                <a:off x="3550625" y="5906626"/>
                <a:ext cx="2233945" cy="636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</m:oMath>
                  </m:oMathPara>
                </a14:m>
                <a:endParaRPr lang="zh-CN" altLang="en-US" sz="2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文本框 3">
                <a:extLst>
                  <a:ext uri="{FF2B5EF4-FFF2-40B4-BE49-F238E27FC236}">
                    <a16:creationId xmlns:a16="http://schemas.microsoft.com/office/drawing/2014/main" id="{E315ECA8-A269-4354-AE39-00898D375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625" y="5906626"/>
                <a:ext cx="2233945" cy="6360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4">
                <a:extLst>
                  <a:ext uri="{FF2B5EF4-FFF2-40B4-BE49-F238E27FC236}">
                    <a16:creationId xmlns:a16="http://schemas.microsoft.com/office/drawing/2014/main" id="{8863FFB4-0047-4140-B9F4-C8419629C7B0}"/>
                  </a:ext>
                </a:extLst>
              </p:cNvPr>
              <p:cNvSpPr txBox="1"/>
              <p:nvPr/>
            </p:nvSpPr>
            <p:spPr>
              <a:xfrm>
                <a:off x="5784570" y="6086131"/>
                <a:ext cx="1044966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=0.625</m:t>
                      </m:r>
                    </m:oMath>
                  </m:oMathPara>
                </a14:m>
                <a:endParaRPr lang="zh-CN" altLang="en-US" sz="2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文本框 4">
                <a:extLst>
                  <a:ext uri="{FF2B5EF4-FFF2-40B4-BE49-F238E27FC236}">
                    <a16:creationId xmlns:a16="http://schemas.microsoft.com/office/drawing/2014/main" id="{8863FFB4-0047-4140-B9F4-C8419629C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570" y="6086131"/>
                <a:ext cx="1044966" cy="338554"/>
              </a:xfrm>
              <a:prstGeom prst="rect">
                <a:avLst/>
              </a:prstGeom>
              <a:blipFill>
                <a:blip r:embed="rId4"/>
                <a:stretch>
                  <a:fillRect l="-1754" r="-5263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WordArt 48"/>
          <p:cNvSpPr>
            <a:spLocks noChangeArrowheads="1" noChangeShapeType="1" noTextEdit="1"/>
          </p:cNvSpPr>
          <p:nvPr/>
        </p:nvSpPr>
        <p:spPr bwMode="auto">
          <a:xfrm>
            <a:off x="303332" y="2659879"/>
            <a:ext cx="768350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chemeClr val="folHlink"/>
                  </a:solidFill>
                  <a:round/>
                  <a:headEnd/>
                  <a:tailEnd/>
                </a:ln>
                <a:solidFill>
                  <a:srgbClr val="C00000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/>
                <a:ea typeface="黑体"/>
              </a:rPr>
              <a:t>Solution:</a:t>
            </a:r>
            <a:endParaRPr lang="zh-CN" altLang="en-US" sz="3600" kern="10" dirty="0">
              <a:ln w="12700">
                <a:solidFill>
                  <a:schemeClr val="folHlink"/>
                </a:solidFill>
                <a:round/>
                <a:headEnd/>
                <a:tailEnd/>
              </a:ln>
              <a:solidFill>
                <a:srgbClr val="C00000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/>
              <a:ea typeface="黑体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EB08E2-BC23-46F6-A617-47298B043E9D}"/>
              </a:ext>
            </a:extLst>
          </p:cNvPr>
          <p:cNvSpPr/>
          <p:nvPr/>
        </p:nvSpPr>
        <p:spPr>
          <a:xfrm>
            <a:off x="1328934" y="2164529"/>
            <a:ext cx="688236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altLang="zh-CN" sz="22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200" baseline="-25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2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={ the </a:t>
            </a:r>
            <a:r>
              <a:rPr lang="en-US" altLang="zh-CN" sz="2200" dirty="0" err="1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200" baseline="30000" dirty="0" err="1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</a:t>
            </a:r>
            <a:r>
              <a:rPr lang="en-US" altLang="zh-CN" sz="22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key opens the </a:t>
            </a:r>
            <a:r>
              <a:rPr lang="en-US" altLang="zh-CN" sz="2200" dirty="0" err="1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200" baseline="30000" dirty="0" err="1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</a:t>
            </a:r>
            <a:r>
              <a:rPr lang="en-US" altLang="zh-CN" sz="22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door}   </a:t>
            </a:r>
            <a:r>
              <a:rPr lang="en-US" altLang="zh-CN" sz="2200" dirty="0" err="1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2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=1, 2, 3, 4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4B69BE11-CB50-4432-BFA5-39C811819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934" y="997040"/>
            <a:ext cx="745214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 keys are randomly assigned to open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different doors, what is the probability of event A ={ at least one door can be opened}?</a:t>
            </a:r>
          </a:p>
        </p:txBody>
      </p:sp>
      <p:sp>
        <p:nvSpPr>
          <p:cNvPr id="17" name="WordArt 387">
            <a:extLst>
              <a:ext uri="{FF2B5EF4-FFF2-40B4-BE49-F238E27FC236}">
                <a16:creationId xmlns:a16="http://schemas.microsoft.com/office/drawing/2014/main" id="{674D168E-1D51-42B8-9B34-CFC58AC1975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1595" y="905757"/>
            <a:ext cx="951624" cy="43931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Exercise: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</p:spTree>
    <p:extLst>
      <p:ext uri="{BB962C8B-B14F-4D97-AF65-F5344CB8AC3E}">
        <p14:creationId xmlns:p14="http://schemas.microsoft.com/office/powerpoint/2010/main" val="213266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272" name="Group 96"/>
          <p:cNvGrpSpPr>
            <a:grpSpLocks/>
          </p:cNvGrpSpPr>
          <p:nvPr/>
        </p:nvGrpSpPr>
        <p:grpSpPr bwMode="auto">
          <a:xfrm>
            <a:off x="81782" y="2658753"/>
            <a:ext cx="773112" cy="536575"/>
            <a:chOff x="391" y="2327"/>
            <a:chExt cx="487" cy="338"/>
          </a:xfrm>
        </p:grpSpPr>
        <p:pic>
          <p:nvPicPr>
            <p:cNvPr id="29730" name="Picture 97" descr="k021"/>
            <p:cNvPicPr>
              <a:picLocks noChangeAspect="1" noChangeArrowheads="1" noCrop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" y="2327"/>
              <a:ext cx="33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31" name="WordArt 98"/>
            <p:cNvSpPr>
              <a:spLocks noChangeArrowheads="1" noChangeShapeType="1" noTextEdit="1"/>
            </p:cNvSpPr>
            <p:nvPr/>
          </p:nvSpPr>
          <p:spPr bwMode="auto">
            <a:xfrm>
              <a:off x="624" y="2398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altLang="zh-CN" sz="3600" kern="10" dirty="0"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/>
                  <a:ea typeface="华文新魏"/>
                </a:rPr>
                <a:t>?</a:t>
              </a:r>
              <a:endParaRPr lang="zh-CN" altLang="en-US" sz="3600" kern="10" dirty="0">
                <a:ln w="12700">
                  <a:solidFill>
                    <a:schemeClr val="tx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/>
                <a:ea typeface="华文新魏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D6DC2EB-3C83-4767-AF69-D27AF835CBE8}"/>
                  </a:ext>
                </a:extLst>
              </p:cNvPr>
              <p:cNvSpPr txBox="1"/>
              <p:nvPr/>
            </p:nvSpPr>
            <p:spPr>
              <a:xfrm>
                <a:off x="956402" y="2547108"/>
                <a:ext cx="794557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 general, for the </a:t>
                </a:r>
                <a:r>
                  <a:rPr lang="en-US" altLang="zh-CN" sz="2400" b="1" dirty="0">
                    <a:solidFill>
                      <a:schemeClr val="accent5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Matching Problem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of 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keys to open 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doors. The probability of at least one door can be opened by its key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D6DC2EB-3C83-4767-AF69-D27AF835C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402" y="2547108"/>
                <a:ext cx="7945575" cy="1200329"/>
              </a:xfrm>
              <a:prstGeom prst="rect">
                <a:avLst/>
              </a:prstGeom>
              <a:blipFill>
                <a:blip r:embed="rId3"/>
                <a:stretch>
                  <a:fillRect l="-1228" t="-4061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05018FE-3381-4FE5-8290-D83CDCF7F926}"/>
                  </a:ext>
                </a:extLst>
              </p:cNvPr>
              <p:cNvSpPr txBox="1"/>
              <p:nvPr/>
            </p:nvSpPr>
            <p:spPr>
              <a:xfrm>
                <a:off x="1396483" y="3925095"/>
                <a:ext cx="3303918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⋃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…⋃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/>
                  <a:t>)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05018FE-3381-4FE5-8290-D83CDCF7F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483" y="3925095"/>
                <a:ext cx="3303918" cy="369332"/>
              </a:xfrm>
              <a:prstGeom prst="rect">
                <a:avLst/>
              </a:prstGeom>
              <a:blipFill>
                <a:blip r:embed="rId4"/>
                <a:stretch>
                  <a:fillRect l="-3137" t="-25000" r="-4797" b="-5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A5B4EC5-CA88-4154-A73E-0F83A16B6961}"/>
                  </a:ext>
                </a:extLst>
              </p:cNvPr>
              <p:cNvSpPr txBox="1"/>
              <p:nvPr/>
            </p:nvSpPr>
            <p:spPr>
              <a:xfrm>
                <a:off x="2054164" y="4416039"/>
                <a:ext cx="4920321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A5B4EC5-CA88-4154-A73E-0F83A16B6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164" y="4416039"/>
                <a:ext cx="4920321" cy="6939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62A9DD0-F661-4011-95CC-9B6E50CE13C9}"/>
                  </a:ext>
                </a:extLst>
              </p:cNvPr>
              <p:cNvSpPr txBox="1"/>
              <p:nvPr/>
            </p:nvSpPr>
            <p:spPr>
              <a:xfrm>
                <a:off x="2123613" y="5960353"/>
                <a:ext cx="13181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𝟔𝟑𝟐</m:t>
                      </m:r>
                    </m:oMath>
                  </m:oMathPara>
                </a14:m>
                <a:endParaRPr lang="zh-CN" altLang="en-US" sz="2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62A9DD0-F661-4011-95CC-9B6E50CE1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613" y="5960353"/>
                <a:ext cx="1318181" cy="369332"/>
              </a:xfrm>
              <a:prstGeom prst="rect">
                <a:avLst/>
              </a:prstGeom>
              <a:blipFill>
                <a:blip r:embed="rId6"/>
                <a:stretch>
                  <a:fillRect r="-1843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46714E68-D08B-4AF8-BF62-7C876B30F84F}"/>
                  </a:ext>
                </a:extLst>
              </p:cNvPr>
              <p:cNvSpPr txBox="1"/>
              <p:nvPr/>
            </p:nvSpPr>
            <p:spPr>
              <a:xfrm>
                <a:off x="2105974" y="5346316"/>
                <a:ext cx="1496628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sz="24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2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46714E68-D08B-4AF8-BF62-7C876B30F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974" y="5346316"/>
                <a:ext cx="1496628" cy="377667"/>
              </a:xfrm>
              <a:prstGeom prst="rect">
                <a:avLst/>
              </a:prstGeom>
              <a:blipFill>
                <a:blip r:embed="rId7"/>
                <a:stretch>
                  <a:fillRect t="-3226"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700401" y="5637187"/>
            <a:ext cx="3322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It is not associated with the number n of keys/doors.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3E55689F-6F22-4FE1-9B21-172BCEF99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934" y="997040"/>
            <a:ext cx="745214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 keys are randomly assigned to open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different doors, what is the probability of event A ={ at least one door can be opened}?</a:t>
            </a:r>
          </a:p>
        </p:txBody>
      </p:sp>
      <p:sp>
        <p:nvSpPr>
          <p:cNvPr id="19" name="WordArt 387">
            <a:extLst>
              <a:ext uri="{FF2B5EF4-FFF2-40B4-BE49-F238E27FC236}">
                <a16:creationId xmlns:a16="http://schemas.microsoft.com/office/drawing/2014/main" id="{5B3AF285-8C35-422B-8224-43D2F6AD0A8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1595" y="905757"/>
            <a:ext cx="951624" cy="43931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Exercise: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</p:spTree>
    <p:extLst>
      <p:ext uri="{BB962C8B-B14F-4D97-AF65-F5344CB8AC3E}">
        <p14:creationId xmlns:p14="http://schemas.microsoft.com/office/powerpoint/2010/main" val="408681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38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1">
            <a:extLst>
              <a:ext uri="{FF2B5EF4-FFF2-40B4-BE49-F238E27FC236}">
                <a16:creationId xmlns:a16="http://schemas.microsoft.com/office/drawing/2014/main" id="{0723691B-0158-4705-B499-697675E5D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556" y="2160929"/>
            <a:ext cx="754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sample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points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occur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with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equal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probability.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WordArt 72">
            <a:extLst>
              <a:ext uri="{FF2B5EF4-FFF2-40B4-BE49-F238E27FC236}">
                <a16:creationId xmlns:a16="http://schemas.microsoft.com/office/drawing/2014/main" id="{D292DB6A-465F-41EA-B5AD-3AC14CAF585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7882" y="1270641"/>
            <a:ext cx="5426229" cy="36186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Characteristics</a:t>
            </a:r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 </a:t>
            </a:r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of</a:t>
            </a:r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 </a:t>
            </a:r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Classical</a:t>
            </a:r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 </a:t>
            </a:r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Probability: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0066CC"/>
                  </a:gs>
                  <a:gs pos="50000">
                    <a:srgbClr val="FFFFFF"/>
                  </a:gs>
                  <a:gs pos="100000">
                    <a:srgbClr val="0066CC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sp>
        <p:nvSpPr>
          <p:cNvPr id="13" name="WordArt 73">
            <a:extLst>
              <a:ext uri="{FF2B5EF4-FFF2-40B4-BE49-F238E27FC236}">
                <a16:creationId xmlns:a16="http://schemas.microsoft.com/office/drawing/2014/main" id="{5AC008A6-B645-43B6-8C22-582F882471B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8098" y="1772281"/>
            <a:ext cx="351458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i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①</a:t>
            </a:r>
          </a:p>
        </p:txBody>
      </p:sp>
      <p:sp>
        <p:nvSpPr>
          <p:cNvPr id="14" name="WordArt 74">
            <a:extLst>
              <a:ext uri="{FF2B5EF4-FFF2-40B4-BE49-F238E27FC236}">
                <a16:creationId xmlns:a16="http://schemas.microsoft.com/office/drawing/2014/main" id="{723476F4-068D-4312-A04F-7E5E29D262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14024" y="2173842"/>
            <a:ext cx="295532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i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②</a:t>
            </a:r>
          </a:p>
        </p:txBody>
      </p:sp>
      <p:sp>
        <p:nvSpPr>
          <p:cNvPr id="15" name="Rectangle 76">
            <a:extLst>
              <a:ext uri="{FF2B5EF4-FFF2-40B4-BE49-F238E27FC236}">
                <a16:creationId xmlns:a16="http://schemas.microsoft.com/office/drawing/2014/main" id="{0924081A-CFEF-4BDA-A35D-A846F4D7D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74" y="1715815"/>
            <a:ext cx="77921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The sample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space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contains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finite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number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of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sample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points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;</a:t>
            </a:r>
            <a:endParaRPr lang="zh-CN" altLang="en-US" sz="2400" b="1" i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0" name="Line 32"/>
          <p:cNvSpPr>
            <a:spLocks noChangeShapeType="1"/>
          </p:cNvSpPr>
          <p:nvPr/>
        </p:nvSpPr>
        <p:spPr bwMode="auto">
          <a:xfrm>
            <a:off x="2907102" y="1063625"/>
            <a:ext cx="3329796" cy="0"/>
          </a:xfrm>
          <a:prstGeom prst="line">
            <a:avLst/>
          </a:prstGeom>
          <a:noFill/>
          <a:ln w="57150" cmpd="thinThick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1" name="文本框 1">
            <a:extLst>
              <a:ext uri="{FF2B5EF4-FFF2-40B4-BE49-F238E27FC236}">
                <a16:creationId xmlns:a16="http://schemas.microsoft.com/office/drawing/2014/main" id="{340F36EC-0D87-48A2-8D54-B93BDE514A04}"/>
              </a:ext>
            </a:extLst>
          </p:cNvPr>
          <p:cNvSpPr txBox="1"/>
          <p:nvPr/>
        </p:nvSpPr>
        <p:spPr>
          <a:xfrm>
            <a:off x="2757036" y="563917"/>
            <a:ext cx="3629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Geometric Probability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Rectangle 43">
            <a:extLst>
              <a:ext uri="{FF2B5EF4-FFF2-40B4-BE49-F238E27FC236}">
                <a16:creationId xmlns:a16="http://schemas.microsoft.com/office/drawing/2014/main" id="{A896DE16-BF37-4283-BAE6-BAA240E48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36" y="4204729"/>
            <a:ext cx="827384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Due to randomness, the bomb is equally likely to land at any point of the area. The successful probability is 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44">
                <a:extLst>
                  <a:ext uri="{FF2B5EF4-FFF2-40B4-BE49-F238E27FC236}">
                    <a16:creationId xmlns:a16="http://schemas.microsoft.com/office/drawing/2014/main" id="{B1A8A896-707C-401B-A750-1508DC597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394" y="3035978"/>
                <a:ext cx="8215123" cy="841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20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There is a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effectLst/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2000" b="1" i="1" dirty="0" smtClean="0">
                        <a:effectLst/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dirty="0" smtClean="0">
                        <a:effectLst/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n-US" altLang="zh-CN" sz="20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bunke</a:t>
                </a:r>
                <a:r>
                  <a:rPr lang="en-US" altLang="zh-CN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 </a:t>
                </a:r>
                <a:r>
                  <a:rPr lang="en-US" altLang="zh-CN" sz="20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 </a:t>
                </a:r>
                <a:r>
                  <a:rPr lang="en-US" altLang="zh-CN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lang="en-US" altLang="zh-CN" sz="20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region with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effectLst/>
                        <a:latin typeface="Cambria Math" panose="02040503050406030204" pitchFamily="18" charset="0"/>
                      </a:rPr>
                      <m:t>𝟏𝟎𝟎𝟎</m:t>
                    </m:r>
                    <m:sSup>
                      <m:sSupPr>
                        <m:ctrlPr>
                          <a:rPr lang="en-US" altLang="zh-CN" sz="2000" b="1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dirty="0" smtClean="0">
                            <a:effectLst/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/>
                    </m:sSup>
                    <m:r>
                      <a:rPr lang="en-US" altLang="zh-CN" sz="2000" b="1" i="1" dirty="0" smtClean="0">
                        <a:effectLst/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baseline="30000" dirty="0" smtClean="0">
                        <a:effectLst/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0" i="0" dirty="0" smtClean="0">
                        <a:effectLst/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zh-CN" altLang="en-US" sz="20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 bomb </a:t>
                </a:r>
                <a:r>
                  <a:rPr lang="en-US" altLang="zh-CN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is</a:t>
                </a:r>
                <a:r>
                  <a:rPr lang="en-US" altLang="zh-CN" sz="20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launched to destroy the bunker. What is the probability the bunker</a:t>
                </a:r>
                <a:r>
                  <a:rPr lang="en-US" altLang="zh-CN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is destroyed? </a:t>
                </a:r>
                <a:endParaRPr lang="zh-CN" altLang="en-US" sz="200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6" name="Rectangle 44">
                <a:extLst>
                  <a:ext uri="{FF2B5EF4-FFF2-40B4-BE49-F238E27FC236}">
                    <a16:creationId xmlns:a16="http://schemas.microsoft.com/office/drawing/2014/main" id="{B1A8A896-707C-401B-A750-1508DC5975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394" y="3035978"/>
                <a:ext cx="8215123" cy="841705"/>
              </a:xfrm>
              <a:prstGeom prst="rect">
                <a:avLst/>
              </a:prstGeom>
              <a:blipFill>
                <a:blip r:embed="rId3"/>
                <a:stretch>
                  <a:fillRect l="-742" r="-1335" b="-1231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WordArt 46">
            <a:extLst>
              <a:ext uri="{FF2B5EF4-FFF2-40B4-BE49-F238E27FC236}">
                <a16:creationId xmlns:a16="http://schemas.microsoft.com/office/drawing/2014/main" id="{C397E850-26F8-409B-8FE0-7950E5590E1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1010" y="2703496"/>
            <a:ext cx="1017091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Exercise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  <p:sp>
        <p:nvSpPr>
          <p:cNvPr id="18" name="WordArt 50">
            <a:extLst>
              <a:ext uri="{FF2B5EF4-FFF2-40B4-BE49-F238E27FC236}">
                <a16:creationId xmlns:a16="http://schemas.microsoft.com/office/drawing/2014/main" id="{35A88347-348A-4CA1-84ED-D6273458D71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371" y="4128659"/>
            <a:ext cx="1030730" cy="16240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5875">
                  <a:solidFill>
                    <a:srgbClr val="3399FF"/>
                  </a:solidFill>
                  <a:round/>
                  <a:headEnd/>
                  <a:tailE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rPr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0374AFC-8AB4-4D19-9FB4-5DBF786938A7}"/>
                  </a:ext>
                </a:extLst>
              </p:cNvPr>
              <p:cNvSpPr txBox="1"/>
              <p:nvPr/>
            </p:nvSpPr>
            <p:spPr>
              <a:xfrm>
                <a:off x="1476012" y="5017820"/>
                <a:ext cx="4739952" cy="5296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200" b="0" dirty="0"/>
                  <a:t>P(E)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𝑇h𝑒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𝑎𝑟𝑒𝑎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𝑏𝑢𝑛𝑘𝑒𝑟</m:t>
                        </m:r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𝑇h𝑒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𝑎𝑟𝑒𝑎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𝑟𝑒𝑔𝑖𝑜𝑛</m:t>
                        </m:r>
                      </m:den>
                    </m:f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10000</m:t>
                        </m:r>
                      </m:den>
                    </m:f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0374AFC-8AB4-4D19-9FB4-5DBF78693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012" y="5017820"/>
                <a:ext cx="4739952" cy="529632"/>
              </a:xfrm>
              <a:prstGeom prst="rect">
                <a:avLst/>
              </a:prstGeom>
              <a:blipFill>
                <a:blip r:embed="rId4"/>
                <a:stretch>
                  <a:fillRect l="-3599" b="-11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76">
            <a:extLst>
              <a:ext uri="{FF2B5EF4-FFF2-40B4-BE49-F238E27FC236}">
                <a16:creationId xmlns:a16="http://schemas.microsoft.com/office/drawing/2014/main" id="{F74A1DFD-C37E-459E-930E-4D2DCBAA1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4" y="5979159"/>
            <a:ext cx="8750238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Can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we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generalize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the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sample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space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to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have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infinite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number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of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sample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points,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while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keeping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the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equal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probability</a:t>
            </a:r>
            <a:r>
              <a:rPr lang="zh-CN" altLang="en-US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property</a:t>
            </a:r>
            <a:r>
              <a:rPr lang="zh-CN" altLang="en-US" sz="2400" dirty="0">
                <a:solidFill>
                  <a:srgbClr val="0070C0"/>
                </a:solidFill>
                <a:latin typeface="Bahnschrift SemiBold" panose="020B0502040204020203" pitchFamily="34" charset="0"/>
                <a:ea typeface="华文新魏" pitchFamily="2" charset="-122"/>
              </a:rPr>
              <a:t>？</a:t>
            </a:r>
            <a:endParaRPr lang="zh-CN" altLang="en-US" sz="2400" b="1" i="1" dirty="0">
              <a:solidFill>
                <a:srgbClr val="0070C0"/>
              </a:solidFill>
              <a:latin typeface="Bahnschrift SemiBold" panose="020B0502040204020203" pitchFamily="34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908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15" grpId="0"/>
      <p:bldP spid="10" grpId="0"/>
      <p:bldP spid="16" grpId="0"/>
      <p:bldP spid="17" grpId="0" animBg="1"/>
      <p:bldP spid="18" grpId="0" animBg="1"/>
      <p:bldP spid="19" grpId="0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5">
                <a:extLst>
                  <a:ext uri="{FF2B5EF4-FFF2-40B4-BE49-F238E27FC236}">
                    <a16:creationId xmlns:a16="http://schemas.microsoft.com/office/drawing/2014/main" id="{0E5790BA-7BA0-425F-A02E-075CC3AA2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12" y="1237613"/>
                <a:ext cx="774759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lang="en-US" altLang="zh-CN" sz="2400" b="1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Experiment: </a:t>
                </a:r>
                <a:r>
                  <a:rPr lang="en-US" altLang="zh-CN" sz="240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throw a dot into a bounded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effectLst/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zh-CN" altLang="en-US" sz="240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" name="Rectangle 3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E5790BA-7BA0-425F-A02E-075CC3AA2D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3012" y="1237613"/>
                <a:ext cx="7747594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180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WordArt 46">
            <a:extLst>
              <a:ext uri="{FF2B5EF4-FFF2-40B4-BE49-F238E27FC236}">
                <a16:creationId xmlns:a16="http://schemas.microsoft.com/office/drawing/2014/main" id="{AC4511F1-71F5-4B8A-81C2-99A16F61F3F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98529" y="1767398"/>
            <a:ext cx="1645733" cy="31575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Sample space: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WordArt 47">
            <a:extLst>
              <a:ext uri="{FF2B5EF4-FFF2-40B4-BE49-F238E27FC236}">
                <a16:creationId xmlns:a16="http://schemas.microsoft.com/office/drawing/2014/main" id="{5A603AA7-B308-4FA9-B820-C2070DD9A68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98529" y="2693994"/>
            <a:ext cx="1549018" cy="2953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Probability 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" name="WordArt 53">
            <a:extLst>
              <a:ext uri="{FF2B5EF4-FFF2-40B4-BE49-F238E27FC236}">
                <a16:creationId xmlns:a16="http://schemas.microsoft.com/office/drawing/2014/main" id="{9AEA78AD-BC47-4C2C-9002-2E4D2AF6ECE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17725" y="2208325"/>
            <a:ext cx="733332" cy="25375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ln w="12700">
                  <a:solidFill>
                    <a:srgbClr val="3399FF"/>
                  </a:solidFill>
                  <a:round/>
                  <a:headEnd/>
                  <a:tailE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Event:</a:t>
            </a:r>
            <a:endParaRPr lang="zh-CN" altLang="en-US" sz="3600" b="1" kern="10" dirty="0">
              <a:ln w="12700">
                <a:solidFill>
                  <a:srgbClr val="3399FF"/>
                </a:solidFill>
                <a:round/>
                <a:headEnd/>
                <a:tailE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1">
                <a:extLst>
                  <a:ext uri="{FF2B5EF4-FFF2-40B4-BE49-F238E27FC236}">
                    <a16:creationId xmlns:a16="http://schemas.microsoft.com/office/drawing/2014/main" id="{37C7BB19-A39A-429A-A25E-0E587BCD47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2761" y="2127674"/>
                <a:ext cx="620471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 dot falls</a:t>
                </a:r>
                <a:r>
                  <a:rPr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into a plane</a:t>
                </a:r>
                <a:r>
                  <a:rPr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region</a:t>
                </a:r>
                <a:r>
                  <a:rPr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，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" name="Rectangle 5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7C7BB19-A39A-429A-A25E-0E587BCD4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2761" y="2127674"/>
                <a:ext cx="6204711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473" t="-10526" b="-30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6">
            <a:extLst>
              <a:ext uri="{FF2B5EF4-FFF2-40B4-BE49-F238E27FC236}">
                <a16:creationId xmlns:a16="http://schemas.microsoft.com/office/drawing/2014/main" id="{DA83521F-E90C-44C7-9263-0E6D6B231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346" y="3436416"/>
            <a:ext cx="55573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It is called </a:t>
            </a:r>
            <a:r>
              <a:rPr lang="en-US" altLang="zh-CN" sz="24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Geometric Probability</a:t>
            </a:r>
            <a:endParaRPr lang="zh-CN" altLang="en-US" sz="2400" b="1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" name="Rectangle 71">
            <a:extLst>
              <a:ext uri="{FF2B5EF4-FFF2-40B4-BE49-F238E27FC236}">
                <a16:creationId xmlns:a16="http://schemas.microsoft.com/office/drawing/2014/main" id="{0723691B-0158-4705-B499-697675E5D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9" y="5335525"/>
            <a:ext cx="7543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If the sample space is a bounded interval or a bounded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region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in a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space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area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”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of Event A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could be referred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to as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length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24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volume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”.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WordArt 72">
            <a:extLst>
              <a:ext uri="{FF2B5EF4-FFF2-40B4-BE49-F238E27FC236}">
                <a16:creationId xmlns:a16="http://schemas.microsoft.com/office/drawing/2014/main" id="{D292DB6A-465F-41EA-B5AD-3AC14CAF585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58794" y="4072068"/>
            <a:ext cx="1160591" cy="2953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Notes</a:t>
            </a:r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：</a:t>
            </a:r>
          </a:p>
        </p:txBody>
      </p:sp>
      <p:sp>
        <p:nvSpPr>
          <p:cNvPr id="13" name="WordArt 73">
            <a:extLst>
              <a:ext uri="{FF2B5EF4-FFF2-40B4-BE49-F238E27FC236}">
                <a16:creationId xmlns:a16="http://schemas.microsoft.com/office/drawing/2014/main" id="{5AC008A6-B645-43B6-8C22-582F882471B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14352" y="4492625"/>
            <a:ext cx="325438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i="1" kern="1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①</a:t>
            </a:r>
          </a:p>
        </p:txBody>
      </p:sp>
      <p:sp>
        <p:nvSpPr>
          <p:cNvPr id="14" name="WordArt 74">
            <a:extLst>
              <a:ext uri="{FF2B5EF4-FFF2-40B4-BE49-F238E27FC236}">
                <a16:creationId xmlns:a16="http://schemas.microsoft.com/office/drawing/2014/main" id="{723476F4-068D-4312-A04F-7E5E29D262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4827" y="5348438"/>
            <a:ext cx="325438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i="1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②</a:t>
            </a:r>
          </a:p>
        </p:txBody>
      </p:sp>
      <p:sp>
        <p:nvSpPr>
          <p:cNvPr id="15" name="Rectangle 76">
            <a:extLst>
              <a:ext uri="{FF2B5EF4-FFF2-40B4-BE49-F238E27FC236}">
                <a16:creationId xmlns:a16="http://schemas.microsoft.com/office/drawing/2014/main" id="{0924081A-CFEF-4BDA-A35D-A846F4D7D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76" y="4436159"/>
            <a:ext cx="792698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The probability of event A is 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not related to</a:t>
            </a:r>
            <a:r>
              <a:rPr lang="zh-CN" altLang="en-US" sz="2000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b="1" dirty="0">
                <a:latin typeface="华文新魏" pitchFamily="2" charset="-122"/>
                <a:ea typeface="华文新魏" pitchFamily="2" charset="-122"/>
              </a:rPr>
              <a:t>its position</a:t>
            </a:r>
            <a:r>
              <a:rPr lang="en-US" altLang="zh-CN" sz="2000" i="1" dirty="0">
                <a:latin typeface="华文新魏" pitchFamily="2" charset="-122"/>
                <a:ea typeface="华文新魏" pitchFamily="2" charset="-122"/>
              </a:rPr>
              <a:t>,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but the </a:t>
            </a:r>
            <a:r>
              <a:rPr lang="en-US" altLang="zh-CN" sz="2000" b="1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area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of A. This reflects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the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idea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of</a:t>
            </a:r>
            <a:r>
              <a:rPr lang="zh-CN" altLang="en-US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latin typeface="Times New Roman"/>
                <a:ea typeface="华文新魏" pitchFamily="2" charset="-122"/>
              </a:rPr>
              <a:t>“</a:t>
            </a:r>
            <a:r>
              <a:rPr lang="en-US" altLang="zh-CN" sz="2000" b="1" i="1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equally likely</a:t>
            </a:r>
            <a:r>
              <a:rPr lang="en-US" altLang="zh-CN" sz="2000" b="1" i="1" dirty="0">
                <a:latin typeface="Times New Roman"/>
                <a:ea typeface="华文新魏" pitchFamily="2" charset="-122"/>
              </a:rPr>
              <a:t>”.</a:t>
            </a:r>
            <a:r>
              <a:rPr lang="zh-CN" altLang="en-US" sz="2000" b="1" i="1" dirty="0">
                <a:latin typeface="华文新魏" pitchFamily="2" charset="-122"/>
                <a:ea typeface="华文新魏" pitchFamily="2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D392CA1-77BA-4B1B-B439-302FA3840869}"/>
                  </a:ext>
                </a:extLst>
              </p:cNvPr>
              <p:cNvSpPr txBox="1"/>
              <p:nvPr/>
            </p:nvSpPr>
            <p:spPr>
              <a:xfrm>
                <a:off x="2757923" y="1710216"/>
                <a:ext cx="49529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D392CA1-77BA-4B1B-B439-302FA3840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923" y="1710216"/>
                <a:ext cx="495299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87C6F96-3617-4221-853D-E2D017B0885A}"/>
                  </a:ext>
                </a:extLst>
              </p:cNvPr>
              <p:cNvSpPr txBox="1"/>
              <p:nvPr/>
            </p:nvSpPr>
            <p:spPr>
              <a:xfrm>
                <a:off x="2788744" y="2541213"/>
                <a:ext cx="3600331" cy="766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𝑨𝒓𝒆𝒂</m:t>
                          </m:r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𝑨𝒓𝒆𝒂</m:t>
                          </m:r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𝛀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87C6F96-3617-4221-853D-E2D017B0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744" y="2541213"/>
                <a:ext cx="3600331" cy="7668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ine 32"/>
          <p:cNvSpPr>
            <a:spLocks noChangeShapeType="1"/>
          </p:cNvSpPr>
          <p:nvPr/>
        </p:nvSpPr>
        <p:spPr bwMode="auto">
          <a:xfrm>
            <a:off x="2907102" y="1063625"/>
            <a:ext cx="3329796" cy="0"/>
          </a:xfrm>
          <a:prstGeom prst="line">
            <a:avLst/>
          </a:prstGeom>
          <a:noFill/>
          <a:ln w="57150" cmpd="thinThick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1" name="文本框 1">
            <a:extLst>
              <a:ext uri="{FF2B5EF4-FFF2-40B4-BE49-F238E27FC236}">
                <a16:creationId xmlns:a16="http://schemas.microsoft.com/office/drawing/2014/main" id="{340F36EC-0D87-48A2-8D54-B93BDE514A04}"/>
              </a:ext>
            </a:extLst>
          </p:cNvPr>
          <p:cNvSpPr txBox="1"/>
          <p:nvPr/>
        </p:nvSpPr>
        <p:spPr>
          <a:xfrm>
            <a:off x="2778792" y="605576"/>
            <a:ext cx="3610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Geometric Probability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780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/>
      <p:bldP spid="9" grpId="0"/>
      <p:bldP spid="11" grpId="0"/>
      <p:bldP spid="12" grpId="0" animBg="1"/>
      <p:bldP spid="13" grpId="0" animBg="1"/>
      <p:bldP spid="14" grpId="0" animBg="1"/>
      <p:bldP spid="15" grpId="0"/>
      <p:bldP spid="18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6459538" y="4140200"/>
            <a:ext cx="990600" cy="1000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497" name="Line 65"/>
          <p:cNvSpPr>
            <a:spLocks noChangeShapeType="1"/>
          </p:cNvSpPr>
          <p:nvPr/>
        </p:nvSpPr>
        <p:spPr bwMode="auto">
          <a:xfrm>
            <a:off x="6791325" y="51435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63500" dir="2212194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2448" name="Freeform 16"/>
          <p:cNvSpPr>
            <a:spLocks/>
          </p:cNvSpPr>
          <p:nvPr/>
        </p:nvSpPr>
        <p:spPr bwMode="auto">
          <a:xfrm>
            <a:off x="6459538" y="4143375"/>
            <a:ext cx="989012" cy="1001713"/>
          </a:xfrm>
          <a:custGeom>
            <a:avLst/>
            <a:gdLst>
              <a:gd name="T0" fmla="*/ 0 w 623"/>
              <a:gd name="T1" fmla="*/ 0 h 631"/>
              <a:gd name="T2" fmla="*/ 622 w 623"/>
              <a:gd name="T3" fmla="*/ 0 h 631"/>
              <a:gd name="T4" fmla="*/ 623 w 623"/>
              <a:gd name="T5" fmla="*/ 216 h 631"/>
              <a:gd name="T6" fmla="*/ 210 w 623"/>
              <a:gd name="T7" fmla="*/ 631 h 631"/>
              <a:gd name="T8" fmla="*/ 0 w 623"/>
              <a:gd name="T9" fmla="*/ 631 h 631"/>
              <a:gd name="T10" fmla="*/ 0 w 623"/>
              <a:gd name="T11" fmla="*/ 0 h 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3" h="631">
                <a:moveTo>
                  <a:pt x="0" y="0"/>
                </a:moveTo>
                <a:lnTo>
                  <a:pt x="622" y="0"/>
                </a:lnTo>
                <a:lnTo>
                  <a:pt x="623" y="216"/>
                </a:lnTo>
                <a:lnTo>
                  <a:pt x="210" y="631"/>
                </a:lnTo>
                <a:lnTo>
                  <a:pt x="0" y="63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1000"/>
            </a:schemeClr>
          </a:solidFill>
          <a:ln w="9525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2437" name="Rectangle 5"/>
          <p:cNvSpPr>
            <a:spLocks noChangeArrowheads="1"/>
          </p:cNvSpPr>
          <p:nvPr/>
        </p:nvSpPr>
        <p:spPr bwMode="auto">
          <a:xfrm>
            <a:off x="1085412" y="658960"/>
            <a:ext cx="7984697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In a military exercise, one construction group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A is commanded to build a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floating bridge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at riverbank for the coming Group B. Assume that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Group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A will arrive at the riverbank at 7:00-7:30 and spend 20 minutes to build the bridge. Group B will arrive at the riverbank between 7:30 and 8:00. Find the probability that Group B can cross the river immediately when they arrive</a:t>
            </a:r>
            <a:r>
              <a:rPr lang="en-US" altLang="zh-CN" sz="2000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402439" name="Rectangle 7"/>
          <p:cNvSpPr>
            <a:spLocks noChangeArrowheads="1"/>
          </p:cNvSpPr>
          <p:nvPr/>
        </p:nvSpPr>
        <p:spPr bwMode="auto">
          <a:xfrm>
            <a:off x="439840" y="5463277"/>
            <a:ext cx="53478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It is Geometric Probability. The probability is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2443" name="Line 11"/>
          <p:cNvSpPr>
            <a:spLocks noChangeShapeType="1"/>
          </p:cNvSpPr>
          <p:nvPr/>
        </p:nvSpPr>
        <p:spPr bwMode="auto">
          <a:xfrm>
            <a:off x="6457950" y="4140200"/>
            <a:ext cx="992188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2444" name="Line 12"/>
          <p:cNvSpPr>
            <a:spLocks noChangeShapeType="1"/>
          </p:cNvSpPr>
          <p:nvPr/>
        </p:nvSpPr>
        <p:spPr bwMode="auto">
          <a:xfrm>
            <a:off x="7450138" y="4140200"/>
            <a:ext cx="0" cy="20002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02499" name="Group 67"/>
          <p:cNvGrpSpPr>
            <a:grpSpLocks/>
          </p:cNvGrpSpPr>
          <p:nvPr/>
        </p:nvGrpSpPr>
        <p:grpSpPr bwMode="auto">
          <a:xfrm>
            <a:off x="6311902" y="3797300"/>
            <a:ext cx="1776413" cy="2486025"/>
            <a:chOff x="3632" y="2424"/>
            <a:chExt cx="1119" cy="1566"/>
          </a:xfrm>
        </p:grpSpPr>
        <p:sp>
          <p:nvSpPr>
            <p:cNvPr id="402441" name="Line 9"/>
            <p:cNvSpPr>
              <a:spLocks noChangeShapeType="1"/>
            </p:cNvSpPr>
            <p:nvPr/>
          </p:nvSpPr>
          <p:spPr bwMode="auto">
            <a:xfrm>
              <a:off x="3632" y="3900"/>
              <a:ext cx="111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2442" name="Line 10"/>
            <p:cNvSpPr>
              <a:spLocks noChangeShapeType="1"/>
            </p:cNvSpPr>
            <p:nvPr/>
          </p:nvSpPr>
          <p:spPr bwMode="auto">
            <a:xfrm flipV="1">
              <a:off x="3724" y="2424"/>
              <a:ext cx="0" cy="156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02436" name="Rectangle 4"/>
          <p:cNvSpPr>
            <a:spLocks noChangeArrowheads="1"/>
          </p:cNvSpPr>
          <p:nvPr/>
        </p:nvSpPr>
        <p:spPr bwMode="auto">
          <a:xfrm>
            <a:off x="133788" y="2993583"/>
            <a:ext cx="868591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 7:00 be the starting point, and</a:t>
            </a:r>
            <a:r>
              <a:rPr lang="zh-CN" alt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altLang="zh-CN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arrival time 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Group A</a:t>
            </a:r>
            <a:r>
              <a:rPr lang="zh-CN" alt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zh-CN" alt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B respectively. </a:t>
            </a:r>
            <a:endParaRPr lang="zh-CN" altLang="en-US" sz="20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2488" name="Line 56"/>
          <p:cNvSpPr>
            <a:spLocks noChangeShapeType="1"/>
          </p:cNvSpPr>
          <p:nvPr/>
        </p:nvSpPr>
        <p:spPr bwMode="auto">
          <a:xfrm>
            <a:off x="6472238" y="5145088"/>
            <a:ext cx="966787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02501" name="Group 69"/>
          <p:cNvGrpSpPr>
            <a:grpSpLocks/>
          </p:cNvGrpSpPr>
          <p:nvPr/>
        </p:nvGrpSpPr>
        <p:grpSpPr bwMode="auto">
          <a:xfrm>
            <a:off x="4787900" y="4065588"/>
            <a:ext cx="3081338" cy="2995612"/>
            <a:chOff x="3008" y="2409"/>
            <a:chExt cx="1941" cy="1887"/>
          </a:xfrm>
        </p:grpSpPr>
        <p:sp>
          <p:nvSpPr>
            <p:cNvPr id="402468" name="Line 36"/>
            <p:cNvSpPr>
              <a:spLocks noChangeShapeType="1"/>
            </p:cNvSpPr>
            <p:nvPr/>
          </p:nvSpPr>
          <p:spPr bwMode="auto">
            <a:xfrm flipV="1">
              <a:off x="4060" y="2409"/>
              <a:ext cx="889" cy="8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2500" name="Oval 68"/>
            <p:cNvSpPr>
              <a:spLocks noChangeArrowheads="1"/>
            </p:cNvSpPr>
            <p:nvPr/>
          </p:nvSpPr>
          <p:spPr bwMode="auto">
            <a:xfrm>
              <a:off x="3008" y="4160"/>
              <a:ext cx="112" cy="136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4AD4525-490E-437A-B7C2-9929614C7245}"/>
              </a:ext>
            </a:extLst>
          </p:cNvPr>
          <p:cNvSpPr txBox="1"/>
          <p:nvPr/>
        </p:nvSpPr>
        <p:spPr>
          <a:xfrm>
            <a:off x="6464337" y="3618984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1B0913-B92E-4657-8A24-0779214896F1}"/>
                  </a:ext>
                </a:extLst>
              </p:cNvPr>
              <p:cNvSpPr txBox="1"/>
              <p:nvPr/>
            </p:nvSpPr>
            <p:spPr>
              <a:xfrm>
                <a:off x="7713103" y="3792945"/>
                <a:ext cx="11603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+20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1B0913-B92E-4657-8A24-077921489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103" y="3792945"/>
                <a:ext cx="1160318" cy="276999"/>
              </a:xfrm>
              <a:prstGeom prst="rect">
                <a:avLst/>
              </a:prstGeom>
              <a:blipFill>
                <a:blip r:embed="rId2"/>
                <a:stretch>
                  <a:fillRect l="-4188" r="-4188"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20FAB0A-A1B9-4DBF-9B63-B0A3EE821EF6}"/>
              </a:ext>
            </a:extLst>
          </p:cNvPr>
          <p:cNvSpPr txBox="1"/>
          <p:nvPr/>
        </p:nvSpPr>
        <p:spPr>
          <a:xfrm>
            <a:off x="6062569" y="395870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60</a:t>
            </a:r>
            <a:endParaRPr lang="zh-CN" altLang="en-US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F7FF9F0-B5DF-4455-A501-52058A967C08}"/>
              </a:ext>
            </a:extLst>
          </p:cNvPr>
          <p:cNvSpPr txBox="1"/>
          <p:nvPr/>
        </p:nvSpPr>
        <p:spPr>
          <a:xfrm>
            <a:off x="6081141" y="4891733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30</a:t>
            </a:r>
            <a:endParaRPr lang="zh-CN" altLang="en-US" sz="20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13B2173-3414-4C3A-A432-3CBB029D4A4E}"/>
              </a:ext>
            </a:extLst>
          </p:cNvPr>
          <p:cNvSpPr txBox="1"/>
          <p:nvPr/>
        </p:nvSpPr>
        <p:spPr>
          <a:xfrm>
            <a:off x="6081141" y="5302865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20</a:t>
            </a:r>
            <a:endParaRPr lang="zh-CN" altLang="en-US" sz="20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77346AB-3643-45D6-ADAF-2DBD7B55CBAB}"/>
              </a:ext>
            </a:extLst>
          </p:cNvPr>
          <p:cNvSpPr txBox="1"/>
          <p:nvPr/>
        </p:nvSpPr>
        <p:spPr>
          <a:xfrm>
            <a:off x="6158655" y="61413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0651F38-F8CE-4098-B5A8-AF2EAB95E795}"/>
              </a:ext>
            </a:extLst>
          </p:cNvPr>
          <p:cNvSpPr txBox="1"/>
          <p:nvPr/>
        </p:nvSpPr>
        <p:spPr>
          <a:xfrm>
            <a:off x="7234389" y="61469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30</a:t>
            </a:r>
            <a:endParaRPr lang="zh-CN" altLang="en-US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3B408DD-D5D2-484D-98D0-1F99F132D35B}"/>
              </a:ext>
            </a:extLst>
          </p:cNvPr>
          <p:cNvSpPr txBox="1"/>
          <p:nvPr/>
        </p:nvSpPr>
        <p:spPr>
          <a:xfrm>
            <a:off x="6573691" y="61413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10</a:t>
            </a:r>
            <a:endParaRPr lang="zh-CN" altLang="en-US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BEABFE-7D0C-4664-82D8-A311E0E7C900}"/>
              </a:ext>
            </a:extLst>
          </p:cNvPr>
          <p:cNvSpPr txBox="1"/>
          <p:nvPr/>
        </p:nvSpPr>
        <p:spPr>
          <a:xfrm>
            <a:off x="8088315" y="5913993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3941745-30FA-4385-BBCD-92D92556CC79}"/>
                  </a:ext>
                </a:extLst>
              </p:cNvPr>
              <p:cNvSpPr txBox="1"/>
              <p:nvPr/>
            </p:nvSpPr>
            <p:spPr>
              <a:xfrm>
                <a:off x="2349162" y="5788747"/>
                <a:ext cx="1498294" cy="7351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3941745-30FA-4385-BBCD-92D92556C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162" y="5788747"/>
                <a:ext cx="1498294" cy="735138"/>
              </a:xfrm>
              <a:prstGeom prst="rect">
                <a:avLst/>
              </a:prstGeom>
              <a:blipFill>
                <a:blip r:embed="rId3"/>
                <a:stretch>
                  <a:fillRect l="-3361" r="-840" b="-862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8EEE200-E344-4A33-B03D-D2340FEE0987}"/>
                  </a:ext>
                </a:extLst>
              </p:cNvPr>
              <p:cNvSpPr txBox="1"/>
              <p:nvPr/>
            </p:nvSpPr>
            <p:spPr>
              <a:xfrm>
                <a:off x="3913090" y="6017015"/>
                <a:ext cx="428001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8EEE200-E344-4A33-B03D-D2340FEE0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090" y="6017015"/>
                <a:ext cx="428001" cy="518540"/>
              </a:xfrm>
              <a:prstGeom prst="rect">
                <a:avLst/>
              </a:prstGeom>
              <a:blipFill>
                <a:blip r:embed="rId4"/>
                <a:stretch>
                  <a:fillRect l="-5882" t="-2381" r="-11765" b="-119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WordArt 387"/>
          <p:cNvSpPr>
            <a:spLocks noChangeArrowheads="1" noChangeShapeType="1" noTextEdit="1"/>
          </p:cNvSpPr>
          <p:nvPr/>
        </p:nvSpPr>
        <p:spPr bwMode="auto">
          <a:xfrm>
            <a:off x="133788" y="742800"/>
            <a:ext cx="951624" cy="35830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Example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3788" y="3670676"/>
            <a:ext cx="57742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spcBef>
                <a:spcPct val="20000"/>
              </a:spcBef>
              <a:buClr>
                <a:srgbClr val="44546A"/>
              </a:buClr>
              <a:buSzPct val="75000"/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necessary</a:t>
            </a:r>
            <a:r>
              <a:rPr lang="zh-CN" alt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zh-CN" alt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sufficient</a:t>
            </a:r>
            <a:r>
              <a:rPr lang="zh-CN" alt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conditions that Group B can cross the river are: </a:t>
            </a:r>
            <a:endParaRPr lang="zh-CN" altLang="en-US" sz="20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350091" y="4262504"/>
                <a:ext cx="159332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091" y="4262504"/>
                <a:ext cx="159332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350091" y="4644994"/>
                <a:ext cx="175362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𝟔𝟎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091" y="4644994"/>
                <a:ext cx="1753622" cy="400110"/>
              </a:xfrm>
              <a:prstGeom prst="rect">
                <a:avLst/>
              </a:prstGeom>
              <a:blipFill>
                <a:blip r:embed="rId6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350091" y="5052865"/>
                <a:ext cx="156485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091" y="5052865"/>
                <a:ext cx="1564851" cy="400110"/>
              </a:xfrm>
              <a:prstGeom prst="rect">
                <a:avLst/>
              </a:prstGeom>
              <a:blipFill>
                <a:blip r:embed="rId7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83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1000"/>
                                        <p:tgtEl>
                                          <p:spTgt spid="40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2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2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02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2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02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02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2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02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4" dur="500"/>
                                        <p:tgtEl>
                                          <p:spTgt spid="40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8" dur="1000"/>
                                        <p:tgtEl>
                                          <p:spTgt spid="40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0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02437" grpId="0"/>
      <p:bldP spid="402439" grpId="0"/>
      <p:bldP spid="402436" grpId="0"/>
      <p:bldP spid="2" grpId="0"/>
      <p:bldP spid="3" grpId="0"/>
      <p:bldP spid="4" grpId="0"/>
      <p:bldP spid="37" grpId="0"/>
      <p:bldP spid="38" grpId="0"/>
      <p:bldP spid="39" grpId="0"/>
      <p:bldP spid="40" grpId="0"/>
      <p:bldP spid="41" grpId="0"/>
      <p:bldP spid="5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1D197B70-6587-466F-8BD8-9606D01B52DB}"/>
              </a:ext>
            </a:extLst>
          </p:cNvPr>
          <p:cNvSpPr/>
          <p:nvPr/>
        </p:nvSpPr>
        <p:spPr>
          <a:xfrm>
            <a:off x="6171388" y="4374902"/>
            <a:ext cx="1601103" cy="17734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437" name="Rectangle 5"/>
          <p:cNvSpPr>
            <a:spLocks noChangeArrowheads="1"/>
          </p:cNvSpPr>
          <p:nvPr/>
        </p:nvSpPr>
        <p:spPr bwMode="auto">
          <a:xfrm>
            <a:off x="1233188" y="646548"/>
            <a:ext cx="7273497" cy="158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Two persons plan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to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meet between 7:00 and 8:00 at a park. The person who comes early can wait only for 20 minutes before leaving. Find the probability that the two persons can actually meet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together. </a:t>
            </a:r>
            <a:endParaRPr lang="en-US" altLang="zh-CN" sz="2200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2439" name="Rectangle 7"/>
          <p:cNvSpPr>
            <a:spLocks noChangeArrowheads="1"/>
          </p:cNvSpPr>
          <p:nvPr/>
        </p:nvSpPr>
        <p:spPr bwMode="auto">
          <a:xfrm>
            <a:off x="564993" y="5170440"/>
            <a:ext cx="51781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It is Geometric Probability. The probability is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2443" name="Line 11"/>
          <p:cNvSpPr>
            <a:spLocks noChangeShapeType="1"/>
          </p:cNvSpPr>
          <p:nvPr/>
        </p:nvSpPr>
        <p:spPr bwMode="auto">
          <a:xfrm>
            <a:off x="6162398" y="4371100"/>
            <a:ext cx="1620236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2444" name="Line 12"/>
          <p:cNvSpPr>
            <a:spLocks noChangeShapeType="1"/>
          </p:cNvSpPr>
          <p:nvPr/>
        </p:nvSpPr>
        <p:spPr bwMode="auto">
          <a:xfrm>
            <a:off x="7782634" y="4371100"/>
            <a:ext cx="0" cy="17693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02499" name="Group 67"/>
          <p:cNvGrpSpPr>
            <a:grpSpLocks/>
          </p:cNvGrpSpPr>
          <p:nvPr/>
        </p:nvGrpSpPr>
        <p:grpSpPr bwMode="auto">
          <a:xfrm>
            <a:off x="6016350" y="3797300"/>
            <a:ext cx="1919288" cy="2486025"/>
            <a:chOff x="3632" y="2424"/>
            <a:chExt cx="1209" cy="1566"/>
          </a:xfrm>
        </p:grpSpPr>
        <p:sp>
          <p:nvSpPr>
            <p:cNvPr id="402441" name="Line 9"/>
            <p:cNvSpPr>
              <a:spLocks noChangeShapeType="1"/>
            </p:cNvSpPr>
            <p:nvPr/>
          </p:nvSpPr>
          <p:spPr bwMode="auto">
            <a:xfrm flipV="1">
              <a:off x="3632" y="3896"/>
              <a:ext cx="1209" cy="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2442" name="Line 10"/>
            <p:cNvSpPr>
              <a:spLocks noChangeShapeType="1"/>
            </p:cNvSpPr>
            <p:nvPr/>
          </p:nvSpPr>
          <p:spPr bwMode="auto">
            <a:xfrm flipV="1">
              <a:off x="3724" y="2424"/>
              <a:ext cx="0" cy="156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02436" name="Rectangle 4"/>
          <p:cNvSpPr>
            <a:spLocks noChangeArrowheads="1"/>
          </p:cNvSpPr>
          <p:nvPr/>
        </p:nvSpPr>
        <p:spPr bwMode="auto">
          <a:xfrm>
            <a:off x="540895" y="2387843"/>
            <a:ext cx="7931216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 7:00 as a starting point. </a:t>
            </a:r>
          </a:p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Denote</a:t>
            </a:r>
            <a:r>
              <a:rPr lang="zh-CN" alt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as the </a:t>
            </a:r>
            <a:r>
              <a:rPr lang="en-US" altLang="zh-CN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arrival time 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the</a:t>
            </a:r>
            <a:r>
              <a:rPr lang="zh-CN" alt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persons, respectively. </a:t>
            </a:r>
          </a:p>
          <a:p>
            <a:pPr algn="l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necessary and sufficient conditions for</a:t>
            </a:r>
            <a:r>
              <a:rPr lang="zh-CN" alt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two persons to meet are</a:t>
            </a:r>
            <a:endParaRPr lang="zh-CN" altLang="en-US" sz="20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02501" name="Group 69"/>
          <p:cNvGrpSpPr>
            <a:grpSpLocks/>
          </p:cNvGrpSpPr>
          <p:nvPr/>
        </p:nvGrpSpPr>
        <p:grpSpPr bwMode="auto">
          <a:xfrm>
            <a:off x="4811832" y="4014232"/>
            <a:ext cx="2767013" cy="2995612"/>
            <a:chOff x="3008" y="2409"/>
            <a:chExt cx="1743" cy="1887"/>
          </a:xfrm>
        </p:grpSpPr>
        <p:sp>
          <p:nvSpPr>
            <p:cNvPr id="402468" name="Line 36"/>
            <p:cNvSpPr>
              <a:spLocks noChangeShapeType="1"/>
            </p:cNvSpPr>
            <p:nvPr/>
          </p:nvSpPr>
          <p:spPr bwMode="auto">
            <a:xfrm flipV="1">
              <a:off x="3862" y="2409"/>
              <a:ext cx="889" cy="8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2500" name="Oval 68"/>
            <p:cNvSpPr>
              <a:spLocks noChangeArrowheads="1"/>
            </p:cNvSpPr>
            <p:nvPr/>
          </p:nvSpPr>
          <p:spPr bwMode="auto">
            <a:xfrm>
              <a:off x="3008" y="4160"/>
              <a:ext cx="112" cy="136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chemeClr val="tx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02504" name="Text Box 72"/>
          <p:cNvSpPr txBox="1">
            <a:spLocks noChangeArrowheads="1"/>
          </p:cNvSpPr>
          <p:nvPr/>
        </p:nvSpPr>
        <p:spPr bwMode="auto">
          <a:xfrm>
            <a:off x="3328988" y="6383338"/>
            <a:ext cx="12461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7777FF"/>
                    </a:outerShdw>
                  </a:cont>
                  <a:cont type="tree" name="">
                    <a:effect ref="fillLine"/>
                    <a:outerShdw dist="38100" dir="2700000" algn="tl">
                      <a:srgbClr val="1E1E99"/>
                    </a:outerShdw>
                  </a:cont>
                  <a:effect ref="fillLine"/>
                </a:effectDag>
                <a:latin typeface="Euclid Math One" pitchFamily="18" charset="2"/>
                <a:ea typeface="Gungsuh" pitchFamily="18" charset="-127"/>
              </a:rPr>
              <a:t>END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AD4525-490E-437A-B7C2-9929614C7245}"/>
              </a:ext>
            </a:extLst>
          </p:cNvPr>
          <p:cNvSpPr txBox="1"/>
          <p:nvPr/>
        </p:nvSpPr>
        <p:spPr>
          <a:xfrm>
            <a:off x="6168785" y="3618984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1B0913-B92E-4657-8A24-0779214896F1}"/>
                  </a:ext>
                </a:extLst>
              </p:cNvPr>
              <p:cNvSpPr txBox="1"/>
              <p:nvPr/>
            </p:nvSpPr>
            <p:spPr>
              <a:xfrm>
                <a:off x="7417551" y="3792945"/>
                <a:ext cx="11603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+20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31B0913-B92E-4657-8A24-077921489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551" y="3792945"/>
                <a:ext cx="1160318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4211" r="-4211" b="-28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20FAB0A-A1B9-4DBF-9B63-B0A3EE821EF6}"/>
              </a:ext>
            </a:extLst>
          </p:cNvPr>
          <p:cNvSpPr txBox="1"/>
          <p:nvPr/>
        </p:nvSpPr>
        <p:spPr>
          <a:xfrm>
            <a:off x="5767017" y="41711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60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13B2173-3414-4C3A-A432-3CBB029D4A4E}"/>
              </a:ext>
            </a:extLst>
          </p:cNvPr>
          <p:cNvSpPr txBox="1"/>
          <p:nvPr/>
        </p:nvSpPr>
        <p:spPr>
          <a:xfrm>
            <a:off x="5819769" y="522050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77346AB-3643-45D6-ADAF-2DBD7B55CBAB}"/>
              </a:ext>
            </a:extLst>
          </p:cNvPr>
          <p:cNvSpPr txBox="1"/>
          <p:nvPr/>
        </p:nvSpPr>
        <p:spPr>
          <a:xfrm>
            <a:off x="5863103" y="614139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0651F38-F8CE-4098-B5A8-AF2EAB95E795}"/>
              </a:ext>
            </a:extLst>
          </p:cNvPr>
          <p:cNvSpPr txBox="1"/>
          <p:nvPr/>
        </p:nvSpPr>
        <p:spPr>
          <a:xfrm>
            <a:off x="7547900" y="612060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60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3B408DD-D5D2-484D-98D0-1F99F132D35B}"/>
              </a:ext>
            </a:extLst>
          </p:cNvPr>
          <p:cNvSpPr txBox="1"/>
          <p:nvPr/>
        </p:nvSpPr>
        <p:spPr>
          <a:xfrm>
            <a:off x="6504245" y="60813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BEABFE-7D0C-4664-82D8-A311E0E7C900}"/>
              </a:ext>
            </a:extLst>
          </p:cNvPr>
          <p:cNvSpPr txBox="1"/>
          <p:nvPr/>
        </p:nvSpPr>
        <p:spPr>
          <a:xfrm>
            <a:off x="7889475" y="5913993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6967E9E-8667-4E53-BD67-104478CABDD3}"/>
                  </a:ext>
                </a:extLst>
              </p:cNvPr>
              <p:cNvSpPr txBox="1"/>
              <p:nvPr/>
            </p:nvSpPr>
            <p:spPr>
              <a:xfrm>
                <a:off x="803340" y="3429000"/>
                <a:ext cx="2247280" cy="13874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|</m:t>
                              </m:r>
                              <m: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|≤</m:t>
                              </m:r>
                              <m: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𝟐𝟎</m:t>
                              </m:r>
                              <m:r>
                                <m:rPr>
                                  <m:nor/>
                                </m:rPr>
                                <a:rPr lang="zh-CN" altLang="en-US" sz="2000" b="1" dirty="0"/>
                                <m:t> </m:t>
                              </m:r>
                            </m:e>
                            <m:e/>
                            <m:e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0  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𝑎𝑛𝑑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20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6967E9E-8667-4E53-BD67-104478CAB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40" y="3429000"/>
                <a:ext cx="2247280" cy="13874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3941745-30FA-4385-BBCD-92D92556CC79}"/>
                  </a:ext>
                </a:extLst>
              </p:cNvPr>
              <p:cNvSpPr txBox="1"/>
              <p:nvPr/>
            </p:nvSpPr>
            <p:spPr>
              <a:xfrm>
                <a:off x="613973" y="5554289"/>
                <a:ext cx="2884720" cy="8552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2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6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2∗</m:t>
                          </m:r>
                          <m:f>
                            <m:fPr>
                              <m:ctrlPr>
                                <a:rPr lang="en-US" altLang="zh-CN" sz="22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∗40</m:t>
                          </m:r>
                          <m:r>
                            <a:rPr lang="en-US" altLang="zh-CN" sz="2200" b="0" i="1" baseline="300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2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6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3941745-30FA-4385-BBCD-92D92556C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73" y="5554289"/>
                <a:ext cx="2884720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ine 36"/>
          <p:cNvSpPr>
            <a:spLocks noChangeShapeType="1"/>
          </p:cNvSpPr>
          <p:nvPr/>
        </p:nvSpPr>
        <p:spPr bwMode="auto">
          <a:xfrm flipV="1">
            <a:off x="6699752" y="4735522"/>
            <a:ext cx="1411288" cy="141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2">
                <a:extLst>
                  <a:ext uri="{FF2B5EF4-FFF2-40B4-BE49-F238E27FC236}">
                    <a16:creationId xmlns:a16="http://schemas.microsoft.com/office/drawing/2014/main" id="{731B0913-B92E-4657-8A24-0779214896F1}"/>
                  </a:ext>
                </a:extLst>
              </p:cNvPr>
              <p:cNvSpPr txBox="1"/>
              <p:nvPr/>
            </p:nvSpPr>
            <p:spPr>
              <a:xfrm>
                <a:off x="7865503" y="4450759"/>
                <a:ext cx="12132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31B0913-B92E-4657-8A24-077921489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503" y="4450759"/>
                <a:ext cx="1213217" cy="276999"/>
              </a:xfrm>
              <a:prstGeom prst="rect">
                <a:avLst/>
              </a:prstGeom>
              <a:blipFill rotWithShape="1">
                <a:blip r:embed="rId5"/>
                <a:stretch>
                  <a:fillRect l="-1508" r="-2010" b="-28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WordArt 387"/>
          <p:cNvSpPr>
            <a:spLocks noChangeArrowheads="1" noChangeShapeType="1" noTextEdit="1"/>
          </p:cNvSpPr>
          <p:nvPr/>
        </p:nvSpPr>
        <p:spPr bwMode="auto">
          <a:xfrm>
            <a:off x="133788" y="715998"/>
            <a:ext cx="951624" cy="35830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/>
                <a:ea typeface="隶书"/>
              </a:rPr>
              <a:t>Exercise: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/>
              <a:ea typeface="隶书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161477" y="4371100"/>
            <a:ext cx="1641391" cy="1777297"/>
            <a:chOff x="6161477" y="4371100"/>
            <a:chExt cx="1641391" cy="1777297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7075058" y="4554699"/>
              <a:ext cx="660675" cy="4998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6195339" y="5637457"/>
              <a:ext cx="595851" cy="410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7204828" y="4450759"/>
              <a:ext cx="577806" cy="4260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6946711" y="4692868"/>
              <a:ext cx="660675" cy="4998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6782418" y="4848836"/>
              <a:ext cx="660675" cy="4998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6645656" y="4944666"/>
              <a:ext cx="660675" cy="5610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6525676" y="5107943"/>
              <a:ext cx="660675" cy="4998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6376123" y="5255775"/>
              <a:ext cx="660675" cy="4998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6232283" y="5414149"/>
              <a:ext cx="660675" cy="4998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endCxn id="30" idx="0"/>
            </p:cNvCxnSpPr>
            <p:nvPr/>
          </p:nvCxnSpPr>
          <p:spPr>
            <a:xfrm>
              <a:off x="6161477" y="5799812"/>
              <a:ext cx="538275" cy="348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176866" y="5954712"/>
              <a:ext cx="291616" cy="1866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7318483" y="4371100"/>
              <a:ext cx="474280" cy="349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7533234" y="4376237"/>
              <a:ext cx="269634" cy="2130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右箭头 7"/>
          <p:cNvSpPr/>
          <p:nvPr/>
        </p:nvSpPr>
        <p:spPr>
          <a:xfrm>
            <a:off x="3060986" y="4155415"/>
            <a:ext cx="308712" cy="2421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右箭头 46"/>
          <p:cNvSpPr/>
          <p:nvPr/>
        </p:nvSpPr>
        <p:spPr>
          <a:xfrm>
            <a:off x="5213755" y="4104245"/>
            <a:ext cx="474868" cy="2421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6">
                <a:extLst>
                  <a:ext uri="{FF2B5EF4-FFF2-40B4-BE49-F238E27FC236}">
                    <a16:creationId xmlns:a16="http://schemas.microsoft.com/office/drawing/2014/main" id="{F3941745-30FA-4385-BBCD-92D92556CC79}"/>
                  </a:ext>
                </a:extLst>
              </p:cNvPr>
              <p:cNvSpPr txBox="1"/>
              <p:nvPr/>
            </p:nvSpPr>
            <p:spPr>
              <a:xfrm>
                <a:off x="2922690" y="5758977"/>
                <a:ext cx="2250089" cy="6360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/>
                        </a:rPr>
                        <m:t>1−</m:t>
                      </m:r>
                      <m:f>
                        <m:fPr>
                          <m:ctrlPr>
                            <a:rPr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40</m:t>
                          </m:r>
                          <m:r>
                            <a:rPr lang="en-US" altLang="zh-CN" sz="2200" b="0" i="1" baseline="3000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2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6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0" name="文本框 6">
                <a:extLst>
                  <a:ext uri="{FF2B5EF4-FFF2-40B4-BE49-F238E27FC236}">
                    <a16:creationId xmlns:a16="http://schemas.microsoft.com/office/drawing/2014/main" id="{F3941745-30FA-4385-BBCD-92D92556C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690" y="5758977"/>
                <a:ext cx="2250089" cy="6360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688160" y="5913993"/>
            <a:ext cx="12125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chemeClr val="accent5">
                    <a:lumMod val="75000"/>
                  </a:schemeClr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= 5/9</a:t>
            </a:r>
            <a:endParaRPr lang="zh-CN" altLang="en-US" sz="2200" dirty="0">
              <a:solidFill>
                <a:schemeClr val="accent5">
                  <a:lumMod val="75000"/>
                </a:schemeClr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504370" y="4148317"/>
                <a:ext cx="159742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≤20+</m:t>
                      </m:r>
                      <m:r>
                        <a:rPr lang="en-US" altLang="zh-CN" sz="2200" b="0" i="1">
                          <a:solidFill>
                            <a:srgbClr val="0070C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370" y="4148317"/>
                <a:ext cx="1597424" cy="430887"/>
              </a:xfrm>
              <a:prstGeom prst="rect">
                <a:avLst/>
              </a:prstGeom>
              <a:blipFill>
                <a:blip r:embed="rId7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3504370" y="3767502"/>
                <a:ext cx="159742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200" b="0" i="1">
                          <a:solidFill>
                            <a:srgbClr val="0070C0"/>
                          </a:solidFill>
                          <a:latin typeface="Cambria Math"/>
                        </a:rPr>
                        <m:t>−20</m:t>
                      </m:r>
                      <m:r>
                        <a:rPr lang="en-US" altLang="zh-CN" sz="22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200" b="0" i="1">
                          <a:solidFill>
                            <a:srgbClr val="0070C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370" y="3767502"/>
                <a:ext cx="1597424" cy="430887"/>
              </a:xfrm>
              <a:prstGeom prst="rect">
                <a:avLst/>
              </a:prstGeom>
              <a:blipFill>
                <a:blip r:embed="rId8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左大括号 12"/>
          <p:cNvSpPr/>
          <p:nvPr/>
        </p:nvSpPr>
        <p:spPr>
          <a:xfrm>
            <a:off x="3446495" y="3998334"/>
            <a:ext cx="162897" cy="519315"/>
          </a:xfrm>
          <a:prstGeom prst="leftBrace">
            <a:avLst/>
          </a:prstGeom>
          <a:ln w="222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+mn-ea"/>
            </a:endParaRPr>
          </a:p>
        </p:txBody>
      </p:sp>
      <p:sp>
        <p:nvSpPr>
          <p:cNvPr id="51" name="右箭头 7">
            <a:extLst>
              <a:ext uri="{FF2B5EF4-FFF2-40B4-BE49-F238E27FC236}">
                <a16:creationId xmlns:a16="http://schemas.microsoft.com/office/drawing/2014/main" id="{F6D0A86C-B5C8-4F88-BB6A-043521288D61}"/>
              </a:ext>
            </a:extLst>
          </p:cNvPr>
          <p:cNvSpPr/>
          <p:nvPr/>
        </p:nvSpPr>
        <p:spPr>
          <a:xfrm rot="5400000">
            <a:off x="1246200" y="3921565"/>
            <a:ext cx="308712" cy="1341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F61BC4-AF08-4F6F-BFA4-74CE9D3AE37C}"/>
              </a:ext>
            </a:extLst>
          </p:cNvPr>
          <p:cNvSpPr/>
          <p:nvPr/>
        </p:nvSpPr>
        <p:spPr>
          <a:xfrm>
            <a:off x="975257" y="3798010"/>
            <a:ext cx="1892083" cy="937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31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1" dur="500"/>
                                        <p:tgtEl>
                                          <p:spTgt spid="40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0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402439" grpId="0"/>
      <p:bldP spid="2" grpId="0"/>
      <p:bldP spid="3" grpId="0"/>
      <p:bldP spid="4" grpId="0"/>
      <p:bldP spid="38" grpId="0"/>
      <p:bldP spid="39" grpId="0"/>
      <p:bldP spid="40" grpId="0"/>
      <p:bldP spid="41" grpId="0"/>
      <p:bldP spid="5" grpId="0"/>
      <p:bldP spid="6" grpId="0"/>
      <p:bldP spid="7" grpId="0"/>
      <p:bldP spid="30" grpId="0" animBg="1"/>
      <p:bldP spid="31" grpId="0"/>
      <p:bldP spid="8" grpId="0" animBg="1"/>
      <p:bldP spid="47" grpId="0" animBg="1"/>
      <p:bldP spid="50" grpId="0"/>
      <p:bldP spid="10" grpId="0"/>
      <p:bldP spid="11" grpId="0"/>
      <p:bldP spid="12" grpId="0"/>
      <p:bldP spid="13" grpId="0" animBg="1"/>
      <p:bldP spid="51" grpId="0" animBg="1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33" name="WordArt 9"/>
          <p:cNvSpPr>
            <a:spLocks noChangeArrowheads="1" noChangeShapeType="1" noTextEdit="1"/>
          </p:cNvSpPr>
          <p:nvPr/>
        </p:nvSpPr>
        <p:spPr bwMode="auto">
          <a:xfrm>
            <a:off x="1869871" y="1508583"/>
            <a:ext cx="1974850" cy="4635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kern="10" dirty="0">
                <a:ln w="15875">
                  <a:solidFill>
                    <a:srgbClr val="3399FF"/>
                  </a:solidFill>
                  <a:round/>
                  <a:headEnd/>
                  <a:tailE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/>
                <a:ea typeface="方正舒体"/>
              </a:rPr>
              <a:t>Homework </a:t>
            </a:r>
            <a:endParaRPr lang="zh-CN" altLang="en-US" sz="3600" kern="10" dirty="0">
              <a:ln w="15875">
                <a:solidFill>
                  <a:srgbClr val="3399FF"/>
                </a:solidFill>
                <a:round/>
                <a:headEnd/>
                <a:tailE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/>
              <a:ea typeface="方正舒体"/>
            </a:endParaRPr>
          </a:p>
        </p:txBody>
      </p:sp>
      <p:grpSp>
        <p:nvGrpSpPr>
          <p:cNvPr id="30727" name="Group 11"/>
          <p:cNvGrpSpPr>
            <a:grpSpLocks/>
          </p:cNvGrpSpPr>
          <p:nvPr/>
        </p:nvGrpSpPr>
        <p:grpSpPr bwMode="auto">
          <a:xfrm>
            <a:off x="814183" y="1538745"/>
            <a:ext cx="774700" cy="900113"/>
            <a:chOff x="1519" y="1253"/>
            <a:chExt cx="488" cy="567"/>
          </a:xfrm>
        </p:grpSpPr>
        <p:sp>
          <p:nvSpPr>
            <p:cNvPr id="410636" name="Rectangle 12"/>
            <p:cNvSpPr>
              <a:spLocks noChangeArrowheads="1"/>
            </p:cNvSpPr>
            <p:nvPr/>
          </p:nvSpPr>
          <p:spPr bwMode="auto">
            <a:xfrm>
              <a:off x="1519" y="1253"/>
              <a:ext cx="476" cy="567"/>
            </a:xfrm>
            <a:prstGeom prst="rect">
              <a:avLst/>
            </a:prstGeom>
            <a:solidFill>
              <a:srgbClr val="080808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30730" name="Picture 13" descr="0_4"/>
            <p:cNvPicPr>
              <a:picLocks noChangeAspect="1" noChangeArrowheads="1" noCrop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9" y="1275"/>
              <a:ext cx="488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638" name="Rectangle 14"/>
            <p:cNvSpPr>
              <a:spLocks noChangeArrowheads="1"/>
            </p:cNvSpPr>
            <p:nvPr/>
          </p:nvSpPr>
          <p:spPr bwMode="auto">
            <a:xfrm>
              <a:off x="1519" y="1253"/>
              <a:ext cx="476" cy="567"/>
            </a:xfrm>
            <a:prstGeom prst="rect">
              <a:avLst/>
            </a:prstGeom>
            <a:noFill/>
            <a:ln w="12700" algn="ctr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0808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9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50090" y="1520937"/>
            <a:ext cx="2249255" cy="1913472"/>
          </a:xfrm>
          <a:prstGeom prst="rect">
            <a:avLst/>
          </a:prstGeom>
        </p:spPr>
      </p:pic>
      <p:sp>
        <p:nvSpPr>
          <p:cNvPr id="10" name="WordArt 8"/>
          <p:cNvSpPr>
            <a:spLocks noChangeArrowheads="1" noChangeShapeType="1" noTextEdit="1"/>
          </p:cNvSpPr>
          <p:nvPr/>
        </p:nvSpPr>
        <p:spPr bwMode="auto">
          <a:xfrm>
            <a:off x="499320" y="3875241"/>
            <a:ext cx="3214889" cy="4143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P27: 12</a:t>
            </a:r>
            <a:r>
              <a:rPr lang="zh-CN" altLang="en-US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； </a:t>
            </a: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P29: 29</a:t>
            </a:r>
            <a:endParaRPr lang="zh-CN" altLang="en-US" sz="3600" kern="10" dirty="0">
              <a:ln w="12700">
                <a:solidFill>
                  <a:srgbClr val="FFFF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sp>
        <p:nvSpPr>
          <p:cNvPr id="11" name="WordArt 8">
            <a:extLst>
              <a:ext uri="{FF2B5EF4-FFF2-40B4-BE49-F238E27FC236}">
                <a16:creationId xmlns:a16="http://schemas.microsoft.com/office/drawing/2014/main" id="{7C33A595-1ACF-BB4F-BC88-897D8431CD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99319" y="4624346"/>
            <a:ext cx="5820457" cy="4143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And</a:t>
            </a:r>
            <a:r>
              <a:rPr lang="zh-CN" altLang="en-US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 </a:t>
            </a: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the</a:t>
            </a:r>
            <a:r>
              <a:rPr lang="zh-CN" altLang="en-US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 </a:t>
            </a: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Supplementary Question</a:t>
            </a:r>
            <a:r>
              <a:rPr lang="zh-CN" altLang="en-US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 </a:t>
            </a: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on</a:t>
            </a:r>
            <a:r>
              <a:rPr lang="zh-CN" altLang="en-US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 </a:t>
            </a: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the</a:t>
            </a:r>
            <a:r>
              <a:rPr lang="zh-CN" altLang="en-US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 </a:t>
            </a: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next</a:t>
            </a:r>
            <a:r>
              <a:rPr lang="zh-CN" altLang="en-US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 </a:t>
            </a: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page</a:t>
            </a:r>
            <a:endParaRPr lang="zh-CN" altLang="en-US" sz="3600" kern="10" dirty="0">
              <a:ln w="12700">
                <a:solidFill>
                  <a:srgbClr val="FFFF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8852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8608" y="2619406"/>
            <a:ext cx="8306602" cy="2353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Choose 2r shoes from n pairs of shoes</a:t>
            </a:r>
            <a:r>
              <a:rPr lang="zh-CN" altLang="en-US" sz="2000" dirty="0"/>
              <a:t> </a:t>
            </a: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different</a:t>
            </a:r>
            <a:r>
              <a:rPr lang="zh-CN" altLang="en-US" sz="2000" dirty="0"/>
              <a:t> </a:t>
            </a:r>
            <a:r>
              <a:rPr lang="en-US" altLang="zh-CN" sz="2000" dirty="0"/>
              <a:t>sizes (2r&lt;n). Compute the</a:t>
            </a:r>
            <a:r>
              <a:rPr lang="zh-CN" altLang="en-US" sz="2000" dirty="0"/>
              <a:t> </a:t>
            </a:r>
            <a:r>
              <a:rPr lang="en-US" altLang="zh-CN" sz="2000" dirty="0"/>
              <a:t>probabilities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following</a:t>
            </a:r>
            <a:r>
              <a:rPr lang="zh-CN" altLang="en-US" sz="2000" dirty="0"/>
              <a:t> </a:t>
            </a:r>
            <a:r>
              <a:rPr lang="en-US" altLang="zh-CN" sz="2000" dirty="0"/>
              <a:t>events.</a:t>
            </a:r>
            <a:endParaRPr lang="zh-CN" altLang="zh-CN" sz="2000" dirty="0"/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altLang="zh-CN" sz="2000" dirty="0"/>
              <a:t>There are no matching pairs</a:t>
            </a:r>
            <a:r>
              <a:rPr lang="zh-CN" altLang="en-US" sz="2000" dirty="0"/>
              <a:t> </a:t>
            </a:r>
            <a:r>
              <a:rPr lang="en-US" altLang="zh-CN" sz="2000" dirty="0"/>
              <a:t>among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2r</a:t>
            </a:r>
            <a:r>
              <a:rPr lang="zh-CN" altLang="en-US" sz="2000" dirty="0"/>
              <a:t> </a:t>
            </a:r>
            <a:r>
              <a:rPr lang="en-US" altLang="zh-CN" sz="2000" dirty="0"/>
              <a:t>shoes.</a:t>
            </a:r>
            <a:endParaRPr lang="zh-CN" altLang="zh-CN" sz="2000" dirty="0"/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altLang="zh-CN" sz="2000" dirty="0"/>
              <a:t>There is exact ONE matching pair</a:t>
            </a:r>
            <a:r>
              <a:rPr lang="zh-CN" altLang="en-US" sz="2000" dirty="0"/>
              <a:t> </a:t>
            </a:r>
            <a:r>
              <a:rPr lang="en-US" altLang="zh-CN" sz="2000" dirty="0"/>
              <a:t>among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2r</a:t>
            </a:r>
            <a:r>
              <a:rPr lang="zh-CN" altLang="en-US" sz="2000" dirty="0"/>
              <a:t> </a:t>
            </a:r>
            <a:r>
              <a:rPr lang="en-US" altLang="zh-CN" sz="2000" dirty="0"/>
              <a:t>shoes.</a:t>
            </a:r>
            <a:endParaRPr lang="zh-CN" altLang="zh-CN" sz="2000" dirty="0"/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altLang="zh-CN" sz="2000" dirty="0"/>
              <a:t>There are r matching pairs</a:t>
            </a:r>
            <a:r>
              <a:rPr lang="zh-CN" altLang="en-US" sz="2000" dirty="0"/>
              <a:t> </a:t>
            </a:r>
            <a:r>
              <a:rPr lang="en-US" altLang="zh-CN" sz="2000" dirty="0"/>
              <a:t>among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2r</a:t>
            </a:r>
            <a:r>
              <a:rPr lang="zh-CN" altLang="en-US" sz="2000" dirty="0"/>
              <a:t> </a:t>
            </a:r>
            <a:r>
              <a:rPr lang="en-US" altLang="zh-CN" sz="2000" dirty="0"/>
              <a:t>shoes.</a:t>
            </a:r>
          </a:p>
        </p:txBody>
      </p:sp>
      <p:sp>
        <p:nvSpPr>
          <p:cNvPr id="11" name="WordArt 8">
            <a:extLst>
              <a:ext uri="{FF2B5EF4-FFF2-40B4-BE49-F238E27FC236}">
                <a16:creationId xmlns:a16="http://schemas.microsoft.com/office/drawing/2014/main" id="{FEBC93DF-462E-4052-8C6B-3622BEAB7D6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0896" y="1717705"/>
            <a:ext cx="5454984" cy="55547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Supplementary Question:</a:t>
            </a:r>
            <a:endParaRPr lang="zh-CN" altLang="en-US" sz="3600" kern="10" dirty="0">
              <a:ln w="12700">
                <a:solidFill>
                  <a:srgbClr val="FFFF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281241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8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6743" y="2967335"/>
            <a:ext cx="2424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5400" b="1" dirty="0">
                <a:solidFill>
                  <a:prstClr val="whit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Thank</a:t>
            </a:r>
            <a:endParaRPr lang="zh-CN" altLang="en-US" sz="5400" b="1" dirty="0">
              <a:solidFill>
                <a:prstClr val="white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7275" y="2967335"/>
            <a:ext cx="1599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5400" b="1" dirty="0">
                <a:solidFill>
                  <a:srgbClr val="ED6C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You</a:t>
            </a:r>
            <a:endParaRPr lang="zh-CN" altLang="en-US" sz="5400" b="1" dirty="0">
              <a:solidFill>
                <a:srgbClr val="ED6C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795" y="0"/>
            <a:ext cx="2570205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31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27543</TotalTime>
  <Words>3345</Words>
  <Application>Microsoft Office PowerPoint</Application>
  <PresentationFormat>全屏显示(4:3)</PresentationFormat>
  <Paragraphs>516</Paragraphs>
  <Slides>33</Slides>
  <Notes>15</Notes>
  <HiddenSlides>1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63" baseType="lpstr">
      <vt:lpstr>Arial Unicode MS</vt:lpstr>
      <vt:lpstr>Gungsuh</vt:lpstr>
      <vt:lpstr>Helvetica Neue</vt:lpstr>
      <vt:lpstr>Microsoft YaHei UI</vt:lpstr>
      <vt:lpstr>Monotype Sorts</vt:lpstr>
      <vt:lpstr>等线</vt:lpstr>
      <vt:lpstr>等线 Light</vt:lpstr>
      <vt:lpstr>方正舒体</vt:lpstr>
      <vt:lpstr>黑体</vt:lpstr>
      <vt:lpstr>STXinwei</vt:lpstr>
      <vt:lpstr>STXinwei</vt:lpstr>
      <vt:lpstr>楷体_GB2312</vt:lpstr>
      <vt:lpstr>隶书</vt:lpstr>
      <vt:lpstr>宋体</vt:lpstr>
      <vt:lpstr>幼圆</vt:lpstr>
      <vt:lpstr>Arial</vt:lpstr>
      <vt:lpstr>Bahnschrift SemiBold</vt:lpstr>
      <vt:lpstr>Calibri</vt:lpstr>
      <vt:lpstr>Calibri Light</vt:lpstr>
      <vt:lpstr>Cambria Math</vt:lpstr>
      <vt:lpstr>Euclid Math One</vt:lpstr>
      <vt:lpstr>Symbol</vt:lpstr>
      <vt:lpstr>Times New Roman</vt:lpstr>
      <vt:lpstr>Verdana</vt:lpstr>
      <vt:lpstr>Wingdings</vt:lpstr>
      <vt:lpstr>Office 主题​​</vt:lpstr>
      <vt:lpstr>Office 主题</vt:lpstr>
      <vt:lpstr>1_Office 主题​​</vt:lpstr>
      <vt:lpstr>剪辑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MathTech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《概率论与数理统计》课件</dc:title>
  <dc:creator>Lili Yang</dc:creator>
  <cp:lastModifiedBy>Lenovo</cp:lastModifiedBy>
  <cp:revision>1870</cp:revision>
  <cp:lastPrinted>2018-09-12T16:13:55Z</cp:lastPrinted>
  <dcterms:created xsi:type="dcterms:W3CDTF">1999-06-22T01:41:39Z</dcterms:created>
  <dcterms:modified xsi:type="dcterms:W3CDTF">2022-09-14T09:53:38Z</dcterms:modified>
</cp:coreProperties>
</file>