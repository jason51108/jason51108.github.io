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3" r:id="rId2"/>
    <p:sldMasterId id="2147483686" r:id="rId3"/>
  </p:sldMasterIdLst>
  <p:notesMasterIdLst>
    <p:notesMasterId r:id="rId28"/>
  </p:notesMasterIdLst>
  <p:handoutMasterIdLst>
    <p:handoutMasterId r:id="rId29"/>
  </p:handoutMasterIdLst>
  <p:sldIdLst>
    <p:sldId id="494" r:id="rId4"/>
    <p:sldId id="495" r:id="rId5"/>
    <p:sldId id="479" r:id="rId6"/>
    <p:sldId id="461" r:id="rId7"/>
    <p:sldId id="487" r:id="rId8"/>
    <p:sldId id="463" r:id="rId9"/>
    <p:sldId id="478" r:id="rId10"/>
    <p:sldId id="489" r:id="rId11"/>
    <p:sldId id="482" r:id="rId12"/>
    <p:sldId id="464" r:id="rId13"/>
    <p:sldId id="435" r:id="rId14"/>
    <p:sldId id="437" r:id="rId15"/>
    <p:sldId id="465" r:id="rId16"/>
    <p:sldId id="438" r:id="rId17"/>
    <p:sldId id="497" r:id="rId18"/>
    <p:sldId id="458" r:id="rId19"/>
    <p:sldId id="485" r:id="rId20"/>
    <p:sldId id="498" r:id="rId21"/>
    <p:sldId id="500" r:id="rId22"/>
    <p:sldId id="441" r:id="rId23"/>
    <p:sldId id="499" r:id="rId24"/>
    <p:sldId id="450" r:id="rId25"/>
    <p:sldId id="466" r:id="rId26"/>
    <p:sldId id="483" r:id="rId27"/>
  </p:sldIdLst>
  <p:sldSz cx="9144000" cy="6858000" type="screen4x3"/>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27">
          <p15:clr>
            <a:srgbClr val="A4A3A4"/>
          </p15:clr>
        </p15:guide>
        <p15:guide id="4"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FF9933"/>
    <a:srgbClr val="9933FF"/>
    <a:srgbClr val="FF3300"/>
    <a:srgbClr val="FF66FF"/>
    <a:srgbClr val="9900FF"/>
    <a:srgbClr val="FF00FF"/>
    <a:srgbClr val="66CCFF"/>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autoAdjust="0"/>
    <p:restoredTop sz="88381" autoAdjust="0"/>
  </p:normalViewPr>
  <p:slideViewPr>
    <p:cSldViewPr snapToGrid="0" showGuides="1">
      <p:cViewPr varScale="1">
        <p:scale>
          <a:sx n="77" d="100"/>
          <a:sy n="77" d="100"/>
        </p:scale>
        <p:origin x="1670" y="67"/>
      </p:cViewPr>
      <p:guideLst>
        <p:guide orient="horz" pos="4319"/>
        <p:guide pos="5759"/>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1182"/>
    </p:cViewPr>
  </p:sorterViewPr>
  <p:notesViewPr>
    <p:cSldViewPr snapToGrid="0" showGuides="1">
      <p:cViewPr varScale="1">
        <p:scale>
          <a:sx n="63" d="100"/>
          <a:sy n="63" d="100"/>
        </p:scale>
        <p:origin x="-2664" y="-82"/>
      </p:cViewPr>
      <p:guideLst>
        <p:guide orient="horz" pos="2880"/>
        <p:guide pos="2160"/>
        <p:guide orient="horz" pos="3127"/>
        <p:guide pos="2141"/>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wmf"/><Relationship Id="rId11" Type="http://schemas.openxmlformats.org/officeDocument/2006/relationships/image" Target="../media/image35.wmf"/><Relationship Id="rId5" Type="http://schemas.openxmlformats.org/officeDocument/2006/relationships/image" Target="../media/image29.wmf"/><Relationship Id="rId10" Type="http://schemas.openxmlformats.org/officeDocument/2006/relationships/image" Target="../media/image34.wmf"/><Relationship Id="rId4" Type="http://schemas.openxmlformats.org/officeDocument/2006/relationships/image" Target="../media/image28.wmf"/><Relationship Id="rId9"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B1ADF2ED-F8EC-49AE-B829-B4EAAF8F21B1}" type="datetimeFigureOut">
              <a:rPr lang="zh-CN" altLang="en-US" smtClean="0"/>
              <a:t>2022/9/16</a:t>
            </a:fld>
            <a:endParaRPr lang="zh-CN" altLang="en-US"/>
          </a:p>
        </p:txBody>
      </p:sp>
      <p:sp>
        <p:nvSpPr>
          <p:cNvPr id="4" name="页脚占位符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07B78643-D4CB-4E10-8AF8-5A6792F06CB3}" type="slidenum">
              <a:rPr lang="zh-CN" altLang="en-US" smtClean="0"/>
              <a:t>‹#›</a:t>
            </a:fld>
            <a:endParaRPr lang="zh-CN" altLang="en-US"/>
          </a:p>
        </p:txBody>
      </p:sp>
    </p:spTree>
    <p:extLst>
      <p:ext uri="{BB962C8B-B14F-4D97-AF65-F5344CB8AC3E}">
        <p14:creationId xmlns:p14="http://schemas.microsoft.com/office/powerpoint/2010/main" val="5698631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3698" name="Rectangle 2"/>
          <p:cNvSpPr>
            <a:spLocks noGrp="1" noChangeArrowheads="1"/>
          </p:cNvSpPr>
          <p:nvPr>
            <p:ph type="hdr" sz="quarter"/>
          </p:nvPr>
        </p:nvSpPr>
        <p:spPr bwMode="auto">
          <a:xfrm>
            <a:off x="0" y="0"/>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buClrTx/>
              <a:buSzTx/>
              <a:buFontTx/>
              <a:buNone/>
              <a:defRPr sz="1200" b="0">
                <a:ea typeface="宋体" pitchFamily="2" charset="-122"/>
              </a:defRPr>
            </a:lvl1pPr>
          </a:lstStyle>
          <a:p>
            <a:pPr>
              <a:defRPr/>
            </a:pPr>
            <a:endParaRPr lang="en-US" altLang="zh-CN"/>
          </a:p>
        </p:txBody>
      </p:sp>
      <p:sp>
        <p:nvSpPr>
          <p:cNvPr id="413699" name="Rectangle 3"/>
          <p:cNvSpPr>
            <a:spLocks noGrp="1" noChangeArrowheads="1"/>
          </p:cNvSpPr>
          <p:nvPr>
            <p:ph type="dt" idx="1"/>
          </p:nvPr>
        </p:nvSpPr>
        <p:spPr bwMode="auto">
          <a:xfrm>
            <a:off x="3850443" y="0"/>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b="0">
                <a:ea typeface="宋体" pitchFamily="2" charset="-122"/>
              </a:defRPr>
            </a:lvl1pPr>
          </a:lstStyle>
          <a:p>
            <a:pPr>
              <a:defRPr/>
            </a:pPr>
            <a:endParaRPr lang="en-US" altLang="zh-CN"/>
          </a:p>
        </p:txBody>
      </p:sp>
      <p:sp>
        <p:nvSpPr>
          <p:cNvPr id="21508"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3701" name="Rectangle 5"/>
          <p:cNvSpPr>
            <a:spLocks noGrp="1" noChangeArrowheads="1"/>
          </p:cNvSpPr>
          <p:nvPr>
            <p:ph type="body" sz="quarter" idx="3"/>
          </p:nvPr>
        </p:nvSpPr>
        <p:spPr bwMode="auto">
          <a:xfrm>
            <a:off x="679768" y="4715153"/>
            <a:ext cx="5438140" cy="44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3702" name="Rectangle 6"/>
          <p:cNvSpPr>
            <a:spLocks noGrp="1" noChangeArrowheads="1"/>
          </p:cNvSpPr>
          <p:nvPr>
            <p:ph type="ftr" sz="quarter" idx="4"/>
          </p:nvPr>
        </p:nvSpPr>
        <p:spPr bwMode="auto">
          <a:xfrm>
            <a:off x="0" y="9428583"/>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spcBef>
                <a:spcPct val="0"/>
              </a:spcBef>
              <a:buClrTx/>
              <a:buSzTx/>
              <a:buFontTx/>
              <a:buNone/>
              <a:defRPr sz="1200" b="0">
                <a:ea typeface="宋体" pitchFamily="2" charset="-122"/>
              </a:defRPr>
            </a:lvl1pPr>
          </a:lstStyle>
          <a:p>
            <a:pPr>
              <a:defRPr/>
            </a:pPr>
            <a:endParaRPr lang="en-US" altLang="zh-CN"/>
          </a:p>
        </p:txBody>
      </p:sp>
      <p:sp>
        <p:nvSpPr>
          <p:cNvPr id="413703" name="Rectangle 7"/>
          <p:cNvSpPr>
            <a:spLocks noGrp="1" noChangeArrowheads="1"/>
          </p:cNvSpPr>
          <p:nvPr>
            <p:ph type="sldNum" sz="quarter" idx="5"/>
          </p:nvPr>
        </p:nvSpPr>
        <p:spPr bwMode="auto">
          <a:xfrm>
            <a:off x="3850443" y="9428583"/>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b="0">
                <a:ea typeface="宋体" pitchFamily="2" charset="-122"/>
              </a:defRPr>
            </a:lvl1pPr>
          </a:lstStyle>
          <a:p>
            <a:pPr>
              <a:defRPr/>
            </a:pPr>
            <a:fld id="{980DE6FE-67A7-41E1-BACC-7E2107E1C71D}" type="slidenum">
              <a:rPr lang="en-US" altLang="zh-CN"/>
              <a:pPr>
                <a:defRPr/>
              </a:pPr>
              <a:t>‹#›</a:t>
            </a:fld>
            <a:endParaRPr lang="en-US" altLang="zh-CN"/>
          </a:p>
        </p:txBody>
      </p:sp>
    </p:spTree>
    <p:extLst>
      <p:ext uri="{BB962C8B-B14F-4D97-AF65-F5344CB8AC3E}">
        <p14:creationId xmlns:p14="http://schemas.microsoft.com/office/powerpoint/2010/main" val="28791605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Last week, we discussed</a:t>
            </a:r>
            <a:r>
              <a:rPr lang="en-US" altLang="zh-CN" baseline="0" dirty="0"/>
              <a:t> Random test, Sample space. Then it led to the important terminology Event. Regarding the Event, we learnt </a:t>
            </a:r>
            <a:r>
              <a:rPr kumimoji="1" lang="en-US" altLang="zh-CN" sz="1200" b="0" i="0" u="none" strike="noStrike" kern="1200" baseline="0" dirty="0">
                <a:solidFill>
                  <a:schemeClr val="tx1"/>
                </a:solidFill>
                <a:latin typeface="Times New Roman" pitchFamily="18" charset="0"/>
                <a:ea typeface="宋体" pitchFamily="2" charset="-122"/>
                <a:cs typeface="+mn-cs"/>
              </a:rPr>
              <a:t>Relationship between events and how all the vent could be operated in a sample space.</a:t>
            </a:r>
          </a:p>
          <a:p>
            <a:endParaRPr kumimoji="1" lang="en-US" altLang="zh-CN" sz="1200" b="0" i="0" u="none" strike="noStrike" kern="1200" baseline="0" dirty="0">
              <a:solidFill>
                <a:schemeClr val="tx1"/>
              </a:solidFill>
              <a:latin typeface="Times New Roman" pitchFamily="18" charset="0"/>
              <a:ea typeface="宋体" pitchFamily="2" charset="-122"/>
              <a:cs typeface="+mn-cs"/>
            </a:endParaRPr>
          </a:p>
          <a:p>
            <a:r>
              <a:rPr kumimoji="1" lang="en-US" altLang="zh-CN" sz="1200" b="0" i="0" u="none" strike="noStrike" kern="1200" baseline="0" dirty="0">
                <a:solidFill>
                  <a:schemeClr val="tx1"/>
                </a:solidFill>
                <a:latin typeface="Times New Roman" pitchFamily="18" charset="0"/>
                <a:ea typeface="宋体" pitchFamily="2" charset="-122"/>
                <a:cs typeface="+mn-cs"/>
              </a:rPr>
              <a:t>Today we are going to learn Probability measure ………</a:t>
            </a:r>
            <a:endParaRPr lang="zh-CN" altLang="en-US" b="0" dirty="0"/>
          </a:p>
        </p:txBody>
      </p:sp>
      <p:sp>
        <p:nvSpPr>
          <p:cNvPr id="4" name="灯片编号占位符 3"/>
          <p:cNvSpPr>
            <a:spLocks noGrp="1"/>
          </p:cNvSpPr>
          <p:nvPr>
            <p:ph type="sldNum" sz="quarter" idx="10"/>
          </p:nvPr>
        </p:nvSpPr>
        <p:spPr/>
        <p:txBody>
          <a:bodyPr/>
          <a:lstStyle/>
          <a:p>
            <a:pPr>
              <a:defRPr/>
            </a:pPr>
            <a:fld id="{101978BE-959E-4CE6-BA40-6738072B6363}" type="slidenum">
              <a:rPr lang="en-US" altLang="zh-CN" smtClean="0"/>
              <a:pPr>
                <a:defRPr/>
              </a:pPr>
              <a:t>1</a:t>
            </a:fld>
            <a:endParaRPr lang="en-US" altLang="zh-CN"/>
          </a:p>
        </p:txBody>
      </p:sp>
    </p:spTree>
    <p:extLst>
      <p:ext uri="{BB962C8B-B14F-4D97-AF65-F5344CB8AC3E}">
        <p14:creationId xmlns:p14="http://schemas.microsoft.com/office/powerpoint/2010/main" val="255677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Last week, we discussed</a:t>
            </a:r>
            <a:r>
              <a:rPr lang="en-US" altLang="zh-CN" baseline="0" dirty="0"/>
              <a:t> Random test, Sample space. Then it led to the important terminology Event. Regarding the Event, we learnt </a:t>
            </a:r>
            <a:r>
              <a:rPr kumimoji="1" lang="en-US" altLang="zh-CN" sz="1200" b="0" i="0" u="none" strike="noStrike" kern="1200" baseline="0" dirty="0">
                <a:solidFill>
                  <a:schemeClr val="tx1"/>
                </a:solidFill>
                <a:latin typeface="Times New Roman" pitchFamily="18" charset="0"/>
                <a:ea typeface="宋体" pitchFamily="2" charset="-122"/>
                <a:cs typeface="+mn-cs"/>
              </a:rPr>
              <a:t>Relationship between events and how all the vent could be operated in a sample space.</a:t>
            </a:r>
          </a:p>
          <a:p>
            <a:endParaRPr kumimoji="1" lang="en-US" altLang="zh-CN" sz="1200" b="0" i="0" u="none" strike="noStrike" kern="1200" baseline="0" dirty="0">
              <a:solidFill>
                <a:schemeClr val="tx1"/>
              </a:solidFill>
              <a:latin typeface="Times New Roman" pitchFamily="18" charset="0"/>
              <a:ea typeface="宋体" pitchFamily="2" charset="-122"/>
              <a:cs typeface="+mn-cs"/>
            </a:endParaRPr>
          </a:p>
          <a:p>
            <a:r>
              <a:rPr kumimoji="1" lang="en-US" altLang="zh-CN" sz="1200" b="0" i="0" u="none" strike="noStrike" kern="1200" baseline="0" dirty="0">
                <a:solidFill>
                  <a:schemeClr val="tx1"/>
                </a:solidFill>
                <a:latin typeface="Times New Roman" pitchFamily="18" charset="0"/>
                <a:ea typeface="宋体" pitchFamily="2" charset="-122"/>
                <a:cs typeface="+mn-cs"/>
              </a:rPr>
              <a:t>Today we are going to learn Probability measure ………</a:t>
            </a:r>
            <a:endParaRPr lang="zh-CN" altLang="en-US" b="0" dirty="0"/>
          </a:p>
        </p:txBody>
      </p:sp>
      <p:sp>
        <p:nvSpPr>
          <p:cNvPr id="4" name="灯片编号占位符 3"/>
          <p:cNvSpPr>
            <a:spLocks noGrp="1"/>
          </p:cNvSpPr>
          <p:nvPr>
            <p:ph type="sldNum" sz="quarter" idx="10"/>
          </p:nvPr>
        </p:nvSpPr>
        <p:spPr/>
        <p:txBody>
          <a:bodyPr/>
          <a:lstStyle/>
          <a:p>
            <a:pPr>
              <a:defRPr/>
            </a:pPr>
            <a:fld id="{101978BE-959E-4CE6-BA40-6738072B6363}" type="slidenum">
              <a:rPr lang="en-US" altLang="zh-CN" smtClean="0"/>
              <a:pPr>
                <a:defRPr/>
              </a:pPr>
              <a:t>2</a:t>
            </a:fld>
            <a:endParaRPr lang="en-US" altLang="zh-CN"/>
          </a:p>
        </p:txBody>
      </p:sp>
    </p:spTree>
    <p:extLst>
      <p:ext uri="{BB962C8B-B14F-4D97-AF65-F5344CB8AC3E}">
        <p14:creationId xmlns:p14="http://schemas.microsoft.com/office/powerpoint/2010/main" val="2556770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kumimoji="1" sz="2800" b="1">
                <a:solidFill>
                  <a:schemeClr val="tx1"/>
                </a:solidFill>
                <a:latin typeface="Times New Roman" pitchFamily="18" charset="0"/>
                <a:ea typeface="楷体_GB2312" pitchFamily="49" charset="-122"/>
              </a:defRPr>
            </a:lvl1pPr>
            <a:lvl2pPr marL="742950" indent="-285750">
              <a:defRPr kumimoji="1" sz="2800" b="1">
                <a:solidFill>
                  <a:schemeClr val="tx1"/>
                </a:solidFill>
                <a:latin typeface="Times New Roman" pitchFamily="18" charset="0"/>
                <a:ea typeface="楷体_GB2312" pitchFamily="49" charset="-122"/>
              </a:defRPr>
            </a:lvl2pPr>
            <a:lvl3pPr marL="1143000" indent="-228600">
              <a:defRPr kumimoji="1" sz="2800" b="1">
                <a:solidFill>
                  <a:schemeClr val="tx1"/>
                </a:solidFill>
                <a:latin typeface="Times New Roman" pitchFamily="18" charset="0"/>
                <a:ea typeface="楷体_GB2312" pitchFamily="49" charset="-122"/>
              </a:defRPr>
            </a:lvl3pPr>
            <a:lvl4pPr marL="1600200" indent="-228600">
              <a:defRPr kumimoji="1" sz="2800" b="1">
                <a:solidFill>
                  <a:schemeClr val="tx1"/>
                </a:solidFill>
                <a:latin typeface="Times New Roman" pitchFamily="18" charset="0"/>
                <a:ea typeface="楷体_GB2312" pitchFamily="49" charset="-122"/>
              </a:defRPr>
            </a:lvl4pPr>
            <a:lvl5pPr marL="2057400" indent="-228600">
              <a:defRPr kumimoji="1" sz="2800" b="1">
                <a:solidFill>
                  <a:schemeClr val="tx1"/>
                </a:solidFill>
                <a:latin typeface="Times New Roman" pitchFamily="18" charset="0"/>
                <a:ea typeface="楷体_GB2312" pitchFamily="49" charset="-122"/>
              </a:defRPr>
            </a:lvl5pPr>
            <a:lvl6pPr marL="25146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6pPr>
            <a:lvl7pPr marL="29718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7pPr>
            <a:lvl8pPr marL="34290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8pPr>
            <a:lvl9pPr marL="38862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9pPr>
          </a:lstStyle>
          <a:p>
            <a:fld id="{C4F8A56A-1C3D-47A3-A50D-60299ACA7B0F}" type="slidenum">
              <a:rPr lang="en-US" altLang="zh-CN" sz="1200" b="0" smtClean="0">
                <a:ea typeface="宋体" pitchFamily="2" charset="-122"/>
              </a:rPr>
              <a:pPr/>
              <a:t>3</a:t>
            </a:fld>
            <a:endParaRPr lang="en-US" altLang="zh-CN" sz="1200" b="0">
              <a:ea typeface="宋体" pitchFamily="2" charset="-122"/>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281359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t>
            </a:r>
            <a:r>
              <a:rPr lang="zh-CN" altLang="en-US" dirty="0"/>
              <a:t> </a:t>
            </a:r>
            <a:r>
              <a:rPr lang="en-US" altLang="zh-CN" dirty="0"/>
              <a:t>B</a:t>
            </a:r>
            <a:r>
              <a:rPr lang="zh-CN" altLang="en-US" dirty="0"/>
              <a:t>发生带来的信息对</a:t>
            </a:r>
            <a:r>
              <a:rPr lang="en-US" altLang="zh-CN" dirty="0"/>
              <a:t>A</a:t>
            </a:r>
            <a:r>
              <a:rPr lang="zh-CN" altLang="en-US" dirty="0"/>
              <a:t>的推断的新认识。</a:t>
            </a:r>
            <a:endParaRPr lang="x-none" dirty="0"/>
          </a:p>
        </p:txBody>
      </p:sp>
      <p:sp>
        <p:nvSpPr>
          <p:cNvPr id="4" name="Slide Number Placeholder 3"/>
          <p:cNvSpPr>
            <a:spLocks noGrp="1"/>
          </p:cNvSpPr>
          <p:nvPr>
            <p:ph type="sldNum" sz="quarter" idx="5"/>
          </p:nvPr>
        </p:nvSpPr>
        <p:spPr/>
        <p:txBody>
          <a:bodyPr/>
          <a:lstStyle/>
          <a:p>
            <a:pPr>
              <a:defRPr/>
            </a:pPr>
            <a:fld id="{980DE6FE-67A7-41E1-BACC-7E2107E1C71D}" type="slidenum">
              <a:rPr lang="en-US" altLang="zh-CN" smtClean="0"/>
              <a:pPr>
                <a:defRPr/>
              </a:pPr>
              <a:t>4</a:t>
            </a:fld>
            <a:endParaRPr lang="en-US" altLang="zh-CN"/>
          </a:p>
        </p:txBody>
      </p:sp>
    </p:spTree>
    <p:extLst>
      <p:ext uri="{BB962C8B-B14F-4D97-AF65-F5344CB8AC3E}">
        <p14:creationId xmlns:p14="http://schemas.microsoft.com/office/powerpoint/2010/main" val="3229864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kumimoji="1" sz="2800" b="1">
                <a:solidFill>
                  <a:schemeClr val="tx1"/>
                </a:solidFill>
                <a:latin typeface="Times New Roman" pitchFamily="18" charset="0"/>
                <a:ea typeface="楷体_GB2312" pitchFamily="49" charset="-122"/>
              </a:defRPr>
            </a:lvl1pPr>
            <a:lvl2pPr marL="742950" indent="-285750">
              <a:defRPr kumimoji="1" sz="2800" b="1">
                <a:solidFill>
                  <a:schemeClr val="tx1"/>
                </a:solidFill>
                <a:latin typeface="Times New Roman" pitchFamily="18" charset="0"/>
                <a:ea typeface="楷体_GB2312" pitchFamily="49" charset="-122"/>
              </a:defRPr>
            </a:lvl2pPr>
            <a:lvl3pPr marL="1143000" indent="-228600">
              <a:defRPr kumimoji="1" sz="2800" b="1">
                <a:solidFill>
                  <a:schemeClr val="tx1"/>
                </a:solidFill>
                <a:latin typeface="Times New Roman" pitchFamily="18" charset="0"/>
                <a:ea typeface="楷体_GB2312" pitchFamily="49" charset="-122"/>
              </a:defRPr>
            </a:lvl3pPr>
            <a:lvl4pPr marL="1600200" indent="-228600">
              <a:defRPr kumimoji="1" sz="2800" b="1">
                <a:solidFill>
                  <a:schemeClr val="tx1"/>
                </a:solidFill>
                <a:latin typeface="Times New Roman" pitchFamily="18" charset="0"/>
                <a:ea typeface="楷体_GB2312" pitchFamily="49" charset="-122"/>
              </a:defRPr>
            </a:lvl4pPr>
            <a:lvl5pPr marL="2057400" indent="-228600">
              <a:defRPr kumimoji="1" sz="2800" b="1">
                <a:solidFill>
                  <a:schemeClr val="tx1"/>
                </a:solidFill>
                <a:latin typeface="Times New Roman" pitchFamily="18" charset="0"/>
                <a:ea typeface="楷体_GB2312" pitchFamily="49" charset="-122"/>
              </a:defRPr>
            </a:lvl5pPr>
            <a:lvl6pPr marL="25146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6pPr>
            <a:lvl7pPr marL="29718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7pPr>
            <a:lvl8pPr marL="34290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8pPr>
            <a:lvl9pPr marL="38862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9pPr>
          </a:lstStyle>
          <a:p>
            <a:fld id="{C4F8A56A-1C3D-47A3-A50D-60299ACA7B0F}" type="slidenum">
              <a:rPr lang="en-US" altLang="zh-CN" sz="1200" b="0" smtClean="0">
                <a:ea typeface="宋体" pitchFamily="2" charset="-122"/>
              </a:rPr>
              <a:pPr/>
              <a:t>5</a:t>
            </a:fld>
            <a:endParaRPr lang="en-US" altLang="zh-CN" sz="1200" b="0">
              <a:ea typeface="宋体" pitchFamily="2" charset="-122"/>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281359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kumimoji="1" sz="2800" b="1">
                <a:solidFill>
                  <a:schemeClr val="tx1"/>
                </a:solidFill>
                <a:latin typeface="Times New Roman" pitchFamily="18" charset="0"/>
                <a:ea typeface="楷体_GB2312" pitchFamily="49" charset="-122"/>
              </a:defRPr>
            </a:lvl1pPr>
            <a:lvl2pPr marL="742950" indent="-285750">
              <a:defRPr kumimoji="1" sz="2800" b="1">
                <a:solidFill>
                  <a:schemeClr val="tx1"/>
                </a:solidFill>
                <a:latin typeface="Times New Roman" pitchFamily="18" charset="0"/>
                <a:ea typeface="楷体_GB2312" pitchFamily="49" charset="-122"/>
              </a:defRPr>
            </a:lvl2pPr>
            <a:lvl3pPr marL="1143000" indent="-228600">
              <a:defRPr kumimoji="1" sz="2800" b="1">
                <a:solidFill>
                  <a:schemeClr val="tx1"/>
                </a:solidFill>
                <a:latin typeface="Times New Roman" pitchFamily="18" charset="0"/>
                <a:ea typeface="楷体_GB2312" pitchFamily="49" charset="-122"/>
              </a:defRPr>
            </a:lvl3pPr>
            <a:lvl4pPr marL="1600200" indent="-228600">
              <a:defRPr kumimoji="1" sz="2800" b="1">
                <a:solidFill>
                  <a:schemeClr val="tx1"/>
                </a:solidFill>
                <a:latin typeface="Times New Roman" pitchFamily="18" charset="0"/>
                <a:ea typeface="楷体_GB2312" pitchFamily="49" charset="-122"/>
              </a:defRPr>
            </a:lvl4pPr>
            <a:lvl5pPr marL="2057400" indent="-228600">
              <a:defRPr kumimoji="1" sz="2800" b="1">
                <a:solidFill>
                  <a:schemeClr val="tx1"/>
                </a:solidFill>
                <a:latin typeface="Times New Roman" pitchFamily="18" charset="0"/>
                <a:ea typeface="楷体_GB2312" pitchFamily="49" charset="-122"/>
              </a:defRPr>
            </a:lvl5pPr>
            <a:lvl6pPr marL="25146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6pPr>
            <a:lvl7pPr marL="29718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7pPr>
            <a:lvl8pPr marL="34290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8pPr>
            <a:lvl9pPr marL="3886200" indent="-228600" algn="ctr" eaLnBrk="0" fontAlgn="base" hangingPunct="0">
              <a:spcBef>
                <a:spcPct val="20000"/>
              </a:spcBef>
              <a:spcAft>
                <a:spcPct val="0"/>
              </a:spcAft>
              <a:buClr>
                <a:schemeClr val="tx2"/>
              </a:buClr>
              <a:buSzPct val="75000"/>
              <a:buFont typeface="Monotype Sorts" pitchFamily="2" charset="2"/>
              <a:defRPr kumimoji="1" sz="2800" b="1">
                <a:solidFill>
                  <a:schemeClr val="tx1"/>
                </a:solidFill>
                <a:latin typeface="Times New Roman" pitchFamily="18" charset="0"/>
                <a:ea typeface="楷体_GB2312" pitchFamily="49" charset="-122"/>
              </a:defRPr>
            </a:lvl9pPr>
          </a:lstStyle>
          <a:p>
            <a:fld id="{AF037ADD-3638-477E-A3B7-BC7C2E82A0C7}" type="slidenum">
              <a:rPr lang="en-US" altLang="zh-CN" sz="1200" b="0" smtClean="0">
                <a:ea typeface="宋体" pitchFamily="2" charset="-122"/>
              </a:rPr>
              <a:pPr/>
              <a:t>6</a:t>
            </a:fld>
            <a:endParaRPr lang="en-US" altLang="zh-CN" sz="1200" b="0">
              <a:ea typeface="宋体" pitchFamily="2" charset="-122"/>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lnSpc>
                <a:spcPct val="85000"/>
              </a:lnSpc>
              <a:spcBef>
                <a:spcPct val="0"/>
              </a:spcBef>
            </a:pPr>
            <a:r>
              <a:rPr lang="en-US" altLang="zh-CN"/>
              <a:t/>
            </a:r>
            <a:br>
              <a:rPr lang="en-US" altLang="zh-CN"/>
            </a:br>
            <a:endParaRPr lang="en-US" altLang="zh-CN"/>
          </a:p>
        </p:txBody>
      </p:sp>
    </p:spTree>
    <p:extLst>
      <p:ext uri="{BB962C8B-B14F-4D97-AF65-F5344CB8AC3E}">
        <p14:creationId xmlns:p14="http://schemas.microsoft.com/office/powerpoint/2010/main" val="3800605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P</a:t>
                </a:r>
                <a:r>
                  <a:rPr lang="zh-CN" altLang="en-US" dirty="0"/>
                  <a:t>（</a:t>
                </a:r>
                <a:r>
                  <a:rPr lang="en-US" altLang="zh-CN" dirty="0"/>
                  <a:t>A2|</a:t>
                </a:r>
                <a14:m>
                  <m:oMath xmlns:m="http://schemas.openxmlformats.org/officeDocument/2006/math">
                    <m:r>
                      <a:rPr lang="en-US" altLang="zh-CN" i="1" strike="sngStrike" dirty="0" smtClean="0">
                        <a:latin typeface="Cambria Math" panose="02040503050406030204" pitchFamily="18" charset="0"/>
                      </a:rPr>
                      <m:t>𝐴</m:t>
                    </m:r>
                    <m:r>
                      <a:rPr lang="en-US" altLang="zh-CN" i="1" strike="sngStrike" dirty="0" smtClean="0">
                        <a:latin typeface="Cambria Math" panose="02040503050406030204" pitchFamily="18" charset="0"/>
                      </a:rPr>
                      <m:t>1</m:t>
                    </m:r>
                  </m:oMath>
                </a14:m>
                <a:r>
                  <a:rPr lang="en-US" altLang="zh-CN" strike="noStrike" dirty="0"/>
                  <a:t>) = 3/7</a:t>
                </a:r>
                <a:endParaRPr lang="zh-CN" altLang="en-US" strike="noStrike" dirty="0"/>
              </a:p>
            </p:txBody>
          </p:sp>
        </mc:Choice>
        <mc:Fallback xmlns="">
          <p:sp>
            <p:nvSpPr>
              <p:cNvPr id="3" name="备注占位符 2"/>
              <p:cNvSpPr>
                <a:spLocks noGrp="1"/>
              </p:cNvSpPr>
              <p:nvPr>
                <p:ph type="body" idx="1"/>
              </p:nvPr>
            </p:nvSpPr>
            <p:spPr/>
            <p:txBody>
              <a:bodyPr/>
              <a:lstStyle/>
              <a:p>
                <a:r>
                  <a:rPr lang="en-US" altLang="zh-CN" dirty="0"/>
                  <a:t>P</a:t>
                </a:r>
                <a:r>
                  <a:rPr lang="zh-CN" altLang="en-US" dirty="0"/>
                  <a:t>（</a:t>
                </a:r>
                <a:r>
                  <a:rPr lang="en-US" altLang="zh-CN" dirty="0"/>
                  <a:t>A2|</a:t>
                </a:r>
                <a:r>
                  <a:rPr lang="en-US" altLang="zh-CN" i="0" strike="sngStrike" dirty="0">
                    <a:latin typeface="Cambria Math" panose="02040503050406030204" pitchFamily="18" charset="0"/>
                  </a:rPr>
                  <a:t>𝐴1</a:t>
                </a:r>
                <a:r>
                  <a:rPr lang="en-US" altLang="zh-CN" strike="noStrike" dirty="0"/>
                  <a:t>) = 3/7</a:t>
                </a:r>
                <a:endParaRPr lang="zh-CN" altLang="en-US" strike="noStrike" dirty="0"/>
              </a:p>
            </p:txBody>
          </p:sp>
        </mc:Fallback>
      </mc:AlternateContent>
      <p:sp>
        <p:nvSpPr>
          <p:cNvPr id="4" name="灯片编号占位符 3"/>
          <p:cNvSpPr>
            <a:spLocks noGrp="1"/>
          </p:cNvSpPr>
          <p:nvPr>
            <p:ph type="sldNum" sz="quarter" idx="5"/>
          </p:nvPr>
        </p:nvSpPr>
        <p:spPr/>
        <p:txBody>
          <a:bodyPr/>
          <a:lstStyle/>
          <a:p>
            <a:pPr>
              <a:defRPr/>
            </a:pPr>
            <a:fld id="{980DE6FE-67A7-41E1-BACC-7E2107E1C71D}" type="slidenum">
              <a:rPr lang="en-US" altLang="zh-CN" smtClean="0"/>
              <a:pPr>
                <a:defRPr/>
              </a:pPr>
              <a:t>9</a:t>
            </a:fld>
            <a:endParaRPr lang="en-US" altLang="zh-CN"/>
          </a:p>
        </p:txBody>
      </p:sp>
    </p:spTree>
    <p:extLst>
      <p:ext uri="{BB962C8B-B14F-4D97-AF65-F5344CB8AC3E}">
        <p14:creationId xmlns:p14="http://schemas.microsoft.com/office/powerpoint/2010/main" val="18190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t>
            </a:r>
            <a:r>
              <a:rPr lang="zh-CN" altLang="en-US" dirty="0"/>
              <a:t> </a:t>
            </a:r>
            <a:r>
              <a:rPr lang="en-US" altLang="zh-CN" dirty="0"/>
              <a:t>The</a:t>
            </a:r>
            <a:r>
              <a:rPr lang="zh-CN" altLang="en-US" dirty="0"/>
              <a:t> </a:t>
            </a:r>
            <a:r>
              <a:rPr lang="en-US" altLang="zh-CN" dirty="0"/>
              <a:t>denominator</a:t>
            </a:r>
            <a:r>
              <a:rPr lang="zh-CN" altLang="en-US" dirty="0"/>
              <a:t> </a:t>
            </a:r>
            <a:r>
              <a:rPr lang="en-US" altLang="zh-CN" dirty="0"/>
              <a:t>is</a:t>
            </a:r>
            <a:r>
              <a:rPr lang="zh-CN" altLang="en-US" dirty="0"/>
              <a:t> </a:t>
            </a:r>
            <a:r>
              <a:rPr lang="en-US" altLang="zh-CN" dirty="0"/>
              <a:t>just</a:t>
            </a:r>
            <a:r>
              <a:rPr lang="zh-CN" altLang="en-US" dirty="0"/>
              <a:t> </a:t>
            </a:r>
            <a:r>
              <a:rPr lang="en-US" altLang="zh-CN" dirty="0"/>
              <a:t>P(A)</a:t>
            </a:r>
            <a:endParaRPr lang="en-US" dirty="0"/>
          </a:p>
        </p:txBody>
      </p:sp>
      <p:sp>
        <p:nvSpPr>
          <p:cNvPr id="4" name="Slide Number Placeholder 3"/>
          <p:cNvSpPr>
            <a:spLocks noGrp="1"/>
          </p:cNvSpPr>
          <p:nvPr>
            <p:ph type="sldNum" sz="quarter" idx="5"/>
          </p:nvPr>
        </p:nvSpPr>
        <p:spPr/>
        <p:txBody>
          <a:bodyPr/>
          <a:lstStyle/>
          <a:p>
            <a:pPr>
              <a:defRPr/>
            </a:pPr>
            <a:fld id="{980DE6FE-67A7-41E1-BACC-7E2107E1C71D}" type="slidenum">
              <a:rPr lang="en-US" altLang="zh-CN" smtClean="0"/>
              <a:pPr>
                <a:defRPr/>
              </a:pPr>
              <a:t>16</a:t>
            </a:fld>
            <a:endParaRPr lang="en-US" altLang="zh-CN"/>
          </a:p>
        </p:txBody>
      </p:sp>
    </p:spTree>
    <p:extLst>
      <p:ext uri="{BB962C8B-B14F-4D97-AF65-F5344CB8AC3E}">
        <p14:creationId xmlns:p14="http://schemas.microsoft.com/office/powerpoint/2010/main" val="3418736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t>
            </a:r>
            <a:r>
              <a:rPr lang="zh-CN" altLang="en-US" dirty="0"/>
              <a:t> </a:t>
            </a:r>
            <a:r>
              <a:rPr lang="en-US" altLang="zh-CN" dirty="0"/>
              <a:t>This</a:t>
            </a:r>
            <a:r>
              <a:rPr lang="zh-CN" altLang="en-US" dirty="0"/>
              <a:t> </a:t>
            </a:r>
            <a:r>
              <a:rPr lang="en-US" altLang="zh-CN" dirty="0"/>
              <a:t>is</a:t>
            </a:r>
            <a:r>
              <a:rPr lang="zh-CN" altLang="en-US" dirty="0"/>
              <a:t> </a:t>
            </a:r>
            <a:r>
              <a:rPr lang="en-US" altLang="zh-CN" dirty="0"/>
              <a:t>because</a:t>
            </a:r>
            <a:r>
              <a:rPr lang="zh-CN" altLang="en-US" dirty="0"/>
              <a:t> </a:t>
            </a:r>
            <a:r>
              <a:rPr lang="en-US" altLang="zh-CN" dirty="0"/>
              <a:t>having</a:t>
            </a:r>
            <a:r>
              <a:rPr lang="zh-CN" altLang="en-US" dirty="0"/>
              <a:t> </a:t>
            </a:r>
            <a:r>
              <a:rPr lang="en-US" altLang="zh-CN" dirty="0"/>
              <a:t>cancer</a:t>
            </a:r>
            <a:r>
              <a:rPr lang="zh-CN" altLang="en-US" dirty="0"/>
              <a:t> </a:t>
            </a:r>
            <a:r>
              <a:rPr lang="en-US" altLang="zh-CN" dirty="0"/>
              <a:t>is</a:t>
            </a:r>
            <a:r>
              <a:rPr lang="zh-CN" altLang="en-US" dirty="0"/>
              <a:t> </a:t>
            </a:r>
            <a:r>
              <a:rPr lang="en-US" altLang="zh-CN" dirty="0"/>
              <a:t>a</a:t>
            </a:r>
            <a:r>
              <a:rPr lang="zh-CN" altLang="en-US" dirty="0"/>
              <a:t> </a:t>
            </a:r>
            <a:r>
              <a:rPr lang="en-US" altLang="zh-CN" dirty="0"/>
              <a:t>rare</a:t>
            </a:r>
            <a:r>
              <a:rPr lang="zh-CN" altLang="en-US" dirty="0"/>
              <a:t> </a:t>
            </a:r>
            <a:r>
              <a:rPr lang="en-US" altLang="zh-CN" dirty="0"/>
              <a:t>event</a:t>
            </a:r>
            <a:r>
              <a:rPr lang="zh-CN" altLang="en-US" dirty="0"/>
              <a:t> </a:t>
            </a:r>
            <a:r>
              <a:rPr lang="en-US" altLang="zh-CN" dirty="0"/>
              <a:t>(with</a:t>
            </a:r>
            <a:r>
              <a:rPr lang="zh-CN" altLang="en-US" dirty="0"/>
              <a:t> </a:t>
            </a:r>
            <a:r>
              <a:rPr lang="en-US" altLang="zh-CN" dirty="0"/>
              <a:t>probability</a:t>
            </a:r>
            <a:r>
              <a:rPr lang="zh-CN" altLang="en-US" dirty="0"/>
              <a:t> </a:t>
            </a:r>
            <a:r>
              <a:rPr lang="en-US" altLang="zh-CN" dirty="0"/>
              <a:t>0.0004).</a:t>
            </a:r>
            <a:r>
              <a:rPr lang="zh-CN" altLang="en-US" dirty="0"/>
              <a:t> </a:t>
            </a:r>
            <a:r>
              <a:rPr lang="en-US" altLang="zh-CN" dirty="0"/>
              <a:t>The</a:t>
            </a:r>
            <a:r>
              <a:rPr lang="zh-CN" altLang="en-US" dirty="0"/>
              <a:t> </a:t>
            </a:r>
            <a:r>
              <a:rPr lang="en-US" altLang="zh-CN" dirty="0"/>
              <a:t>probability</a:t>
            </a:r>
            <a:r>
              <a:rPr lang="zh-CN" altLang="en-US" dirty="0"/>
              <a:t> </a:t>
            </a:r>
            <a:r>
              <a:rPr lang="en-US" altLang="zh-CN" dirty="0"/>
              <a:t>in</a:t>
            </a:r>
            <a:r>
              <a:rPr lang="zh-CN" altLang="en-US" dirty="0"/>
              <a:t> </a:t>
            </a:r>
            <a:r>
              <a:rPr lang="en-US" altLang="zh-CN" dirty="0"/>
              <a:t>reality</a:t>
            </a:r>
            <a:r>
              <a:rPr lang="zh-CN" altLang="en-US" dirty="0"/>
              <a:t> </a:t>
            </a:r>
            <a:r>
              <a:rPr lang="en-US" altLang="zh-CN" dirty="0"/>
              <a:t>is</a:t>
            </a:r>
            <a:r>
              <a:rPr lang="zh-CN" altLang="en-US" dirty="0"/>
              <a:t> </a:t>
            </a:r>
            <a:r>
              <a:rPr lang="en-US" altLang="zh-CN" dirty="0"/>
              <a:t>not</a:t>
            </a:r>
            <a:r>
              <a:rPr lang="zh-CN" altLang="en-US" dirty="0"/>
              <a:t> </a:t>
            </a:r>
            <a:r>
              <a:rPr lang="en-US" altLang="zh-CN" dirty="0"/>
              <a:t>that</a:t>
            </a:r>
            <a:r>
              <a:rPr lang="zh-CN" altLang="en-US" dirty="0"/>
              <a:t> </a:t>
            </a:r>
            <a:r>
              <a:rPr lang="en-US" altLang="zh-CN"/>
              <a:t>low.</a:t>
            </a:r>
            <a:endParaRPr lang="en-US" dirty="0"/>
          </a:p>
        </p:txBody>
      </p:sp>
      <p:sp>
        <p:nvSpPr>
          <p:cNvPr id="4" name="Slide Number Placeholder 3"/>
          <p:cNvSpPr>
            <a:spLocks noGrp="1"/>
          </p:cNvSpPr>
          <p:nvPr>
            <p:ph type="sldNum" sz="quarter" idx="5"/>
          </p:nvPr>
        </p:nvSpPr>
        <p:spPr/>
        <p:txBody>
          <a:bodyPr/>
          <a:lstStyle/>
          <a:p>
            <a:pPr>
              <a:defRPr/>
            </a:pPr>
            <a:fld id="{980DE6FE-67A7-41E1-BACC-7E2107E1C71D}" type="slidenum">
              <a:rPr lang="en-US" altLang="zh-CN" smtClean="0"/>
              <a:pPr>
                <a:defRPr/>
              </a:pPr>
              <a:t>22</a:t>
            </a:fld>
            <a:endParaRPr lang="en-US" altLang="zh-CN"/>
          </a:p>
        </p:txBody>
      </p:sp>
    </p:spTree>
    <p:extLst>
      <p:ext uri="{BB962C8B-B14F-4D97-AF65-F5344CB8AC3E}">
        <p14:creationId xmlns:p14="http://schemas.microsoft.com/office/powerpoint/2010/main" val="4244910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80DE6FE-67A7-41E1-BACC-7E2107E1C71D}" type="slidenum">
              <a:rPr lang="en-US" altLang="zh-CN" smtClean="0"/>
              <a:pPr>
                <a:defRPr/>
              </a:pPr>
              <a:t>23</a:t>
            </a:fld>
            <a:endParaRPr lang="en-US" altLang="zh-CN"/>
          </a:p>
        </p:txBody>
      </p:sp>
    </p:spTree>
    <p:extLst>
      <p:ext uri="{BB962C8B-B14F-4D97-AF65-F5344CB8AC3E}">
        <p14:creationId xmlns:p14="http://schemas.microsoft.com/office/powerpoint/2010/main" val="2304006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277D1-0B98-498F-B497-87AB05BDC958}"/>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7D9F1236-9F15-4921-8899-5F2F30AE4C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a:extLst>
              <a:ext uri="{FF2B5EF4-FFF2-40B4-BE49-F238E27FC236}">
                <a16:creationId xmlns:a16="http://schemas.microsoft.com/office/drawing/2014/main" id="{213CDC54-8AC8-4500-95E9-3B7BF72EB65F}"/>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8F39C5F3-995D-4164-A0B1-293E9474F1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85D0-661F-4C2D-B47D-B91EC6BE6842}"/>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3595724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90701E-2B92-4438-A2D6-B5464EA185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3A22454-2397-4540-8F41-6E1FA80FAA4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DFE72F-F925-4125-B948-B6169CA960B5}"/>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909239B1-DE4E-4CE6-BA05-102DE2D24F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D4EE8D-0937-45A9-AA48-9AF41F0111FF}"/>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61230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1228A-236F-4F7D-BF77-376D296800AE}"/>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D075563B-6682-4C7E-9907-FA17A6889D2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A8574D5E-B367-40B2-AD88-E070CD5EE14D}"/>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AE094A72-641E-485D-ADEE-454A966B39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40194A-B5BB-4CD4-8D3A-1F7575B48F55}"/>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4154248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599CB-4947-465C-A7FB-A1F590D73E4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B76F03-7FA4-4A61-BF97-3B96000DD1E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3D2E475-7688-41D9-938A-5C172BF49BF4}"/>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CE8CD6-90F5-4141-9F30-9752E0677D54}"/>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6" name="页脚占位符 5">
            <a:extLst>
              <a:ext uri="{FF2B5EF4-FFF2-40B4-BE49-F238E27FC236}">
                <a16:creationId xmlns:a16="http://schemas.microsoft.com/office/drawing/2014/main" id="{EDD7D1BF-04B8-478A-8C74-6FF5AC37CF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EDF7B5-1887-4C04-83C4-8435365601BE}"/>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1618877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933C5-4F88-4032-9830-92E1E7499770}"/>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55DF5CF-04DF-48DB-B0B2-CD62F3762F71}"/>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87270363-B898-401B-AB2C-E47F6D8FB174}"/>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4220CBA-32D4-4685-B29E-358D1B4CFD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8E284061-56BE-4FE6-A6CD-75AE04D42BBD}"/>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F84B669-51FD-40B2-8C7F-07F7922439B8}"/>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8" name="页脚占位符 7">
            <a:extLst>
              <a:ext uri="{FF2B5EF4-FFF2-40B4-BE49-F238E27FC236}">
                <a16:creationId xmlns:a16="http://schemas.microsoft.com/office/drawing/2014/main" id="{28352994-18FE-4FFC-A9DB-0F1DD5F0F45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E5F79DA-AEBA-41C8-A807-F5CC636BCF9E}"/>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31052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E40FB-4E33-43A2-A238-C52F1E2EDDF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387664-7F2D-4BCE-B243-EAB51918E8A9}"/>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4" name="页脚占位符 3">
            <a:extLst>
              <a:ext uri="{FF2B5EF4-FFF2-40B4-BE49-F238E27FC236}">
                <a16:creationId xmlns:a16="http://schemas.microsoft.com/office/drawing/2014/main" id="{B4D4F103-7E81-4F1E-964F-10EB80D4516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B3FB4A1-DF30-4987-B9FF-583C5A58D200}"/>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2452834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45F8F3-67F8-415A-B9CB-99B56C0963D2}"/>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3" name="页脚占位符 2">
            <a:extLst>
              <a:ext uri="{FF2B5EF4-FFF2-40B4-BE49-F238E27FC236}">
                <a16:creationId xmlns:a16="http://schemas.microsoft.com/office/drawing/2014/main" id="{4F3D83D6-BA0C-42C7-9C21-C04D9414290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5069E8-5E9F-432E-BD75-D618CA11BB3B}"/>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62758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ACE0C-C353-4C01-AB35-08CCA4D78D90}"/>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F48F1402-59EE-4396-83E3-F009833B4B5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7FE3C91-5881-4912-8ABB-13BD89CB080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DCB9AE4A-5ED8-4691-80C1-05EAB1C0094A}"/>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6" name="页脚占位符 5">
            <a:extLst>
              <a:ext uri="{FF2B5EF4-FFF2-40B4-BE49-F238E27FC236}">
                <a16:creationId xmlns:a16="http://schemas.microsoft.com/office/drawing/2014/main" id="{87ADBCCB-8EFC-462C-B3FA-2C87F0A6A0E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60B7BF-602A-4CB5-88CA-28C17E323CCA}"/>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208689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0B3016-B846-49F1-B536-1F0EFD855C70}"/>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2F4B8F27-6BDE-4FD6-A115-18B99514733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5649D179-D1D4-4453-8076-502C3AABD31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6D704F6-04AF-4753-9CDD-B59A71F79FC5}"/>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6" name="页脚占位符 5">
            <a:extLst>
              <a:ext uri="{FF2B5EF4-FFF2-40B4-BE49-F238E27FC236}">
                <a16:creationId xmlns:a16="http://schemas.microsoft.com/office/drawing/2014/main" id="{8E686BF7-2208-4C5C-A4A7-AE520353FEF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D5D684-7E5B-4750-AB11-AF8C2F4A64F8}"/>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1752136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ED7A0-904E-4593-A474-1A3E8E987A5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D6FC9AD-2DAD-48C1-83A7-B92B9F938D5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7A9EEB8-ACCE-4DF6-A437-5D7B3D2E6F9A}"/>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F154AF57-54BA-4849-B7A4-93999A1FFF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F9D370-34F5-4D3A-9391-B38FD97390B0}"/>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721296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79170DC-7CC3-4CCF-B1F0-BB389B85FB06}"/>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2A248B-801B-4B3F-8642-65A64E8FD453}"/>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7B58537-8CC3-4574-9AB4-8F0233AF8B9B}"/>
              </a:ext>
            </a:extLst>
          </p:cNvPr>
          <p:cNvSpPr>
            <a:spLocks noGrp="1"/>
          </p:cNvSpPr>
          <p:nvPr>
            <p:ph type="dt" sz="half" idx="10"/>
          </p:nvPr>
        </p:nvSpPr>
        <p:spPr/>
        <p:txBody>
          <a:body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E49F6D9B-5430-4293-BB2F-C1C60A2FEC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59C26B-8406-40BD-93E9-9C334D5BBD0E}"/>
              </a:ext>
            </a:extLst>
          </p:cNvPr>
          <p:cNvSpPr>
            <a:spLocks noGrp="1"/>
          </p:cNvSpPr>
          <p:nvPr>
            <p:ph type="sldNum" sz="quarter" idx="12"/>
          </p:nvPr>
        </p:nvSpPr>
        <p:spPr/>
        <p:txBody>
          <a:body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1662653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27B54-9132-466E-B31F-DF58A783769C}"/>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A9ACE207-F5B1-49B8-B335-F0E5333EC82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a:extLst>
              <a:ext uri="{FF2B5EF4-FFF2-40B4-BE49-F238E27FC236}">
                <a16:creationId xmlns:a16="http://schemas.microsoft.com/office/drawing/2014/main" id="{703D35AA-94B3-4983-8F51-2E3507665861}"/>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D5F1AEC3-F872-44DF-B412-E05E03D13F8B}"/>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DC9190C6-280A-48A5-B9AA-4E2B45A9DC81}"/>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83569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33F591-4E8F-44D9-9C4C-459BF1D325A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0EAEFFF-04B0-42EB-8816-1FBA287E0D2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DC26E5A-EF4E-44BA-B0EA-2110065DFEAC}"/>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1BBDFF35-041B-43FF-84FA-2AA9D10B7F3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5919C083-6AEF-457E-A9FA-DA6AF59AA48C}"/>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80087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31381-32BB-4220-88FD-43CD61ED76AD}"/>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0DE258BC-1DB2-4ABA-80F3-566CA1BC0F0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CD86FAAC-D304-4914-88FC-9F0DD54471A8}"/>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FA7E73CC-425B-41BB-BDDE-F12F4B4A9D41}"/>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0E4617DD-1B2A-4B14-AA4E-3670BDCC7E12}"/>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91682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C6534-77FE-4609-ABB6-768C81EC06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482455-C464-4020-A129-156621CC1177}"/>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7C39525-8E09-4E6E-A71A-EF27F897E975}"/>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78B1045F-4E7A-4FDD-925E-950B82605866}"/>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id="{34A26ABC-9CBC-46FA-B4CC-44E9F64925B9}"/>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id="{8A4232D0-98CA-4F07-8C66-C40BC9BF7343}"/>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24001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81AB70-4BD3-4962-832A-D1B0FB7B617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A27CD6-E621-4800-A78E-A3C24E2E53C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465AF5CB-0921-4F75-A4C4-ED04BAD820B0}"/>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8820540-B2C8-4711-BDD9-7D749414BC5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3F1D63A9-6EF8-4E82-B8D5-FAE41CD3B654}"/>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27977A1-5F8D-4B50-97C7-2A32B4C232E7}"/>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8" name="页脚占位符 7">
            <a:extLst>
              <a:ext uri="{FF2B5EF4-FFF2-40B4-BE49-F238E27FC236}">
                <a16:creationId xmlns:a16="http://schemas.microsoft.com/office/drawing/2014/main" id="{1D6289CE-D640-4B04-B31E-CC9442ECDA7A}"/>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a:extLst>
              <a:ext uri="{FF2B5EF4-FFF2-40B4-BE49-F238E27FC236}">
                <a16:creationId xmlns:a16="http://schemas.microsoft.com/office/drawing/2014/main" id="{4F02B124-AFCF-48CC-87C8-E308D663E90E}"/>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84519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43533-0577-44A2-940A-4BA2A1C9D68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617D3DD-E0B0-40F7-9616-624A7261C4CB}"/>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4" name="页脚占位符 3">
            <a:extLst>
              <a:ext uri="{FF2B5EF4-FFF2-40B4-BE49-F238E27FC236}">
                <a16:creationId xmlns:a16="http://schemas.microsoft.com/office/drawing/2014/main" id="{CC4AFF2B-1F2C-42F6-9FCF-A36170C54AA1}"/>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id="{762B428E-0487-405C-8612-CBDAE2D37B1A}"/>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17760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D401D2-03A9-4012-9E2F-3FE6649E3808}"/>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3" name="页脚占位符 2">
            <a:extLst>
              <a:ext uri="{FF2B5EF4-FFF2-40B4-BE49-F238E27FC236}">
                <a16:creationId xmlns:a16="http://schemas.microsoft.com/office/drawing/2014/main" id="{4C398EC6-DF0B-4EF4-9BBA-E16B4A4DBC8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a:extLst>
              <a:ext uri="{FF2B5EF4-FFF2-40B4-BE49-F238E27FC236}">
                <a16:creationId xmlns:a16="http://schemas.microsoft.com/office/drawing/2014/main" id="{F654820B-774E-44F7-B7E5-2CF58D7FB7B1}"/>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10485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1FF357-98AB-463F-AC13-1B17A664A643}"/>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209E2AD1-CBEB-4B47-B041-C3D8D3E8C31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02350F3-C53E-41C9-89CB-435878E72AF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5CA2B70B-FF0E-4C2A-971E-3966F8B3BA18}"/>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id="{85FFC9FB-7AAD-4332-8505-C7E5FA8C511E}"/>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id="{5AE7299E-C7B0-4B9E-88D1-82A641573A77}"/>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2509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C2925-14FB-4A22-8806-9607597720A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A879CEFF-7289-450C-A1FA-7C2007E88D2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E3BCCE62-7167-42AA-A9E7-9BBC493B7BF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D0093FD2-A443-492F-80AD-C8B8ADA0F6CF}"/>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id="{B6719813-6F46-4FA5-BC09-0454022E6C5A}"/>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id="{51436645-54FE-4A27-B89A-380BECBB1E4C}"/>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98256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3F8762-75DB-4D45-B476-E1E6EB39119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6FBC7CB-6C59-4948-8B89-87E011D9E8DF}"/>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4E219FE-C93A-46AD-97A9-313989BA42CD}"/>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DE471F8E-8775-47CE-B515-E9633098E13D}"/>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D3569A8D-CFA3-4A19-BCDC-62019A7B0B39}"/>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02532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02DFCB-D50B-4F38-B9EE-E47FC1043696}"/>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D0B79E-6D79-493F-B7D2-A1136BC8B13F}"/>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A8B61E8-178A-4203-84B6-7A1F9025FC5F}"/>
              </a:ext>
            </a:extLst>
          </p:cNvPr>
          <p:cNvSpPr>
            <a:spLocks noGrp="1"/>
          </p:cNvSpPr>
          <p:nvPr>
            <p:ph type="dt" sz="half" idx="10"/>
          </p:nvPr>
        </p:nvSpPr>
        <p:spPr/>
        <p:txBody>
          <a:body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9F86066A-448C-4E0E-A504-3CF22F1C0E25}"/>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0B42748D-FEEB-45AE-B2A9-395CA8DECAC6}"/>
              </a:ext>
            </a:extLst>
          </p:cNvPr>
          <p:cNvSpPr>
            <a:spLocks noGrp="1"/>
          </p:cNvSpPr>
          <p:nvPr>
            <p:ph type="sldNum" sz="quarter" idx="12"/>
          </p:nvPr>
        </p:nvSpPr>
        <p:spPr/>
        <p:txBody>
          <a:body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91738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18743566"/>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AD02B9C-9BB3-48CC-A16E-84DF1DFE67CE}"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60983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9D2FE7-3714-4240-83CC-11D709402084}"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435158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854A1D0-855D-4F68-B2A8-836D6AC610BA}"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657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7F392C5-5548-4418-86BD-E66B7D4E25E1}"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591840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CDC1355-9A2C-4091-8405-E04E0E067C7C}"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782502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2A32A6C-B164-4B70-A474-84FAFDA63CDB}"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90277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BB9AAE-CF24-4F0A-90A9-2AC5239B789C}"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05547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67321A7-0825-4B9A-ABF0-F2388D8DF24D}"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1626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1250A9-5D0B-4F08-A161-25AC64C4B0CE}"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7507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0E56AAD6-FFF6-49BC-8A75-C23C12C1B620}"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59737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B92FB55-7AE4-4AB9-9F6C-C2454A4133D9}"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86374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w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oleObject" Target="../embeddings/oleObject1.bin"/><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vmlDrawing" Target="../drawings/vmlDrawing1.v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487F513-BA7F-4831-B07A-724310C4148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27F081F-A2B9-45DB-B10C-B891E2A9441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C9D3D18-4FBD-4136-A727-BAC55FB8F76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63361DE-AF38-45FB-8C9E-1D1E159539C8}" type="datetimeFigureOut">
              <a:rPr lang="zh-CN" altLang="en-US" smtClean="0"/>
              <a:t>2022/9/16</a:t>
            </a:fld>
            <a:endParaRPr lang="zh-CN" altLang="en-US"/>
          </a:p>
        </p:txBody>
      </p:sp>
      <p:sp>
        <p:nvSpPr>
          <p:cNvPr id="5" name="页脚占位符 4">
            <a:extLst>
              <a:ext uri="{FF2B5EF4-FFF2-40B4-BE49-F238E27FC236}">
                <a16:creationId xmlns:a16="http://schemas.microsoft.com/office/drawing/2014/main" id="{AAE612A7-C5A6-4E01-875A-3F3817EAFB4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7BB5ACD-D9D4-446E-88F3-68BFAE5DB60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D41C88-42C6-43DD-BB2C-7EA57A64BBFD}" type="slidenum">
              <a:rPr lang="zh-CN" altLang="en-US" smtClean="0"/>
              <a:t>‹#›</a:t>
            </a:fld>
            <a:endParaRPr lang="zh-CN" altLang="en-US"/>
          </a:p>
        </p:txBody>
      </p:sp>
    </p:spTree>
    <p:extLst>
      <p:ext uri="{BB962C8B-B14F-4D97-AF65-F5344CB8AC3E}">
        <p14:creationId xmlns:p14="http://schemas.microsoft.com/office/powerpoint/2010/main" val="297398124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D55E09B-2F52-48C4-83A6-A3828923C5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F6F25A3-8DFF-4D45-A8A2-245D5D7C69A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3FD9162-5A83-4A39-A4C1-13D80D35173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AE4B60-023F-4F12-B2F4-B2B5F71CC914}" type="datetimeFigureOut">
              <a:rPr lang="zh-CN" altLang="en-US" smtClean="0">
                <a:solidFill>
                  <a:prstClr val="black">
                    <a:tint val="75000"/>
                  </a:prstClr>
                </a:solidFill>
              </a:rPr>
              <a:pPr/>
              <a:t>2022/9/16</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id="{C9781065-C80E-41C0-B067-9FBDB0A8E1D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B67934A7-2AD8-44F3-B1C9-DDCBF137437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D04CD5-CC61-4BBF-9241-D1C608151D70}" type="slidenum">
              <a:rPr lang="zh-CN" altLang="en-US" smtClean="0">
                <a:solidFill>
                  <a:prstClr val="black">
                    <a:tint val="75000"/>
                  </a:prstClr>
                </a:solidFill>
              </a:rPr>
              <a:pPr/>
              <a:t>‹#›</a:t>
            </a:fld>
            <a:endParaRPr lang="zh-CN" altLang="en-US">
              <a:solidFill>
                <a:prstClr val="black">
                  <a:tint val="75000"/>
                </a:prstClr>
              </a:solidFill>
            </a:endParaRPr>
          </a:p>
        </p:txBody>
      </p:sp>
      <p:graphicFrame>
        <p:nvGraphicFramePr>
          <p:cNvPr id="7" name="Object 67">
            <a:extLst>
              <a:ext uri="{FF2B5EF4-FFF2-40B4-BE49-F238E27FC236}">
                <a16:creationId xmlns:a16="http://schemas.microsoft.com/office/drawing/2014/main" id="{732729EE-5B6E-49A2-9489-94243A6BA395}"/>
              </a:ext>
            </a:extLst>
          </p:cNvPr>
          <p:cNvGraphicFramePr>
            <a:graphicFrameLocks noChangeAspect="1"/>
          </p:cNvGraphicFramePr>
          <p:nvPr userDrawn="1"/>
        </p:nvGraphicFramePr>
        <p:xfrm>
          <a:off x="8555038" y="5949950"/>
          <a:ext cx="569912" cy="850900"/>
        </p:xfrm>
        <a:graphic>
          <a:graphicData uri="http://schemas.openxmlformats.org/presentationml/2006/ole">
            <mc:AlternateContent xmlns:mc="http://schemas.openxmlformats.org/markup-compatibility/2006">
              <mc:Choice xmlns:v="urn:schemas-microsoft-com:vml" Requires="v">
                <p:oleObj spid="_x0000_s1027" name="剪辑" r:id="rId15" imgW="3154363" imgH="4708525" progId="MS_ClipArt_Gallery.2">
                  <p:embed/>
                </p:oleObj>
              </mc:Choice>
              <mc:Fallback>
                <p:oleObj name="剪辑" r:id="rId15" imgW="3154363" imgH="4708525" progId="MS_ClipArt_Gallery.2">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55038" y="5949950"/>
                        <a:ext cx="569912"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74">
            <a:extLst>
              <a:ext uri="{FF2B5EF4-FFF2-40B4-BE49-F238E27FC236}">
                <a16:creationId xmlns:a16="http://schemas.microsoft.com/office/drawing/2014/main" id="{BE461B3F-CA98-4808-9EE6-27E30F6E2E76}"/>
              </a:ext>
            </a:extLst>
          </p:cNvPr>
          <p:cNvSpPr>
            <a:spLocks noChangeArrowheads="1"/>
          </p:cNvSpPr>
          <p:nvPr userDrawn="1"/>
        </p:nvSpPr>
        <p:spPr bwMode="auto">
          <a:xfrm>
            <a:off x="3160795" y="-26988"/>
            <a:ext cx="3384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buClr>
                <a:srgbClr val="44546A"/>
              </a:buClr>
              <a:buSzPct val="75000"/>
              <a:buFont typeface="Monotype Sorts" pitchFamily="2" charset="2"/>
              <a:buNone/>
              <a:defRPr/>
            </a:pPr>
            <a:r>
              <a:rPr lang="en-US" altLang="zh-CN" dirty="0">
                <a:solidFill>
                  <a:srgbClr val="66CCFF"/>
                </a:solidFill>
                <a:effectLst>
                  <a:outerShdw blurRad="38100" dist="38100" dir="2700000" algn="tl">
                    <a:srgbClr val="000000"/>
                  </a:outerShdw>
                </a:effectLst>
                <a:latin typeface="黑体" pitchFamily="2" charset="-122"/>
                <a:ea typeface="黑体" pitchFamily="2" charset="-122"/>
              </a:rPr>
              <a:t>§3 </a:t>
            </a:r>
            <a:r>
              <a:rPr lang="zh-CN" altLang="en-US" dirty="0">
                <a:solidFill>
                  <a:srgbClr val="66CCFF"/>
                </a:solidFill>
                <a:effectLst>
                  <a:outerShdw blurRad="38100" dist="38100" dir="2700000" algn="tl">
                    <a:srgbClr val="000000"/>
                  </a:outerShdw>
                </a:effectLst>
                <a:latin typeface="黑体" pitchFamily="2" charset="-122"/>
                <a:ea typeface="黑体" pitchFamily="2" charset="-122"/>
              </a:rPr>
              <a:t>概率测度</a:t>
            </a:r>
          </a:p>
        </p:txBody>
      </p:sp>
      <p:sp>
        <p:nvSpPr>
          <p:cNvPr id="9" name="Rectangle 81">
            <a:extLst>
              <a:ext uri="{FF2B5EF4-FFF2-40B4-BE49-F238E27FC236}">
                <a16:creationId xmlns:a16="http://schemas.microsoft.com/office/drawing/2014/main" id="{AB414E0F-3FC4-48B1-8F16-3375D607C54E}"/>
              </a:ext>
            </a:extLst>
          </p:cNvPr>
          <p:cNvSpPr>
            <a:spLocks noChangeArrowheads="1"/>
          </p:cNvSpPr>
          <p:nvPr userDrawn="1"/>
        </p:nvSpPr>
        <p:spPr bwMode="auto">
          <a:xfrm>
            <a:off x="-12700" y="511175"/>
            <a:ext cx="9180513" cy="71438"/>
          </a:xfrm>
          <a:prstGeom prst="rect">
            <a:avLst/>
          </a:prstGeom>
          <a:gradFill rotWithShape="0">
            <a:gsLst>
              <a:gs pos="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prstClr val="black"/>
              </a:solidFill>
              <a:effectLst>
                <a:outerShdw blurRad="38100" dist="38100" dir="2700000" algn="tl">
                  <a:srgbClr val="000000">
                    <a:alpha val="43137"/>
                  </a:srgbClr>
                </a:outerShdw>
              </a:effectLst>
            </a:endParaRPr>
          </a:p>
        </p:txBody>
      </p:sp>
      <p:sp>
        <p:nvSpPr>
          <p:cNvPr id="10" name="Rectangle 99">
            <a:extLst>
              <a:ext uri="{FF2B5EF4-FFF2-40B4-BE49-F238E27FC236}">
                <a16:creationId xmlns:a16="http://schemas.microsoft.com/office/drawing/2014/main" id="{3C00AEF0-0948-4691-85EE-A8EA0CFFF84C}"/>
              </a:ext>
            </a:extLst>
          </p:cNvPr>
          <p:cNvSpPr>
            <a:spLocks noChangeArrowheads="1"/>
          </p:cNvSpPr>
          <p:nvPr userDrawn="1"/>
        </p:nvSpPr>
        <p:spPr bwMode="auto">
          <a:xfrm>
            <a:off x="7327900" y="266700"/>
            <a:ext cx="749300" cy="252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2"/>
                </a:solidFill>
                <a:latin typeface="华文新魏" pitchFamily="2" charset="-122"/>
                <a:ea typeface="华文新魏" pitchFamily="2" charset="-122"/>
              </a:defRPr>
            </a:lvl1pPr>
            <a:lvl2pPr marL="742950" indent="-285750" eaLnBrk="0" hangingPunct="0">
              <a:defRPr kumimoji="1" sz="2800" b="1">
                <a:solidFill>
                  <a:schemeClr val="tx2"/>
                </a:solidFill>
                <a:latin typeface="华文新魏" pitchFamily="2" charset="-122"/>
                <a:ea typeface="华文新魏" pitchFamily="2" charset="-122"/>
              </a:defRPr>
            </a:lvl2pPr>
            <a:lvl3pPr marL="1143000" indent="-228600" eaLnBrk="0" hangingPunct="0">
              <a:defRPr kumimoji="1" sz="2800" b="1">
                <a:solidFill>
                  <a:schemeClr val="tx2"/>
                </a:solidFill>
                <a:latin typeface="华文新魏" pitchFamily="2" charset="-122"/>
                <a:ea typeface="华文新魏" pitchFamily="2" charset="-122"/>
              </a:defRPr>
            </a:lvl3pPr>
            <a:lvl4pPr marL="1600200" indent="-228600" eaLnBrk="0" hangingPunct="0">
              <a:defRPr kumimoji="1" sz="2800" b="1">
                <a:solidFill>
                  <a:schemeClr val="tx2"/>
                </a:solidFill>
                <a:latin typeface="华文新魏" pitchFamily="2" charset="-122"/>
                <a:ea typeface="华文新魏" pitchFamily="2" charset="-122"/>
              </a:defRPr>
            </a:lvl4pPr>
            <a:lvl5pPr marL="2057400" indent="-228600" eaLnBrk="0" hangingPunct="0">
              <a:defRPr kumimoji="1" sz="2800" b="1">
                <a:solidFill>
                  <a:schemeClr val="tx2"/>
                </a:solidFill>
                <a:latin typeface="华文新魏" pitchFamily="2" charset="-122"/>
                <a:ea typeface="华文新魏" pitchFamily="2" charset="-122"/>
              </a:defRPr>
            </a:lvl5pPr>
            <a:lvl6pPr marL="2514600" indent="-228600" algn="ctr" eaLnBrk="0" fontAlgn="base" hangingPunct="0">
              <a:spcBef>
                <a:spcPct val="0"/>
              </a:spcBef>
              <a:spcAft>
                <a:spcPct val="0"/>
              </a:spcAft>
              <a:defRPr kumimoji="1" sz="2800" b="1">
                <a:solidFill>
                  <a:schemeClr val="tx2"/>
                </a:solidFill>
                <a:latin typeface="华文新魏" pitchFamily="2" charset="-122"/>
                <a:ea typeface="华文新魏" pitchFamily="2" charset="-122"/>
              </a:defRPr>
            </a:lvl6pPr>
            <a:lvl7pPr marL="2971800" indent="-228600" algn="ctr" eaLnBrk="0" fontAlgn="base" hangingPunct="0">
              <a:spcBef>
                <a:spcPct val="0"/>
              </a:spcBef>
              <a:spcAft>
                <a:spcPct val="0"/>
              </a:spcAft>
              <a:defRPr kumimoji="1" sz="2800" b="1">
                <a:solidFill>
                  <a:schemeClr val="tx2"/>
                </a:solidFill>
                <a:latin typeface="华文新魏" pitchFamily="2" charset="-122"/>
                <a:ea typeface="华文新魏" pitchFamily="2" charset="-122"/>
              </a:defRPr>
            </a:lvl7pPr>
            <a:lvl8pPr marL="3429000" indent="-228600" algn="ctr" eaLnBrk="0" fontAlgn="base" hangingPunct="0">
              <a:spcBef>
                <a:spcPct val="0"/>
              </a:spcBef>
              <a:spcAft>
                <a:spcPct val="0"/>
              </a:spcAft>
              <a:defRPr kumimoji="1" sz="2800" b="1">
                <a:solidFill>
                  <a:schemeClr val="tx2"/>
                </a:solidFill>
                <a:latin typeface="华文新魏" pitchFamily="2" charset="-122"/>
                <a:ea typeface="华文新魏" pitchFamily="2" charset="-122"/>
              </a:defRPr>
            </a:lvl8pPr>
            <a:lvl9pPr marL="3886200" indent="-228600" algn="ctr" eaLnBrk="0" fontAlgn="base" hangingPunct="0">
              <a:spcBef>
                <a:spcPct val="0"/>
              </a:spcBef>
              <a:spcAft>
                <a:spcPct val="0"/>
              </a:spcAft>
              <a:defRPr kumimoji="1" sz="2800" b="1">
                <a:solidFill>
                  <a:schemeClr val="tx2"/>
                </a:solidFill>
                <a:latin typeface="华文新魏" pitchFamily="2" charset="-122"/>
                <a:ea typeface="华文新魏" pitchFamily="2" charset="-122"/>
              </a:defRPr>
            </a:lvl9pPr>
          </a:lstStyle>
          <a:p>
            <a:pPr eaLnBrk="1" hangingPunct="1">
              <a:lnSpc>
                <a:spcPct val="120000"/>
              </a:lnSpc>
              <a:spcBef>
                <a:spcPct val="50000"/>
              </a:spcBef>
            </a:pPr>
            <a:fld id="{5F205D10-2225-43A4-9F74-9776BABD8920}" type="slidenum">
              <a:rPr lang="en-US" altLang="zh-CN" sz="1000" smtClean="0">
                <a:solidFill>
                  <a:srgbClr val="954F72"/>
                </a:solidFill>
                <a:latin typeface="黑体" pitchFamily="49" charset="-122"/>
                <a:ea typeface="黑体" pitchFamily="49" charset="-122"/>
              </a:rPr>
              <a:pPr eaLnBrk="1" hangingPunct="1">
                <a:lnSpc>
                  <a:spcPct val="120000"/>
                </a:lnSpc>
                <a:spcBef>
                  <a:spcPct val="50000"/>
                </a:spcBef>
              </a:pPr>
              <a:t>‹#›</a:t>
            </a:fld>
            <a:endParaRPr lang="en-US" altLang="zh-CN" sz="1000" dirty="0">
              <a:solidFill>
                <a:srgbClr val="954F72"/>
              </a:solidFill>
              <a:latin typeface="黑体" pitchFamily="49" charset="-122"/>
              <a:ea typeface="黑体" pitchFamily="49" charset="-122"/>
            </a:endParaRPr>
          </a:p>
        </p:txBody>
      </p:sp>
      <p:sp>
        <p:nvSpPr>
          <p:cNvPr id="11" name="Rectangle 106">
            <a:extLst>
              <a:ext uri="{FF2B5EF4-FFF2-40B4-BE49-F238E27FC236}">
                <a16:creationId xmlns:a16="http://schemas.microsoft.com/office/drawing/2014/main" id="{F3A4F8AD-665A-40A8-85D1-114948D92F44}"/>
              </a:ext>
            </a:extLst>
          </p:cNvPr>
          <p:cNvSpPr>
            <a:spLocks noChangeArrowheads="1"/>
          </p:cNvSpPr>
          <p:nvPr userDrawn="1"/>
        </p:nvSpPr>
        <p:spPr bwMode="auto">
          <a:xfrm>
            <a:off x="5303550" y="6400800"/>
            <a:ext cx="3219450" cy="41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r">
              <a:lnSpc>
                <a:spcPct val="120000"/>
              </a:lnSpc>
              <a:defRPr/>
            </a:pPr>
            <a:r>
              <a:rPr lang="zh-CN" altLang="en-US" sz="2000" dirty="0">
                <a:solidFill>
                  <a:prstClr val="white"/>
                </a:solidFill>
                <a:effectDag name="">
                  <a:cont type="tree" name="">
                    <a:effect ref="fillLine"/>
                    <a:outerShdw dist="38100" dir="13500000" algn="br">
                      <a:srgbClr val="7777FF"/>
                    </a:outerShdw>
                  </a:cont>
                  <a:cont type="tree" name="">
                    <a:effect ref="fillLine"/>
                    <a:outerShdw dist="38100" dir="2700000" algn="tl">
                      <a:srgbClr val="1E1E99"/>
                    </a:outerShdw>
                  </a:cont>
                  <a:effect ref="fillLine"/>
                </a:effectDag>
                <a:latin typeface="黑体" pitchFamily="2" charset="-122"/>
                <a:ea typeface="黑体" pitchFamily="2" charset="-122"/>
              </a:rPr>
              <a:t>第一章  概率</a:t>
            </a:r>
          </a:p>
        </p:txBody>
      </p:sp>
    </p:spTree>
    <p:extLst>
      <p:ext uri="{BB962C8B-B14F-4D97-AF65-F5344CB8AC3E}">
        <p14:creationId xmlns:p14="http://schemas.microsoft.com/office/powerpoint/2010/main" val="167277491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A1DB61-CF58-4A45-BEA7-7AD2C1EA0997}" type="datetime1">
              <a:rPr lang="zh-CN" altLang="en-US" smtClean="0">
                <a:solidFill>
                  <a:prstClr val="black">
                    <a:tint val="75000"/>
                  </a:prstClr>
                </a:solidFill>
              </a:rPr>
              <a:pPr/>
              <a:t>2022/9/16</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89BF86-97AE-4B04-9B06-3C0BD16A18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2947918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7.gif"/><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6"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4.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90.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30.png"/><Relationship Id="rId7" Type="http://schemas.openxmlformats.org/officeDocument/2006/relationships/image" Target="../media/image22.png"/><Relationship Id="rId2" Type="http://schemas.openxmlformats.org/officeDocument/2006/relationships/image" Target="../media/image320.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26.png"/><Relationship Id="rId5" Type="http://schemas.openxmlformats.org/officeDocument/2006/relationships/image" Target="../media/image35.png"/><Relationship Id="rId10" Type="http://schemas.openxmlformats.org/officeDocument/2006/relationships/image" Target="../media/image25.png"/><Relationship Id="rId4" Type="http://schemas.openxmlformats.org/officeDocument/2006/relationships/image" Target="../media/image34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0.emf"/><Relationship Id="rId13" Type="http://schemas.openxmlformats.org/officeDocument/2006/relationships/oleObject" Target="../embeddings/oleObject7.bin"/><Relationship Id="rId3" Type="http://schemas.openxmlformats.org/officeDocument/2006/relationships/oleObject" Target="../embeddings/oleObject2.bin"/><Relationship Id="rId21" Type="http://schemas.openxmlformats.org/officeDocument/2006/relationships/image" Target="../media/image53.png"/><Relationship Id="rId7" Type="http://schemas.openxmlformats.org/officeDocument/2006/relationships/oleObject" Target="../embeddings/oleObject4.bin"/><Relationship Id="rId12" Type="http://schemas.openxmlformats.org/officeDocument/2006/relationships/image" Target="../media/image22.emf"/><Relationship Id="rId2" Type="http://schemas.openxmlformats.org/officeDocument/2006/relationships/slideLayout" Target="../slideLayouts/slideLayout7.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vmlDrawing" Target="../drawings/vmlDrawing2.vml"/><Relationship Id="rId6" Type="http://schemas.openxmlformats.org/officeDocument/2006/relationships/image" Target="../media/image19.e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image" Target="../media/image500.png"/><Relationship Id="rId10" Type="http://schemas.openxmlformats.org/officeDocument/2006/relationships/image" Target="../media/image21.emf"/><Relationship Id="rId19" Type="http://schemas.openxmlformats.org/officeDocument/2006/relationships/image" Target="../media/image62.png"/><Relationship Id="rId4" Type="http://schemas.openxmlformats.org/officeDocument/2006/relationships/image" Target="../media/image18.emf"/><Relationship Id="rId9" Type="http://schemas.openxmlformats.org/officeDocument/2006/relationships/oleObject" Target="../embeddings/oleObject5.bin"/><Relationship Id="rId14" Type="http://schemas.openxmlformats.org/officeDocument/2006/relationships/image" Target="../media/image23.emf"/><Relationship Id="rId22" Type="http://schemas.openxmlformats.org/officeDocument/2006/relationships/image" Target="../media/image54.png"/></Relationships>
</file>

<file path=ppt/slides/_rels/slide1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oleObject" Target="../embeddings/oleObject8.bin"/><Relationship Id="rId7" Type="http://schemas.openxmlformats.org/officeDocument/2006/relationships/image" Target="../media/image67.png"/><Relationship Id="rId12" Type="http://schemas.openxmlformats.org/officeDocument/2006/relationships/image" Target="../media/image71.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6.png"/><Relationship Id="rId11" Type="http://schemas.openxmlformats.org/officeDocument/2006/relationships/image" Target="../media/image70.png"/><Relationship Id="rId5" Type="http://schemas.openxmlformats.org/officeDocument/2006/relationships/image" Target="../media/image65.png"/><Relationship Id="rId10" Type="http://schemas.openxmlformats.org/officeDocument/2006/relationships/image" Target="../media/image69.png"/><Relationship Id="rId4" Type="http://schemas.openxmlformats.org/officeDocument/2006/relationships/image" Target="../media/image24.emf"/><Relationship Id="rId9" Type="http://schemas.openxmlformats.org/officeDocument/2006/relationships/image" Target="../media/image681.png"/></Relationships>
</file>

<file path=ppt/slides/_rels/slide14.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0.png"/><Relationship Id="rId7" Type="http://schemas.openxmlformats.org/officeDocument/2006/relationships/image" Target="../media/image75.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4.png"/><Relationship Id="rId11" Type="http://schemas.openxmlformats.org/officeDocument/2006/relationships/image" Target="../media/image58.png"/><Relationship Id="rId5" Type="http://schemas.openxmlformats.org/officeDocument/2006/relationships/image" Target="../media/image56.png"/><Relationship Id="rId10" Type="http://schemas.openxmlformats.org/officeDocument/2006/relationships/image" Target="../media/image78.png"/><Relationship Id="rId4" Type="http://schemas.openxmlformats.org/officeDocument/2006/relationships/image" Target="../media/image720.png"/><Relationship Id="rId9"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750.png"/><Relationship Id="rId7" Type="http://schemas.openxmlformats.org/officeDocument/2006/relationships/image" Target="../media/image83.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8" Type="http://schemas.openxmlformats.org/officeDocument/2006/relationships/image" Target="../media/image791.png"/><Relationship Id="rId3" Type="http://schemas.openxmlformats.org/officeDocument/2006/relationships/image" Target="../media/image760.png"/><Relationship Id="rId7" Type="http://schemas.openxmlformats.org/officeDocument/2006/relationships/image" Target="../media/image70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530.png"/><Relationship Id="rId4" Type="http://schemas.openxmlformats.org/officeDocument/2006/relationships/image" Target="../media/image61.png"/><Relationship Id="rId9" Type="http://schemas.openxmlformats.org/officeDocument/2006/relationships/image" Target="../media/image800.png"/></Relationships>
</file>

<file path=ppt/slides/_rels/slide17.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10.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91.png"/><Relationship Id="rId1" Type="http://schemas.openxmlformats.org/officeDocument/2006/relationships/slideLayout" Target="../slideLayouts/slideLayout7.xml"/><Relationship Id="rId11" Type="http://schemas.openxmlformats.org/officeDocument/2006/relationships/image" Target="../media/image92.png"/><Relationship Id="rId5" Type="http://schemas.openxmlformats.org/officeDocument/2006/relationships/image" Target="../media/image77.png"/><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77.pn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610.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20.png"/><Relationship Id="rId2" Type="http://schemas.openxmlformats.org/officeDocument/2006/relationships/image" Target="../media/image55.png"/><Relationship Id="rId16" Type="http://schemas.openxmlformats.org/officeDocument/2006/relationships/image" Target="../media/image103.png"/><Relationship Id="rId1" Type="http://schemas.openxmlformats.org/officeDocument/2006/relationships/slideLayout" Target="../slideLayouts/slideLayout7.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680.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640.png"/></Relationships>
</file>

<file path=ppt/slides/_rels/slide21.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13.bin"/><Relationship Id="rId18" Type="http://schemas.openxmlformats.org/officeDocument/2006/relationships/image" Target="../media/image31.wmf"/><Relationship Id="rId26" Type="http://schemas.openxmlformats.org/officeDocument/2006/relationships/image" Target="../media/image35.wmf"/><Relationship Id="rId3" Type="http://schemas.openxmlformats.org/officeDocument/2006/relationships/image" Target="../media/image104.png"/><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28.wmf"/><Relationship Id="rId17" Type="http://schemas.openxmlformats.org/officeDocument/2006/relationships/oleObject" Target="../embeddings/oleObject15.bin"/><Relationship Id="rId25"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30.wmf"/><Relationship Id="rId20" Type="http://schemas.openxmlformats.org/officeDocument/2006/relationships/image" Target="../media/image32.wmf"/><Relationship Id="rId1" Type="http://schemas.openxmlformats.org/officeDocument/2006/relationships/vmlDrawing" Target="../drawings/vmlDrawing4.vml"/><Relationship Id="rId6" Type="http://schemas.openxmlformats.org/officeDocument/2006/relationships/image" Target="../media/image25.wmf"/><Relationship Id="rId11" Type="http://schemas.openxmlformats.org/officeDocument/2006/relationships/oleObject" Target="../embeddings/oleObject12.bin"/><Relationship Id="rId24" Type="http://schemas.openxmlformats.org/officeDocument/2006/relationships/image" Target="../media/image34.w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10" Type="http://schemas.openxmlformats.org/officeDocument/2006/relationships/image" Target="../media/image27.wmf"/><Relationship Id="rId19" Type="http://schemas.openxmlformats.org/officeDocument/2006/relationships/oleObject" Target="../embeddings/oleObject16.bin"/><Relationship Id="rId4" Type="http://schemas.openxmlformats.org/officeDocument/2006/relationships/image" Target="../media/image105.png"/><Relationship Id="rId9" Type="http://schemas.openxmlformats.org/officeDocument/2006/relationships/oleObject" Target="../embeddings/oleObject11.bin"/><Relationship Id="rId14" Type="http://schemas.openxmlformats.org/officeDocument/2006/relationships/image" Target="../media/image29.wmf"/><Relationship Id="rId22" Type="http://schemas.openxmlformats.org/officeDocument/2006/relationships/image" Target="../media/image33.wmf"/></Relationships>
</file>

<file path=ppt/slides/_rels/slide22.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30.png"/><Relationship Id="rId7" Type="http://schemas.openxmlformats.org/officeDocument/2006/relationships/image" Target="../media/image10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50.png"/><Relationship Id="rId5" Type="http://schemas.openxmlformats.org/officeDocument/2006/relationships/image" Target="../media/image1040.png"/><Relationship Id="rId4" Type="http://schemas.openxmlformats.org/officeDocument/2006/relationships/image" Target="../media/image540.png"/></Relationships>
</file>

<file path=ppt/slides/_rels/slide2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2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22">
            <a:extLst>
              <a:ext uri="{FF2B5EF4-FFF2-40B4-BE49-F238E27FC236}">
                <a16:creationId xmlns:a16="http://schemas.microsoft.com/office/drawing/2014/main" id="{D5DA6B12-5A40-4286-948E-8E831E43A936}"/>
              </a:ext>
            </a:extLst>
          </p:cNvPr>
          <p:cNvSpPr>
            <a:spLocks noChangeArrowheads="1"/>
          </p:cNvSpPr>
          <p:nvPr/>
        </p:nvSpPr>
        <p:spPr bwMode="auto">
          <a:xfrm>
            <a:off x="1588" y="533401"/>
            <a:ext cx="9142412" cy="76200"/>
          </a:xfrm>
          <a:prstGeom prst="rect">
            <a:avLst/>
          </a:prstGeom>
          <a:gradFill rotWithShape="0">
            <a:gsLst>
              <a:gs pos="0">
                <a:srgbClr val="00CCCC"/>
              </a:gs>
              <a:gs pos="100000">
                <a:srgbClr val="005D5D"/>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en-US" altLang="en-US" sz="2800" b="1">
              <a:solidFill>
                <a:srgbClr val="FFFFFF"/>
              </a:solidFill>
              <a:latin typeface="华文新魏" panose="02010800040101010101" pitchFamily="2" charset="-122"/>
              <a:ea typeface="华文新魏" panose="02010800040101010101" pitchFamily="2" charset="-122"/>
              <a:sym typeface="Times New Roman" panose="02020603050405020304" pitchFamily="18" charset="0"/>
            </a:endParaRPr>
          </a:p>
        </p:txBody>
      </p:sp>
      <p:sp>
        <p:nvSpPr>
          <p:cNvPr id="11" name="WordArt 147">
            <a:extLst>
              <a:ext uri="{FF2B5EF4-FFF2-40B4-BE49-F238E27FC236}">
                <a16:creationId xmlns:a16="http://schemas.microsoft.com/office/drawing/2014/main" id="{FA1D9EC9-917D-4885-BB37-3CF2C16C0BDB}"/>
              </a:ext>
            </a:extLst>
          </p:cNvPr>
          <p:cNvSpPr>
            <a:spLocks noChangeArrowheads="1" noChangeShapeType="1" noTextEdit="1"/>
          </p:cNvSpPr>
          <p:nvPr/>
        </p:nvSpPr>
        <p:spPr bwMode="auto">
          <a:xfrm>
            <a:off x="2352583" y="1182688"/>
            <a:ext cx="4669653" cy="520700"/>
          </a:xfrm>
          <a:prstGeom prst="rect">
            <a:avLst/>
          </a:prstGeom>
          <a:extLst>
            <a:ext uri="{91240B29-F687-4F45-9708-019B960494DF}">
              <a14:hiddenLine xmlns:a14="http://schemas.microsoft.com/office/drawing/2010/main" w="0">
                <a:solidFill>
                  <a:srgbClr val="000000"/>
                </a:solidFill>
                <a:round/>
                <a:headEnd/>
                <a:tailEnd/>
              </a14:hiddenLine>
            </a:ext>
          </a:extLst>
        </p:spPr>
        <p:txBody>
          <a:bodyPr wrap="none" fromWordArt="1">
            <a:prstTxWarp prst="textPlain">
              <a:avLst>
                <a:gd name="adj" fmla="val 50000"/>
              </a:avLst>
            </a:prstTxWarp>
          </a:bodyPr>
          <a:lstStyle/>
          <a:p>
            <a:r>
              <a:rPr lang="en-US" altLang="zh-CN" sz="3600" b="1" kern="10" dirty="0">
                <a:solidFill>
                  <a:schemeClr val="accent1"/>
                </a:solidFill>
                <a:latin typeface="Microsoft YaHei UI" panose="020B0503020204020204" pitchFamily="34" charset="-122"/>
                <a:ea typeface="Microsoft YaHei UI" panose="020B0503020204020204" pitchFamily="34" charset="-122"/>
              </a:rPr>
              <a:t>Chapter One  Probability</a:t>
            </a:r>
            <a:endParaRPr lang="zh-CN" altLang="en-US" sz="3600" b="1" kern="10" dirty="0">
              <a:solidFill>
                <a:schemeClr val="accent1"/>
              </a:solidFill>
              <a:latin typeface="Microsoft YaHei UI" panose="020B0503020204020204" pitchFamily="34" charset="-122"/>
              <a:ea typeface="Microsoft YaHei UI" panose="020B0503020204020204" pitchFamily="34" charset="-122"/>
            </a:endParaRPr>
          </a:p>
        </p:txBody>
      </p:sp>
      <p:sp>
        <p:nvSpPr>
          <p:cNvPr id="12" name="文本框 11">
            <a:extLst>
              <a:ext uri="{FF2B5EF4-FFF2-40B4-BE49-F238E27FC236}">
                <a16:creationId xmlns:a16="http://schemas.microsoft.com/office/drawing/2014/main" id="{80D573AB-1CCC-49B1-A84B-8A198166BF9D}"/>
              </a:ext>
            </a:extLst>
          </p:cNvPr>
          <p:cNvSpPr txBox="1"/>
          <p:nvPr/>
        </p:nvSpPr>
        <p:spPr>
          <a:xfrm>
            <a:off x="776394" y="2132785"/>
            <a:ext cx="7863404" cy="3785652"/>
          </a:xfrm>
          <a:prstGeom prst="rect">
            <a:avLst/>
          </a:prstGeom>
          <a:noFill/>
        </p:spPr>
        <p:txBody>
          <a:bodyPr wrap="square">
            <a:spAutoFit/>
          </a:bodyPr>
          <a:lstStyle/>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Sample space</a:t>
            </a:r>
            <a:r>
              <a:rPr lang="zh-CN" altLang="en-US" sz="3200" kern="10" dirty="0">
                <a:ln w="0"/>
                <a:latin typeface="Microsoft YaHei UI" panose="020B0503020204020204" pitchFamily="34" charset="-122"/>
                <a:ea typeface="Microsoft YaHei UI" panose="020B0503020204020204" pitchFamily="34" charset="-122"/>
              </a:rPr>
              <a:t>（样本空间）</a:t>
            </a:r>
            <a:endParaRPr lang="en-US" altLang="zh-CN" sz="3200" kern="10" dirty="0">
              <a:ln w="0"/>
              <a:latin typeface="Microsoft YaHei UI" panose="020B0503020204020204" pitchFamily="34" charset="-122"/>
              <a:ea typeface="Microsoft YaHei UI" panose="020B0503020204020204" pitchFamily="34" charset="-122"/>
            </a:endParaRPr>
          </a:p>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Probability measure</a:t>
            </a:r>
            <a:r>
              <a:rPr lang="zh-CN" altLang="en-US" sz="3200" kern="10" dirty="0">
                <a:ln w="0"/>
                <a:latin typeface="Microsoft YaHei UI" panose="020B0503020204020204" pitchFamily="34" charset="-122"/>
                <a:ea typeface="Microsoft YaHei UI" panose="020B0503020204020204" pitchFamily="34" charset="-122"/>
              </a:rPr>
              <a:t>（概率测度）</a:t>
            </a:r>
            <a:endParaRPr lang="en-US" altLang="zh-CN" sz="3200" kern="10" dirty="0">
              <a:ln w="0"/>
              <a:latin typeface="Microsoft YaHei UI" panose="020B0503020204020204" pitchFamily="34" charset="-122"/>
              <a:ea typeface="Microsoft YaHei UI" panose="020B0503020204020204" pitchFamily="34" charset="-122"/>
            </a:endParaRPr>
          </a:p>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Probability computation</a:t>
            </a:r>
            <a:r>
              <a:rPr lang="zh-CN" altLang="en-US" sz="3200" kern="10" dirty="0">
                <a:ln w="0"/>
                <a:latin typeface="Microsoft YaHei UI" panose="020B0503020204020204" pitchFamily="34" charset="-122"/>
                <a:ea typeface="Microsoft YaHei UI" panose="020B0503020204020204" pitchFamily="34" charset="-122"/>
              </a:rPr>
              <a:t>（概率计算）</a:t>
            </a:r>
            <a:endParaRPr lang="en-US" altLang="zh-CN" sz="3200" kern="10" dirty="0">
              <a:ln w="0"/>
              <a:latin typeface="Microsoft YaHei UI" panose="020B0503020204020204" pitchFamily="34" charset="-122"/>
              <a:ea typeface="Microsoft YaHei UI" panose="020B0503020204020204" pitchFamily="34" charset="-122"/>
            </a:endParaRPr>
          </a:p>
          <a:p>
            <a:pPr marL="457200" indent="-457200">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Conditional probability</a:t>
            </a:r>
            <a:r>
              <a:rPr lang="zh-CN" altLang="en-US" sz="3200" kern="10" dirty="0">
                <a:ln w="0"/>
                <a:latin typeface="Microsoft YaHei UI" panose="020B0503020204020204" pitchFamily="34" charset="-122"/>
                <a:ea typeface="Microsoft YaHei UI" panose="020B0503020204020204" pitchFamily="34" charset="-122"/>
              </a:rPr>
              <a:t>（条件概率）</a:t>
            </a:r>
            <a:endParaRPr lang="en-US" altLang="zh-CN" sz="3200" kern="10" dirty="0">
              <a:ln w="0"/>
              <a:latin typeface="Microsoft YaHei UI" panose="020B0503020204020204" pitchFamily="34" charset="-122"/>
              <a:ea typeface="Microsoft YaHei UI" panose="020B0503020204020204" pitchFamily="34" charset="-122"/>
            </a:endParaRPr>
          </a:p>
          <a:p>
            <a:pPr marL="457200" indent="-457200">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Independence</a:t>
            </a:r>
            <a:r>
              <a:rPr lang="zh-CN" altLang="en-US" sz="3200" kern="10" dirty="0">
                <a:ln w="0"/>
                <a:latin typeface="Microsoft YaHei UI" panose="020B0503020204020204" pitchFamily="34" charset="-122"/>
                <a:ea typeface="Microsoft YaHei UI" panose="020B0503020204020204" pitchFamily="34" charset="-122"/>
              </a:rPr>
              <a:t>（独立性）</a:t>
            </a:r>
            <a:endParaRPr lang="zh-CN" altLang="en-US" sz="3200" dirty="0"/>
          </a:p>
        </p:txBody>
      </p:sp>
    </p:spTree>
    <p:extLst>
      <p:ext uri="{BB962C8B-B14F-4D97-AF65-F5344CB8AC3E}">
        <p14:creationId xmlns:p14="http://schemas.microsoft.com/office/powerpoint/2010/main" val="2800360401"/>
      </p:ext>
    </p:extLst>
  </p:cSld>
  <p:clrMapOvr>
    <a:masterClrMapping/>
  </p:clrMapOvr>
  <p:transition spd="med">
    <p:zoom dir="in"/>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22">
            <a:extLst>
              <a:ext uri="{FF2B5EF4-FFF2-40B4-BE49-F238E27FC236}">
                <a16:creationId xmlns:a16="http://schemas.microsoft.com/office/drawing/2014/main" id="{D5DA6B12-5A40-4286-948E-8E831E43A936}"/>
              </a:ext>
            </a:extLst>
          </p:cNvPr>
          <p:cNvSpPr>
            <a:spLocks noChangeArrowheads="1"/>
          </p:cNvSpPr>
          <p:nvPr/>
        </p:nvSpPr>
        <p:spPr bwMode="auto">
          <a:xfrm>
            <a:off x="1588" y="533401"/>
            <a:ext cx="9142412" cy="76200"/>
          </a:xfrm>
          <a:prstGeom prst="rect">
            <a:avLst/>
          </a:prstGeom>
          <a:gradFill rotWithShape="0">
            <a:gsLst>
              <a:gs pos="0">
                <a:srgbClr val="00CCCC"/>
              </a:gs>
              <a:gs pos="100000">
                <a:srgbClr val="005D5D"/>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en-US" altLang="en-US" sz="2800" b="1">
              <a:solidFill>
                <a:srgbClr val="FFFFFF"/>
              </a:solidFill>
              <a:latin typeface="华文新魏" panose="02010800040101010101" pitchFamily="2" charset="-122"/>
              <a:ea typeface="华文新魏" panose="02010800040101010101" pitchFamily="2" charset="-122"/>
              <a:sym typeface="Times New Roman" panose="02020603050405020304" pitchFamily="18" charset="0"/>
            </a:endParaRPr>
          </a:p>
        </p:txBody>
      </p:sp>
      <p:sp>
        <p:nvSpPr>
          <p:cNvPr id="11" name="WordArt 147">
            <a:extLst>
              <a:ext uri="{FF2B5EF4-FFF2-40B4-BE49-F238E27FC236}">
                <a16:creationId xmlns:a16="http://schemas.microsoft.com/office/drawing/2014/main" id="{FA1D9EC9-917D-4885-BB37-3CF2C16C0BDB}"/>
              </a:ext>
            </a:extLst>
          </p:cNvPr>
          <p:cNvSpPr>
            <a:spLocks noChangeArrowheads="1" noChangeShapeType="1" noTextEdit="1"/>
          </p:cNvSpPr>
          <p:nvPr/>
        </p:nvSpPr>
        <p:spPr bwMode="auto">
          <a:xfrm>
            <a:off x="2352583" y="1182688"/>
            <a:ext cx="4669653" cy="520700"/>
          </a:xfrm>
          <a:prstGeom prst="rect">
            <a:avLst/>
          </a:prstGeom>
          <a:extLst>
            <a:ext uri="{91240B29-F687-4F45-9708-019B960494DF}">
              <a14:hiddenLine xmlns:a14="http://schemas.microsoft.com/office/drawing/2010/main" w="0">
                <a:solidFill>
                  <a:srgbClr val="000000"/>
                </a:solidFill>
                <a:round/>
                <a:headEnd/>
                <a:tailEnd/>
              </a14:hiddenLine>
            </a:ext>
          </a:extLst>
        </p:spPr>
        <p:txBody>
          <a:bodyPr wrap="none" fromWordArt="1">
            <a:prstTxWarp prst="textPlain">
              <a:avLst>
                <a:gd name="adj" fmla="val 50000"/>
              </a:avLst>
            </a:prstTxWarp>
          </a:bodyPr>
          <a:lstStyle/>
          <a:p>
            <a:r>
              <a:rPr lang="en-US" altLang="zh-CN" sz="3600" b="1" kern="10" dirty="0">
                <a:solidFill>
                  <a:schemeClr val="accent1"/>
                </a:solidFill>
                <a:latin typeface="Microsoft YaHei UI" panose="020B0503020204020204" pitchFamily="34" charset="-122"/>
                <a:ea typeface="Microsoft YaHei UI" panose="020B0503020204020204" pitchFamily="34" charset="-122"/>
              </a:rPr>
              <a:t>Chapter One  Probability</a:t>
            </a:r>
            <a:endParaRPr lang="zh-CN" altLang="en-US" sz="3600" b="1" kern="10" dirty="0">
              <a:solidFill>
                <a:schemeClr val="accent1"/>
              </a:solidFill>
              <a:latin typeface="Microsoft YaHei UI" panose="020B0503020204020204" pitchFamily="34" charset="-122"/>
              <a:ea typeface="Microsoft YaHei UI" panose="020B0503020204020204" pitchFamily="34" charset="-122"/>
            </a:endParaRPr>
          </a:p>
        </p:txBody>
      </p:sp>
      <p:sp>
        <p:nvSpPr>
          <p:cNvPr id="12" name="文本框 11">
            <a:extLst>
              <a:ext uri="{FF2B5EF4-FFF2-40B4-BE49-F238E27FC236}">
                <a16:creationId xmlns:a16="http://schemas.microsoft.com/office/drawing/2014/main" id="{80D573AB-1CCC-49B1-A84B-8A198166BF9D}"/>
              </a:ext>
            </a:extLst>
          </p:cNvPr>
          <p:cNvSpPr txBox="1"/>
          <p:nvPr/>
        </p:nvSpPr>
        <p:spPr>
          <a:xfrm>
            <a:off x="776394" y="2132785"/>
            <a:ext cx="7863404" cy="3785652"/>
          </a:xfrm>
          <a:prstGeom prst="rect">
            <a:avLst/>
          </a:prstGeom>
          <a:noFill/>
        </p:spPr>
        <p:txBody>
          <a:bodyPr wrap="square">
            <a:spAutoFit/>
          </a:bodyPr>
          <a:lstStyle/>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rPr>
              <a:t>Sample space</a:t>
            </a:r>
            <a:r>
              <a:rPr lang="zh-CN" altLang="en-US" sz="3200" kern="10" dirty="0">
                <a:ln w="0"/>
                <a:solidFill>
                  <a:schemeClr val="bg1">
                    <a:lumMod val="75000"/>
                  </a:schemeClr>
                </a:solidFill>
                <a:latin typeface="Microsoft YaHei UI" panose="020B0503020204020204" pitchFamily="34" charset="-122"/>
                <a:ea typeface="Microsoft YaHei UI" panose="020B0503020204020204" pitchFamily="34" charset="-122"/>
              </a:rPr>
              <a:t>（样本空间）</a:t>
            </a:r>
            <a:endPar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endParaRPr>
          </a:p>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rPr>
              <a:t>Probability measure</a:t>
            </a:r>
            <a:r>
              <a:rPr lang="zh-CN" altLang="en-US" sz="3200" kern="10" dirty="0">
                <a:ln w="0"/>
                <a:solidFill>
                  <a:schemeClr val="bg1">
                    <a:lumMod val="75000"/>
                  </a:schemeClr>
                </a:solidFill>
                <a:latin typeface="Microsoft YaHei UI" panose="020B0503020204020204" pitchFamily="34" charset="-122"/>
                <a:ea typeface="Microsoft YaHei UI" panose="020B0503020204020204" pitchFamily="34" charset="-122"/>
              </a:rPr>
              <a:t>（概率测度）</a:t>
            </a:r>
            <a:endPar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endParaRPr>
          </a:p>
          <a:p>
            <a:pPr marL="457200" indent="-457200" eaLnBrk="1" fontAlgn="auto" hangingPunct="1">
              <a:spcBef>
                <a:spcPts val="600"/>
              </a:spcBef>
              <a:spcAft>
                <a:spcPts val="1800"/>
              </a:spcAft>
              <a:buFont typeface="Wingdings" panose="05000000000000000000" pitchFamily="2" charset="2"/>
              <a:buChar char="Ø"/>
              <a:defRPr/>
            </a:pPr>
            <a:r>
              <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rPr>
              <a:t>Probability computation</a:t>
            </a:r>
            <a:r>
              <a:rPr lang="zh-CN" altLang="en-US" sz="3200" kern="10" dirty="0">
                <a:ln w="0"/>
                <a:solidFill>
                  <a:schemeClr val="bg1">
                    <a:lumMod val="75000"/>
                  </a:schemeClr>
                </a:solidFill>
                <a:latin typeface="Microsoft YaHei UI" panose="020B0503020204020204" pitchFamily="34" charset="-122"/>
                <a:ea typeface="Microsoft YaHei UI" panose="020B0503020204020204" pitchFamily="34" charset="-122"/>
              </a:rPr>
              <a:t>（概率计算）</a:t>
            </a:r>
            <a:endPar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endParaRPr>
          </a:p>
          <a:p>
            <a:pPr marL="457200" indent="-457200">
              <a:spcBef>
                <a:spcPts val="600"/>
              </a:spcBef>
              <a:spcAft>
                <a:spcPts val="1800"/>
              </a:spcAft>
              <a:buFont typeface="Wingdings" panose="05000000000000000000" pitchFamily="2" charset="2"/>
              <a:buChar char="Ø"/>
              <a:defRPr/>
            </a:pPr>
            <a:r>
              <a:rPr lang="en-US" altLang="zh-CN" sz="3200" kern="10" dirty="0">
                <a:ln w="0"/>
                <a:latin typeface="Microsoft YaHei UI" panose="020B0503020204020204" pitchFamily="34" charset="-122"/>
                <a:ea typeface="Microsoft YaHei UI" panose="020B0503020204020204" pitchFamily="34" charset="-122"/>
              </a:rPr>
              <a:t>Conditional probability</a:t>
            </a:r>
            <a:r>
              <a:rPr lang="zh-CN" altLang="en-US" sz="3200" kern="10" dirty="0">
                <a:ln w="0"/>
                <a:latin typeface="Microsoft YaHei UI" panose="020B0503020204020204" pitchFamily="34" charset="-122"/>
                <a:ea typeface="Microsoft YaHei UI" panose="020B0503020204020204" pitchFamily="34" charset="-122"/>
              </a:rPr>
              <a:t>（条件概率）</a:t>
            </a:r>
            <a:endParaRPr lang="en-US" altLang="zh-CN" sz="3200" kern="10" dirty="0">
              <a:ln w="0"/>
              <a:latin typeface="Microsoft YaHei UI" panose="020B0503020204020204" pitchFamily="34" charset="-122"/>
              <a:ea typeface="Microsoft YaHei UI" panose="020B0503020204020204" pitchFamily="34" charset="-122"/>
            </a:endParaRPr>
          </a:p>
          <a:p>
            <a:pPr marL="457200" indent="-457200">
              <a:spcBef>
                <a:spcPts val="600"/>
              </a:spcBef>
              <a:spcAft>
                <a:spcPts val="1800"/>
              </a:spcAft>
              <a:buFont typeface="Wingdings" panose="05000000000000000000" pitchFamily="2" charset="2"/>
              <a:buChar char="Ø"/>
              <a:defRPr/>
            </a:pPr>
            <a:r>
              <a:rPr lang="en-US" altLang="zh-CN" sz="3200" kern="10" dirty="0">
                <a:ln w="0"/>
                <a:solidFill>
                  <a:schemeClr val="bg1">
                    <a:lumMod val="75000"/>
                  </a:schemeClr>
                </a:solidFill>
                <a:latin typeface="Microsoft YaHei UI" panose="020B0503020204020204" pitchFamily="34" charset="-122"/>
                <a:ea typeface="Microsoft YaHei UI" panose="020B0503020204020204" pitchFamily="34" charset="-122"/>
              </a:rPr>
              <a:t>Independence</a:t>
            </a:r>
            <a:r>
              <a:rPr lang="zh-CN" altLang="en-US" sz="3200" kern="10" dirty="0">
                <a:ln w="0"/>
                <a:solidFill>
                  <a:schemeClr val="bg1">
                    <a:lumMod val="75000"/>
                  </a:schemeClr>
                </a:solidFill>
                <a:latin typeface="Microsoft YaHei UI" panose="020B0503020204020204" pitchFamily="34" charset="-122"/>
                <a:ea typeface="Microsoft YaHei UI" panose="020B0503020204020204" pitchFamily="34" charset="-122"/>
              </a:rPr>
              <a:t>（独立性）</a:t>
            </a:r>
            <a:endParaRPr lang="zh-CN" altLang="en-US" sz="3200" dirty="0">
              <a:solidFill>
                <a:schemeClr val="bg1">
                  <a:lumMod val="75000"/>
                </a:schemeClr>
              </a:solidFill>
            </a:endParaRPr>
          </a:p>
        </p:txBody>
      </p:sp>
    </p:spTree>
    <p:extLst>
      <p:ext uri="{BB962C8B-B14F-4D97-AF65-F5344CB8AC3E}">
        <p14:creationId xmlns:p14="http://schemas.microsoft.com/office/powerpoint/2010/main" val="3217941435"/>
      </p:ext>
    </p:extLst>
  </p:cSld>
  <p:clrMapOvr>
    <a:masterClrMapping/>
  </p:clrMapOvr>
  <p:transition spd="med">
    <p:zoom dir="in"/>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1F846874-089D-49F5-B0A0-12D6B79FB498}"/>
              </a:ext>
            </a:extLst>
          </p:cNvPr>
          <p:cNvSpPr txBox="1"/>
          <p:nvPr/>
        </p:nvSpPr>
        <p:spPr>
          <a:xfrm>
            <a:off x="710583" y="4431163"/>
            <a:ext cx="5299849"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Analyze:</a:t>
            </a:r>
            <a:r>
              <a:rPr lang="en-US" altLang="zh-CN"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let B = {at least one head} = {HH,HT,TH}</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p:sp>
        <p:nvSpPr>
          <p:cNvPr id="10" name="文本框 9">
            <a:extLst>
              <a:ext uri="{FF2B5EF4-FFF2-40B4-BE49-F238E27FC236}">
                <a16:creationId xmlns:a16="http://schemas.microsoft.com/office/drawing/2014/main" id="{A2814005-19C1-464F-B68B-FC422C284CC8}"/>
              </a:ext>
            </a:extLst>
          </p:cNvPr>
          <p:cNvSpPr txBox="1"/>
          <p:nvPr/>
        </p:nvSpPr>
        <p:spPr>
          <a:xfrm>
            <a:off x="1605713" y="4902275"/>
            <a:ext cx="4546437"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Since B happened, the sample space became</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4A56CC7-CB42-4D7C-AF1E-07AAAB869B10}"/>
                  </a:ext>
                </a:extLst>
              </p:cNvPr>
              <p:cNvSpPr txBox="1"/>
              <p:nvPr/>
            </p:nvSpPr>
            <p:spPr>
              <a:xfrm>
                <a:off x="2125441" y="5295263"/>
                <a:ext cx="4929701" cy="2857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solidFill>
                                <a:schemeClr val="tx1"/>
                              </a:solidFill>
                              <a:latin typeface="Cambria Math" panose="02040503050406030204" pitchFamily="18" charset="0"/>
                            </a:rPr>
                          </m:ctrlPr>
                        </m:accPr>
                        <m:e>
                          <m:r>
                            <m:rPr>
                              <m:sty m:val="p"/>
                            </m:rPr>
                            <a:rPr lang="en-US" altLang="zh-CN" b="0" i="0" smtClean="0">
                              <a:solidFill>
                                <a:schemeClr val="tx1"/>
                              </a:solidFill>
                              <a:latin typeface="Cambria Math" panose="02040503050406030204" pitchFamily="18" charset="0"/>
                            </a:rPr>
                            <m:t>Ω</m:t>
                          </m:r>
                        </m:e>
                      </m:acc>
                      <m:r>
                        <a:rPr lang="en-US" altLang="zh-CN" b="0" i="1" smtClean="0">
                          <a:solidFill>
                            <a:schemeClr val="tx1"/>
                          </a:solidFill>
                          <a:latin typeface="Cambria Math" panose="02040503050406030204" pitchFamily="18" charset="0"/>
                        </a:rPr>
                        <m:t>=</m:t>
                      </m:r>
                      <m:r>
                        <m:rPr>
                          <m:sty m:val="p"/>
                        </m:rPr>
                        <a:rPr lang="en-US" altLang="zh-CN">
                          <a:latin typeface="Cambria Math" panose="02040503050406030204" pitchFamily="18" charset="0"/>
                        </a:rPr>
                        <m:t>Ω</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b="0" i="1" smtClean="0">
                          <a:solidFill>
                            <a:schemeClr val="tx1"/>
                          </a:solidFill>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𝐻𝐻</m:t>
                          </m:r>
                          <m:r>
                            <a:rPr lang="en-US" altLang="zh-CN" i="1">
                              <a:latin typeface="Cambria Math" panose="02040503050406030204" pitchFamily="18" charset="0"/>
                            </a:rPr>
                            <m:t>,</m:t>
                          </m:r>
                          <m:r>
                            <a:rPr lang="en-US" altLang="zh-CN" i="1">
                              <a:latin typeface="Cambria Math" panose="02040503050406030204" pitchFamily="18" charset="0"/>
                            </a:rPr>
                            <m:t>𝐻𝑇</m:t>
                          </m:r>
                          <m:r>
                            <a:rPr lang="en-US" altLang="zh-CN" i="1">
                              <a:latin typeface="Cambria Math" panose="02040503050406030204" pitchFamily="18" charset="0"/>
                            </a:rPr>
                            <m:t>,</m:t>
                          </m:r>
                          <m:r>
                            <a:rPr lang="en-US" altLang="zh-CN" i="1">
                              <a:latin typeface="Cambria Math" panose="02040503050406030204" pitchFamily="18" charset="0"/>
                            </a:rPr>
                            <m:t>𝑇𝐻</m:t>
                          </m:r>
                        </m:e>
                      </m:d>
                    </m:oMath>
                  </m:oMathPara>
                </a14:m>
                <a:endParaRPr lang="zh-CN" altLang="en-US" dirty="0">
                  <a:solidFill>
                    <a:schemeClr val="tx1"/>
                  </a:solidFill>
                </a:endParaRPr>
              </a:p>
            </p:txBody>
          </p:sp>
        </mc:Choice>
        <mc:Fallback xmlns="">
          <p:sp>
            <p:nvSpPr>
              <p:cNvPr id="11" name="文本框 10">
                <a:extLst>
                  <a:ext uri="{FF2B5EF4-FFF2-40B4-BE49-F238E27FC236}">
                    <a16:creationId xmlns:a16="http://schemas.microsoft.com/office/drawing/2014/main" id="{64A56CC7-CB42-4D7C-AF1E-07AAAB869B10}"/>
                  </a:ext>
                </a:extLst>
              </p:cNvPr>
              <p:cNvSpPr txBox="1">
                <a:spLocks noRot="1" noChangeAspect="1" noMove="1" noResize="1" noEditPoints="1" noAdjustHandles="1" noChangeArrowheads="1" noChangeShapeType="1" noTextEdit="1"/>
              </p:cNvSpPr>
              <p:nvPr/>
            </p:nvSpPr>
            <p:spPr>
              <a:xfrm>
                <a:off x="2125441" y="5295263"/>
                <a:ext cx="4929701" cy="285719"/>
              </a:xfrm>
              <a:prstGeom prst="rect">
                <a:avLst/>
              </a:prstGeom>
              <a:blipFill>
                <a:blip r:embed="rId3"/>
                <a:stretch>
                  <a:fillRect t="-13043" b="-1739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71FF3AE-D613-486E-A433-7C1549656BEB}"/>
                  </a:ext>
                </a:extLst>
              </p:cNvPr>
              <p:cNvSpPr txBox="1"/>
              <p:nvPr/>
            </p:nvSpPr>
            <p:spPr>
              <a:xfrm>
                <a:off x="7801916" y="5538219"/>
                <a:ext cx="190757"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3</m:t>
                          </m:r>
                        </m:den>
                      </m:f>
                    </m:oMath>
                  </m:oMathPara>
                </a14:m>
                <a:endParaRPr lang="zh-CN" altLang="en-US" dirty="0"/>
              </a:p>
            </p:txBody>
          </p:sp>
        </mc:Choice>
        <mc:Fallback xmlns="">
          <p:sp>
            <p:nvSpPr>
              <p:cNvPr id="12" name="文本框 11">
                <a:extLst>
                  <a:ext uri="{FF2B5EF4-FFF2-40B4-BE49-F238E27FC236}">
                    <a16:creationId xmlns:a16="http://schemas.microsoft.com/office/drawing/2014/main" id="{471FF3AE-D613-486E-A433-7C1549656BEB}"/>
                  </a:ext>
                </a:extLst>
              </p:cNvPr>
              <p:cNvSpPr txBox="1">
                <a:spLocks noRot="1" noChangeAspect="1" noMove="1" noResize="1" noEditPoints="1" noAdjustHandles="1" noChangeArrowheads="1" noChangeShapeType="1" noTextEdit="1"/>
              </p:cNvSpPr>
              <p:nvPr/>
            </p:nvSpPr>
            <p:spPr>
              <a:xfrm>
                <a:off x="7801916" y="5538219"/>
                <a:ext cx="190757" cy="520399"/>
              </a:xfrm>
              <a:prstGeom prst="rect">
                <a:avLst/>
              </a:prstGeom>
              <a:blipFill>
                <a:blip r:embed="rId4"/>
                <a:stretch>
                  <a:fillRect l="-25000" t="-7143" r="-25000" b="-11905"/>
                </a:stretch>
              </a:blipFill>
            </p:spPr>
            <p:txBody>
              <a:bodyPr/>
              <a:lstStyle/>
              <a:p>
                <a:r>
                  <a:rPr lang="en-CN">
                    <a:noFill/>
                  </a:rPr>
                  <a:t> </a:t>
                </a:r>
              </a:p>
            </p:txBody>
          </p:sp>
        </mc:Fallback>
      </mc:AlternateContent>
      <p:sp>
        <p:nvSpPr>
          <p:cNvPr id="16" name="矩形 15"/>
          <p:cNvSpPr/>
          <p:nvPr/>
        </p:nvSpPr>
        <p:spPr>
          <a:xfrm>
            <a:off x="1578911" y="5595479"/>
            <a:ext cx="6906960" cy="405880"/>
          </a:xfrm>
          <a:prstGeom prst="rect">
            <a:avLst/>
          </a:prstGeom>
        </p:spPr>
        <p:txBody>
          <a:bodyPr wrap="square">
            <a:spAutoFit/>
          </a:bodyPr>
          <a:lstStyle/>
          <a:p>
            <a:pPr lvl="0">
              <a:lnSpc>
                <a:spcPct val="120000"/>
              </a:lnSpc>
              <a:spcBef>
                <a:spcPct val="50000"/>
              </a:spcBef>
              <a:defRPr/>
            </a:pPr>
            <a:r>
              <a:rPr lang="en-US" altLang="zh-CN" dirty="0">
                <a:latin typeface="华文新魏" pitchFamily="2" charset="-122"/>
                <a:ea typeface="华文新魏" pitchFamily="2" charset="-122"/>
              </a:rPr>
              <a:t>The probability of A happens knowing B has happened</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is</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then</a:t>
            </a:r>
            <a:endParaRPr lang="zh-CN" altLang="zh-CN" dirty="0">
              <a:latin typeface="华文新魏" pitchFamily="2" charset="-122"/>
              <a:ea typeface="华文新魏" pitchFamily="2" charset="-122"/>
            </a:endParaRPr>
          </a:p>
        </p:txBody>
      </p:sp>
      <p:sp>
        <p:nvSpPr>
          <p:cNvPr id="17" name="Rectangle 106"/>
          <p:cNvSpPr>
            <a:spLocks noChangeArrowheads="1"/>
          </p:cNvSpPr>
          <p:nvPr/>
        </p:nvSpPr>
        <p:spPr bwMode="auto">
          <a:xfrm>
            <a:off x="1723014" y="2467067"/>
            <a:ext cx="6031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zh-CN" dirty="0">
                <a:latin typeface="华文新魏" panose="02010800040101010101" pitchFamily="2" charset="-122"/>
                <a:ea typeface="华文新魏" panose="02010800040101010101" pitchFamily="2" charset="-122"/>
              </a:rPr>
              <a:t>Let A = {one head and one tail} = {HT,TH}</a:t>
            </a:r>
            <a:endParaRPr lang="zh-CN" altLang="en-US" dirty="0">
              <a:latin typeface="华文新魏" panose="02010800040101010101" pitchFamily="2" charset="-122"/>
              <a:ea typeface="华文新魏" panose="02010800040101010101" pitchFamily="2" charset="-122"/>
            </a:endParaRPr>
          </a:p>
        </p:txBody>
      </p:sp>
      <p:sp>
        <p:nvSpPr>
          <p:cNvPr id="18" name="文本框 1">
            <a:extLst>
              <a:ext uri="{FF2B5EF4-FFF2-40B4-BE49-F238E27FC236}">
                <a16:creationId xmlns:a16="http://schemas.microsoft.com/office/drawing/2014/main" id="{6F40613C-751F-4EB1-9900-9FD182C1D14C}"/>
              </a:ext>
            </a:extLst>
          </p:cNvPr>
          <p:cNvSpPr txBox="1"/>
          <p:nvPr/>
        </p:nvSpPr>
        <p:spPr>
          <a:xfrm>
            <a:off x="491942" y="604461"/>
            <a:ext cx="1459540" cy="461665"/>
          </a:xfrm>
          <a:prstGeom prst="rect">
            <a:avLst/>
          </a:prstGeom>
          <a:noFill/>
        </p:spPr>
        <p:txBody>
          <a:bodyPr wrap="square" rtlCol="0">
            <a:spAutoFit/>
          </a:bodyPr>
          <a:lstStyle/>
          <a:p>
            <a:r>
              <a:rPr lang="en-US" altLang="zh-CN" sz="24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a:t>
            </a:r>
            <a:endParaRPr lang="zh-CN" altLang="en-US" sz="24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9" name="文本框 2">
            <a:extLst>
              <a:ext uri="{FF2B5EF4-FFF2-40B4-BE49-F238E27FC236}">
                <a16:creationId xmlns:a16="http://schemas.microsoft.com/office/drawing/2014/main" id="{B76AE6B3-0795-4ECD-AE2F-8E618514302C}"/>
              </a:ext>
            </a:extLst>
          </p:cNvPr>
          <p:cNvSpPr txBox="1"/>
          <p:nvPr/>
        </p:nvSpPr>
        <p:spPr>
          <a:xfrm>
            <a:off x="2069195" y="624730"/>
            <a:ext cx="6416676" cy="769441"/>
          </a:xfrm>
          <a:prstGeom prst="rect">
            <a:avLst/>
          </a:prstGeom>
          <a:noFill/>
        </p:spPr>
        <p:txBody>
          <a:bodyPr wrap="square" rtlCol="0">
            <a:spAutoFit/>
          </a:bodyPr>
          <a:lstStyle/>
          <a:p>
            <a:r>
              <a:rPr lang="en-US" altLang="zh-CN" sz="2200" dirty="0">
                <a:latin typeface="华文新魏" panose="02010800040101010101" pitchFamily="2" charset="-122"/>
                <a:ea typeface="华文新魏" panose="02010800040101010101" pitchFamily="2" charset="-122"/>
              </a:rPr>
              <a:t>Student X tossed two coins and let student Y guess. Student Y guessed one head</a:t>
            </a:r>
            <a:r>
              <a:rPr lang="zh-CN" altLang="en-US" sz="2200" dirty="0">
                <a:latin typeface="华文新魏" panose="02010800040101010101" pitchFamily="2" charset="-122"/>
                <a:ea typeface="华文新魏" panose="02010800040101010101" pitchFamily="2" charset="-122"/>
              </a:rPr>
              <a:t> </a:t>
            </a:r>
            <a:r>
              <a:rPr lang="en-US" altLang="zh-CN" sz="2200" dirty="0" smtClean="0">
                <a:latin typeface="华文新魏" panose="02010800040101010101" pitchFamily="2" charset="-122"/>
                <a:ea typeface="华文新魏" panose="02010800040101010101" pitchFamily="2" charset="-122"/>
              </a:rPr>
              <a:t>and </a:t>
            </a:r>
            <a:r>
              <a:rPr lang="en-US" altLang="zh-CN" sz="2200">
                <a:latin typeface="华文新魏" panose="02010800040101010101" pitchFamily="2" charset="-122"/>
                <a:ea typeface="华文新魏" panose="02010800040101010101" pitchFamily="2" charset="-122"/>
              </a:rPr>
              <a:t>one </a:t>
            </a:r>
            <a:r>
              <a:rPr lang="en-US" altLang="zh-CN" sz="2200" smtClean="0">
                <a:latin typeface="华文新魏" panose="02010800040101010101" pitchFamily="2" charset="-122"/>
                <a:ea typeface="华文新魏" panose="02010800040101010101" pitchFamily="2" charset="-122"/>
              </a:rPr>
              <a:t>tail.</a:t>
            </a:r>
            <a:endParaRPr lang="zh-CN" altLang="en-US" sz="2200" dirty="0">
              <a:latin typeface="华文新魏" panose="02010800040101010101" pitchFamily="2" charset="-122"/>
              <a:ea typeface="华文新魏" panose="02010800040101010101" pitchFamily="2" charset="-122"/>
            </a:endParaRPr>
          </a:p>
        </p:txBody>
      </p:sp>
      <p:sp>
        <p:nvSpPr>
          <p:cNvPr id="20" name="文本框 3">
            <a:extLst>
              <a:ext uri="{FF2B5EF4-FFF2-40B4-BE49-F238E27FC236}">
                <a16:creationId xmlns:a16="http://schemas.microsoft.com/office/drawing/2014/main" id="{A7C3738A-FE4A-4B9A-B154-7D116B68E856}"/>
              </a:ext>
            </a:extLst>
          </p:cNvPr>
          <p:cNvSpPr txBox="1"/>
          <p:nvPr/>
        </p:nvSpPr>
        <p:spPr>
          <a:xfrm>
            <a:off x="589912" y="1371084"/>
            <a:ext cx="6160661" cy="369332"/>
          </a:xfrm>
          <a:prstGeom prst="rect">
            <a:avLst/>
          </a:prstGeom>
          <a:noFill/>
        </p:spPr>
        <p:txBody>
          <a:bodyPr wrap="non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 </a:t>
            </a:r>
            <a:r>
              <a:rPr lang="en-US" altLang="zh-CN" dirty="0">
                <a:latin typeface="华文新魏" panose="02010800040101010101" pitchFamily="2" charset="-122"/>
                <a:ea typeface="华文新魏" panose="02010800040101010101" pitchFamily="2" charset="-122"/>
              </a:rPr>
              <a:t>What is the probability that student Y was correct?</a:t>
            </a:r>
            <a:endParaRPr lang="zh-CN" altLang="en-US" dirty="0">
              <a:latin typeface="华文新魏" panose="02010800040101010101" pitchFamily="2" charset="-122"/>
              <a:ea typeface="华文新魏" panose="02010800040101010101" pitchFamily="2" charset="-122"/>
            </a:endParaRPr>
          </a:p>
        </p:txBody>
      </p:sp>
      <p:sp>
        <p:nvSpPr>
          <p:cNvPr id="21" name="文本框 4">
            <a:extLst>
              <a:ext uri="{FF2B5EF4-FFF2-40B4-BE49-F238E27FC236}">
                <a16:creationId xmlns:a16="http://schemas.microsoft.com/office/drawing/2014/main" id="{19F31B63-11C9-47E3-B6F3-54A877422B71}"/>
              </a:ext>
            </a:extLst>
          </p:cNvPr>
          <p:cNvSpPr txBox="1"/>
          <p:nvPr/>
        </p:nvSpPr>
        <p:spPr>
          <a:xfrm>
            <a:off x="773517" y="1752889"/>
            <a:ext cx="3042821"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Analyze:</a:t>
            </a:r>
            <a:r>
              <a:rPr lang="en-US" altLang="zh-CN"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The sample space is</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22" name="文本框 5">
                <a:extLst>
                  <a:ext uri="{FF2B5EF4-FFF2-40B4-BE49-F238E27FC236}">
                    <a16:creationId xmlns:a16="http://schemas.microsoft.com/office/drawing/2014/main" id="{B1978229-C53D-4965-A881-9DF2A50B3B22}"/>
                  </a:ext>
                </a:extLst>
              </p:cNvPr>
              <p:cNvSpPr txBox="1"/>
              <p:nvPr/>
            </p:nvSpPr>
            <p:spPr>
              <a:xfrm>
                <a:off x="2981273" y="2157959"/>
                <a:ext cx="22084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Ω</m:t>
                      </m:r>
                      <m:r>
                        <a:rPr lang="en-US" altLang="zh-CN" b="0" i="1" smtClean="0">
                          <a:latin typeface="Cambria Math" panose="02040503050406030204" pitchFamily="18" charset="0"/>
                        </a:rPr>
                        <m:t>={</m:t>
                      </m:r>
                      <m:r>
                        <a:rPr lang="en-US" altLang="zh-CN" b="0" i="1" smtClean="0">
                          <a:latin typeface="Cambria Math" panose="02040503050406030204" pitchFamily="18" charset="0"/>
                        </a:rPr>
                        <m:t>𝐻𝐻</m:t>
                      </m:r>
                      <m:r>
                        <a:rPr lang="en-US" altLang="zh-CN" b="0" i="1" smtClean="0">
                          <a:latin typeface="Cambria Math" panose="02040503050406030204" pitchFamily="18" charset="0"/>
                        </a:rPr>
                        <m:t>,</m:t>
                      </m:r>
                      <m:r>
                        <a:rPr lang="en-US" altLang="zh-CN" b="0" i="1" smtClean="0">
                          <a:latin typeface="Cambria Math" panose="02040503050406030204" pitchFamily="18" charset="0"/>
                        </a:rPr>
                        <m:t>𝐻𝑇</m:t>
                      </m:r>
                      <m:r>
                        <a:rPr lang="en-US" altLang="zh-CN" b="0" i="1" smtClean="0">
                          <a:latin typeface="Cambria Math" panose="02040503050406030204" pitchFamily="18" charset="0"/>
                        </a:rPr>
                        <m:t>,</m:t>
                      </m:r>
                      <m:r>
                        <a:rPr lang="en-US" altLang="zh-CN" b="0" i="1" smtClean="0">
                          <a:latin typeface="Cambria Math" panose="02040503050406030204" pitchFamily="18" charset="0"/>
                        </a:rPr>
                        <m:t>𝑇𝐻</m:t>
                      </m:r>
                      <m:r>
                        <a:rPr lang="en-US" altLang="zh-CN" b="0" i="1" smtClean="0">
                          <a:latin typeface="Cambria Math" panose="02040503050406030204" pitchFamily="18" charset="0"/>
                        </a:rPr>
                        <m:t>,</m:t>
                      </m:r>
                      <m:r>
                        <a:rPr lang="en-US" altLang="zh-CN" b="0" i="1" smtClean="0">
                          <a:latin typeface="Cambria Math" panose="02040503050406030204" pitchFamily="18" charset="0"/>
                        </a:rPr>
                        <m:t>𝑇𝑇</m:t>
                      </m:r>
                      <m:r>
                        <a:rPr lang="en-US" altLang="zh-CN" b="0" i="1" smtClean="0">
                          <a:latin typeface="Cambria Math" panose="02040503050406030204" pitchFamily="18" charset="0"/>
                        </a:rPr>
                        <m:t>}</m:t>
                      </m:r>
                    </m:oMath>
                  </m:oMathPara>
                </a14:m>
                <a:endParaRPr lang="zh-CN" altLang="en-US" dirty="0"/>
              </a:p>
            </p:txBody>
          </p:sp>
        </mc:Choice>
        <mc:Fallback xmlns="">
          <p:sp>
            <p:nvSpPr>
              <p:cNvPr id="22" name="文本框 5">
                <a:extLst>
                  <a:ext uri="{FF2B5EF4-FFF2-40B4-BE49-F238E27FC236}">
                    <a16:creationId xmlns:a16="http://schemas.microsoft.com/office/drawing/2014/main" id="{B1978229-C53D-4965-A881-9DF2A50B3B22}"/>
                  </a:ext>
                </a:extLst>
              </p:cNvPr>
              <p:cNvSpPr txBox="1">
                <a:spLocks noRot="1" noChangeAspect="1" noMove="1" noResize="1" noEditPoints="1" noAdjustHandles="1" noChangeArrowheads="1" noChangeShapeType="1" noTextEdit="1"/>
              </p:cNvSpPr>
              <p:nvPr/>
            </p:nvSpPr>
            <p:spPr>
              <a:xfrm>
                <a:off x="2981273" y="2157959"/>
                <a:ext cx="2208490" cy="276999"/>
              </a:xfrm>
              <a:prstGeom prst="rect">
                <a:avLst/>
              </a:prstGeom>
              <a:blipFill>
                <a:blip r:embed="rId5"/>
                <a:stretch>
                  <a:fillRect l="-1714" r="-3429" b="-3478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3" name="文本框 6">
                <a:extLst>
                  <a:ext uri="{FF2B5EF4-FFF2-40B4-BE49-F238E27FC236}">
                    <a16:creationId xmlns:a16="http://schemas.microsoft.com/office/drawing/2014/main" id="{60965205-6875-4ACD-B0DC-2DDC821F4302}"/>
                  </a:ext>
                </a:extLst>
              </p:cNvPr>
              <p:cNvSpPr txBox="1"/>
              <p:nvPr/>
            </p:nvSpPr>
            <p:spPr>
              <a:xfrm>
                <a:off x="1661370" y="2753463"/>
                <a:ext cx="2253246" cy="483466"/>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then </a:t>
                </a:r>
                <a14:m>
                  <m:oMath xmlns:m="http://schemas.openxmlformats.org/officeDocument/2006/math">
                    <m:r>
                      <a:rPr lang="en-US" altLang="zh-CN" b="0" i="0" smtClean="0">
                        <a:latin typeface="Cambria Math"/>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23" name="文本框 6">
                <a:extLst>
                  <a:ext uri="{FF2B5EF4-FFF2-40B4-BE49-F238E27FC236}">
                    <a16:creationId xmlns:a16="http://schemas.microsoft.com/office/drawing/2014/main" id="{60965205-6875-4ACD-B0DC-2DDC821F4302}"/>
                  </a:ext>
                </a:extLst>
              </p:cNvPr>
              <p:cNvSpPr txBox="1">
                <a:spLocks noRot="1" noChangeAspect="1" noMove="1" noResize="1" noEditPoints="1" noAdjustHandles="1" noChangeArrowheads="1" noChangeShapeType="1" noTextEdit="1"/>
              </p:cNvSpPr>
              <p:nvPr/>
            </p:nvSpPr>
            <p:spPr>
              <a:xfrm>
                <a:off x="1661370" y="2753463"/>
                <a:ext cx="2253246" cy="483466"/>
              </a:xfrm>
              <a:prstGeom prst="rect">
                <a:avLst/>
              </a:prstGeom>
              <a:blipFill>
                <a:blip r:embed="rId6"/>
                <a:stretch>
                  <a:fillRect b="-7692"/>
                </a:stretch>
              </a:blipFill>
            </p:spPr>
            <p:txBody>
              <a:bodyPr/>
              <a:lstStyle/>
              <a:p>
                <a:r>
                  <a:rPr lang="en-CN">
                    <a:noFill/>
                  </a:rPr>
                  <a:t> </a:t>
                </a:r>
              </a:p>
            </p:txBody>
          </p:sp>
        </mc:Fallback>
      </mc:AlternateContent>
      <p:sp>
        <p:nvSpPr>
          <p:cNvPr id="24" name="文本框 7">
            <a:extLst>
              <a:ext uri="{FF2B5EF4-FFF2-40B4-BE49-F238E27FC236}">
                <a16:creationId xmlns:a16="http://schemas.microsoft.com/office/drawing/2014/main" id="{8E9213A1-3A20-4EC8-B792-EB194A8C0284}"/>
              </a:ext>
            </a:extLst>
          </p:cNvPr>
          <p:cNvSpPr txBox="1"/>
          <p:nvPr/>
        </p:nvSpPr>
        <p:spPr>
          <a:xfrm>
            <a:off x="651739" y="3406054"/>
            <a:ext cx="8023312" cy="923330"/>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Questions: </a:t>
            </a:r>
            <a:r>
              <a:rPr lang="en-US" altLang="zh-CN" dirty="0">
                <a:solidFill>
                  <a:schemeClr val="accent1">
                    <a:lumMod val="75000"/>
                  </a:schemeClr>
                </a:solidFill>
                <a:latin typeface="华文新魏" panose="02010800040101010101" pitchFamily="2" charset="-122"/>
                <a:ea typeface="华文新魏" panose="02010800040101010101" pitchFamily="2" charset="-122"/>
              </a:rPr>
              <a:t>What if student Z who had already known the result and</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told student Y that there was at least one head</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on. Then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what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would the probability that student Y was correct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be?</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6503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p:bldP spid="17" grpId="0"/>
      <p:bldP spid="18" grpId="0"/>
      <p:bldP spid="19" grpId="0"/>
      <p:bldP spid="20" grpId="0"/>
      <p:bldP spid="21" grpId="0"/>
      <p:bldP spid="22" grpId="0"/>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F5BF4E6-272D-4E47-BC53-BEA3DAD7C5F2}"/>
              </a:ext>
            </a:extLst>
          </p:cNvPr>
          <p:cNvGrpSpPr/>
          <p:nvPr/>
        </p:nvGrpSpPr>
        <p:grpSpPr>
          <a:xfrm>
            <a:off x="2414737" y="360207"/>
            <a:ext cx="4167116" cy="592090"/>
            <a:chOff x="2770497" y="482643"/>
            <a:chExt cx="4167116" cy="592090"/>
          </a:xfrm>
        </p:grpSpPr>
        <p:sp>
          <p:nvSpPr>
            <p:cNvPr id="4143" name="Line 76"/>
            <p:cNvSpPr>
              <a:spLocks noChangeShapeType="1"/>
            </p:cNvSpPr>
            <p:nvPr/>
          </p:nvSpPr>
          <p:spPr bwMode="auto">
            <a:xfrm flipV="1">
              <a:off x="2770497" y="1048848"/>
              <a:ext cx="4167116" cy="25885"/>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dirty="0"/>
            </a:p>
          </p:txBody>
        </p:sp>
        <p:sp>
          <p:nvSpPr>
            <p:cNvPr id="2" name="文本框 1">
              <a:extLst>
                <a:ext uri="{FF2B5EF4-FFF2-40B4-BE49-F238E27FC236}">
                  <a16:creationId xmlns:a16="http://schemas.microsoft.com/office/drawing/2014/main" id="{D3E9D296-CF00-4559-AC10-8D444EC24331}"/>
                </a:ext>
              </a:extLst>
            </p:cNvPr>
            <p:cNvSpPr txBox="1"/>
            <p:nvPr/>
          </p:nvSpPr>
          <p:spPr>
            <a:xfrm>
              <a:off x="2877765" y="482643"/>
              <a:ext cx="3820277"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Conditional Probability</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grpSp>
      <p:sp>
        <p:nvSpPr>
          <p:cNvPr id="3" name="文本框 2">
            <a:extLst>
              <a:ext uri="{FF2B5EF4-FFF2-40B4-BE49-F238E27FC236}">
                <a16:creationId xmlns:a16="http://schemas.microsoft.com/office/drawing/2014/main" id="{B1E6072E-3EE8-46F2-935F-34A9DCC33784}"/>
              </a:ext>
            </a:extLst>
          </p:cNvPr>
          <p:cNvSpPr txBox="1"/>
          <p:nvPr/>
        </p:nvSpPr>
        <p:spPr>
          <a:xfrm>
            <a:off x="679503" y="1338980"/>
            <a:ext cx="7777889" cy="400110"/>
          </a:xfrm>
          <a:prstGeom prst="rect">
            <a:avLst/>
          </a:prstGeom>
          <a:noFill/>
        </p:spPr>
        <p:txBody>
          <a:bodyPr wrap="square" rtlCol="0">
            <a:spAutoFit/>
          </a:bodyPr>
          <a:lstStyle/>
          <a:p>
            <a:pPr>
              <a:spcAft>
                <a:spcPts val="1200"/>
              </a:spcAft>
            </a:pPr>
            <a:r>
              <a:rPr lang="en-US" altLang="zh-CN" sz="2000" b="1"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Definition:</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Let A and B be two events with P(B)&gt; 0.</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Denote </a:t>
            </a:r>
          </a:p>
        </p:txBody>
      </p:sp>
      <p:sp>
        <p:nvSpPr>
          <p:cNvPr id="4" name="文本框 3">
            <a:extLst>
              <a:ext uri="{FF2B5EF4-FFF2-40B4-BE49-F238E27FC236}">
                <a16:creationId xmlns:a16="http://schemas.microsoft.com/office/drawing/2014/main" id="{EA304B96-79F0-4A31-AA9E-6CAE061D36C8}"/>
              </a:ext>
            </a:extLst>
          </p:cNvPr>
          <p:cNvSpPr txBox="1"/>
          <p:nvPr/>
        </p:nvSpPr>
        <p:spPr>
          <a:xfrm>
            <a:off x="738714" y="3536237"/>
            <a:ext cx="1155426" cy="430887"/>
          </a:xfrm>
          <a:prstGeom prst="rect">
            <a:avLst/>
          </a:prstGeom>
          <a:noFill/>
        </p:spPr>
        <p:txBody>
          <a:bodyPr wrap="square" rtlCol="0">
            <a:spAutoFit/>
          </a:bodyPr>
          <a:lstStyle/>
          <a:p>
            <a:r>
              <a:rPr lang="en-US" altLang="zh-CN" sz="2200" b="1" dirty="0">
                <a:solidFill>
                  <a:schemeClr val="accent2">
                    <a:lumMod val="75000"/>
                  </a:schemeClr>
                </a:solidFill>
                <a:effectLst>
                  <a:outerShdw blurRad="38100" dist="38100" dir="2700000" algn="tl">
                    <a:srgbClr val="000000">
                      <a:alpha val="43137"/>
                    </a:srgbClr>
                  </a:outerShdw>
                </a:effectLst>
              </a:rPr>
              <a:t>NOTE:</a:t>
            </a:r>
            <a:endParaRPr lang="zh-CN" altLang="en-US" sz="2200" b="1" dirty="0">
              <a:solidFill>
                <a:schemeClr val="accent2">
                  <a:lumMod val="75000"/>
                </a:schemeClr>
              </a:solidFill>
              <a:effectLst>
                <a:outerShdw blurRad="38100" dist="38100" dir="2700000" algn="tl">
                  <a:srgbClr val="000000">
                    <a:alpha val="43137"/>
                  </a:srgbClr>
                </a:outerShdw>
              </a:effectLst>
            </a:endParaRPr>
          </a:p>
        </p:txBody>
      </p:sp>
      <p:sp>
        <p:nvSpPr>
          <p:cNvPr id="5" name="文本框 4">
            <a:extLst>
              <a:ext uri="{FF2B5EF4-FFF2-40B4-BE49-F238E27FC236}">
                <a16:creationId xmlns:a16="http://schemas.microsoft.com/office/drawing/2014/main" id="{EC75BF12-7D58-4C12-B5EF-8E675C942DFE}"/>
              </a:ext>
            </a:extLst>
          </p:cNvPr>
          <p:cNvSpPr txBox="1"/>
          <p:nvPr/>
        </p:nvSpPr>
        <p:spPr>
          <a:xfrm>
            <a:off x="738714" y="3960469"/>
            <a:ext cx="6633547" cy="400110"/>
          </a:xfrm>
          <a:prstGeom prst="rect">
            <a:avLst/>
          </a:prstGeom>
          <a:noFill/>
        </p:spPr>
        <p:txBody>
          <a:bodyPr wrap="none" rtlCol="0">
            <a:spAutoFit/>
          </a:bodyPr>
          <a:lstStyle/>
          <a:p>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1.   Conditional Probability is meaningless when P(B) = 0</a:t>
            </a:r>
            <a:endPar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29E0746-41AF-4802-BB5A-F1AD149F6AF9}"/>
                  </a:ext>
                </a:extLst>
              </p:cNvPr>
              <p:cNvSpPr txBox="1"/>
              <p:nvPr/>
            </p:nvSpPr>
            <p:spPr>
              <a:xfrm>
                <a:off x="3000054" y="1796631"/>
                <a:ext cx="2321959" cy="887038"/>
              </a:xfrm>
              <a:prstGeom prst="rect">
                <a:avLst/>
              </a:prstGeom>
              <a:noFill/>
            </p:spPr>
            <p:txBody>
              <a:bodyPr wrap="square" rtlCol="0">
                <a:spAutoFit/>
              </a:bodyPr>
              <a:lstStyle/>
              <a:p>
                <a:pPr>
                  <a:spcAft>
                    <a:spcPts val="1200"/>
                  </a:spcAft>
                </a:pPr>
                <a14:m>
                  <m:oMathPara xmlns:m="http://schemas.openxmlformats.org/officeDocument/2006/math">
                    <m:oMathParaPr>
                      <m:jc m:val="center"/>
                    </m:oMathParaPr>
                    <m:oMath xmlns:m="http://schemas.openxmlformats.org/officeDocument/2006/math">
                      <m:r>
                        <a:rPr lang="en-US" altLang="zh-CN" sz="2000" i="1">
                          <a:solidFill>
                            <a:srgbClr val="C00000"/>
                          </a:solidFill>
                          <a:latin typeface="Cambria Math" panose="02040503050406030204" pitchFamily="18" charset="0"/>
                        </a:rPr>
                        <m:t>𝑃</m:t>
                      </m:r>
                      <m:d>
                        <m:dPr>
                          <m:ctrlPr>
                            <a:rPr lang="en-US" altLang="zh-CN" sz="2000" i="1">
                              <a:solidFill>
                                <a:srgbClr val="C00000"/>
                              </a:solidFill>
                              <a:latin typeface="Cambria Math" panose="02040503050406030204" pitchFamily="18" charset="0"/>
                            </a:rPr>
                          </m:ctrlPr>
                        </m:dPr>
                        <m:e>
                          <m:r>
                            <a:rPr lang="en-US" altLang="zh-CN" sz="2000" i="1">
                              <a:solidFill>
                                <a:srgbClr val="C00000"/>
                              </a:solidFill>
                              <a:latin typeface="Cambria Math" panose="02040503050406030204" pitchFamily="18" charset="0"/>
                            </a:rPr>
                            <m:t>𝐴</m:t>
                          </m:r>
                        </m:e>
                        <m:e>
                          <m:r>
                            <a:rPr lang="en-US" altLang="zh-CN" sz="2000" i="1">
                              <a:solidFill>
                                <a:srgbClr val="C00000"/>
                              </a:solidFill>
                              <a:latin typeface="Cambria Math" panose="02040503050406030204" pitchFamily="18" charset="0"/>
                            </a:rPr>
                            <m:t>𝐵</m:t>
                          </m:r>
                        </m:e>
                      </m:d>
                      <m:r>
                        <a:rPr lang="en-US" altLang="zh-CN" sz="2000" i="1">
                          <a:solidFill>
                            <a:srgbClr val="C00000"/>
                          </a:solidFill>
                          <a:latin typeface="Cambria Math" panose="02040503050406030204" pitchFamily="18" charset="0"/>
                        </a:rPr>
                        <m:t>=</m:t>
                      </m:r>
                      <m:f>
                        <m:fPr>
                          <m:ctrlPr>
                            <a:rPr lang="en-US" altLang="zh-CN" sz="2000" i="1">
                              <a:solidFill>
                                <a:srgbClr val="C00000"/>
                              </a:solidFill>
                              <a:latin typeface="Cambria Math" panose="02040503050406030204" pitchFamily="18" charset="0"/>
                            </a:rPr>
                          </m:ctrlPr>
                        </m:fPr>
                        <m:num>
                          <m:r>
                            <a:rPr lang="en-US" altLang="zh-CN" sz="2000" i="1">
                              <a:solidFill>
                                <a:srgbClr val="C00000"/>
                              </a:solidFill>
                              <a:latin typeface="Cambria Math" panose="02040503050406030204" pitchFamily="18" charset="0"/>
                            </a:rPr>
                            <m:t>𝑃</m:t>
                          </m:r>
                          <m:r>
                            <a:rPr lang="en-US" altLang="zh-CN" sz="2000" i="1">
                              <a:solidFill>
                                <a:srgbClr val="C00000"/>
                              </a:solidFill>
                              <a:latin typeface="Cambria Math" panose="02040503050406030204" pitchFamily="18" charset="0"/>
                            </a:rPr>
                            <m:t>(</m:t>
                          </m:r>
                          <m:r>
                            <a:rPr lang="en-US" altLang="zh-CN" sz="2000" i="1">
                              <a:solidFill>
                                <a:srgbClr val="C00000"/>
                              </a:solidFill>
                              <a:latin typeface="Cambria Math" panose="02040503050406030204" pitchFamily="18" charset="0"/>
                            </a:rPr>
                            <m:t>𝐴</m:t>
                          </m:r>
                          <m:r>
                            <a:rPr lang="en-US" altLang="zh-CN" sz="2000" i="1">
                              <a:solidFill>
                                <a:srgbClr val="C00000"/>
                              </a:solidFill>
                              <a:latin typeface="Cambria Math" panose="02040503050406030204" pitchFamily="18" charset="0"/>
                            </a:rPr>
                            <m:t>⋂</m:t>
                          </m:r>
                          <m:r>
                            <a:rPr lang="en-US" altLang="zh-CN" sz="2000" i="1">
                              <a:solidFill>
                                <a:srgbClr val="C00000"/>
                              </a:solidFill>
                              <a:latin typeface="Cambria Math" panose="02040503050406030204" pitchFamily="18" charset="0"/>
                            </a:rPr>
                            <m:t>𝐵</m:t>
                          </m:r>
                          <m:r>
                            <a:rPr lang="en-US" altLang="zh-CN" sz="2000" i="1">
                              <a:solidFill>
                                <a:srgbClr val="C00000"/>
                              </a:solidFill>
                              <a:latin typeface="Cambria Math" panose="02040503050406030204" pitchFamily="18" charset="0"/>
                            </a:rPr>
                            <m:t>)</m:t>
                          </m:r>
                        </m:num>
                        <m:den>
                          <m:r>
                            <a:rPr lang="en-US" altLang="zh-CN" sz="2000" i="1">
                              <a:solidFill>
                                <a:srgbClr val="C00000"/>
                              </a:solidFill>
                              <a:latin typeface="Cambria Math" panose="02040503050406030204" pitchFamily="18" charset="0"/>
                            </a:rPr>
                            <m:t>𝑃</m:t>
                          </m:r>
                          <m:r>
                            <a:rPr lang="en-US" altLang="zh-CN" sz="2000" i="1">
                              <a:solidFill>
                                <a:srgbClr val="C00000"/>
                              </a:solidFill>
                              <a:latin typeface="Cambria Math" panose="02040503050406030204" pitchFamily="18" charset="0"/>
                            </a:rPr>
                            <m:t>(</m:t>
                          </m:r>
                          <m:r>
                            <a:rPr lang="en-US" altLang="zh-CN" sz="2000" i="1">
                              <a:solidFill>
                                <a:srgbClr val="C00000"/>
                              </a:solidFill>
                              <a:latin typeface="Cambria Math" panose="02040503050406030204" pitchFamily="18" charset="0"/>
                            </a:rPr>
                            <m:t>𝐵</m:t>
                          </m:r>
                          <m:r>
                            <a:rPr lang="en-US" altLang="zh-CN" sz="2000" i="1">
                              <a:solidFill>
                                <a:srgbClr val="C00000"/>
                              </a:solidFill>
                              <a:latin typeface="Cambria Math" panose="02040503050406030204" pitchFamily="18" charset="0"/>
                            </a:rPr>
                            <m:t>)</m:t>
                          </m:r>
                        </m:den>
                      </m:f>
                    </m:oMath>
                  </m:oMathPara>
                </a14:m>
                <a:endParaRPr lang="zh-CN" altLang="en-US" sz="2000"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6" name="文本框 5">
                <a:extLst>
                  <a:ext uri="{FF2B5EF4-FFF2-40B4-BE49-F238E27FC236}">
                    <a16:creationId xmlns:a16="http://schemas.microsoft.com/office/drawing/2014/main" id="{929E0746-41AF-4802-BB5A-F1AD149F6AF9}"/>
                  </a:ext>
                </a:extLst>
              </p:cNvPr>
              <p:cNvSpPr txBox="1">
                <a:spLocks noRot="1" noChangeAspect="1" noMove="1" noResize="1" noEditPoints="1" noAdjustHandles="1" noChangeArrowheads="1" noChangeShapeType="1" noTextEdit="1"/>
              </p:cNvSpPr>
              <p:nvPr/>
            </p:nvSpPr>
            <p:spPr>
              <a:xfrm>
                <a:off x="3000054" y="1796631"/>
                <a:ext cx="2321959" cy="887038"/>
              </a:xfrm>
              <a:prstGeom prst="rect">
                <a:avLst/>
              </a:prstGeom>
              <a:blipFill>
                <a:blip r:embed="rId3"/>
                <a:stretch>
                  <a:fillRect/>
                </a:stretch>
              </a:blipFill>
            </p:spPr>
            <p:txBody>
              <a:bodyPr/>
              <a:lstStyle/>
              <a:p>
                <a:r>
                  <a:rPr lang="en-CN">
                    <a:noFill/>
                  </a:rPr>
                  <a:t> </a:t>
                </a:r>
              </a:p>
            </p:txBody>
          </p:sp>
        </mc:Fallback>
      </mc:AlternateContent>
      <p:sp>
        <p:nvSpPr>
          <p:cNvPr id="9" name="文本框 8">
            <a:extLst>
              <a:ext uri="{FF2B5EF4-FFF2-40B4-BE49-F238E27FC236}">
                <a16:creationId xmlns:a16="http://schemas.microsoft.com/office/drawing/2014/main" id="{3531B7C4-60E8-4FA4-B883-B17029A82163}"/>
              </a:ext>
            </a:extLst>
          </p:cNvPr>
          <p:cNvSpPr txBox="1"/>
          <p:nvPr/>
        </p:nvSpPr>
        <p:spPr>
          <a:xfrm>
            <a:off x="759734" y="5470687"/>
            <a:ext cx="5049780" cy="400110"/>
          </a:xfrm>
          <a:prstGeom prst="rect">
            <a:avLst/>
          </a:prstGeom>
          <a:noFill/>
        </p:spPr>
        <p:txBody>
          <a:bodyPr wrap="none" rtlCol="0">
            <a:spAutoFit/>
          </a:bodyPr>
          <a:lstStyle/>
          <a:p>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3. The expression “A|B” is not one</a:t>
            </a:r>
            <a:r>
              <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Event.</a:t>
            </a:r>
            <a:endPar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324CFAF-FE8D-4464-9D0C-79B3E7722480}"/>
                  </a:ext>
                </a:extLst>
              </p:cNvPr>
              <p:cNvSpPr txBox="1"/>
              <p:nvPr/>
            </p:nvSpPr>
            <p:spPr>
              <a:xfrm>
                <a:off x="759733" y="5849226"/>
                <a:ext cx="3066031" cy="400110"/>
              </a:xfrm>
              <a:prstGeom prst="rect">
                <a:avLst/>
              </a:prstGeom>
              <a:noFill/>
            </p:spPr>
            <p:txBody>
              <a:bodyPr wrap="square" rtlCol="0">
                <a:spAutoFit/>
              </a:bodyPr>
              <a:lstStyle/>
              <a:p>
                <a:r>
                  <a:rPr lang="en-US" altLang="zh-CN" sz="2000" dirty="0">
                    <a:solidFill>
                      <a:schemeClr val="tx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rPr>
                  <a:t>4. </a:t>
                </a:r>
                <a14:m>
                  <m:oMath xmlns:m="http://schemas.openxmlformats.org/officeDocument/2006/math">
                    <m:r>
                      <a:rPr lang="en-US" altLang="zh-CN" sz="2000" b="0" i="0" smtClean="0">
                        <a:solidFill>
                          <a:schemeClr val="tx2">
                            <a:lumMod val="75000"/>
                          </a:schemeClr>
                        </a:solidFill>
                        <a:latin typeface="Cambria Math"/>
                      </a:rPr>
                      <m:t> </m:t>
                    </m:r>
                    <m:r>
                      <a:rPr lang="en-US" altLang="zh-CN" sz="2000" b="0" i="1" smtClean="0">
                        <a:solidFill>
                          <a:schemeClr val="tx2">
                            <a:lumMod val="75000"/>
                          </a:schemeClr>
                        </a:solidFill>
                        <a:latin typeface="Cambria Math" panose="02040503050406030204" pitchFamily="18" charset="0"/>
                      </a:rPr>
                      <m:t>𝑃</m:t>
                    </m:r>
                    <m:d>
                      <m:dPr>
                        <m:ctrlPr>
                          <a:rPr lang="en-US" altLang="zh-CN" sz="2000" b="0" i="1" smtClean="0">
                            <a:solidFill>
                              <a:schemeClr val="tx2">
                                <a:lumMod val="75000"/>
                              </a:schemeClr>
                            </a:solidFill>
                            <a:latin typeface="Cambria Math" panose="02040503050406030204" pitchFamily="18" charset="0"/>
                          </a:rPr>
                        </m:ctrlPr>
                      </m:dPr>
                      <m:e>
                        <m:r>
                          <a:rPr lang="en-US" altLang="zh-CN" sz="2000" b="0" i="1" smtClean="0">
                            <a:solidFill>
                              <a:schemeClr val="tx2">
                                <a:lumMod val="75000"/>
                              </a:schemeClr>
                            </a:solidFill>
                            <a:latin typeface="Cambria Math" panose="02040503050406030204" pitchFamily="18" charset="0"/>
                          </a:rPr>
                          <m:t>𝐴</m:t>
                        </m:r>
                      </m:e>
                      <m:e>
                        <m:r>
                          <a:rPr lang="en-US" altLang="zh-CN" sz="2000" b="0" i="1" smtClean="0">
                            <a:solidFill>
                              <a:schemeClr val="tx2">
                                <a:lumMod val="75000"/>
                              </a:schemeClr>
                            </a:solidFill>
                            <a:latin typeface="Cambria Math" panose="02040503050406030204" pitchFamily="18" charset="0"/>
                          </a:rPr>
                          <m:t>𝐵</m:t>
                        </m:r>
                      </m:e>
                    </m:d>
                    <m:r>
                      <a:rPr lang="en-US" altLang="zh-CN" sz="2000" b="0" i="1" smtClean="0">
                        <a:solidFill>
                          <a:schemeClr val="tx2">
                            <a:lumMod val="75000"/>
                          </a:schemeClr>
                        </a:solidFill>
                        <a:latin typeface="Cambria Math" panose="02040503050406030204" pitchFamily="18" charset="0"/>
                      </a:rPr>
                      <m:t>≥</m:t>
                    </m:r>
                    <m:r>
                      <a:rPr lang="en-US" altLang="zh-CN" sz="2000" b="0" i="1" smtClean="0">
                        <a:solidFill>
                          <a:schemeClr val="tx2">
                            <a:lumMod val="75000"/>
                          </a:schemeClr>
                        </a:solidFill>
                        <a:latin typeface="Cambria Math" panose="02040503050406030204" pitchFamily="18" charset="0"/>
                      </a:rPr>
                      <m:t>𝑃</m:t>
                    </m:r>
                    <m:r>
                      <a:rPr lang="en-US" altLang="zh-CN" sz="2000" b="0" i="1" smtClean="0">
                        <a:solidFill>
                          <a:schemeClr val="tx2">
                            <a:lumMod val="75000"/>
                          </a:schemeClr>
                        </a:solidFill>
                        <a:latin typeface="Cambria Math" panose="02040503050406030204" pitchFamily="18" charset="0"/>
                      </a:rPr>
                      <m:t>(</m:t>
                    </m:r>
                    <m:r>
                      <a:rPr lang="en-US" altLang="zh-CN" sz="2000" b="0" i="1" smtClean="0">
                        <a:solidFill>
                          <a:schemeClr val="tx2">
                            <a:lumMod val="75000"/>
                          </a:schemeClr>
                        </a:solidFill>
                        <a:latin typeface="Cambria Math" panose="02040503050406030204" pitchFamily="18" charset="0"/>
                      </a:rPr>
                      <m:t>𝐴𝐵</m:t>
                    </m:r>
                    <m:r>
                      <a:rPr lang="en-US" altLang="zh-CN" sz="2000" b="0" i="1" smtClean="0">
                        <a:solidFill>
                          <a:schemeClr val="tx2">
                            <a:lumMod val="75000"/>
                          </a:schemeClr>
                        </a:solidFill>
                        <a:latin typeface="Cambria Math" panose="02040503050406030204" pitchFamily="18" charset="0"/>
                      </a:rPr>
                      <m:t>)</m:t>
                    </m:r>
                  </m:oMath>
                </a14:m>
                <a:endParaRPr lang="zh-CN" altLang="en-US" sz="2000" dirty="0">
                  <a:solidFill>
                    <a:schemeClr val="tx2">
                      <a:lumMod val="75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10" name="文本框 9">
                <a:extLst>
                  <a:ext uri="{FF2B5EF4-FFF2-40B4-BE49-F238E27FC236}">
                    <a16:creationId xmlns:a16="http://schemas.microsoft.com/office/drawing/2014/main" id="{F324CFAF-FE8D-4464-9D0C-79B3E7722480}"/>
                  </a:ext>
                </a:extLst>
              </p:cNvPr>
              <p:cNvSpPr txBox="1">
                <a:spLocks noRot="1" noChangeAspect="1" noMove="1" noResize="1" noEditPoints="1" noAdjustHandles="1" noChangeArrowheads="1" noChangeShapeType="1" noTextEdit="1"/>
              </p:cNvSpPr>
              <p:nvPr/>
            </p:nvSpPr>
            <p:spPr>
              <a:xfrm>
                <a:off x="759733" y="5849226"/>
                <a:ext cx="3066031" cy="400110"/>
              </a:xfrm>
              <a:prstGeom prst="rect">
                <a:avLst/>
              </a:prstGeom>
              <a:blipFill>
                <a:blip r:embed="rId4"/>
                <a:stretch>
                  <a:fillRect l="-2187" t="-7692" b="-2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F824CA4-56D6-4005-87A2-ECC60D0A617A}"/>
                  </a:ext>
                </a:extLst>
              </p:cNvPr>
              <p:cNvSpPr txBox="1"/>
              <p:nvPr/>
            </p:nvSpPr>
            <p:spPr>
              <a:xfrm>
                <a:off x="5194191" y="1843512"/>
                <a:ext cx="1047787" cy="6408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m:t>
                      </m:r>
                      <m:f>
                        <m:fPr>
                          <m:ctrlPr>
                            <a:rPr lang="en-US" altLang="zh-CN" sz="2000" i="1">
                              <a:solidFill>
                                <a:srgbClr val="C00000"/>
                              </a:solidFill>
                              <a:latin typeface="Cambria Math" panose="02040503050406030204" pitchFamily="18" charset="0"/>
                            </a:rPr>
                          </m:ctrlPr>
                        </m:fPr>
                        <m:num>
                          <m:r>
                            <a:rPr lang="en-US" altLang="zh-CN" sz="2000" b="0" i="1">
                              <a:solidFill>
                                <a:srgbClr val="C00000"/>
                              </a:solidFill>
                              <a:latin typeface="Cambria Math" panose="02040503050406030204" pitchFamily="18" charset="0"/>
                            </a:rPr>
                            <m:t>𝑃</m:t>
                          </m:r>
                          <m:r>
                            <a:rPr lang="en-US" altLang="zh-CN" sz="2000" b="0" i="1">
                              <a:solidFill>
                                <a:srgbClr val="C00000"/>
                              </a:solidFill>
                              <a:latin typeface="Cambria Math" panose="02040503050406030204" pitchFamily="18" charset="0"/>
                            </a:rPr>
                            <m:t>(</m:t>
                          </m:r>
                          <m:r>
                            <a:rPr lang="en-US" altLang="zh-CN" sz="2000" b="0" i="1">
                              <a:solidFill>
                                <a:srgbClr val="C00000"/>
                              </a:solidFill>
                              <a:latin typeface="Cambria Math" panose="02040503050406030204" pitchFamily="18" charset="0"/>
                            </a:rPr>
                            <m:t>𝐴𝐵</m:t>
                          </m:r>
                          <m:r>
                            <a:rPr lang="en-US" altLang="zh-CN" sz="2000" b="0" i="1">
                              <a:solidFill>
                                <a:srgbClr val="C00000"/>
                              </a:solidFill>
                              <a:latin typeface="Cambria Math" panose="02040503050406030204" pitchFamily="18" charset="0"/>
                            </a:rPr>
                            <m:t>)</m:t>
                          </m:r>
                        </m:num>
                        <m:den>
                          <m:r>
                            <a:rPr lang="en-US" altLang="zh-CN" sz="2000" b="0" i="1">
                              <a:solidFill>
                                <a:srgbClr val="C00000"/>
                              </a:solidFill>
                              <a:latin typeface="Cambria Math" panose="02040503050406030204" pitchFamily="18" charset="0"/>
                            </a:rPr>
                            <m:t>𝑃</m:t>
                          </m:r>
                          <m:r>
                            <a:rPr lang="en-US" altLang="zh-CN" sz="2000" b="0" i="1">
                              <a:solidFill>
                                <a:srgbClr val="C00000"/>
                              </a:solidFill>
                              <a:latin typeface="Cambria Math" panose="02040503050406030204" pitchFamily="18" charset="0"/>
                            </a:rPr>
                            <m:t>(</m:t>
                          </m:r>
                          <m:r>
                            <a:rPr lang="en-US" altLang="zh-CN" sz="2000" b="0" i="1">
                              <a:solidFill>
                                <a:srgbClr val="C00000"/>
                              </a:solidFill>
                              <a:latin typeface="Cambria Math" panose="02040503050406030204" pitchFamily="18" charset="0"/>
                            </a:rPr>
                            <m:t>𝐵</m:t>
                          </m:r>
                          <m:r>
                            <a:rPr lang="en-US" altLang="zh-CN" sz="2000" b="0" i="1">
                              <a:solidFill>
                                <a:srgbClr val="C00000"/>
                              </a:solidFill>
                              <a:latin typeface="Cambria Math" panose="02040503050406030204" pitchFamily="18" charset="0"/>
                            </a:rPr>
                            <m:t>)</m:t>
                          </m:r>
                        </m:den>
                      </m:f>
                    </m:oMath>
                  </m:oMathPara>
                </a14:m>
                <a:endParaRPr lang="zh-CN" altLang="en-US" sz="2000" dirty="0">
                  <a:solidFill>
                    <a:srgbClr val="C00000"/>
                  </a:solidFill>
                </a:endParaRPr>
              </a:p>
            </p:txBody>
          </p:sp>
        </mc:Choice>
        <mc:Fallback xmlns="">
          <p:sp>
            <p:nvSpPr>
              <p:cNvPr id="13" name="文本框 12">
                <a:extLst>
                  <a:ext uri="{FF2B5EF4-FFF2-40B4-BE49-F238E27FC236}">
                    <a16:creationId xmlns:a16="http://schemas.microsoft.com/office/drawing/2014/main" id="{2F824CA4-56D6-4005-87A2-ECC60D0A617A}"/>
                  </a:ext>
                </a:extLst>
              </p:cNvPr>
              <p:cNvSpPr txBox="1">
                <a:spLocks noRot="1" noChangeAspect="1" noMove="1" noResize="1" noEditPoints="1" noAdjustHandles="1" noChangeArrowheads="1" noChangeShapeType="1" noTextEdit="1"/>
              </p:cNvSpPr>
              <p:nvPr/>
            </p:nvSpPr>
            <p:spPr>
              <a:xfrm>
                <a:off x="5194191" y="1843512"/>
                <a:ext cx="1047787" cy="640816"/>
              </a:xfrm>
              <a:prstGeom prst="rect">
                <a:avLst/>
              </a:prstGeom>
              <a:blipFill>
                <a:blip r:embed="rId5"/>
                <a:stretch>
                  <a:fillRect t="-1923" r="-8333" b="-1730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E928298-917D-CB43-AD4B-8635478A9721}"/>
                  </a:ext>
                </a:extLst>
              </p:cNvPr>
              <p:cNvSpPr/>
              <p:nvPr/>
            </p:nvSpPr>
            <p:spPr>
              <a:xfrm>
                <a:off x="679501" y="2490497"/>
                <a:ext cx="7980311" cy="707886"/>
              </a:xfrm>
              <a:prstGeom prst="rect">
                <a:avLst/>
              </a:prstGeom>
            </p:spPr>
            <p:txBody>
              <a:bodyPr wrap="square">
                <a:spAutoFit/>
              </a:bodyPr>
              <a:lstStyle/>
              <a:p>
                <a:pPr>
                  <a:spcAft>
                    <a:spcPts val="1200"/>
                  </a:spcAft>
                </a:pP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Then</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14:m>
                  <m:oMath xmlns:m="http://schemas.openxmlformats.org/officeDocument/2006/math">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𝑃</m:t>
                    </m:r>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𝐴</m:t>
                    </m:r>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𝐵</m:t>
                    </m:r>
                    <m:r>
                      <a:rPr lang="en-US" altLang="zh-CN" sz="2000" b="0" i="1" smtClean="0">
                        <a:solidFill>
                          <a:schemeClr val="accent1">
                            <a:lumMod val="75000"/>
                          </a:schemeClr>
                        </a:solidFill>
                        <a:latin typeface="Cambria Math" panose="02040503050406030204" pitchFamily="18" charset="0"/>
                        <a:ea typeface="Arial Unicode MS" panose="020B0604020202020204" pitchFamily="34" charset="-122"/>
                        <a:cs typeface="Arial Unicode MS" panose="020B0604020202020204" pitchFamily="34" charset="-122"/>
                      </a:rPr>
                      <m:t>)</m:t>
                    </m:r>
                  </m:oMath>
                </a14:m>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is</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called</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the</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conditional</a:t>
                </a:r>
                <a:r>
                  <a:rPr lang="zh-CN" altLang="en-US" sz="2000"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probability</a:t>
                </a:r>
                <a:r>
                  <a:rPr lang="zh-CN" altLang="en-US" sz="2000"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of</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event</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A</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happening</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given</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event</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B</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has happened.</a:t>
                </a:r>
                <a:r>
                  <a:rPr lang="zh-CN" altLang="en-US"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endParaRPr lang="en-US" altLang="zh-CN" sz="2000" dirty="0">
                  <a:solidFill>
                    <a:schemeClr val="accent1">
                      <a:lumMod val="75000"/>
                    </a:schemeClr>
                  </a:solidFill>
                  <a:latin typeface="STXinwei" panose="02010800040101010101" pitchFamily="2" charset="-122"/>
                  <a:ea typeface="STXinwei" panose="02010800040101010101" pitchFamily="2" charset="-122"/>
                  <a:cs typeface="Arial Unicode MS" panose="020B0604020202020204" pitchFamily="34" charset="-122"/>
                </a:endParaRPr>
              </a:p>
            </p:txBody>
          </p:sp>
        </mc:Choice>
        <mc:Fallback xmlns="">
          <p:sp>
            <p:nvSpPr>
              <p:cNvPr id="12" name="Rectangle 11">
                <a:extLst>
                  <a:ext uri="{FF2B5EF4-FFF2-40B4-BE49-F238E27FC236}">
                    <a16:creationId xmlns:a16="http://schemas.microsoft.com/office/drawing/2014/main" id="{2E928298-917D-CB43-AD4B-8635478A9721}"/>
                  </a:ext>
                </a:extLst>
              </p:cNvPr>
              <p:cNvSpPr>
                <a:spLocks noRot="1" noChangeAspect="1" noMove="1" noResize="1" noEditPoints="1" noAdjustHandles="1" noChangeArrowheads="1" noChangeShapeType="1" noTextEdit="1"/>
              </p:cNvSpPr>
              <p:nvPr/>
            </p:nvSpPr>
            <p:spPr>
              <a:xfrm>
                <a:off x="679501" y="2490497"/>
                <a:ext cx="7980311" cy="707886"/>
              </a:xfrm>
              <a:prstGeom prst="rect">
                <a:avLst/>
              </a:prstGeom>
              <a:blipFill>
                <a:blip r:embed="rId6"/>
                <a:stretch>
                  <a:fillRect l="-763" t="-4310" r="-3969" b="-14655"/>
                </a:stretch>
              </a:blipFill>
            </p:spPr>
            <p:txBody>
              <a:bodyPr/>
              <a:lstStyle/>
              <a:p>
                <a:r>
                  <a:rPr lang="zh-CN" altLang="en-US">
                    <a:noFill/>
                  </a:rPr>
                  <a:t> </a:t>
                </a:r>
              </a:p>
            </p:txBody>
          </p:sp>
        </mc:Fallback>
      </mc:AlternateContent>
      <p:sp>
        <p:nvSpPr>
          <p:cNvPr id="15" name="文本框 4">
            <a:extLst>
              <a:ext uri="{FF2B5EF4-FFF2-40B4-BE49-F238E27FC236}">
                <a16:creationId xmlns:a16="http://schemas.microsoft.com/office/drawing/2014/main" id="{3231DD68-CA32-2C46-873A-933ADE594361}"/>
              </a:ext>
            </a:extLst>
          </p:cNvPr>
          <p:cNvSpPr txBox="1"/>
          <p:nvPr/>
        </p:nvSpPr>
        <p:spPr>
          <a:xfrm>
            <a:off x="753824" y="4400179"/>
            <a:ext cx="7268336" cy="1323439"/>
          </a:xfrm>
          <a:prstGeom prst="rect">
            <a:avLst/>
          </a:prstGeom>
          <a:noFill/>
        </p:spPr>
        <p:txBody>
          <a:bodyPr wrap="none" rtlCol="0">
            <a:spAutoFit/>
          </a:bodyPr>
          <a:lstStyle/>
          <a:p>
            <a:pPr marL="457200" indent="-457200">
              <a:buFont typeface="+mj-lt"/>
              <a:buAutoNum type="arabicPeriod" startAt="2"/>
            </a:pP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The</a:t>
            </a:r>
            <a:r>
              <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straightforward</a:t>
            </a:r>
            <a:r>
              <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 </a:t>
            </a: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explanation of Conditional Probability:</a:t>
            </a:r>
          </a:p>
          <a:p>
            <a:pPr marL="914400" lvl="1" indent="-457200">
              <a:buFont typeface="+mj-lt"/>
              <a:buAutoNum type="alphaLcParenR"/>
            </a:pP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Event B happens before Event A;</a:t>
            </a:r>
          </a:p>
          <a:p>
            <a:pPr marL="914400" lvl="1" indent="-457200">
              <a:buFont typeface="+mj-lt"/>
              <a:buAutoNum type="alphaLcParenR"/>
            </a:pPr>
            <a:r>
              <a:rPr lang="en-US" altLang="zh-CN"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rPr>
              <a:t>Event B happens affects Event A.</a:t>
            </a:r>
          </a:p>
          <a:p>
            <a:pPr marL="914400" lvl="1" indent="-457200">
              <a:buFont typeface="+mj-lt"/>
              <a:buAutoNum type="alphaLcParenR"/>
            </a:pPr>
            <a:endParaRPr lang="zh-CN" altLang="en-US" sz="2000" dirty="0">
              <a:solidFill>
                <a:schemeClr val="tx2">
                  <a:lumMod val="75000"/>
                </a:schemeClr>
              </a:solidFill>
              <a:latin typeface="STXinwei" panose="02010800040101010101" pitchFamily="2" charset="-122"/>
              <a:ea typeface="STXinwei" panose="02010800040101010101" pitchFamily="2" charset="-122"/>
              <a:cs typeface="Arial Unicode MS" panose="020B0604020202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500"/>
                                        <p:tgtEl>
                                          <p:spTgt spid="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0" grpId="0"/>
      <p:bldP spid="13" grpId="0"/>
      <p:bldP spid="12"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文本框 10">
                <a:extLst>
                  <a:ext uri="{FF2B5EF4-FFF2-40B4-BE49-F238E27FC236}">
                    <a16:creationId xmlns:a16="http://schemas.microsoft.com/office/drawing/2014/main" id="{64A56CC7-CB42-4D7C-AF1E-07AAAB869B10}"/>
                  </a:ext>
                </a:extLst>
              </p:cNvPr>
              <p:cNvSpPr txBox="1"/>
              <p:nvPr/>
            </p:nvSpPr>
            <p:spPr>
              <a:xfrm>
                <a:off x="2200779" y="5213155"/>
                <a:ext cx="1688050" cy="27699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b="0" i="1" smtClean="0">
                          <a:solidFill>
                            <a:schemeClr val="tx1"/>
                          </a:solidFill>
                          <a:latin typeface="Cambria Math"/>
                        </a:rPr>
                        <m:t>𝑃</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a:rPr>
                            <m:t>𝐵</m:t>
                          </m:r>
                        </m:e>
                      </m:d>
                      <m:r>
                        <a:rPr lang="en-US" altLang="zh-CN" b="0" i="1" smtClean="0">
                          <a:solidFill>
                            <a:schemeClr val="tx1"/>
                          </a:solidFill>
                          <a:latin typeface="Cambria Math"/>
                        </a:rPr>
                        <m:t>=3/4</m:t>
                      </m:r>
                    </m:oMath>
                  </m:oMathPara>
                </a14:m>
                <a:endPar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15" name="文本框 10">
                <a:extLst>
                  <a:ext uri="{FF2B5EF4-FFF2-40B4-BE49-F238E27FC236}">
                    <a16:creationId xmlns:a16="http://schemas.microsoft.com/office/drawing/2014/main" id="{64A56CC7-CB42-4D7C-AF1E-07AAAB869B10}"/>
                  </a:ext>
                </a:extLst>
              </p:cNvPr>
              <p:cNvSpPr txBox="1">
                <a:spLocks noRot="1" noChangeAspect="1" noMove="1" noResize="1" noEditPoints="1" noAdjustHandles="1" noChangeArrowheads="1" noChangeShapeType="1" noTextEdit="1"/>
              </p:cNvSpPr>
              <p:nvPr/>
            </p:nvSpPr>
            <p:spPr>
              <a:xfrm>
                <a:off x="2200779" y="5213155"/>
                <a:ext cx="1688050" cy="276999"/>
              </a:xfrm>
              <a:prstGeom prst="rect">
                <a:avLst/>
              </a:prstGeom>
              <a:blipFill>
                <a:blip r:embed="rId3"/>
                <a:stretch>
                  <a:fillRect l="-4693" b="-34783"/>
                </a:stretch>
              </a:blipFill>
            </p:spPr>
            <p:txBody>
              <a:bodyPr/>
              <a:lstStyle/>
              <a:p>
                <a:r>
                  <a:rPr lang="zh-CN" altLang="en-US">
                    <a:noFill/>
                  </a:rPr>
                  <a:t> </a:t>
                </a:r>
              </a:p>
            </p:txBody>
          </p:sp>
        </mc:Fallback>
      </mc:AlternateContent>
      <p:sp>
        <p:nvSpPr>
          <p:cNvPr id="25" name="文本框 10">
            <a:extLst>
              <a:ext uri="{FF2B5EF4-FFF2-40B4-BE49-F238E27FC236}">
                <a16:creationId xmlns:a16="http://schemas.microsoft.com/office/drawing/2014/main" id="{64A56CC7-CB42-4D7C-AF1E-07AAAB869B10}"/>
              </a:ext>
            </a:extLst>
          </p:cNvPr>
          <p:cNvSpPr txBox="1"/>
          <p:nvPr/>
        </p:nvSpPr>
        <p:spPr>
          <a:xfrm>
            <a:off x="2138023" y="5635697"/>
            <a:ext cx="2104842" cy="276999"/>
          </a:xfrm>
          <a:prstGeom prst="rect">
            <a:avLst/>
          </a:prstGeom>
          <a:noFill/>
        </p:spPr>
        <p:txBody>
          <a:bodyPr wrap="square" lIns="0" tIns="0" rIns="0" bIns="0" rtlCol="0">
            <a:spAutoFit/>
          </a:bodyPr>
          <a:lstStyle/>
          <a:p>
            <a:r>
              <a:rPr lang="en-US" altLang="zh-CN" i="1" dirty="0">
                <a:solidFill>
                  <a:schemeClr val="tx1"/>
                </a:solidFill>
                <a:latin typeface="STXinwei" panose="02010800040101010101" pitchFamily="2" charset="-122"/>
                <a:ea typeface="STXinwei" panose="02010800040101010101" pitchFamily="2" charset="-122"/>
                <a:cs typeface="Arial Unicode MS" panose="020B0604020202020204" pitchFamily="34" charset="-122"/>
              </a:rPr>
              <a:t>AB</a:t>
            </a:r>
            <a:r>
              <a:rPr lang="en-US" altLang="zh-CN" dirty="0">
                <a:solidFill>
                  <a:schemeClr val="tx1"/>
                </a:solidFill>
                <a:latin typeface="STXinwei" panose="02010800040101010101" pitchFamily="2" charset="-122"/>
                <a:ea typeface="STXinwei" panose="02010800040101010101" pitchFamily="2" charset="-122"/>
                <a:cs typeface="Arial Unicode MS" panose="020B0604020202020204" pitchFamily="34" charset="-122"/>
              </a:rPr>
              <a:t> = {HT,TH}</a:t>
            </a:r>
            <a:endParaRPr lang="zh-CN" altLang="en-US" dirty="0">
              <a:solidFill>
                <a:schemeClr val="tx1"/>
              </a:solidFill>
              <a:latin typeface="STXinwei" panose="02010800040101010101" pitchFamily="2" charset="-122"/>
              <a:ea typeface="STXinwei" panose="02010800040101010101" pitchFamily="2" charset="-122"/>
              <a:cs typeface="Arial Unicode MS" panose="020B0604020202020204" pitchFamily="34" charset="-122"/>
            </a:endParaRPr>
          </a:p>
        </p:txBody>
      </p:sp>
      <mc:AlternateContent xmlns:mc="http://schemas.openxmlformats.org/markup-compatibility/2006" xmlns:a14="http://schemas.microsoft.com/office/drawing/2010/main">
        <mc:Choice Requires="a14">
          <p:sp>
            <p:nvSpPr>
              <p:cNvPr id="26" name="文本框 10">
                <a:extLst>
                  <a:ext uri="{FF2B5EF4-FFF2-40B4-BE49-F238E27FC236}">
                    <a16:creationId xmlns:a16="http://schemas.microsoft.com/office/drawing/2014/main" id="{64A56CC7-CB42-4D7C-AF1E-07AAAB869B10}"/>
                  </a:ext>
                </a:extLst>
              </p:cNvPr>
              <p:cNvSpPr txBox="1"/>
              <p:nvPr/>
            </p:nvSpPr>
            <p:spPr>
              <a:xfrm>
                <a:off x="4242865" y="5635696"/>
                <a:ext cx="2751727" cy="276999"/>
              </a:xfrm>
              <a:prstGeom prst="rect">
                <a:avLst/>
              </a:prstGeom>
              <a:noFill/>
            </p:spPr>
            <p:txBody>
              <a:bodyPr wrap="square" lIns="0" tIns="0" rIns="0" bIns="0" rtlCol="0">
                <a:spAutoFit/>
              </a:bodyPr>
              <a:lstStyle/>
              <a:p>
                <a14:m>
                  <m:oMath xmlns:m="http://schemas.openxmlformats.org/officeDocument/2006/math">
                    <m:r>
                      <a:rPr lang="en-US" altLang="zh-CN" b="0" i="1" smtClean="0">
                        <a:latin typeface="Cambria Math"/>
                      </a:rPr>
                      <m:t> </m:t>
                    </m:r>
                    <m:r>
                      <a:rPr lang="en-US" altLang="zh-CN" b="0" i="1" smtClean="0">
                        <a:solidFill>
                          <a:schemeClr val="tx1"/>
                        </a:solidFill>
                        <a:latin typeface="Cambria Math"/>
                      </a:rPr>
                      <m:t>𝑃</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a:rPr>
                          <m:t>𝐴𝐵</m:t>
                        </m:r>
                      </m:e>
                    </m:d>
                    <m:r>
                      <a:rPr lang="en-US" altLang="zh-CN" b="0" i="1" smtClean="0">
                        <a:solidFill>
                          <a:schemeClr val="tx1"/>
                        </a:solidFill>
                        <a:latin typeface="Cambria Math"/>
                      </a:rPr>
                      <m:t>=2/4</m:t>
                    </m:r>
                  </m:oMath>
                </a14:m>
                <a:r>
                  <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1/2</a:t>
                </a:r>
                <a:endPar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26" name="文本框 10">
                <a:extLst>
                  <a:ext uri="{FF2B5EF4-FFF2-40B4-BE49-F238E27FC236}">
                    <a16:creationId xmlns:a16="http://schemas.microsoft.com/office/drawing/2014/main" id="{64A56CC7-CB42-4D7C-AF1E-07AAAB869B10}"/>
                  </a:ext>
                </a:extLst>
              </p:cNvPr>
              <p:cNvSpPr txBox="1">
                <a:spLocks noRot="1" noChangeAspect="1" noMove="1" noResize="1" noEditPoints="1" noAdjustHandles="1" noChangeArrowheads="1" noChangeShapeType="1" noTextEdit="1"/>
              </p:cNvSpPr>
              <p:nvPr/>
            </p:nvSpPr>
            <p:spPr>
              <a:xfrm>
                <a:off x="4242865" y="5635696"/>
                <a:ext cx="2751727" cy="276999"/>
              </a:xfrm>
              <a:prstGeom prst="rect">
                <a:avLst/>
              </a:prstGeom>
              <a:blipFill>
                <a:blip r:embed="rId4"/>
                <a:stretch>
                  <a:fillRect l="-1109" t="-2826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12">
                <a:extLst>
                  <a:ext uri="{FF2B5EF4-FFF2-40B4-BE49-F238E27FC236}">
                    <a16:creationId xmlns:a16="http://schemas.microsoft.com/office/drawing/2014/main" id="{2F824CA4-56D6-4005-87A2-ECC60D0A617A}"/>
                  </a:ext>
                </a:extLst>
              </p:cNvPr>
              <p:cNvSpPr txBox="1"/>
              <p:nvPr/>
            </p:nvSpPr>
            <p:spPr>
              <a:xfrm>
                <a:off x="2943578" y="5978703"/>
                <a:ext cx="943207"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𝑃</m:t>
                          </m:r>
                          <m:r>
                            <a:rPr lang="en-US" altLang="zh-CN" i="1">
                              <a:latin typeface="Cambria Math" panose="02040503050406030204" pitchFamily="18" charset="0"/>
                            </a:rPr>
                            <m:t>(</m:t>
                          </m:r>
                          <m:r>
                            <a:rPr lang="en-US" altLang="zh-CN" i="1">
                              <a:latin typeface="Cambria Math" panose="02040503050406030204" pitchFamily="18" charset="0"/>
                            </a:rPr>
                            <m:t>𝐴𝐵</m:t>
                          </m:r>
                          <m:r>
                            <a:rPr lang="en-US" altLang="zh-CN" i="1">
                              <a:latin typeface="Cambria Math" panose="02040503050406030204" pitchFamily="18" charset="0"/>
                            </a:rPr>
                            <m:t>)</m:t>
                          </m:r>
                        </m:num>
                        <m:den>
                          <m:r>
                            <a:rPr lang="en-US" altLang="zh-CN" i="1">
                              <a:latin typeface="Cambria Math" panose="02040503050406030204" pitchFamily="18" charset="0"/>
                            </a:rPr>
                            <m:t>𝑃</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den>
                      </m:f>
                    </m:oMath>
                  </m:oMathPara>
                </a14:m>
                <a:endParaRPr lang="zh-CN" altLang="en-US" dirty="0"/>
              </a:p>
            </p:txBody>
          </p:sp>
        </mc:Choice>
        <mc:Fallback xmlns="">
          <p:sp>
            <p:nvSpPr>
              <p:cNvPr id="27" name="文本框 12">
                <a:extLst>
                  <a:ext uri="{FF2B5EF4-FFF2-40B4-BE49-F238E27FC236}">
                    <a16:creationId xmlns:a16="http://schemas.microsoft.com/office/drawing/2014/main" id="{2F824CA4-56D6-4005-87A2-ECC60D0A617A}"/>
                  </a:ext>
                </a:extLst>
              </p:cNvPr>
              <p:cNvSpPr txBox="1">
                <a:spLocks noRot="1" noChangeAspect="1" noMove="1" noResize="1" noEditPoints="1" noAdjustHandles="1" noChangeArrowheads="1" noChangeShapeType="1" noTextEdit="1"/>
              </p:cNvSpPr>
              <p:nvPr/>
            </p:nvSpPr>
            <p:spPr>
              <a:xfrm>
                <a:off x="2943578" y="5978703"/>
                <a:ext cx="943207" cy="57676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13">
                <a:extLst>
                  <a:ext uri="{FF2B5EF4-FFF2-40B4-BE49-F238E27FC236}">
                    <a16:creationId xmlns:a16="http://schemas.microsoft.com/office/drawing/2014/main" id="{F8958587-CBE3-45AE-8EF6-1E7574FC0927}"/>
                  </a:ext>
                </a:extLst>
              </p:cNvPr>
              <p:cNvSpPr txBox="1"/>
              <p:nvPr/>
            </p:nvSpPr>
            <p:spPr>
              <a:xfrm>
                <a:off x="3981607" y="6049845"/>
                <a:ext cx="869159" cy="486993"/>
              </a:xfrm>
              <a:prstGeom prst="rect">
                <a:avLst/>
              </a:prstGeom>
              <a:noFill/>
            </p:spPr>
            <p:txBody>
              <a:bodyPr wrap="square" lIns="0" tIns="0" rIns="0" bIns="0" rtlCol="0">
                <a:spAutoFit/>
              </a:bodyPr>
              <a:lstStyle/>
              <a:p>
                <a:r>
                  <a:rPr lang="en-US" altLang="zh-CN" sz="2000" b="0" dirty="0">
                    <a:latin typeface="Arial Unicode MS" panose="020B0604020202020204" pitchFamily="34" charset="-122"/>
                    <a:ea typeface="Arial Unicode MS" panose="020B0604020202020204" pitchFamily="34" charset="-122"/>
                    <a:cs typeface="Arial Unicode MS" panose="020B0604020202020204" pitchFamily="34" charset="-122"/>
                  </a:rPr>
                  <a:t>= </a:t>
                </a:r>
                <a14:m>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a:rPr>
                          <m:t>1</m:t>
                        </m:r>
                        <m:r>
                          <a:rPr lang="en-US" altLang="zh-CN" sz="2000" b="0" i="1" smtClean="0">
                            <a:latin typeface="Cambria Math" panose="02040503050406030204" pitchFamily="18" charset="0"/>
                          </a:rPr>
                          <m:t>/</m:t>
                        </m:r>
                        <m:r>
                          <a:rPr lang="en-US" altLang="zh-CN" sz="2000" b="0" i="1" smtClean="0">
                            <a:latin typeface="Cambria Math"/>
                          </a:rPr>
                          <m:t>2</m:t>
                        </m:r>
                      </m:num>
                      <m:den>
                        <m:r>
                          <a:rPr lang="en-US" altLang="zh-CN" sz="2000" b="0" i="1" smtClean="0">
                            <a:latin typeface="Cambria Math"/>
                          </a:rPr>
                          <m:t>3</m:t>
                        </m:r>
                        <m:r>
                          <a:rPr lang="en-US" altLang="zh-CN" sz="2000" b="0" i="1" smtClean="0">
                            <a:latin typeface="Cambria Math" panose="02040503050406030204" pitchFamily="18" charset="0"/>
                          </a:rPr>
                          <m:t>/</m:t>
                        </m:r>
                        <m:r>
                          <a:rPr lang="en-US" altLang="zh-CN" sz="2000" b="0" i="1" smtClean="0">
                            <a:latin typeface="Cambria Math"/>
                          </a:rPr>
                          <m:t>4</m:t>
                        </m:r>
                      </m:den>
                    </m:f>
                  </m:oMath>
                </a14:m>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28" name="文本框 13">
                <a:extLst>
                  <a:ext uri="{FF2B5EF4-FFF2-40B4-BE49-F238E27FC236}">
                    <a16:creationId xmlns:a16="http://schemas.microsoft.com/office/drawing/2014/main" id="{F8958587-CBE3-45AE-8EF6-1E7574FC0927}"/>
                  </a:ext>
                </a:extLst>
              </p:cNvPr>
              <p:cNvSpPr txBox="1">
                <a:spLocks noRot="1" noChangeAspect="1" noMove="1" noResize="1" noEditPoints="1" noAdjustHandles="1" noChangeArrowheads="1" noChangeShapeType="1" noTextEdit="1"/>
              </p:cNvSpPr>
              <p:nvPr/>
            </p:nvSpPr>
            <p:spPr>
              <a:xfrm>
                <a:off x="3981607" y="6049845"/>
                <a:ext cx="869159" cy="486993"/>
              </a:xfrm>
              <a:prstGeom prst="rect">
                <a:avLst/>
              </a:prstGeom>
              <a:blipFill>
                <a:blip r:embed="rId6"/>
                <a:stretch>
                  <a:fillRect l="-17483" t="-125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14">
                <a:extLst>
                  <a:ext uri="{FF2B5EF4-FFF2-40B4-BE49-F238E27FC236}">
                    <a16:creationId xmlns:a16="http://schemas.microsoft.com/office/drawing/2014/main" id="{12DADA0C-5E5B-4694-9FA2-A722FCCCFF4C}"/>
                  </a:ext>
                </a:extLst>
              </p:cNvPr>
              <p:cNvSpPr txBox="1"/>
              <p:nvPr/>
            </p:nvSpPr>
            <p:spPr>
              <a:xfrm>
                <a:off x="2138023" y="6149676"/>
                <a:ext cx="7820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𝐴</m:t>
                          </m:r>
                        </m:e>
                        <m:e>
                          <m:r>
                            <a:rPr lang="en-US" altLang="zh-CN" i="1">
                              <a:latin typeface="Cambria Math" panose="02040503050406030204" pitchFamily="18" charset="0"/>
                            </a:rPr>
                            <m:t>𝐵</m:t>
                          </m:r>
                        </m:e>
                      </m:d>
                    </m:oMath>
                  </m:oMathPara>
                </a14:m>
                <a:endParaRPr lang="zh-CN" altLang="en-US" dirty="0"/>
              </a:p>
            </p:txBody>
          </p:sp>
        </mc:Choice>
        <mc:Fallback xmlns="">
          <p:sp>
            <p:nvSpPr>
              <p:cNvPr id="29" name="文本框 14">
                <a:extLst>
                  <a:ext uri="{FF2B5EF4-FFF2-40B4-BE49-F238E27FC236}">
                    <a16:creationId xmlns:a16="http://schemas.microsoft.com/office/drawing/2014/main" id="{12DADA0C-5E5B-4694-9FA2-A722FCCCFF4C}"/>
                  </a:ext>
                </a:extLst>
              </p:cNvPr>
              <p:cNvSpPr txBox="1">
                <a:spLocks noRot="1" noChangeAspect="1" noMove="1" noResize="1" noEditPoints="1" noAdjustHandles="1" noChangeArrowheads="1" noChangeShapeType="1" noTextEdit="1"/>
              </p:cNvSpPr>
              <p:nvPr/>
            </p:nvSpPr>
            <p:spPr>
              <a:xfrm>
                <a:off x="2138023" y="6149676"/>
                <a:ext cx="782074" cy="276999"/>
              </a:xfrm>
              <a:prstGeom prst="rect">
                <a:avLst/>
              </a:prstGeom>
              <a:blipFill>
                <a:blip r:embed="rId7"/>
                <a:stretch>
                  <a:fillRect l="-6250"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13">
                <a:extLst>
                  <a:ext uri="{FF2B5EF4-FFF2-40B4-BE49-F238E27FC236}">
                    <a16:creationId xmlns:a16="http://schemas.microsoft.com/office/drawing/2014/main" id="{F8958587-CBE3-45AE-8EF6-1E7574FC0927}"/>
                  </a:ext>
                </a:extLst>
              </p:cNvPr>
              <p:cNvSpPr txBox="1"/>
              <p:nvPr/>
            </p:nvSpPr>
            <p:spPr>
              <a:xfrm>
                <a:off x="4570810" y="6058781"/>
                <a:ext cx="869159" cy="436851"/>
              </a:xfrm>
              <a:prstGeom prst="rect">
                <a:avLst/>
              </a:prstGeom>
              <a:noFill/>
            </p:spPr>
            <p:txBody>
              <a:bodyPr wrap="square" lIns="0" tIns="0" rIns="0" bIns="0" rtlCol="0">
                <a:spAutoFit/>
              </a:bodyPr>
              <a:lstStyle/>
              <a:p>
                <a:r>
                  <a:rPr lang="en-US" altLang="zh-CN" sz="2000" b="0" dirty="0">
                    <a:latin typeface="Arial Unicode MS" panose="020B0604020202020204" pitchFamily="34" charset="-122"/>
                    <a:ea typeface="Arial Unicode MS" panose="020B0604020202020204" pitchFamily="34" charset="-122"/>
                    <a:cs typeface="Arial Unicode MS" panose="020B0604020202020204" pitchFamily="34" charset="-122"/>
                  </a:rPr>
                  <a:t>= </a:t>
                </a:r>
                <a14:m>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a:rPr>
                          <m:t>2</m:t>
                        </m:r>
                      </m:num>
                      <m:den>
                        <m:r>
                          <a:rPr lang="en-US" altLang="zh-CN" sz="2000" b="0" i="1" smtClean="0">
                            <a:latin typeface="Cambria Math"/>
                          </a:rPr>
                          <m:t>3</m:t>
                        </m:r>
                      </m:den>
                    </m:f>
                  </m:oMath>
                </a14:m>
                <a:endParaRPr lang="zh-CN" altLang="en-US" sz="20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mc:Choice>
        <mc:Fallback xmlns="">
          <p:sp>
            <p:nvSpPr>
              <p:cNvPr id="30" name="文本框 13">
                <a:extLst>
                  <a:ext uri="{FF2B5EF4-FFF2-40B4-BE49-F238E27FC236}">
                    <a16:creationId xmlns:a16="http://schemas.microsoft.com/office/drawing/2014/main" id="{F8958587-CBE3-45AE-8EF6-1E7574FC0927}"/>
                  </a:ext>
                </a:extLst>
              </p:cNvPr>
              <p:cNvSpPr txBox="1">
                <a:spLocks noRot="1" noChangeAspect="1" noMove="1" noResize="1" noEditPoints="1" noAdjustHandles="1" noChangeArrowheads="1" noChangeShapeType="1" noTextEdit="1"/>
              </p:cNvSpPr>
              <p:nvPr/>
            </p:nvSpPr>
            <p:spPr>
              <a:xfrm>
                <a:off x="4570810" y="6058781"/>
                <a:ext cx="869159" cy="436851"/>
              </a:xfrm>
              <a:prstGeom prst="rect">
                <a:avLst/>
              </a:prstGeom>
              <a:blipFill>
                <a:blip r:embed="rId8"/>
                <a:stretch>
                  <a:fillRect l="-18310" t="-4167" b="-18056"/>
                </a:stretch>
              </a:blipFill>
            </p:spPr>
            <p:txBody>
              <a:bodyPr/>
              <a:lstStyle/>
              <a:p>
                <a:r>
                  <a:rPr lang="zh-CN" altLang="en-US">
                    <a:noFill/>
                  </a:rPr>
                  <a:t> </a:t>
                </a:r>
              </a:p>
            </p:txBody>
          </p:sp>
        </mc:Fallback>
      </mc:AlternateContent>
      <p:sp>
        <p:nvSpPr>
          <p:cNvPr id="31" name="文本框 8">
            <a:extLst>
              <a:ext uri="{FF2B5EF4-FFF2-40B4-BE49-F238E27FC236}">
                <a16:creationId xmlns:a16="http://schemas.microsoft.com/office/drawing/2014/main" id="{4F48A5C9-6438-4C45-A850-D4D494F28356}"/>
              </a:ext>
            </a:extLst>
          </p:cNvPr>
          <p:cNvSpPr txBox="1"/>
          <p:nvPr/>
        </p:nvSpPr>
        <p:spPr>
          <a:xfrm>
            <a:off x="1137303" y="4719235"/>
            <a:ext cx="5299849"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Analyze:</a:t>
            </a:r>
            <a:r>
              <a:rPr lang="en-US" altLang="zh-CN"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let B = {at least one head} = {HH,HT,TH}</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p:sp>
        <p:nvSpPr>
          <p:cNvPr id="32" name="Rectangle 106">
            <a:extLst>
              <a:ext uri="{FF2B5EF4-FFF2-40B4-BE49-F238E27FC236}">
                <a16:creationId xmlns:a16="http://schemas.microsoft.com/office/drawing/2014/main" id="{1F651717-4880-C74C-9A29-05A02D1F34B0}"/>
              </a:ext>
            </a:extLst>
          </p:cNvPr>
          <p:cNvSpPr>
            <a:spLocks noChangeArrowheads="1"/>
          </p:cNvSpPr>
          <p:nvPr/>
        </p:nvSpPr>
        <p:spPr bwMode="auto">
          <a:xfrm>
            <a:off x="1723014" y="2467067"/>
            <a:ext cx="6031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zh-CN" dirty="0">
                <a:latin typeface="华文新魏" panose="02010800040101010101" pitchFamily="2" charset="-122"/>
                <a:ea typeface="华文新魏" panose="02010800040101010101" pitchFamily="2" charset="-122"/>
              </a:rPr>
              <a:t>Let A = {one head and one tail} = {HT,TH}</a:t>
            </a:r>
            <a:endParaRPr lang="zh-CN" altLang="en-US" dirty="0">
              <a:latin typeface="华文新魏" panose="02010800040101010101" pitchFamily="2" charset="-122"/>
              <a:ea typeface="华文新魏" panose="02010800040101010101" pitchFamily="2" charset="-122"/>
            </a:endParaRPr>
          </a:p>
        </p:txBody>
      </p:sp>
      <p:sp>
        <p:nvSpPr>
          <p:cNvPr id="33" name="文本框 1">
            <a:extLst>
              <a:ext uri="{FF2B5EF4-FFF2-40B4-BE49-F238E27FC236}">
                <a16:creationId xmlns:a16="http://schemas.microsoft.com/office/drawing/2014/main" id="{77DEA9BE-3EF4-9449-B346-2244087BA251}"/>
              </a:ext>
            </a:extLst>
          </p:cNvPr>
          <p:cNvSpPr txBox="1"/>
          <p:nvPr/>
        </p:nvSpPr>
        <p:spPr>
          <a:xfrm>
            <a:off x="491942" y="604461"/>
            <a:ext cx="1459540" cy="461665"/>
          </a:xfrm>
          <a:prstGeom prst="rect">
            <a:avLst/>
          </a:prstGeom>
          <a:noFill/>
        </p:spPr>
        <p:txBody>
          <a:bodyPr wrap="square" rtlCol="0">
            <a:spAutoFit/>
          </a:bodyPr>
          <a:lstStyle/>
          <a:p>
            <a:r>
              <a:rPr lang="en-US" altLang="zh-CN" sz="24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a:t>
            </a:r>
            <a:endParaRPr lang="zh-CN" altLang="en-US" sz="24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34" name="文本框 2">
            <a:extLst>
              <a:ext uri="{FF2B5EF4-FFF2-40B4-BE49-F238E27FC236}">
                <a16:creationId xmlns:a16="http://schemas.microsoft.com/office/drawing/2014/main" id="{685F3720-DE96-1E4A-BF4D-83568C67E658}"/>
              </a:ext>
            </a:extLst>
          </p:cNvPr>
          <p:cNvSpPr txBox="1"/>
          <p:nvPr/>
        </p:nvSpPr>
        <p:spPr>
          <a:xfrm>
            <a:off x="2069195" y="624730"/>
            <a:ext cx="6416676" cy="769441"/>
          </a:xfrm>
          <a:prstGeom prst="rect">
            <a:avLst/>
          </a:prstGeom>
          <a:noFill/>
        </p:spPr>
        <p:txBody>
          <a:bodyPr wrap="square" rtlCol="0">
            <a:spAutoFit/>
          </a:bodyPr>
          <a:lstStyle/>
          <a:p>
            <a:r>
              <a:rPr lang="en-US" altLang="zh-CN" sz="2200" dirty="0">
                <a:latin typeface="华文新魏" panose="02010800040101010101" pitchFamily="2" charset="-122"/>
                <a:ea typeface="华文新魏" panose="02010800040101010101" pitchFamily="2" charset="-122"/>
              </a:rPr>
              <a:t>Student X tossed two coins and let student Y guess. Student Y guessed one head</a:t>
            </a:r>
            <a:r>
              <a:rPr lang="zh-CN" altLang="en-US" sz="2200" dirty="0">
                <a:latin typeface="华文新魏" panose="02010800040101010101" pitchFamily="2" charset="-122"/>
                <a:ea typeface="华文新魏" panose="02010800040101010101" pitchFamily="2" charset="-122"/>
              </a:rPr>
              <a:t> </a:t>
            </a:r>
            <a:r>
              <a:rPr lang="en-US" altLang="zh-CN" sz="2200" dirty="0">
                <a:latin typeface="华文新魏" panose="02010800040101010101" pitchFamily="2" charset="-122"/>
                <a:ea typeface="华文新魏" panose="02010800040101010101" pitchFamily="2" charset="-122"/>
              </a:rPr>
              <a:t>on and one tail</a:t>
            </a:r>
            <a:r>
              <a:rPr lang="zh-CN" altLang="en-US" sz="2200" dirty="0">
                <a:latin typeface="华文新魏" panose="02010800040101010101" pitchFamily="2" charset="-122"/>
                <a:ea typeface="华文新魏" panose="02010800040101010101" pitchFamily="2" charset="-122"/>
              </a:rPr>
              <a:t> </a:t>
            </a:r>
            <a:r>
              <a:rPr lang="en-US" altLang="zh-CN" sz="2200" dirty="0">
                <a:latin typeface="华文新魏" panose="02010800040101010101" pitchFamily="2" charset="-122"/>
                <a:ea typeface="华文新魏" panose="02010800040101010101" pitchFamily="2" charset="-122"/>
              </a:rPr>
              <a:t>on.</a:t>
            </a:r>
            <a:endParaRPr lang="zh-CN" altLang="en-US" sz="2200" dirty="0">
              <a:latin typeface="华文新魏" panose="02010800040101010101" pitchFamily="2" charset="-122"/>
              <a:ea typeface="华文新魏" panose="02010800040101010101" pitchFamily="2" charset="-122"/>
            </a:endParaRPr>
          </a:p>
        </p:txBody>
      </p:sp>
      <p:sp>
        <p:nvSpPr>
          <p:cNvPr id="35" name="文本框 3">
            <a:extLst>
              <a:ext uri="{FF2B5EF4-FFF2-40B4-BE49-F238E27FC236}">
                <a16:creationId xmlns:a16="http://schemas.microsoft.com/office/drawing/2014/main" id="{9EB853AA-9B06-0F45-8555-CAC8C34C83AD}"/>
              </a:ext>
            </a:extLst>
          </p:cNvPr>
          <p:cNvSpPr txBox="1"/>
          <p:nvPr/>
        </p:nvSpPr>
        <p:spPr>
          <a:xfrm>
            <a:off x="589912" y="1371084"/>
            <a:ext cx="6160661" cy="369332"/>
          </a:xfrm>
          <a:prstGeom prst="rect">
            <a:avLst/>
          </a:prstGeom>
          <a:noFill/>
        </p:spPr>
        <p:txBody>
          <a:bodyPr wrap="non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 </a:t>
            </a:r>
            <a:r>
              <a:rPr lang="en-US" altLang="zh-CN" dirty="0">
                <a:latin typeface="华文新魏" panose="02010800040101010101" pitchFamily="2" charset="-122"/>
                <a:ea typeface="华文新魏" panose="02010800040101010101" pitchFamily="2" charset="-122"/>
              </a:rPr>
              <a:t>What is the probability that student Y was correct?</a:t>
            </a:r>
            <a:endParaRPr lang="zh-CN" altLang="en-US" dirty="0">
              <a:latin typeface="华文新魏" panose="02010800040101010101" pitchFamily="2" charset="-122"/>
              <a:ea typeface="华文新魏" panose="02010800040101010101" pitchFamily="2" charset="-122"/>
            </a:endParaRPr>
          </a:p>
        </p:txBody>
      </p:sp>
      <p:sp>
        <p:nvSpPr>
          <p:cNvPr id="36" name="文本框 4">
            <a:extLst>
              <a:ext uri="{FF2B5EF4-FFF2-40B4-BE49-F238E27FC236}">
                <a16:creationId xmlns:a16="http://schemas.microsoft.com/office/drawing/2014/main" id="{77BDE35C-FCAE-AA41-9A17-934F847B7170}"/>
              </a:ext>
            </a:extLst>
          </p:cNvPr>
          <p:cNvSpPr txBox="1"/>
          <p:nvPr/>
        </p:nvSpPr>
        <p:spPr>
          <a:xfrm>
            <a:off x="744406" y="1769690"/>
            <a:ext cx="3042821"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Analyze:</a:t>
            </a:r>
            <a:r>
              <a:rPr lang="en-US" altLang="zh-CN"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The sample space is</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37" name="文本框 5">
                <a:extLst>
                  <a:ext uri="{FF2B5EF4-FFF2-40B4-BE49-F238E27FC236}">
                    <a16:creationId xmlns:a16="http://schemas.microsoft.com/office/drawing/2014/main" id="{6EB8DAA9-4A99-9D4A-9ADB-B68578F81949}"/>
                  </a:ext>
                </a:extLst>
              </p:cNvPr>
              <p:cNvSpPr txBox="1"/>
              <p:nvPr/>
            </p:nvSpPr>
            <p:spPr>
              <a:xfrm>
                <a:off x="2981273" y="2157959"/>
                <a:ext cx="22084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Ω</m:t>
                      </m:r>
                      <m:r>
                        <a:rPr lang="en-US" altLang="zh-CN" b="0" i="1" smtClean="0">
                          <a:latin typeface="Cambria Math" panose="02040503050406030204" pitchFamily="18" charset="0"/>
                        </a:rPr>
                        <m:t>={</m:t>
                      </m:r>
                      <m:r>
                        <a:rPr lang="en-US" altLang="zh-CN" b="0" i="1" smtClean="0">
                          <a:latin typeface="Cambria Math" panose="02040503050406030204" pitchFamily="18" charset="0"/>
                        </a:rPr>
                        <m:t>𝐻𝐻</m:t>
                      </m:r>
                      <m:r>
                        <a:rPr lang="en-US" altLang="zh-CN" b="0" i="1" smtClean="0">
                          <a:latin typeface="Cambria Math" panose="02040503050406030204" pitchFamily="18" charset="0"/>
                        </a:rPr>
                        <m:t>,</m:t>
                      </m:r>
                      <m:r>
                        <a:rPr lang="en-US" altLang="zh-CN" b="0" i="1" smtClean="0">
                          <a:latin typeface="Cambria Math" panose="02040503050406030204" pitchFamily="18" charset="0"/>
                        </a:rPr>
                        <m:t>𝐻𝑇</m:t>
                      </m:r>
                      <m:r>
                        <a:rPr lang="en-US" altLang="zh-CN" b="0" i="1" smtClean="0">
                          <a:latin typeface="Cambria Math" panose="02040503050406030204" pitchFamily="18" charset="0"/>
                        </a:rPr>
                        <m:t>,</m:t>
                      </m:r>
                      <m:r>
                        <a:rPr lang="en-US" altLang="zh-CN" b="0" i="1" smtClean="0">
                          <a:latin typeface="Cambria Math" panose="02040503050406030204" pitchFamily="18" charset="0"/>
                        </a:rPr>
                        <m:t>𝑇𝐻</m:t>
                      </m:r>
                      <m:r>
                        <a:rPr lang="en-US" altLang="zh-CN" b="0" i="1" smtClean="0">
                          <a:latin typeface="Cambria Math" panose="02040503050406030204" pitchFamily="18" charset="0"/>
                        </a:rPr>
                        <m:t>,</m:t>
                      </m:r>
                      <m:r>
                        <a:rPr lang="en-US" altLang="zh-CN" b="0" i="1" smtClean="0">
                          <a:latin typeface="Cambria Math" panose="02040503050406030204" pitchFamily="18" charset="0"/>
                        </a:rPr>
                        <m:t>𝑇𝑇</m:t>
                      </m:r>
                      <m:r>
                        <a:rPr lang="en-US" altLang="zh-CN" b="0" i="1" smtClean="0">
                          <a:latin typeface="Cambria Math" panose="02040503050406030204" pitchFamily="18" charset="0"/>
                        </a:rPr>
                        <m:t>}</m:t>
                      </m:r>
                    </m:oMath>
                  </m:oMathPara>
                </a14:m>
                <a:endParaRPr lang="zh-CN" altLang="en-US" dirty="0"/>
              </a:p>
            </p:txBody>
          </p:sp>
        </mc:Choice>
        <mc:Fallback xmlns="">
          <p:sp>
            <p:nvSpPr>
              <p:cNvPr id="37" name="文本框 5">
                <a:extLst>
                  <a:ext uri="{FF2B5EF4-FFF2-40B4-BE49-F238E27FC236}">
                    <a16:creationId xmlns:a16="http://schemas.microsoft.com/office/drawing/2014/main" id="{6EB8DAA9-4A99-9D4A-9ADB-B68578F81949}"/>
                  </a:ext>
                </a:extLst>
              </p:cNvPr>
              <p:cNvSpPr txBox="1">
                <a:spLocks noRot="1" noChangeAspect="1" noMove="1" noResize="1" noEditPoints="1" noAdjustHandles="1" noChangeArrowheads="1" noChangeShapeType="1" noTextEdit="1"/>
              </p:cNvSpPr>
              <p:nvPr/>
            </p:nvSpPr>
            <p:spPr>
              <a:xfrm>
                <a:off x="2981273" y="2157959"/>
                <a:ext cx="2208490" cy="276999"/>
              </a:xfrm>
              <a:prstGeom prst="rect">
                <a:avLst/>
              </a:prstGeom>
              <a:blipFill>
                <a:blip r:embed="rId9"/>
                <a:stretch>
                  <a:fillRect l="-1714" r="-3429" b="-3478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8" name="文本框 6">
                <a:extLst>
                  <a:ext uri="{FF2B5EF4-FFF2-40B4-BE49-F238E27FC236}">
                    <a16:creationId xmlns:a16="http://schemas.microsoft.com/office/drawing/2014/main" id="{F2873AD3-E868-4044-B242-363BA3BE65D0}"/>
                  </a:ext>
                </a:extLst>
              </p:cNvPr>
              <p:cNvSpPr txBox="1"/>
              <p:nvPr/>
            </p:nvSpPr>
            <p:spPr>
              <a:xfrm>
                <a:off x="1661370" y="2753463"/>
                <a:ext cx="2253246" cy="483466"/>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then </a:t>
                </a:r>
                <a14:m>
                  <m:oMath xmlns:m="http://schemas.openxmlformats.org/officeDocument/2006/math">
                    <m:r>
                      <a:rPr lang="en-US" altLang="zh-CN" b="0" i="0" smtClean="0">
                        <a:latin typeface="Cambria Math"/>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38" name="文本框 6">
                <a:extLst>
                  <a:ext uri="{FF2B5EF4-FFF2-40B4-BE49-F238E27FC236}">
                    <a16:creationId xmlns:a16="http://schemas.microsoft.com/office/drawing/2014/main" id="{F2873AD3-E868-4044-B242-363BA3BE65D0}"/>
                  </a:ext>
                </a:extLst>
              </p:cNvPr>
              <p:cNvSpPr txBox="1">
                <a:spLocks noRot="1" noChangeAspect="1" noMove="1" noResize="1" noEditPoints="1" noAdjustHandles="1" noChangeArrowheads="1" noChangeShapeType="1" noTextEdit="1"/>
              </p:cNvSpPr>
              <p:nvPr/>
            </p:nvSpPr>
            <p:spPr>
              <a:xfrm>
                <a:off x="1661370" y="2753463"/>
                <a:ext cx="2253246" cy="483466"/>
              </a:xfrm>
              <a:prstGeom prst="rect">
                <a:avLst/>
              </a:prstGeom>
              <a:blipFill>
                <a:blip r:embed="rId10"/>
                <a:stretch>
                  <a:fillRect b="-7692"/>
                </a:stretch>
              </a:blipFill>
            </p:spPr>
            <p:txBody>
              <a:bodyPr/>
              <a:lstStyle/>
              <a:p>
                <a:r>
                  <a:rPr lang="en-CN">
                    <a:noFill/>
                  </a:rPr>
                  <a:t> </a:t>
                </a:r>
              </a:p>
            </p:txBody>
          </p:sp>
        </mc:Fallback>
      </mc:AlternateContent>
      <p:sp>
        <p:nvSpPr>
          <p:cNvPr id="39" name="文本框 7">
            <a:extLst>
              <a:ext uri="{FF2B5EF4-FFF2-40B4-BE49-F238E27FC236}">
                <a16:creationId xmlns:a16="http://schemas.microsoft.com/office/drawing/2014/main" id="{FF18D215-27A5-3E4E-8B02-C249B47B8822}"/>
              </a:ext>
            </a:extLst>
          </p:cNvPr>
          <p:cNvSpPr txBox="1"/>
          <p:nvPr/>
        </p:nvSpPr>
        <p:spPr>
          <a:xfrm>
            <a:off x="651739" y="3406054"/>
            <a:ext cx="8023312" cy="923330"/>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Questions: </a:t>
            </a:r>
            <a:r>
              <a:rPr lang="en-US" altLang="zh-CN" dirty="0">
                <a:solidFill>
                  <a:schemeClr val="accent1">
                    <a:lumMod val="75000"/>
                  </a:schemeClr>
                </a:solidFill>
                <a:latin typeface="华文新魏" panose="02010800040101010101" pitchFamily="2" charset="-122"/>
                <a:ea typeface="华文新魏" panose="02010800040101010101" pitchFamily="2" charset="-122"/>
              </a:rPr>
              <a:t>What if student Z who had already known the result and</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told student Y that there was at least one head</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on. Then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what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would the probability that student Y was correct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be?</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pic>
        <p:nvPicPr>
          <p:cNvPr id="3" name="图片 2">
            <a:extLst>
              <a:ext uri="{FF2B5EF4-FFF2-40B4-BE49-F238E27FC236}">
                <a16:creationId xmlns:a16="http://schemas.microsoft.com/office/drawing/2014/main" id="{F8B43477-7041-47FD-96C7-66BAB42288AA}"/>
              </a:ext>
            </a:extLst>
          </p:cNvPr>
          <p:cNvPicPr>
            <a:picLocks noChangeAspect="1"/>
          </p:cNvPicPr>
          <p:nvPr/>
        </p:nvPicPr>
        <p:blipFill>
          <a:blip r:embed="rId11"/>
          <a:stretch>
            <a:fillRect/>
          </a:stretch>
        </p:blipFill>
        <p:spPr>
          <a:xfrm>
            <a:off x="4444713" y="4118446"/>
            <a:ext cx="2709302" cy="738438"/>
          </a:xfrm>
          <a:prstGeom prst="rect">
            <a:avLst/>
          </a:prstGeom>
        </p:spPr>
      </p:pic>
    </p:spTree>
    <p:extLst>
      <p:ext uri="{BB962C8B-B14F-4D97-AF65-F5344CB8AC3E}">
        <p14:creationId xmlns:p14="http://schemas.microsoft.com/office/powerpoint/2010/main" val="2196082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26" grpId="0"/>
      <p:bldP spid="27" grpId="0"/>
      <p:bldP spid="28"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85" name="Rectangle 33"/>
          <p:cNvSpPr>
            <a:spLocks noChangeArrowheads="1"/>
          </p:cNvSpPr>
          <p:nvPr/>
        </p:nvSpPr>
        <p:spPr bwMode="auto">
          <a:xfrm>
            <a:off x="476689" y="650512"/>
            <a:ext cx="842645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zh-CN" sz="2000"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sz="2000" dirty="0">
                <a:latin typeface="华文新魏" panose="02010800040101010101" pitchFamily="2" charset="-122"/>
                <a:ea typeface="华文新魏" panose="02010800040101010101" pitchFamily="2" charset="-122"/>
              </a:rPr>
              <a:t>The probabilities of student X and student Y joining an exercise after class is 20% and 18%, respectively. The</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probability that they both join the exercise</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after</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class is 12%. Do you think they know each other ?</a:t>
            </a:r>
            <a:endParaRPr lang="zh-CN" altLang="en-US" sz="2000" dirty="0">
              <a:latin typeface="华文新魏" panose="02010800040101010101" pitchFamily="2" charset="-122"/>
              <a:ea typeface="华文新魏" panose="02010800040101010101" pitchFamily="2" charset="-122"/>
            </a:endParaRPr>
          </a:p>
        </p:txBody>
      </p:sp>
      <p:pic>
        <p:nvPicPr>
          <p:cNvPr id="433191" name="Picture 39" descr="3_14"/>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621588" y="5607050"/>
            <a:ext cx="64611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189" name="Picture 37" descr="3_14"/>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flipH="1">
            <a:off x="8177213" y="5353050"/>
            <a:ext cx="788987"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96B7DD0-E5B2-434D-A018-2B558C65EB0F}"/>
              </a:ext>
            </a:extLst>
          </p:cNvPr>
          <p:cNvSpPr txBox="1"/>
          <p:nvPr/>
        </p:nvSpPr>
        <p:spPr>
          <a:xfrm>
            <a:off x="496620" y="1699972"/>
            <a:ext cx="857927" cy="400110"/>
          </a:xfrm>
          <a:prstGeom prst="rect">
            <a:avLst/>
          </a:prstGeom>
          <a:noFill/>
        </p:spPr>
        <p:txBody>
          <a:bodyPr wrap="none" rtlCol="0">
            <a:spAutoFit/>
          </a:bodyPr>
          <a:lstStyle/>
          <a:p>
            <a:r>
              <a:rPr lang="en-US" altLang="zh-CN" sz="2000" dirty="0">
                <a:solidFill>
                  <a:schemeClr val="accent2">
                    <a:lumMod val="75000"/>
                  </a:schemeClr>
                </a:solidFill>
                <a:latin typeface="华文新魏" panose="02010800040101010101" pitchFamily="2" charset="-122"/>
                <a:ea typeface="华文新魏" panose="02010800040101010101" pitchFamily="2" charset="-122"/>
              </a:rPr>
              <a:t>Solve:</a:t>
            </a:r>
            <a:endParaRPr lang="zh-CN" altLang="en-US" sz="2000" dirty="0">
              <a:solidFill>
                <a:schemeClr val="accent2">
                  <a:lumMod val="75000"/>
                </a:schemeClr>
              </a:solidFill>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6917F906-4581-442F-A237-84342F3A2EED}"/>
              </a:ext>
            </a:extLst>
          </p:cNvPr>
          <p:cNvSpPr txBox="1"/>
          <p:nvPr/>
        </p:nvSpPr>
        <p:spPr>
          <a:xfrm>
            <a:off x="1474138" y="1726917"/>
            <a:ext cx="5884944" cy="707886"/>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Let 	A = {student X joins the exercise after class}</a:t>
            </a:r>
          </a:p>
          <a:p>
            <a:r>
              <a:rPr lang="en-US" altLang="zh-CN" sz="2000" dirty="0">
                <a:latin typeface="华文新魏" panose="02010800040101010101" pitchFamily="2" charset="-122"/>
                <a:ea typeface="华文新魏" panose="02010800040101010101" pitchFamily="2" charset="-122"/>
              </a:rPr>
              <a:t>       	B = {student Y joins the exercise after class}</a:t>
            </a:r>
            <a:endParaRPr lang="zh-CN" altLang="en-US" sz="2000"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6690C96-D868-4C93-ABE9-37DEA16C136F}"/>
                  </a:ext>
                </a:extLst>
              </p:cNvPr>
              <p:cNvSpPr txBox="1"/>
              <p:nvPr/>
            </p:nvSpPr>
            <p:spPr>
              <a:xfrm>
                <a:off x="2310556" y="2514742"/>
                <a:ext cx="49665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=0.20, </m:t>
                      </m:r>
                      <m:r>
                        <a:rPr lang="zh-CN" altLang="en-US" b="0" i="1" smtClean="0">
                          <a:latin typeface="Cambria Math" panose="02040503050406030204" pitchFamily="18" charset="0"/>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r>
                        <a:rPr lang="en-US" altLang="zh-CN" b="0" i="1" smtClean="0">
                          <a:latin typeface="Cambria Math"/>
                        </a:rPr>
                        <m:t>=</m:t>
                      </m:r>
                      <m:r>
                        <a:rPr lang="en-US" altLang="zh-CN" b="0" i="1" smtClean="0">
                          <a:latin typeface="Cambria Math" panose="02040503050406030204" pitchFamily="18" charset="0"/>
                        </a:rPr>
                        <m:t>0.18,  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𝐴𝐵</m:t>
                          </m:r>
                        </m:e>
                      </m:d>
                      <m:r>
                        <a:rPr lang="en-US" altLang="zh-CN" b="0" i="1" smtClean="0">
                          <a:latin typeface="Cambria Math" panose="02040503050406030204" pitchFamily="18" charset="0"/>
                        </a:rPr>
                        <m:t>=0.12</m:t>
                      </m:r>
                    </m:oMath>
                  </m:oMathPara>
                </a14:m>
                <a:endParaRPr lang="zh-CN" altLang="en-US" dirty="0"/>
              </a:p>
            </p:txBody>
          </p:sp>
        </mc:Choice>
        <mc:Fallback xmlns="">
          <p:sp>
            <p:nvSpPr>
              <p:cNvPr id="5" name="文本框 4">
                <a:extLst>
                  <a:ext uri="{FF2B5EF4-FFF2-40B4-BE49-F238E27FC236}">
                    <a16:creationId xmlns:a16="http://schemas.microsoft.com/office/drawing/2014/main" id="{E6690C96-D868-4C93-ABE9-37DEA16C136F}"/>
                  </a:ext>
                </a:extLst>
              </p:cNvPr>
              <p:cNvSpPr txBox="1">
                <a:spLocks noRot="1" noChangeAspect="1" noMove="1" noResize="1" noEditPoints="1" noAdjustHandles="1" noChangeArrowheads="1" noChangeShapeType="1" noTextEdit="1"/>
              </p:cNvSpPr>
              <p:nvPr/>
            </p:nvSpPr>
            <p:spPr>
              <a:xfrm>
                <a:off x="2310556" y="2514742"/>
                <a:ext cx="4966552" cy="276999"/>
              </a:xfrm>
              <a:prstGeom prst="rect">
                <a:avLst/>
              </a:prstGeom>
              <a:blipFill>
                <a:blip r:embed="rId4"/>
                <a:stretch>
                  <a:fillRect l="-491" r="-613"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212E39C-0361-4282-82E0-8CB915D67DD6}"/>
                  </a:ext>
                </a:extLst>
              </p:cNvPr>
              <p:cNvSpPr txBox="1"/>
              <p:nvPr/>
            </p:nvSpPr>
            <p:spPr>
              <a:xfrm>
                <a:off x="2460560" y="3364930"/>
                <a:ext cx="3179845"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0.12</m:t>
                          </m:r>
                        </m:num>
                        <m:den>
                          <m:r>
                            <a:rPr lang="en-US" altLang="zh-CN" b="0" i="1" smtClean="0">
                              <a:latin typeface="Cambria Math" panose="02040503050406030204" pitchFamily="18" charset="0"/>
                            </a:rPr>
                            <m:t>0.18</m:t>
                          </m:r>
                        </m:den>
                      </m:f>
                      <m:r>
                        <a:rPr lang="en-US" altLang="zh-CN" b="0" i="1" smtClean="0">
                          <a:latin typeface="Cambria Math" panose="02040503050406030204" pitchFamily="18" charset="0"/>
                        </a:rPr>
                        <m:t>=0.67</m:t>
                      </m:r>
                    </m:oMath>
                  </m:oMathPara>
                </a14:m>
                <a:endParaRPr lang="zh-CN" altLang="en-US" dirty="0"/>
              </a:p>
            </p:txBody>
          </p:sp>
        </mc:Choice>
        <mc:Fallback xmlns="">
          <p:sp>
            <p:nvSpPr>
              <p:cNvPr id="6" name="文本框 5">
                <a:extLst>
                  <a:ext uri="{FF2B5EF4-FFF2-40B4-BE49-F238E27FC236}">
                    <a16:creationId xmlns:a16="http://schemas.microsoft.com/office/drawing/2014/main" id="{7212E39C-0361-4282-82E0-8CB915D67DD6}"/>
                  </a:ext>
                </a:extLst>
              </p:cNvPr>
              <p:cNvSpPr txBox="1">
                <a:spLocks noRot="1" noChangeAspect="1" noMove="1" noResize="1" noEditPoints="1" noAdjustHandles="1" noChangeArrowheads="1" noChangeShapeType="1" noTextEdit="1"/>
              </p:cNvSpPr>
              <p:nvPr/>
            </p:nvSpPr>
            <p:spPr>
              <a:xfrm>
                <a:off x="2460560" y="3364930"/>
                <a:ext cx="3179845" cy="57676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ACF5B5C-26CF-4D82-88AE-34077637EDDC}"/>
                  </a:ext>
                </a:extLst>
              </p:cNvPr>
              <p:cNvSpPr txBox="1"/>
              <p:nvPr/>
            </p:nvSpPr>
            <p:spPr>
              <a:xfrm>
                <a:off x="2455416" y="4013413"/>
                <a:ext cx="3196837"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0.12</m:t>
                          </m:r>
                        </m:num>
                        <m:den>
                          <m:r>
                            <a:rPr lang="en-US" altLang="zh-CN" b="0" i="1" smtClean="0">
                              <a:latin typeface="Cambria Math" panose="02040503050406030204" pitchFamily="18" charset="0"/>
                            </a:rPr>
                            <m:t>0.20</m:t>
                          </m:r>
                        </m:den>
                      </m:f>
                      <m:r>
                        <a:rPr lang="en-US" altLang="zh-CN" b="0" i="1" smtClean="0">
                          <a:latin typeface="Cambria Math" panose="02040503050406030204" pitchFamily="18" charset="0"/>
                        </a:rPr>
                        <m:t>=0.60</m:t>
                      </m:r>
                    </m:oMath>
                  </m:oMathPara>
                </a14:m>
                <a:endParaRPr lang="zh-CN" altLang="en-US" dirty="0"/>
              </a:p>
            </p:txBody>
          </p:sp>
        </mc:Choice>
        <mc:Fallback xmlns="">
          <p:sp>
            <p:nvSpPr>
              <p:cNvPr id="7" name="文本框 6">
                <a:extLst>
                  <a:ext uri="{FF2B5EF4-FFF2-40B4-BE49-F238E27FC236}">
                    <a16:creationId xmlns:a16="http://schemas.microsoft.com/office/drawing/2014/main" id="{0ACF5B5C-26CF-4D82-88AE-34077637EDDC}"/>
                  </a:ext>
                </a:extLst>
              </p:cNvPr>
              <p:cNvSpPr txBox="1">
                <a:spLocks noRot="1" noChangeAspect="1" noMove="1" noResize="1" noEditPoints="1" noAdjustHandles="1" noChangeArrowheads="1" noChangeShapeType="1" noTextEdit="1"/>
              </p:cNvSpPr>
              <p:nvPr/>
            </p:nvSpPr>
            <p:spPr>
              <a:xfrm>
                <a:off x="2455416" y="4013413"/>
                <a:ext cx="3196837" cy="57676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D18720A-EBBE-47DC-97D2-3E6D6CB68160}"/>
                  </a:ext>
                </a:extLst>
              </p:cNvPr>
              <p:cNvSpPr txBox="1"/>
              <p:nvPr/>
            </p:nvSpPr>
            <p:spPr>
              <a:xfrm>
                <a:off x="876300" y="4757919"/>
                <a:ext cx="6542745" cy="1323439"/>
              </a:xfrm>
              <a:prstGeom prst="rect">
                <a:avLst/>
              </a:prstGeom>
              <a:noFill/>
            </p:spPr>
            <p:txBody>
              <a:bodyPr wrap="square" rtlCol="0">
                <a:spAutoFit/>
              </a:bodyPr>
              <a:lstStyle/>
              <a:p>
                <a:pPr algn="just"/>
                <a14:m>
                  <m:oMath xmlns:m="http://schemas.openxmlformats.org/officeDocument/2006/math">
                    <m:r>
                      <a:rPr lang="en-US" altLang="zh-CN" sz="2000" b="0" i="1" smtClean="0">
                        <a:solidFill>
                          <a:srgbClr val="0070C0"/>
                        </a:solidFill>
                        <a:latin typeface="Cambria Math" panose="02040503050406030204" pitchFamily="18" charset="0"/>
                      </a:rPr>
                      <m:t>𝑃</m:t>
                    </m:r>
                    <m:d>
                      <m:dPr>
                        <m:ctrlPr>
                          <a:rPr lang="en-US" altLang="zh-CN" sz="200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𝐴</m:t>
                        </m:r>
                      </m:e>
                      <m:e>
                        <m:r>
                          <a:rPr lang="en-US" altLang="zh-CN" sz="2000" b="0" i="1" smtClean="0">
                            <a:solidFill>
                              <a:srgbClr val="0070C0"/>
                            </a:solidFill>
                            <a:latin typeface="Cambria Math" panose="02040503050406030204" pitchFamily="18" charset="0"/>
                          </a:rPr>
                          <m:t>𝐵</m:t>
                        </m:r>
                      </m:e>
                    </m:d>
                    <m:r>
                      <a:rPr lang="en-US" altLang="zh-CN" sz="2000" b="0" i="1" smtClean="0">
                        <a:solidFill>
                          <a:srgbClr val="0070C0"/>
                        </a:solidFill>
                        <a:latin typeface="Cambria Math" panose="02040503050406030204" pitchFamily="18" charset="0"/>
                      </a:rPr>
                      <m:t> </m:t>
                    </m:r>
                    <m:r>
                      <m:rPr>
                        <m:sty m:val="p"/>
                      </m:rPr>
                      <a:rPr lang="en-US" altLang="zh-CN" sz="2000" b="0" i="0" smtClean="0">
                        <a:solidFill>
                          <a:srgbClr val="0070C0"/>
                        </a:solidFill>
                        <a:latin typeface="Cambria Math" panose="02040503050406030204" pitchFamily="18" charset="0"/>
                      </a:rPr>
                      <m:t>and</m:t>
                    </m:r>
                    <m:r>
                      <a:rPr lang="en-US" altLang="zh-CN" sz="2000" b="0" i="1" smtClean="0">
                        <a:solidFill>
                          <a:srgbClr val="0070C0"/>
                        </a:solidFill>
                        <a:latin typeface="Cambria Math" panose="02040503050406030204" pitchFamily="18" charset="0"/>
                      </a:rPr>
                      <m:t> </m:t>
                    </m:r>
                    <m:r>
                      <a:rPr lang="en-US" altLang="zh-CN" sz="2000" b="0" i="1" smtClean="0">
                        <a:solidFill>
                          <a:srgbClr val="0070C0"/>
                        </a:solidFill>
                        <a:latin typeface="Cambria Math" panose="02040503050406030204" pitchFamily="18" charset="0"/>
                      </a:rPr>
                      <m:t>𝑃</m:t>
                    </m:r>
                    <m:d>
                      <m:dPr>
                        <m:ctrlPr>
                          <a:rPr lang="en-US" altLang="zh-CN" sz="200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𝐵</m:t>
                        </m:r>
                      </m:e>
                      <m:e>
                        <m:r>
                          <a:rPr lang="en-US" altLang="zh-CN" sz="2000" b="0" i="1" smtClean="0">
                            <a:solidFill>
                              <a:srgbClr val="0070C0"/>
                            </a:solidFill>
                            <a:latin typeface="Cambria Math" panose="02040503050406030204" pitchFamily="18" charset="0"/>
                          </a:rPr>
                          <m:t>𝐴</m:t>
                        </m:r>
                      </m:e>
                    </m:d>
                    <m:r>
                      <a:rPr lang="en-GB" altLang="zh-CN" sz="2000" b="0" i="0" smtClean="0">
                        <a:solidFill>
                          <a:srgbClr val="0070C0"/>
                        </a:solidFill>
                        <a:latin typeface="Cambria Math" panose="02040503050406030204" pitchFamily="18" charset="0"/>
                      </a:rPr>
                      <m:t> </m:t>
                    </m:r>
                    <m:r>
                      <m:rPr>
                        <m:sty m:val="p"/>
                      </m:rPr>
                      <a:rPr lang="en-GB" altLang="zh-CN" sz="2000" b="0" i="0" smtClean="0">
                        <a:solidFill>
                          <a:srgbClr val="0070C0"/>
                        </a:solidFill>
                        <a:latin typeface="Cambria Math" panose="02040503050406030204" pitchFamily="18" charset="0"/>
                      </a:rPr>
                      <m:t>are</m:t>
                    </m:r>
                    <m:r>
                      <a:rPr lang="en-GB" altLang="zh-CN" sz="2000" b="0" i="0" smtClean="0">
                        <a:solidFill>
                          <a:srgbClr val="0070C0"/>
                        </a:solidFill>
                        <a:latin typeface="Cambria Math" panose="02040503050406030204" pitchFamily="18" charset="0"/>
                      </a:rPr>
                      <m:t> </m:t>
                    </m:r>
                    <m:r>
                      <m:rPr>
                        <m:sty m:val="p"/>
                      </m:rPr>
                      <a:rPr lang="en-US" altLang="zh-CN" sz="2000" b="0" i="0" smtClean="0">
                        <a:solidFill>
                          <a:srgbClr val="0070C0"/>
                        </a:solidFill>
                        <a:latin typeface="Cambria Math" panose="02040503050406030204" pitchFamily="18" charset="0"/>
                      </a:rPr>
                      <m:t>much</m:t>
                    </m:r>
                    <m:r>
                      <a:rPr lang="zh-CN" altLang="en-US" sz="2000" b="0" i="0" smtClean="0">
                        <a:solidFill>
                          <a:srgbClr val="0070C0"/>
                        </a:solidFill>
                        <a:latin typeface="Cambria Math" panose="02040503050406030204" pitchFamily="18" charset="0"/>
                      </a:rPr>
                      <m:t> </m:t>
                    </m:r>
                    <m:r>
                      <m:rPr>
                        <m:sty m:val="p"/>
                      </m:rPr>
                      <a:rPr lang="en-US" altLang="zh-CN" sz="2000" b="0" i="0" smtClean="0">
                        <a:solidFill>
                          <a:srgbClr val="0070C0"/>
                        </a:solidFill>
                        <a:latin typeface="Cambria Math" panose="02040503050406030204" pitchFamily="18" charset="0"/>
                      </a:rPr>
                      <m:t>greater</m:t>
                    </m:r>
                    <m:r>
                      <a:rPr lang="zh-CN" altLang="en-US" sz="2000" b="0" i="0" smtClean="0">
                        <a:solidFill>
                          <a:srgbClr val="0070C0"/>
                        </a:solidFill>
                        <a:latin typeface="Cambria Math" panose="02040503050406030204" pitchFamily="18" charset="0"/>
                      </a:rPr>
                      <m:t> </m:t>
                    </m:r>
                    <m:r>
                      <m:rPr>
                        <m:sty m:val="p"/>
                      </m:rPr>
                      <a:rPr lang="en-US" altLang="zh-CN" sz="2000" b="0" i="0" smtClean="0">
                        <a:solidFill>
                          <a:srgbClr val="0070C0"/>
                        </a:solidFill>
                        <a:latin typeface="Cambria Math" panose="02040503050406030204" pitchFamily="18" charset="0"/>
                      </a:rPr>
                      <m:t>than</m:t>
                    </m:r>
                    <m:r>
                      <a:rPr lang="zh-CN" altLang="en-US" sz="2000" b="0" i="1" smtClean="0">
                        <a:solidFill>
                          <a:srgbClr val="0070C0"/>
                        </a:solidFill>
                        <a:latin typeface="Cambria Math" panose="02040503050406030204" pitchFamily="18" charset="0"/>
                      </a:rPr>
                      <m:t> </m:t>
                    </m:r>
                    <m:r>
                      <a:rPr lang="en-US" altLang="zh-CN" sz="2000" i="1">
                        <a:solidFill>
                          <a:srgbClr val="0070C0"/>
                        </a:solidFill>
                        <a:latin typeface="Cambria Math" panose="02040503050406030204" pitchFamily="18" charset="0"/>
                      </a:rPr>
                      <m:t>𝑃</m:t>
                    </m:r>
                    <m:d>
                      <m:dPr>
                        <m:ctrlPr>
                          <a:rPr lang="en-US" altLang="zh-CN" sz="2000" b="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𝐴</m:t>
                        </m:r>
                      </m:e>
                    </m:d>
                    <m:r>
                      <a:rPr lang="zh-CN" altLang="en-US" sz="2000" b="0" i="0" smtClean="0">
                        <a:solidFill>
                          <a:srgbClr val="0070C0"/>
                        </a:solidFill>
                        <a:latin typeface="Cambria Math" panose="02040503050406030204" pitchFamily="18" charset="0"/>
                      </a:rPr>
                      <m:t> </m:t>
                    </m:r>
                    <m:r>
                      <m:rPr>
                        <m:sty m:val="p"/>
                      </m:rPr>
                      <a:rPr lang="en-US" altLang="zh-CN" sz="2000" b="0" i="0" smtClean="0">
                        <a:solidFill>
                          <a:srgbClr val="0070C0"/>
                        </a:solidFill>
                        <a:latin typeface="Cambria Math" panose="02040503050406030204" pitchFamily="18" charset="0"/>
                      </a:rPr>
                      <m:t>and</m:t>
                    </m:r>
                    <m:r>
                      <a:rPr lang="zh-CN" altLang="en-US" sz="2000" b="0" i="1" smtClean="0">
                        <a:solidFill>
                          <a:srgbClr val="0070C0"/>
                        </a:solidFill>
                        <a:latin typeface="Cambria Math" panose="02040503050406030204" pitchFamily="18" charset="0"/>
                      </a:rPr>
                      <m:t> </m:t>
                    </m:r>
                    <m:r>
                      <a:rPr lang="en-US" altLang="zh-CN" sz="2000" i="1">
                        <a:solidFill>
                          <a:srgbClr val="0070C0"/>
                        </a:solidFill>
                        <a:latin typeface="Cambria Math" panose="02040503050406030204" pitchFamily="18" charset="0"/>
                      </a:rPr>
                      <m:t>𝑃</m:t>
                    </m:r>
                    <m:d>
                      <m:dPr>
                        <m:ctrlPr>
                          <a:rPr lang="en-US" altLang="zh-CN" sz="2000" b="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𝐵</m:t>
                        </m:r>
                      </m:e>
                    </m:d>
                  </m:oMath>
                </a14:m>
                <a:r>
                  <a:rPr lang="zh-CN" altLang="en-US" sz="2000" b="1" dirty="0">
                    <a:solidFill>
                      <a:srgbClr val="0070C0"/>
                    </a:solidFill>
                    <a:latin typeface="华文新魏" panose="02010800040101010101" pitchFamily="2" charset="-122"/>
                    <a:ea typeface="华文新魏" panose="02010800040101010101" pitchFamily="2" charset="-122"/>
                  </a:rPr>
                  <a:t> </a:t>
                </a:r>
                <a:endParaRPr lang="en-US" altLang="zh-CN" sz="2000" b="1" dirty="0">
                  <a:solidFill>
                    <a:srgbClr val="0070C0"/>
                  </a:solidFill>
                  <a:latin typeface="华文新魏" panose="02010800040101010101" pitchFamily="2" charset="-122"/>
                  <a:ea typeface="华文新魏" panose="02010800040101010101" pitchFamily="2" charset="-122"/>
                </a:endParaRPr>
              </a:p>
              <a:p>
                <a:pPr algn="just"/>
                <a:r>
                  <a:rPr lang="en-US" altLang="zh-CN" sz="2000" dirty="0">
                    <a:solidFill>
                      <a:srgbClr val="0070C0"/>
                    </a:solidFill>
                    <a:latin typeface="华文新魏" panose="02010800040101010101" pitchFamily="2" charset="-122"/>
                    <a:ea typeface="华文新魏" panose="02010800040101010101" pitchFamily="2" charset="-122"/>
                  </a:rPr>
                  <a:t>This suggests</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that</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one of</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students X</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and</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Y is</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more</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likely</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to</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joint</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the exercise when</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other goes. We therefore think</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that the two students very likely</a:t>
                </a:r>
                <a:r>
                  <a:rPr lang="zh-CN" altLang="en-US" sz="2000" dirty="0">
                    <a:solidFill>
                      <a:srgbClr val="0070C0"/>
                    </a:solidFill>
                    <a:latin typeface="华文新魏" panose="02010800040101010101" pitchFamily="2" charset="-122"/>
                    <a:ea typeface="华文新魏" panose="02010800040101010101" pitchFamily="2" charset="-122"/>
                  </a:rPr>
                  <a:t> </a:t>
                </a:r>
                <a:r>
                  <a:rPr lang="en-US" altLang="zh-CN" sz="2000" dirty="0">
                    <a:solidFill>
                      <a:srgbClr val="0070C0"/>
                    </a:solidFill>
                    <a:latin typeface="华文新魏" panose="02010800040101010101" pitchFamily="2" charset="-122"/>
                    <a:ea typeface="华文新魏" panose="02010800040101010101" pitchFamily="2" charset="-122"/>
                  </a:rPr>
                  <a:t>know each other. </a:t>
                </a:r>
                <a:endParaRPr lang="zh-CN" altLang="en-US" sz="2000" dirty="0">
                  <a:solidFill>
                    <a:srgbClr val="0070C0"/>
                  </a:solidFill>
                  <a:latin typeface="华文新魏" panose="02010800040101010101" pitchFamily="2" charset="-122"/>
                  <a:ea typeface="华文新魏" panose="02010800040101010101" pitchFamily="2" charset="-122"/>
                </a:endParaRPr>
              </a:p>
            </p:txBody>
          </p:sp>
        </mc:Choice>
        <mc:Fallback xmlns="">
          <p:sp>
            <p:nvSpPr>
              <p:cNvPr id="9" name="文本框 8">
                <a:extLst>
                  <a:ext uri="{FF2B5EF4-FFF2-40B4-BE49-F238E27FC236}">
                    <a16:creationId xmlns:a16="http://schemas.microsoft.com/office/drawing/2014/main" id="{BD18720A-EBBE-47DC-97D2-3E6D6CB68160}"/>
                  </a:ext>
                </a:extLst>
              </p:cNvPr>
              <p:cNvSpPr txBox="1">
                <a:spLocks noRot="1" noChangeAspect="1" noMove="1" noResize="1" noEditPoints="1" noAdjustHandles="1" noChangeArrowheads="1" noChangeShapeType="1" noTextEdit="1"/>
              </p:cNvSpPr>
              <p:nvPr/>
            </p:nvSpPr>
            <p:spPr>
              <a:xfrm>
                <a:off x="876300" y="4757919"/>
                <a:ext cx="6542745" cy="1323439"/>
              </a:xfrm>
              <a:prstGeom prst="rect">
                <a:avLst/>
              </a:prstGeom>
              <a:blipFill>
                <a:blip r:embed="rId7"/>
                <a:stretch>
                  <a:fillRect l="-1025" r="-932" b="-6881"/>
                </a:stretch>
              </a:blipFill>
            </p:spPr>
            <p:txBody>
              <a:bodyPr/>
              <a:lstStyle/>
              <a:p>
                <a:r>
                  <a:rPr lang="zh-CN" altLang="en-US">
                    <a:noFill/>
                  </a:rPr>
                  <a:t> </a:t>
                </a:r>
              </a:p>
            </p:txBody>
          </p:sp>
        </mc:Fallback>
      </mc:AlternateContent>
      <p:sp>
        <p:nvSpPr>
          <p:cNvPr id="10" name="TextBox 9"/>
          <p:cNvSpPr txBox="1"/>
          <p:nvPr/>
        </p:nvSpPr>
        <p:spPr>
          <a:xfrm>
            <a:off x="1474138" y="2871680"/>
            <a:ext cx="7303498" cy="400110"/>
          </a:xfrm>
          <a:prstGeom prst="rect">
            <a:avLst/>
          </a:prstGeom>
          <a:noFill/>
        </p:spPr>
        <p:txBody>
          <a:bodyPr wrap="square" rtlCol="0">
            <a:spAutoFit/>
          </a:bodyPr>
          <a:lstStyle/>
          <a:p>
            <a:r>
              <a:rPr lang="en-US" altLang="zh-CN" sz="2000" b="1" dirty="0">
                <a:solidFill>
                  <a:schemeClr val="accent5">
                    <a:lumMod val="75000"/>
                  </a:schemeClr>
                </a:solidFill>
                <a:latin typeface="华文新魏" pitchFamily="2" charset="-122"/>
                <a:ea typeface="华文新魏" pitchFamily="2" charset="-122"/>
              </a:rPr>
              <a:t>If student</a:t>
            </a:r>
            <a:r>
              <a:rPr lang="zh-CN" altLang="en-US" sz="2000" b="1" dirty="0">
                <a:solidFill>
                  <a:schemeClr val="accent5">
                    <a:lumMod val="75000"/>
                  </a:schemeClr>
                </a:solidFill>
                <a:latin typeface="华文新魏" pitchFamily="2" charset="-122"/>
                <a:ea typeface="华文新魏" pitchFamily="2" charset="-122"/>
              </a:rPr>
              <a:t> </a:t>
            </a:r>
            <a:r>
              <a:rPr lang="en-US" altLang="zh-CN" sz="2000" b="1" dirty="0">
                <a:solidFill>
                  <a:schemeClr val="accent5">
                    <a:lumMod val="75000"/>
                  </a:schemeClr>
                </a:solidFill>
                <a:latin typeface="华文新魏" pitchFamily="2" charset="-122"/>
                <a:ea typeface="华文新魏" pitchFamily="2" charset="-122"/>
              </a:rPr>
              <a:t>X goes, will student</a:t>
            </a:r>
            <a:r>
              <a:rPr lang="zh-CN" altLang="en-US" sz="2000" b="1" dirty="0">
                <a:solidFill>
                  <a:schemeClr val="accent5">
                    <a:lumMod val="75000"/>
                  </a:schemeClr>
                </a:solidFill>
                <a:latin typeface="华文新魏" pitchFamily="2" charset="-122"/>
                <a:ea typeface="华文新魏" pitchFamily="2" charset="-122"/>
              </a:rPr>
              <a:t> </a:t>
            </a:r>
            <a:r>
              <a:rPr lang="en-US" altLang="zh-CN" sz="2000" b="1" dirty="0">
                <a:solidFill>
                  <a:schemeClr val="accent5">
                    <a:lumMod val="75000"/>
                  </a:schemeClr>
                </a:solidFill>
                <a:latin typeface="华文新魏" pitchFamily="2" charset="-122"/>
                <a:ea typeface="华文新魏" pitchFamily="2" charset="-122"/>
              </a:rPr>
              <a:t>Y join in? If Y goes, will X join in?</a:t>
            </a:r>
            <a:endParaRPr lang="zh-CN" altLang="en-US" sz="2000" b="1" dirty="0">
              <a:solidFill>
                <a:schemeClr val="accent5">
                  <a:lumMod val="75000"/>
                </a:schemeClr>
              </a:solidFill>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7"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759F9EC-1DFB-4D1B-A7B4-B72F098E91C3}"/>
                  </a:ext>
                </a:extLst>
              </p:cNvPr>
              <p:cNvSpPr txBox="1"/>
              <p:nvPr/>
            </p:nvSpPr>
            <p:spPr>
              <a:xfrm>
                <a:off x="1167992" y="429618"/>
                <a:ext cx="6882205" cy="461665"/>
              </a:xfrm>
              <a:prstGeom prst="rect">
                <a:avLst/>
              </a:prstGeom>
              <a:noFill/>
            </p:spPr>
            <p:txBody>
              <a:bodyPr wrap="none" rtlCol="0">
                <a:spAutoFit/>
              </a:bodyPr>
              <a:lstStyle/>
              <a:p>
                <a:r>
                  <a:rPr lang="en-US" altLang="zh-CN"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Basic properties of</a:t>
                </a:r>
                <a:r>
                  <a:rPr lang="zh-CN" altLang="en-US"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r>
                  <a:rPr lang="en-US" altLang="zh-CN"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Conditional Probability</a:t>
                </a:r>
                <a14:m>
                  <m:oMath xmlns:m="http://schemas.openxmlformats.org/officeDocument/2006/math">
                    <m:r>
                      <a:rPr lang="en-US" altLang="zh-CN" sz="2400" b="1" i="0" smtClean="0">
                        <a:solidFill>
                          <a:schemeClr val="accent1">
                            <a:lumMod val="75000"/>
                          </a:schemeClr>
                        </a:solidFill>
                        <a:effectLst>
                          <a:outerShdw blurRad="38100" dist="38100" dir="2700000" algn="tl">
                            <a:srgbClr val="000000">
                              <a:alpha val="43137"/>
                            </a:srgbClr>
                          </a:outerShdw>
                        </a:effectLst>
                        <a:latin typeface="Cambria Math"/>
                        <a:ea typeface="华文新魏" panose="02010800040101010101" pitchFamily="2" charset="-122"/>
                      </a:rPr>
                      <m:t> </m:t>
                    </m:r>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t>𝑷</m:t>
                    </m:r>
                    <m:d>
                      <m:dPr>
                        <m:ctrlP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ctrlPr>
                      </m:dPr>
                      <m:e>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a:ea typeface="华文新魏" panose="02010800040101010101" pitchFamily="2" charset="-122"/>
                          </a:rPr>
                          <m:t>𝑨</m:t>
                        </m:r>
                      </m:e>
                      <m:e>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t>𝑩</m:t>
                        </m:r>
                      </m:e>
                    </m:d>
                  </m:oMath>
                </a14:m>
                <a:endParaRPr lang="zh-CN" altLang="en-US"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mc:Choice>
        <mc:Fallback xmlns="">
          <p:sp>
            <p:nvSpPr>
              <p:cNvPr id="2" name="文本框 1">
                <a:extLst>
                  <a:ext uri="{FF2B5EF4-FFF2-40B4-BE49-F238E27FC236}">
                    <a16:creationId xmlns:a16="http://schemas.microsoft.com/office/drawing/2014/main" id="{2759F9EC-1DFB-4D1B-A7B4-B72F098E91C3}"/>
                  </a:ext>
                </a:extLst>
              </p:cNvPr>
              <p:cNvSpPr txBox="1">
                <a:spLocks noRot="1" noChangeAspect="1" noMove="1" noResize="1" noEditPoints="1" noAdjustHandles="1" noChangeArrowheads="1" noChangeShapeType="1" noTextEdit="1"/>
              </p:cNvSpPr>
              <p:nvPr/>
            </p:nvSpPr>
            <p:spPr>
              <a:xfrm>
                <a:off x="1167992" y="429618"/>
                <a:ext cx="6882205" cy="461665"/>
              </a:xfrm>
              <a:prstGeom prst="rect">
                <a:avLst/>
              </a:prstGeom>
              <a:blipFill>
                <a:blip r:embed="rId2"/>
                <a:stretch>
                  <a:fillRect l="-1473" t="-10526" b="-342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E42E1B1-455D-4AD8-ABF0-DF00B76876F7}"/>
                  </a:ext>
                </a:extLst>
              </p:cNvPr>
              <p:cNvSpPr txBox="1"/>
              <p:nvPr/>
            </p:nvSpPr>
            <p:spPr>
              <a:xfrm>
                <a:off x="360282" y="1117368"/>
                <a:ext cx="2486450"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Assume </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&gt;0</m:t>
                    </m:r>
                  </m:oMath>
                </a14:m>
                <a:r>
                  <a:rPr lang="en-US" altLang="zh-CN" dirty="0">
                    <a:latin typeface="华文新魏" panose="02010800040101010101" pitchFamily="2" charset="-122"/>
                    <a:ea typeface="华文新魏" panose="02010800040101010101" pitchFamily="2" charset="-122"/>
                  </a:rPr>
                  <a:t>, then</a:t>
                </a:r>
                <a:endParaRPr lang="zh-CN" altLang="en-US" dirty="0">
                  <a:latin typeface="华文新魏" panose="02010800040101010101" pitchFamily="2" charset="-122"/>
                  <a:ea typeface="华文新魏" panose="02010800040101010101" pitchFamily="2" charset="-122"/>
                </a:endParaRPr>
              </a:p>
            </p:txBody>
          </p:sp>
        </mc:Choice>
        <mc:Fallback xmlns="">
          <p:sp>
            <p:nvSpPr>
              <p:cNvPr id="3" name="文本框 2">
                <a:extLst>
                  <a:ext uri="{FF2B5EF4-FFF2-40B4-BE49-F238E27FC236}">
                    <a16:creationId xmlns:a16="http://schemas.microsoft.com/office/drawing/2014/main" id="{9E42E1B1-455D-4AD8-ABF0-DF00B76876F7}"/>
                  </a:ext>
                </a:extLst>
              </p:cNvPr>
              <p:cNvSpPr txBox="1">
                <a:spLocks noRot="1" noChangeAspect="1" noMove="1" noResize="1" noEditPoints="1" noAdjustHandles="1" noChangeArrowheads="1" noChangeShapeType="1" noTextEdit="1"/>
              </p:cNvSpPr>
              <p:nvPr/>
            </p:nvSpPr>
            <p:spPr>
              <a:xfrm>
                <a:off x="360282" y="1117368"/>
                <a:ext cx="2486450" cy="369332"/>
              </a:xfrm>
              <a:prstGeom prst="rect">
                <a:avLst/>
              </a:prstGeom>
              <a:blipFill>
                <a:blip r:embed="rId3"/>
                <a:stretch>
                  <a:fillRect l="-1961" t="-6557" r="-1716"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378F94E-AE6F-4F05-92F3-59D82DD9FB4A}"/>
                  </a:ext>
                </a:extLst>
              </p:cNvPr>
              <p:cNvSpPr txBox="1"/>
              <p:nvPr/>
            </p:nvSpPr>
            <p:spPr>
              <a:xfrm>
                <a:off x="438475" y="1509389"/>
                <a:ext cx="5934445" cy="369332"/>
              </a:xfrm>
              <a:prstGeom prst="rect">
                <a:avLst/>
              </a:prstGeom>
              <a:noFill/>
            </p:spPr>
            <p:txBody>
              <a:bodyPr wrap="non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1. </a:t>
                </a:r>
                <a:r>
                  <a:rPr lang="en-US" altLang="zh-CN" dirty="0">
                    <a:solidFill>
                      <a:srgbClr val="C00000"/>
                    </a:solidFill>
                    <a:latin typeface="华文新魏" panose="02010800040101010101" pitchFamily="2" charset="-122"/>
                    <a:ea typeface="华文新魏" panose="02010800040101010101" pitchFamily="2" charset="-122"/>
                  </a:rPr>
                  <a:t>Non-Negativity</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非负性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For any Event A, </a:t>
                </a:r>
                <a14:m>
                  <m:oMath xmlns:m="http://schemas.openxmlformats.org/officeDocument/2006/math">
                    <m:r>
                      <a:rPr lang="en-US" altLang="zh-CN" b="0" i="1" smtClean="0">
                        <a:solidFill>
                          <a:schemeClr val="tx2">
                            <a:lumMod val="75000"/>
                          </a:schemeClr>
                        </a:solidFill>
                        <a:latin typeface="Cambria Math" panose="02040503050406030204" pitchFamily="18" charset="0"/>
                      </a:rPr>
                      <m:t>𝑃</m:t>
                    </m:r>
                    <m:d>
                      <m:dPr>
                        <m:ctrlPr>
                          <a:rPr lang="en-US" altLang="zh-CN" b="0" i="1" smtClean="0">
                            <a:solidFill>
                              <a:schemeClr val="tx2">
                                <a:lumMod val="75000"/>
                              </a:schemeClr>
                            </a:solidFill>
                            <a:latin typeface="Cambria Math" panose="02040503050406030204" pitchFamily="18" charset="0"/>
                          </a:rPr>
                        </m:ctrlPr>
                      </m:dPr>
                      <m:e>
                        <m:r>
                          <a:rPr lang="en-US" altLang="zh-CN" b="0" i="1" smtClean="0">
                            <a:solidFill>
                              <a:schemeClr val="tx2">
                                <a:lumMod val="75000"/>
                              </a:schemeClr>
                            </a:solidFill>
                            <a:latin typeface="Cambria Math" panose="02040503050406030204" pitchFamily="18" charset="0"/>
                          </a:rPr>
                          <m:t>𝐴</m:t>
                        </m:r>
                      </m:e>
                      <m:e>
                        <m:r>
                          <a:rPr lang="en-US" altLang="zh-CN" b="0" i="1" smtClean="0">
                            <a:solidFill>
                              <a:schemeClr val="tx2">
                                <a:lumMod val="75000"/>
                              </a:schemeClr>
                            </a:solidFill>
                            <a:latin typeface="Cambria Math" panose="02040503050406030204" pitchFamily="18" charset="0"/>
                          </a:rPr>
                          <m:t>𝐵</m:t>
                        </m:r>
                      </m:e>
                    </m:d>
                    <m:r>
                      <a:rPr lang="en-US" altLang="zh-CN" b="0" i="1" smtClean="0">
                        <a:solidFill>
                          <a:schemeClr val="tx2">
                            <a:lumMod val="75000"/>
                          </a:schemeClr>
                        </a:solidFill>
                        <a:latin typeface="Cambria Math" panose="02040503050406030204" pitchFamily="18" charset="0"/>
                      </a:rPr>
                      <m:t>≥0</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Choice>
        <mc:Fallback xmlns="">
          <p:sp>
            <p:nvSpPr>
              <p:cNvPr id="4" name="文本框 3">
                <a:extLst>
                  <a:ext uri="{FF2B5EF4-FFF2-40B4-BE49-F238E27FC236}">
                    <a16:creationId xmlns:a16="http://schemas.microsoft.com/office/drawing/2014/main" id="{5378F94E-AE6F-4F05-92F3-59D82DD9FB4A}"/>
                  </a:ext>
                </a:extLst>
              </p:cNvPr>
              <p:cNvSpPr txBox="1">
                <a:spLocks noRot="1" noChangeAspect="1" noMove="1" noResize="1" noEditPoints="1" noAdjustHandles="1" noChangeArrowheads="1" noChangeShapeType="1" noTextEdit="1"/>
              </p:cNvSpPr>
              <p:nvPr/>
            </p:nvSpPr>
            <p:spPr>
              <a:xfrm>
                <a:off x="438475" y="1509389"/>
                <a:ext cx="5934445" cy="369332"/>
              </a:xfrm>
              <a:prstGeom prst="rect">
                <a:avLst/>
              </a:prstGeom>
              <a:blipFill>
                <a:blip r:embed="rId4"/>
                <a:stretch>
                  <a:fillRect l="-855" t="-10345" b="-275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6721341-C240-4EC3-B4B8-976CD5718BBC}"/>
                  </a:ext>
                </a:extLst>
              </p:cNvPr>
              <p:cNvSpPr txBox="1"/>
              <p:nvPr/>
            </p:nvSpPr>
            <p:spPr>
              <a:xfrm>
                <a:off x="417455" y="1926914"/>
                <a:ext cx="6164636" cy="369332"/>
              </a:xfrm>
              <a:prstGeom prst="rect">
                <a:avLst/>
              </a:prstGeom>
              <a:noFill/>
            </p:spPr>
            <p:txBody>
              <a:bodyPr wrap="non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2. </a:t>
                </a:r>
                <a:r>
                  <a:rPr lang="en-US" altLang="zh-CN" dirty="0">
                    <a:solidFill>
                      <a:srgbClr val="C00000"/>
                    </a:solidFill>
                    <a:latin typeface="华文新魏" panose="02010800040101010101" pitchFamily="2" charset="-122"/>
                    <a:ea typeface="华文新魏" panose="02010800040101010101" pitchFamily="2" charset="-122"/>
                  </a:rPr>
                  <a:t>Normalization</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规范性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For certain event </a:t>
                </a:r>
                <a14:m>
                  <m:oMath xmlns:m="http://schemas.openxmlformats.org/officeDocument/2006/math">
                    <m:r>
                      <m:rPr>
                        <m:sty m:val="p"/>
                      </m:rPr>
                      <a:rPr lang="en-US" altLang="zh-CN" b="0" i="0" smtClean="0">
                        <a:solidFill>
                          <a:schemeClr val="tx2">
                            <a:lumMod val="75000"/>
                          </a:schemeClr>
                        </a:solidFill>
                        <a:latin typeface="Cambria Math" panose="02040503050406030204" pitchFamily="18" charset="0"/>
                        <a:ea typeface="华文新魏" panose="02010800040101010101" pitchFamily="2" charset="-122"/>
                      </a:rPr>
                      <m:t>Ω</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 </a:t>
                </a:r>
                <a14:m>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d>
                      <m:d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dPr>
                      <m:e>
                        <m:r>
                          <m:rPr>
                            <m:sty m:val="p"/>
                          </m:rPr>
                          <a:rPr lang="en-US" altLang="zh-CN" b="0" i="0" smtClean="0">
                            <a:solidFill>
                              <a:schemeClr val="tx2">
                                <a:lumMod val="75000"/>
                              </a:schemeClr>
                            </a:solidFill>
                            <a:latin typeface="Cambria Math" panose="02040503050406030204" pitchFamily="18" charset="0"/>
                            <a:ea typeface="华文新魏" panose="02010800040101010101" pitchFamily="2" charset="-122"/>
                          </a:rPr>
                          <m:t>Ω</m:t>
                        </m:r>
                      </m:e>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e>
                    </m:d>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oMath>
                </a14:m>
                <a:endParaRPr lang="zh-CN" altLang="en-US" dirty="0">
                  <a:solidFill>
                    <a:srgbClr val="C00000"/>
                  </a:solidFill>
                  <a:latin typeface="华文新魏" panose="02010800040101010101" pitchFamily="2" charset="-122"/>
                  <a:ea typeface="华文新魏" panose="02010800040101010101" pitchFamily="2" charset="-122"/>
                </a:endParaRPr>
              </a:p>
            </p:txBody>
          </p:sp>
        </mc:Choice>
        <mc:Fallback xmlns="">
          <p:sp>
            <p:nvSpPr>
              <p:cNvPr id="5" name="文本框 4">
                <a:extLst>
                  <a:ext uri="{FF2B5EF4-FFF2-40B4-BE49-F238E27FC236}">
                    <a16:creationId xmlns:a16="http://schemas.microsoft.com/office/drawing/2014/main" id="{06721341-C240-4EC3-B4B8-976CD5718BBC}"/>
                  </a:ext>
                </a:extLst>
              </p:cNvPr>
              <p:cNvSpPr txBox="1">
                <a:spLocks noRot="1" noChangeAspect="1" noMove="1" noResize="1" noEditPoints="1" noAdjustHandles="1" noChangeArrowheads="1" noChangeShapeType="1" noTextEdit="1"/>
              </p:cNvSpPr>
              <p:nvPr/>
            </p:nvSpPr>
            <p:spPr>
              <a:xfrm>
                <a:off x="417455" y="1926914"/>
                <a:ext cx="6164636" cy="369332"/>
              </a:xfrm>
              <a:prstGeom prst="rect">
                <a:avLst/>
              </a:prstGeom>
              <a:blipFill>
                <a:blip r:embed="rId5"/>
                <a:stretch>
                  <a:fillRect l="-821"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D9A9B62-9688-43C1-B3D3-96C56C9A46F7}"/>
                  </a:ext>
                </a:extLst>
              </p:cNvPr>
              <p:cNvSpPr txBox="1"/>
              <p:nvPr/>
            </p:nvSpPr>
            <p:spPr>
              <a:xfrm>
                <a:off x="417700" y="2358283"/>
                <a:ext cx="8679883" cy="1129027"/>
              </a:xfrm>
              <a:prstGeom prst="rect">
                <a:avLst/>
              </a:prstGeom>
              <a:noFill/>
            </p:spPr>
            <p:txBody>
              <a:bodyPr wrap="squar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3. </a:t>
                </a:r>
                <a:r>
                  <a:rPr lang="en-US" altLang="zh-CN" dirty="0">
                    <a:solidFill>
                      <a:srgbClr val="C00000"/>
                    </a:solidFill>
                    <a:latin typeface="华文新魏" panose="02010800040101010101" pitchFamily="2" charset="-122"/>
                    <a:ea typeface="华文新魏" panose="02010800040101010101" pitchFamily="2" charset="-122"/>
                  </a:rPr>
                  <a:t>Countable additivity</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可列可加性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Let </a:t>
                </a:r>
                <a14:m>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oMath>
                </a14:m>
                <a:r>
                  <a:rPr lang="zh-CN" altLang="en-US" dirty="0">
                    <a:solidFill>
                      <a:schemeClr val="tx2">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be </a:t>
                </a:r>
                <a14:m>
                  <m:oMath xmlns:m="http://schemas.openxmlformats.org/officeDocument/2006/math">
                    <m:r>
                      <a:rPr lang="en-US" altLang="zh-CN" b="1" i="1" smtClean="0">
                        <a:solidFill>
                          <a:schemeClr val="tx2">
                            <a:lumMod val="75000"/>
                          </a:schemeClr>
                        </a:solidFill>
                        <a:latin typeface="Cambria Math" panose="02040503050406030204" pitchFamily="18" charset="0"/>
                        <a:ea typeface="华文新魏" panose="02010800040101010101" pitchFamily="2" charset="-122"/>
                      </a:rPr>
                      <m:t>𝒑𝒂𝒊𝒓𝒘𝒊𝒔𝒆</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 </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𝒅𝒊𝒔𝒋𝒐𝒊𝒏𝒕</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 </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𝒆𝒗𝒆𝒏𝒕𝒔</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 then</a:t>
                </a:r>
              </a:p>
              <a:p>
                <a:pPr/>
                <a14:m>
                  <m:oMathPara xmlns:m="http://schemas.openxmlformats.org/officeDocument/2006/math">
                    <m:oMathParaPr>
                      <m:jc m:val="centerGroup"/>
                    </m:oMathParaPr>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d>
                        <m:d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dPr>
                        <m:e>
                          <m:nary>
                            <m:naryPr>
                              <m:chr m:val="⋃"/>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naryPr>
                            <m:sub>
                              <m:r>
                                <m:rPr>
                                  <m:brk m:alnAt="23"/>
                                </m:rP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sub>
                            <m:sup>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up>
                            <m:e>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e>
                          </m:nary>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e>
                      </m:d>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nary>
                        <m:naryPr>
                          <m:chr m:val="∑"/>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naryPr>
                        <m:sub>
                          <m:r>
                            <m:rPr>
                              <m:brk m:alnAt="23"/>
                            </m:rP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sub>
                        <m:sup>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up>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e>
                      </m:nary>
                    </m:oMath>
                  </m:oMathPara>
                </a14:m>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Choice>
        <mc:Fallback xmlns="">
          <p:sp>
            <p:nvSpPr>
              <p:cNvPr id="6" name="文本框 5">
                <a:extLst>
                  <a:ext uri="{FF2B5EF4-FFF2-40B4-BE49-F238E27FC236}">
                    <a16:creationId xmlns:a16="http://schemas.microsoft.com/office/drawing/2014/main" id="{AD9A9B62-9688-43C1-B3D3-96C56C9A46F7}"/>
                  </a:ext>
                </a:extLst>
              </p:cNvPr>
              <p:cNvSpPr txBox="1">
                <a:spLocks noRot="1" noChangeAspect="1" noMove="1" noResize="1" noEditPoints="1" noAdjustHandles="1" noChangeArrowheads="1" noChangeShapeType="1" noTextEdit="1"/>
              </p:cNvSpPr>
              <p:nvPr/>
            </p:nvSpPr>
            <p:spPr>
              <a:xfrm>
                <a:off x="417700" y="2358283"/>
                <a:ext cx="8679883" cy="1129027"/>
              </a:xfrm>
              <a:prstGeom prst="rect">
                <a:avLst/>
              </a:prstGeom>
              <a:blipFill>
                <a:blip r:embed="rId6"/>
                <a:stretch>
                  <a:fillRect l="-731" t="-53333" b="-12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FE561C5-ED25-4E10-9FD3-733BFAEA6978}"/>
                  </a:ext>
                </a:extLst>
              </p:cNvPr>
              <p:cNvSpPr txBox="1"/>
              <p:nvPr/>
            </p:nvSpPr>
            <p:spPr>
              <a:xfrm>
                <a:off x="1416112" y="4186749"/>
                <a:ext cx="3443571" cy="588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e>
                          </m:nary>
                        </m:e>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e>
                          </m:nary>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den>
                      </m:f>
                    </m:oMath>
                  </m:oMathPara>
                </a14:m>
                <a:endParaRPr lang="zh-CN" altLang="en-US" dirty="0"/>
              </a:p>
            </p:txBody>
          </p:sp>
        </mc:Choice>
        <mc:Fallback xmlns="">
          <p:sp>
            <p:nvSpPr>
              <p:cNvPr id="16" name="文本框 15">
                <a:extLst>
                  <a:ext uri="{FF2B5EF4-FFF2-40B4-BE49-F238E27FC236}">
                    <a16:creationId xmlns:a16="http://schemas.microsoft.com/office/drawing/2014/main" id="{BFE561C5-ED25-4E10-9FD3-733BFAEA6978}"/>
                  </a:ext>
                </a:extLst>
              </p:cNvPr>
              <p:cNvSpPr txBox="1">
                <a:spLocks noRot="1" noChangeAspect="1" noMove="1" noResize="1" noEditPoints="1" noAdjustHandles="1" noChangeArrowheads="1" noChangeShapeType="1" noTextEdit="1"/>
              </p:cNvSpPr>
              <p:nvPr/>
            </p:nvSpPr>
            <p:spPr>
              <a:xfrm>
                <a:off x="1416112" y="4186749"/>
                <a:ext cx="3443571" cy="58875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7D1C4D9-9911-4051-81EE-871299812998}"/>
                  </a:ext>
                </a:extLst>
              </p:cNvPr>
              <p:cNvSpPr txBox="1"/>
              <p:nvPr/>
            </p:nvSpPr>
            <p:spPr>
              <a:xfrm>
                <a:off x="4859683" y="4183152"/>
                <a:ext cx="1924501" cy="588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e>
                          </m:nary>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den>
                      </m:f>
                    </m:oMath>
                  </m:oMathPara>
                </a14:m>
                <a:endParaRPr lang="zh-CN" altLang="en-US" dirty="0"/>
              </a:p>
            </p:txBody>
          </p:sp>
        </mc:Choice>
        <mc:Fallback xmlns="">
          <p:sp>
            <p:nvSpPr>
              <p:cNvPr id="18" name="文本框 17">
                <a:extLst>
                  <a:ext uri="{FF2B5EF4-FFF2-40B4-BE49-F238E27FC236}">
                    <a16:creationId xmlns:a16="http://schemas.microsoft.com/office/drawing/2014/main" id="{C7D1C4D9-9911-4051-81EE-871299812998}"/>
                  </a:ext>
                </a:extLst>
              </p:cNvPr>
              <p:cNvSpPr txBox="1">
                <a:spLocks noRot="1" noChangeAspect="1" noMove="1" noResize="1" noEditPoints="1" noAdjustHandles="1" noChangeArrowheads="1" noChangeShapeType="1" noTextEdit="1"/>
              </p:cNvSpPr>
              <p:nvPr/>
            </p:nvSpPr>
            <p:spPr>
              <a:xfrm>
                <a:off x="4859683" y="4183152"/>
                <a:ext cx="1924501" cy="58875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3AD650E-A640-431B-A769-49D48EB306C4}"/>
                  </a:ext>
                </a:extLst>
              </p:cNvPr>
              <p:cNvSpPr txBox="1"/>
              <p:nvPr/>
            </p:nvSpPr>
            <p:spPr>
              <a:xfrm>
                <a:off x="1438185" y="4948877"/>
                <a:ext cx="38622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e>
                      </m:d>
                      <m:r>
                        <a:rPr lang="en-US" altLang="zh-CN" b="0" i="1" smtClean="0">
                          <a:latin typeface="Cambria Math" panose="02040503050406030204" pitchFamily="18" charset="0"/>
                        </a:rPr>
                        <m:t> </m:t>
                      </m:r>
                      <m:r>
                        <m:rPr>
                          <m:nor/>
                        </m:rPr>
                        <a:rPr lang="en-US" altLang="zh-CN" b="0" smtClean="0">
                          <a:latin typeface="Cambria Math" panose="02040503050406030204" pitchFamily="18" charset="0"/>
                          <a:ea typeface="华文新魏" panose="02010800040101010101" pitchFamily="2" charset="-122"/>
                        </a:rPr>
                        <m:t>𝑎𝑟𝑒</m:t>
                      </m:r>
                      <m:r>
                        <m:rPr>
                          <m:nor/>
                        </m:rPr>
                        <a:rPr lang="en-US" altLang="zh-CN" b="0" smtClean="0">
                          <a:latin typeface="Cambria Math" panose="02040503050406030204" pitchFamily="18" charset="0"/>
                          <a:ea typeface="华文新魏" panose="02010800040101010101" pitchFamily="2" charset="-122"/>
                        </a:rPr>
                        <m:t> </m:t>
                      </m:r>
                      <m:r>
                        <m:rPr>
                          <m:nor/>
                        </m:rPr>
                        <a:rPr lang="en-US" altLang="zh-CN" b="0" smtClean="0">
                          <a:latin typeface="Cambria Math" panose="02040503050406030204" pitchFamily="18" charset="0"/>
                          <a:ea typeface="华文新魏" panose="02010800040101010101" pitchFamily="2" charset="-122"/>
                        </a:rPr>
                        <m:t>𝑝𝑎𝑖𝑟𝑤𝑖𝑠𝑒</m:t>
                      </m:r>
                      <m:r>
                        <m:rPr>
                          <m:nor/>
                        </m:rPr>
                        <a:rPr lang="en-US" altLang="zh-CN" b="0" smtClean="0">
                          <a:latin typeface="Cambria Math" panose="02040503050406030204" pitchFamily="18" charset="0"/>
                          <a:ea typeface="华文新魏" panose="02010800040101010101" pitchFamily="2" charset="-122"/>
                        </a:rPr>
                        <m:t> </m:t>
                      </m:r>
                      <m:r>
                        <m:rPr>
                          <m:nor/>
                        </m:rPr>
                        <a:rPr lang="en-US" altLang="zh-CN" b="0" smtClean="0">
                          <a:latin typeface="Cambria Math" panose="02040503050406030204" pitchFamily="18" charset="0"/>
                          <a:ea typeface="华文新魏" panose="02010800040101010101" pitchFamily="2" charset="-122"/>
                        </a:rPr>
                        <m:t>𝑑𝑖𝑠𝑗𝑜𝑖𝑛𝑡</m:t>
                      </m:r>
                      <m:r>
                        <m:rPr>
                          <m:nor/>
                        </m:rPr>
                        <a:rPr lang="en-US" altLang="zh-CN" b="0" smtClean="0">
                          <a:latin typeface="Cambria Math" panose="02040503050406030204" pitchFamily="18" charset="0"/>
                          <a:ea typeface="华文新魏" panose="02010800040101010101" pitchFamily="2" charset="-122"/>
                        </a:rPr>
                        <m:t> </m:t>
                      </m:r>
                      <m:r>
                        <m:rPr>
                          <m:nor/>
                        </m:rPr>
                        <a:rPr lang="en-US" altLang="zh-CN" b="0" smtClean="0">
                          <a:latin typeface="Cambria Math" panose="02040503050406030204" pitchFamily="18" charset="0"/>
                          <a:ea typeface="华文新魏" panose="02010800040101010101" pitchFamily="2" charset="-122"/>
                        </a:rPr>
                        <m:t>𝑒𝑣𝑒𝑛𝑡𝑠</m:t>
                      </m:r>
                      <m:r>
                        <a:rPr lang="en-US" altLang="zh-CN" b="0" i="0" smtClean="0">
                          <a:latin typeface="Cambria Math" panose="02040503050406030204" pitchFamily="18" charset="0"/>
                        </a:rPr>
                        <m:t>.</m:t>
                      </m:r>
                    </m:oMath>
                  </m:oMathPara>
                </a14:m>
                <a:endParaRPr lang="zh-CN" altLang="en-US" dirty="0"/>
              </a:p>
            </p:txBody>
          </p:sp>
        </mc:Choice>
        <mc:Fallback xmlns="">
          <p:sp>
            <p:nvSpPr>
              <p:cNvPr id="19" name="文本框 18">
                <a:extLst>
                  <a:ext uri="{FF2B5EF4-FFF2-40B4-BE49-F238E27FC236}">
                    <a16:creationId xmlns:a16="http://schemas.microsoft.com/office/drawing/2014/main" id="{13AD650E-A640-431B-A769-49D48EB306C4}"/>
                  </a:ext>
                </a:extLst>
              </p:cNvPr>
              <p:cNvSpPr txBox="1">
                <a:spLocks noRot="1" noChangeAspect="1" noMove="1" noResize="1" noEditPoints="1" noAdjustHandles="1" noChangeArrowheads="1" noChangeShapeType="1" noTextEdit="1"/>
              </p:cNvSpPr>
              <p:nvPr/>
            </p:nvSpPr>
            <p:spPr>
              <a:xfrm>
                <a:off x="1438185" y="4948877"/>
                <a:ext cx="3862211" cy="276999"/>
              </a:xfrm>
              <a:prstGeom prst="rect">
                <a:avLst/>
              </a:prstGeom>
              <a:blipFill>
                <a:blip r:embed="rId9"/>
                <a:stretch>
                  <a:fillRect t="-2222"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76155B-8048-4F5A-B989-8130066492DB}"/>
                  </a:ext>
                </a:extLst>
              </p:cNvPr>
              <p:cNvSpPr txBox="1"/>
              <p:nvPr/>
            </p:nvSpPr>
            <p:spPr>
              <a:xfrm>
                <a:off x="1490160" y="5317989"/>
                <a:ext cx="38174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𝐵</m:t>
                          </m:r>
                        </m:e>
                      </m:d>
                      <m:r>
                        <a:rPr lang="en-US" altLang="zh-CN" b="0" i="1" smtClean="0">
                          <a:latin typeface="Cambria Math" panose="02040503050406030204" pitchFamily="18" charset="0"/>
                        </a:rPr>
                        <m:t> </m:t>
                      </m:r>
                      <m:r>
                        <a:rPr lang="en-US" altLang="zh-CN" b="0" i="1" smtClean="0">
                          <a:latin typeface="Cambria Math" panose="02040503050406030204" pitchFamily="18" charset="0"/>
                          <a:ea typeface="华文新魏" panose="02010800040101010101" pitchFamily="2" charset="-122"/>
                        </a:rPr>
                        <m:t>𝑎𝑟𝑒</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𝑎𝑙𝑠𝑜</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𝑝𝑎𝑖𝑟𝑤𝑖𝑠𝑒</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𝑑𝑖𝑠𝑗𝑜𝑖𝑛𝑡</m:t>
                      </m:r>
                      <m:r>
                        <a:rPr lang="en-US" altLang="zh-CN" b="0" i="1" smtClean="0">
                          <a:latin typeface="Cambria Math" panose="02040503050406030204" pitchFamily="18" charset="0"/>
                        </a:rPr>
                        <m:t>.</m:t>
                      </m:r>
                    </m:oMath>
                  </m:oMathPara>
                </a14:m>
                <a:endParaRPr lang="zh-CN" altLang="en-US" dirty="0"/>
              </a:p>
            </p:txBody>
          </p:sp>
        </mc:Choice>
        <mc:Fallback xmlns="">
          <p:sp>
            <p:nvSpPr>
              <p:cNvPr id="20" name="文本框 19">
                <a:extLst>
                  <a:ext uri="{FF2B5EF4-FFF2-40B4-BE49-F238E27FC236}">
                    <a16:creationId xmlns:a16="http://schemas.microsoft.com/office/drawing/2014/main" id="{A776155B-8048-4F5A-B989-8130066492DB}"/>
                  </a:ext>
                </a:extLst>
              </p:cNvPr>
              <p:cNvSpPr txBox="1">
                <a:spLocks noRot="1" noChangeAspect="1" noMove="1" noResize="1" noEditPoints="1" noAdjustHandles="1" noChangeArrowheads="1" noChangeShapeType="1" noTextEdit="1"/>
              </p:cNvSpPr>
              <p:nvPr/>
            </p:nvSpPr>
            <p:spPr>
              <a:xfrm>
                <a:off x="1490160" y="5317989"/>
                <a:ext cx="3817455" cy="276999"/>
              </a:xfrm>
              <a:prstGeom prst="rect">
                <a:avLst/>
              </a:prstGeom>
              <a:blipFill>
                <a:blip r:embed="rId10"/>
                <a:stretch>
                  <a:fillRect l="-159" t="-2174" r="-159"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C851913-52FC-4C2F-9842-0EB8184BCFAC}"/>
                  </a:ext>
                </a:extLst>
              </p:cNvPr>
              <p:cNvSpPr txBox="1"/>
              <p:nvPr/>
            </p:nvSpPr>
            <p:spPr>
              <a:xfrm>
                <a:off x="1461317" y="5779766"/>
                <a:ext cx="3446776" cy="5887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e>
                          </m:nary>
                        </m:e>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e>
                          </m:nary>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den>
                      </m:f>
                    </m:oMath>
                  </m:oMathPara>
                </a14:m>
                <a:endParaRPr lang="zh-CN" altLang="en-US" dirty="0"/>
              </a:p>
            </p:txBody>
          </p:sp>
        </mc:Choice>
        <mc:Fallback xmlns="">
          <p:sp>
            <p:nvSpPr>
              <p:cNvPr id="21" name="文本框 20">
                <a:extLst>
                  <a:ext uri="{FF2B5EF4-FFF2-40B4-BE49-F238E27FC236}">
                    <a16:creationId xmlns:a16="http://schemas.microsoft.com/office/drawing/2014/main" id="{9C851913-52FC-4C2F-9842-0EB8184BCFAC}"/>
                  </a:ext>
                </a:extLst>
              </p:cNvPr>
              <p:cNvSpPr txBox="1">
                <a:spLocks noRot="1" noChangeAspect="1" noMove="1" noResize="1" noEditPoints="1" noAdjustHandles="1" noChangeArrowheads="1" noChangeShapeType="1" noTextEdit="1"/>
              </p:cNvSpPr>
              <p:nvPr/>
            </p:nvSpPr>
            <p:spPr>
              <a:xfrm>
                <a:off x="1461317" y="5779766"/>
                <a:ext cx="3446776" cy="588751"/>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0281AE0-E375-421D-9BF1-35CF01850312}"/>
                  </a:ext>
                </a:extLst>
              </p:cNvPr>
              <p:cNvSpPr txBox="1"/>
              <p:nvPr/>
            </p:nvSpPr>
            <p:spPr>
              <a:xfrm>
                <a:off x="4989479" y="5702448"/>
                <a:ext cx="1427507" cy="755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den>
                          </m:f>
                        </m:e>
                      </m:nary>
                    </m:oMath>
                  </m:oMathPara>
                </a14:m>
                <a:endParaRPr lang="zh-CN" altLang="en-US" dirty="0"/>
              </a:p>
            </p:txBody>
          </p:sp>
        </mc:Choice>
        <mc:Fallback xmlns="">
          <p:sp>
            <p:nvSpPr>
              <p:cNvPr id="22" name="文本框 21">
                <a:extLst>
                  <a:ext uri="{FF2B5EF4-FFF2-40B4-BE49-F238E27FC236}">
                    <a16:creationId xmlns:a16="http://schemas.microsoft.com/office/drawing/2014/main" id="{40281AE0-E375-421D-9BF1-35CF01850312}"/>
                  </a:ext>
                </a:extLst>
              </p:cNvPr>
              <p:cNvSpPr txBox="1">
                <a:spLocks noRot="1" noChangeAspect="1" noMove="1" noResize="1" noEditPoints="1" noAdjustHandles="1" noChangeArrowheads="1" noChangeShapeType="1" noTextEdit="1"/>
              </p:cNvSpPr>
              <p:nvPr/>
            </p:nvSpPr>
            <p:spPr>
              <a:xfrm>
                <a:off x="4989479" y="5702448"/>
                <a:ext cx="1427507" cy="755271"/>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B67639EC-C866-49B3-82E5-0254FF202470}"/>
                  </a:ext>
                </a:extLst>
              </p:cNvPr>
              <p:cNvSpPr txBox="1"/>
              <p:nvPr/>
            </p:nvSpPr>
            <p:spPr>
              <a:xfrm>
                <a:off x="6484268" y="5702448"/>
                <a:ext cx="1501245" cy="755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e>
                      </m:nary>
                    </m:oMath>
                  </m:oMathPara>
                </a14:m>
                <a:endParaRPr lang="zh-CN" altLang="en-US" dirty="0"/>
              </a:p>
            </p:txBody>
          </p:sp>
        </mc:Choice>
        <mc:Fallback xmlns="">
          <p:sp>
            <p:nvSpPr>
              <p:cNvPr id="96" name="文本框 95">
                <a:extLst>
                  <a:ext uri="{FF2B5EF4-FFF2-40B4-BE49-F238E27FC236}">
                    <a16:creationId xmlns:a16="http://schemas.microsoft.com/office/drawing/2014/main" id="{B67639EC-C866-49B3-82E5-0254FF202470}"/>
                  </a:ext>
                </a:extLst>
              </p:cNvPr>
              <p:cNvSpPr txBox="1">
                <a:spLocks noRot="1" noChangeAspect="1" noMove="1" noResize="1" noEditPoints="1" noAdjustHandles="1" noChangeArrowheads="1" noChangeShapeType="1" noTextEdit="1"/>
              </p:cNvSpPr>
              <p:nvPr/>
            </p:nvSpPr>
            <p:spPr>
              <a:xfrm>
                <a:off x="6484268" y="5702448"/>
                <a:ext cx="1501245" cy="755271"/>
              </a:xfrm>
              <a:prstGeom prst="rect">
                <a:avLst/>
              </a:prstGeom>
              <a:blipFill>
                <a:blip r:embed="rId13"/>
                <a:stretch>
                  <a:fillRect/>
                </a:stretch>
              </a:blipFill>
            </p:spPr>
            <p:txBody>
              <a:bodyPr/>
              <a:lstStyle/>
              <a:p>
                <a:r>
                  <a:rPr lang="zh-CN" altLang="en-US">
                    <a:noFill/>
                  </a:rPr>
                  <a:t> </a:t>
                </a:r>
              </a:p>
            </p:txBody>
          </p:sp>
        </mc:Fallback>
      </mc:AlternateContent>
      <p:sp>
        <p:nvSpPr>
          <p:cNvPr id="14" name="文本框 3">
            <a:extLst>
              <a:ext uri="{FF2B5EF4-FFF2-40B4-BE49-F238E27FC236}">
                <a16:creationId xmlns:a16="http://schemas.microsoft.com/office/drawing/2014/main" id="{52DD3316-1BB6-4483-82D6-8EEC9F67292D}"/>
              </a:ext>
            </a:extLst>
          </p:cNvPr>
          <p:cNvSpPr txBox="1"/>
          <p:nvPr/>
        </p:nvSpPr>
        <p:spPr>
          <a:xfrm>
            <a:off x="568898" y="4292861"/>
            <a:ext cx="843501"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Prove:</a:t>
            </a:r>
            <a:endParaRPr lang="zh-CN" altLang="en-US" b="1" dirty="0">
              <a:solidFill>
                <a:schemeClr val="accent2">
                  <a:lumMod val="75000"/>
                </a:schemeClr>
              </a:solidFill>
              <a:latin typeface="华文新魏" panose="02010800040101010101" pitchFamily="2" charset="-122"/>
              <a:ea typeface="华文新魏" panose="02010800040101010101" pitchFamily="2" charset="-122"/>
            </a:endParaRPr>
          </a:p>
        </p:txBody>
      </p:sp>
      <p:grpSp>
        <p:nvGrpSpPr>
          <p:cNvPr id="8" name="组合 7">
            <a:extLst>
              <a:ext uri="{FF2B5EF4-FFF2-40B4-BE49-F238E27FC236}">
                <a16:creationId xmlns:a16="http://schemas.microsoft.com/office/drawing/2014/main" id="{B58B8A78-D280-48DF-B896-2FD256E57F61}"/>
              </a:ext>
            </a:extLst>
          </p:cNvPr>
          <p:cNvGrpSpPr/>
          <p:nvPr/>
        </p:nvGrpSpPr>
        <p:grpSpPr>
          <a:xfrm>
            <a:off x="6236850" y="3385353"/>
            <a:ext cx="2613236" cy="706687"/>
            <a:chOff x="6530764" y="3429000"/>
            <a:chExt cx="2613236" cy="706687"/>
          </a:xfrm>
        </p:grpSpPr>
        <p:grpSp>
          <p:nvGrpSpPr>
            <p:cNvPr id="15" name="组合 14">
              <a:extLst>
                <a:ext uri="{FF2B5EF4-FFF2-40B4-BE49-F238E27FC236}">
                  <a16:creationId xmlns:a16="http://schemas.microsoft.com/office/drawing/2014/main" id="{6DF1C75C-4FF2-4851-8060-87465CE9A713}"/>
                </a:ext>
              </a:extLst>
            </p:cNvPr>
            <p:cNvGrpSpPr/>
            <p:nvPr/>
          </p:nvGrpSpPr>
          <p:grpSpPr>
            <a:xfrm>
              <a:off x="6552970" y="3483146"/>
              <a:ext cx="2591030" cy="635390"/>
              <a:chOff x="7800292" y="3561300"/>
              <a:chExt cx="3343264" cy="770688"/>
            </a:xfrm>
          </p:grpSpPr>
          <p:sp>
            <p:nvSpPr>
              <p:cNvPr id="17" name="文本框 8">
                <a:extLst>
                  <a:ext uri="{FF2B5EF4-FFF2-40B4-BE49-F238E27FC236}">
                    <a16:creationId xmlns:a16="http://schemas.microsoft.com/office/drawing/2014/main" id="{3CFD133B-FD06-4AC9-9D47-533E708EE36F}"/>
                  </a:ext>
                </a:extLst>
              </p:cNvPr>
              <p:cNvSpPr txBox="1"/>
              <p:nvPr/>
            </p:nvSpPr>
            <p:spPr>
              <a:xfrm>
                <a:off x="7810776" y="3561300"/>
                <a:ext cx="3173056" cy="410645"/>
              </a:xfrm>
              <a:prstGeom prst="rect">
                <a:avLst/>
              </a:prstGeom>
              <a:noFill/>
            </p:spPr>
            <p:txBody>
              <a:bodyPr wrap="square" rtlCol="0">
                <a:spAutoFit/>
              </a:bodyPr>
              <a:lstStyle/>
              <a:p>
                <a:r>
                  <a:rPr lang="en-US" altLang="zh-CN" sz="1600" b="1" dirty="0">
                    <a:solidFill>
                      <a:schemeClr val="accent2">
                        <a:lumMod val="75000"/>
                      </a:schemeClr>
                    </a:solidFill>
                  </a:rPr>
                  <a:t>Distributive law</a:t>
                </a:r>
                <a:r>
                  <a:rPr lang="zh-CN" altLang="en-US" sz="1600" b="1" dirty="0">
                    <a:solidFill>
                      <a:schemeClr val="accent2">
                        <a:lumMod val="75000"/>
                      </a:schemeClr>
                    </a:solidFill>
                  </a:rPr>
                  <a:t>（分配律）</a:t>
                </a:r>
                <a:endParaRPr lang="en-US" altLang="zh-CN" sz="1600" b="1" dirty="0">
                  <a:solidFill>
                    <a:schemeClr val="accent2">
                      <a:lumMod val="75000"/>
                    </a:schemeClr>
                  </a:solidFill>
                </a:endParaRPr>
              </a:p>
            </p:txBody>
          </p:sp>
          <mc:AlternateContent xmlns:mc="http://schemas.openxmlformats.org/markup-compatibility/2006" xmlns:a14="http://schemas.microsoft.com/office/drawing/2010/main">
            <mc:Choice Requires="a14">
              <p:sp>
                <p:nvSpPr>
                  <p:cNvPr id="23" name="文本框 24">
                    <a:extLst>
                      <a:ext uri="{FF2B5EF4-FFF2-40B4-BE49-F238E27FC236}">
                        <a16:creationId xmlns:a16="http://schemas.microsoft.com/office/drawing/2014/main" id="{960272D0-39DC-45D4-8D80-30AB0D554112}"/>
                      </a:ext>
                    </a:extLst>
                  </p:cNvPr>
                  <p:cNvSpPr txBox="1"/>
                  <p:nvPr/>
                </p:nvSpPr>
                <p:spPr>
                  <a:xfrm>
                    <a:off x="7800292" y="4033337"/>
                    <a:ext cx="3343264" cy="2986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75000"/>
                                </a:schemeClr>
                              </a:solidFill>
                              <a:latin typeface="Cambria Math" panose="02040503050406030204" pitchFamily="18" charset="0"/>
                            </a:rPr>
                            <m:t>𝑨</m:t>
                          </m:r>
                          <m:r>
                            <a:rPr lang="en-US" altLang="zh-CN" sz="1600" b="1" i="1" smtClean="0">
                              <a:solidFill>
                                <a:schemeClr val="accent2">
                                  <a:lumMod val="75000"/>
                                </a:schemeClr>
                              </a:solidFill>
                              <a:latin typeface="Cambria Math" panose="02040503050406030204" pitchFamily="18" charset="0"/>
                            </a:rPr>
                            <m:t>⋂</m:t>
                          </m:r>
                          <m:d>
                            <m:dPr>
                              <m:ctrlPr>
                                <a:rPr lang="en-US" altLang="zh-CN" sz="1600" b="1" i="1" smtClean="0">
                                  <a:solidFill>
                                    <a:schemeClr val="accent2">
                                      <a:lumMod val="75000"/>
                                    </a:schemeClr>
                                  </a:solidFill>
                                  <a:latin typeface="Cambria Math" panose="02040503050406030204" pitchFamily="18" charset="0"/>
                                </a:rPr>
                              </m:ctrlPr>
                            </m:dPr>
                            <m:e>
                              <m:r>
                                <a:rPr lang="en-US" altLang="zh-CN" sz="1600" b="1" i="1" smtClean="0">
                                  <a:solidFill>
                                    <a:schemeClr val="accent2">
                                      <a:lumMod val="75000"/>
                                    </a:schemeClr>
                                  </a:solidFill>
                                  <a:latin typeface="Cambria Math" panose="02040503050406030204" pitchFamily="18" charset="0"/>
                                </a:rPr>
                                <m:t>𝑩</m:t>
                              </m:r>
                              <m:r>
                                <a:rPr lang="en-US" altLang="zh-CN" sz="1600" b="1" i="1" smtClean="0">
                                  <a:solidFill>
                                    <a:schemeClr val="accent2">
                                      <a:lumMod val="75000"/>
                                    </a:schemeClr>
                                  </a:solidFill>
                                  <a:latin typeface="Cambria Math" panose="02040503050406030204" pitchFamily="18" charset="0"/>
                                </a:rPr>
                                <m:t>⋃</m:t>
                              </m:r>
                              <m:r>
                                <a:rPr lang="en-US" altLang="zh-CN" sz="1600" b="1" i="1" smtClean="0">
                                  <a:solidFill>
                                    <a:schemeClr val="accent2">
                                      <a:lumMod val="75000"/>
                                    </a:schemeClr>
                                  </a:solidFill>
                                  <a:latin typeface="Cambria Math" panose="02040503050406030204" pitchFamily="18" charset="0"/>
                                </a:rPr>
                                <m:t>𝑪</m:t>
                              </m:r>
                            </m:e>
                          </m:d>
                          <m:r>
                            <a:rPr lang="en-US" altLang="zh-CN" sz="1600" b="1" i="1" smtClean="0">
                              <a:solidFill>
                                <a:schemeClr val="accent2">
                                  <a:lumMod val="75000"/>
                                </a:schemeClr>
                              </a:solidFill>
                              <a:latin typeface="Cambria Math" panose="02040503050406030204" pitchFamily="18" charset="0"/>
                            </a:rPr>
                            <m:t>=(</m:t>
                          </m:r>
                          <m:r>
                            <a:rPr lang="en-US" altLang="zh-CN" sz="1600" b="1" i="1" smtClean="0">
                              <a:solidFill>
                                <a:schemeClr val="accent2">
                                  <a:lumMod val="75000"/>
                                </a:schemeClr>
                              </a:solidFill>
                              <a:latin typeface="Cambria Math" panose="02040503050406030204" pitchFamily="18" charset="0"/>
                            </a:rPr>
                            <m:t>𝑨</m:t>
                          </m:r>
                          <m:r>
                            <a:rPr lang="en-US" altLang="zh-CN" sz="1600" b="1" i="1" smtClean="0">
                              <a:solidFill>
                                <a:schemeClr val="accent2">
                                  <a:lumMod val="75000"/>
                                </a:schemeClr>
                              </a:solidFill>
                              <a:latin typeface="Cambria Math" panose="02040503050406030204" pitchFamily="18" charset="0"/>
                            </a:rPr>
                            <m:t>⋂</m:t>
                          </m:r>
                          <m:r>
                            <a:rPr lang="en-US" altLang="zh-CN" sz="1600" b="1" i="1" smtClean="0">
                              <a:solidFill>
                                <a:schemeClr val="accent2">
                                  <a:lumMod val="75000"/>
                                </a:schemeClr>
                              </a:solidFill>
                              <a:latin typeface="Cambria Math" panose="02040503050406030204" pitchFamily="18" charset="0"/>
                            </a:rPr>
                            <m:t>𝑩</m:t>
                          </m:r>
                          <m:r>
                            <a:rPr lang="en-US" altLang="zh-CN" sz="1600" b="1" i="1" smtClean="0">
                              <a:solidFill>
                                <a:schemeClr val="accent2">
                                  <a:lumMod val="75000"/>
                                </a:schemeClr>
                              </a:solidFill>
                              <a:latin typeface="Cambria Math" panose="02040503050406030204" pitchFamily="18" charset="0"/>
                            </a:rPr>
                            <m:t>)⋃(</m:t>
                          </m:r>
                          <m:r>
                            <a:rPr lang="en-US" altLang="zh-CN" sz="1600" b="1" i="1" smtClean="0">
                              <a:solidFill>
                                <a:schemeClr val="accent2">
                                  <a:lumMod val="75000"/>
                                </a:schemeClr>
                              </a:solidFill>
                              <a:latin typeface="Cambria Math" panose="02040503050406030204" pitchFamily="18" charset="0"/>
                            </a:rPr>
                            <m:t>𝑨</m:t>
                          </m:r>
                          <m:r>
                            <a:rPr lang="en-US" altLang="zh-CN" sz="1600" b="1" i="1" smtClean="0">
                              <a:solidFill>
                                <a:schemeClr val="accent2">
                                  <a:lumMod val="75000"/>
                                </a:schemeClr>
                              </a:solidFill>
                              <a:latin typeface="Cambria Math" panose="02040503050406030204" pitchFamily="18" charset="0"/>
                            </a:rPr>
                            <m:t>⋂</m:t>
                          </m:r>
                          <m:r>
                            <a:rPr lang="en-US" altLang="zh-CN" sz="1600" b="1" i="1" smtClean="0">
                              <a:solidFill>
                                <a:schemeClr val="accent2">
                                  <a:lumMod val="75000"/>
                                </a:schemeClr>
                              </a:solidFill>
                              <a:latin typeface="Cambria Math" panose="02040503050406030204" pitchFamily="18" charset="0"/>
                            </a:rPr>
                            <m:t>𝑪</m:t>
                          </m:r>
                          <m:r>
                            <a:rPr lang="en-US" altLang="zh-CN" sz="1600" b="1" i="1" smtClean="0">
                              <a:solidFill>
                                <a:schemeClr val="accent2">
                                  <a:lumMod val="75000"/>
                                </a:schemeClr>
                              </a:solidFill>
                              <a:latin typeface="Cambria Math" panose="02040503050406030204" pitchFamily="18" charset="0"/>
                            </a:rPr>
                            <m:t>)</m:t>
                          </m:r>
                        </m:oMath>
                      </m:oMathPara>
                    </a14:m>
                    <a:endParaRPr lang="zh-CN" altLang="en-US" sz="1600" b="1" dirty="0">
                      <a:solidFill>
                        <a:schemeClr val="accent2">
                          <a:lumMod val="75000"/>
                        </a:schemeClr>
                      </a:solidFill>
                    </a:endParaRPr>
                  </a:p>
                </p:txBody>
              </p:sp>
            </mc:Choice>
            <mc:Fallback xmlns="">
              <p:sp>
                <p:nvSpPr>
                  <p:cNvPr id="23" name="文本框 24">
                    <a:extLst>
                      <a:ext uri="{FF2B5EF4-FFF2-40B4-BE49-F238E27FC236}">
                        <a16:creationId xmlns:a16="http://schemas.microsoft.com/office/drawing/2014/main" id="{960272D0-39DC-45D4-8D80-30AB0D554112}"/>
                      </a:ext>
                    </a:extLst>
                  </p:cNvPr>
                  <p:cNvSpPr txBox="1">
                    <a:spLocks noRot="1" noChangeAspect="1" noMove="1" noResize="1" noEditPoints="1" noAdjustHandles="1" noChangeArrowheads="1" noChangeShapeType="1" noTextEdit="1"/>
                  </p:cNvSpPr>
                  <p:nvPr/>
                </p:nvSpPr>
                <p:spPr>
                  <a:xfrm>
                    <a:off x="7800292" y="4033337"/>
                    <a:ext cx="3343264" cy="298651"/>
                  </a:xfrm>
                  <a:prstGeom prst="rect">
                    <a:avLst/>
                  </a:prstGeom>
                  <a:blipFill>
                    <a:blip r:embed="rId14"/>
                    <a:stretch>
                      <a:fillRect l="-941" r="-2353" b="-31707"/>
                    </a:stretch>
                  </a:blipFill>
                </p:spPr>
                <p:txBody>
                  <a:bodyPr/>
                  <a:lstStyle/>
                  <a:p>
                    <a:r>
                      <a:rPr lang="zh-CN" altLang="en-US">
                        <a:noFill/>
                      </a:rPr>
                      <a:t> </a:t>
                    </a:r>
                  </a:p>
                </p:txBody>
              </p:sp>
            </mc:Fallback>
          </mc:AlternateContent>
        </p:grpSp>
        <p:sp>
          <p:nvSpPr>
            <p:cNvPr id="7" name="矩形 6">
              <a:extLst>
                <a:ext uri="{FF2B5EF4-FFF2-40B4-BE49-F238E27FC236}">
                  <a16:creationId xmlns:a16="http://schemas.microsoft.com/office/drawing/2014/main" id="{703E02A9-7C49-4829-A166-E90B09C0A8D6}"/>
                </a:ext>
              </a:extLst>
            </p:cNvPr>
            <p:cNvSpPr/>
            <p:nvPr/>
          </p:nvSpPr>
          <p:spPr>
            <a:xfrm>
              <a:off x="6530764" y="3429000"/>
              <a:ext cx="2613235" cy="706687"/>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a:extLst>
              <a:ext uri="{FF2B5EF4-FFF2-40B4-BE49-F238E27FC236}">
                <a16:creationId xmlns:a16="http://schemas.microsoft.com/office/drawing/2014/main" id="{43738FDA-1275-47C7-AB0C-D0D485EF89E1}"/>
              </a:ext>
            </a:extLst>
          </p:cNvPr>
          <p:cNvGrpSpPr/>
          <p:nvPr/>
        </p:nvGrpSpPr>
        <p:grpSpPr>
          <a:xfrm>
            <a:off x="6277704" y="4789738"/>
            <a:ext cx="2866297" cy="872275"/>
            <a:chOff x="6503090" y="4759170"/>
            <a:chExt cx="2335201" cy="1054027"/>
          </a:xfrm>
        </p:grpSpPr>
        <mc:AlternateContent xmlns:mc="http://schemas.openxmlformats.org/markup-compatibility/2006" xmlns:a14="http://schemas.microsoft.com/office/drawing/2010/main">
          <mc:Choice Requires="a14">
            <p:sp>
              <p:nvSpPr>
                <p:cNvPr id="25" name="文本框 76">
                  <a:extLst>
                    <a:ext uri="{FF2B5EF4-FFF2-40B4-BE49-F238E27FC236}">
                      <a16:creationId xmlns:a16="http://schemas.microsoft.com/office/drawing/2014/main" id="{3797F9AD-9641-419C-9079-F241B2B6B057}"/>
                    </a:ext>
                  </a:extLst>
                </p:cNvPr>
                <p:cNvSpPr txBox="1"/>
                <p:nvPr/>
              </p:nvSpPr>
              <p:spPr>
                <a:xfrm>
                  <a:off x="6515791" y="4759282"/>
                  <a:ext cx="2276062" cy="972924"/>
                </a:xfrm>
                <a:prstGeom prst="rect">
                  <a:avLst/>
                </a:prstGeom>
                <a:noFill/>
              </p:spPr>
              <p:txBody>
                <a:bodyPr wrap="square" lIns="0" tIns="0" rIns="0" bIns="0" rtlCol="0">
                  <a:spAutoFit/>
                </a:bodyPr>
                <a:lstStyle/>
                <a:p>
                  <a:r>
                    <a:rPr lang="en-US" altLang="zh-CN" sz="1400" b="1" dirty="0">
                      <a:solidFill>
                        <a:schemeClr val="accent2">
                          <a:lumMod val="75000"/>
                        </a:schemeClr>
                      </a:solidFill>
                      <a:latin typeface="Arial" panose="020B0604020202020204" pitchFamily="34" charset="0"/>
                      <a:ea typeface="楷体_GB2312" pitchFamily="49" charset="-122"/>
                      <a:cs typeface="Arial" panose="020B0604020202020204" pitchFamily="34" charset="0"/>
                    </a:rPr>
                    <a:t>Countable additivity </a:t>
                  </a:r>
                  <a:r>
                    <a:rPr lang="en-US" altLang="zh-CN" sz="1400" dirty="0">
                      <a:solidFill>
                        <a:schemeClr val="accent2">
                          <a:lumMod val="75000"/>
                        </a:schemeClr>
                      </a:solidFill>
                      <a:latin typeface="Arial" panose="020B0604020202020204" pitchFamily="34" charset="0"/>
                      <a:ea typeface="楷体_GB2312" pitchFamily="49" charset="-122"/>
                      <a:cs typeface="Arial" panose="020B0604020202020204" pitchFamily="34" charset="0"/>
                    </a:rPr>
                    <a:t>(</a:t>
                  </a:r>
                  <a:r>
                    <a:rPr lang="zh-CN" altLang="en-US" sz="1400" dirty="0">
                      <a:solidFill>
                        <a:schemeClr val="accent2">
                          <a:lumMod val="75000"/>
                        </a:schemeClr>
                      </a:solidFill>
                      <a:latin typeface="Arial" panose="020B0604020202020204" pitchFamily="34" charset="0"/>
                      <a:ea typeface="楷体_GB2312" pitchFamily="49" charset="-122"/>
                      <a:cs typeface="Arial" panose="020B0604020202020204" pitchFamily="34" charset="0"/>
                    </a:rPr>
                    <a:t>可列可加性</a:t>
                  </a:r>
                  <a:r>
                    <a:rPr lang="en-US" altLang="zh-CN" sz="1400" dirty="0">
                      <a:solidFill>
                        <a:schemeClr val="accent2">
                          <a:lumMod val="75000"/>
                        </a:schemeClr>
                      </a:solidFill>
                      <a:latin typeface="Arial" panose="020B0604020202020204" pitchFamily="34" charset="0"/>
                      <a:ea typeface="楷体_GB2312" pitchFamily="49" charset="-122"/>
                      <a:cs typeface="Arial" panose="020B0604020202020204" pitchFamily="34" charset="0"/>
                    </a:rPr>
                    <a:t>)</a:t>
                  </a:r>
                </a:p>
                <a:p>
                  <a:pPr/>
                  <a14:m>
                    <m:oMathPara xmlns:m="http://schemas.openxmlformats.org/officeDocument/2006/math">
                      <m:oMathParaPr>
                        <m:jc m:val="centerGroup"/>
                      </m:oMathParaPr>
                      <m:oMath xmlns:m="http://schemas.openxmlformats.org/officeDocument/2006/math">
                        <m:r>
                          <a:rPr lang="en-US" altLang="zh-CN" sz="1400" b="1" i="1" smtClean="0">
                            <a:solidFill>
                              <a:schemeClr val="accent2">
                                <a:lumMod val="75000"/>
                              </a:schemeClr>
                            </a:solidFill>
                            <a:latin typeface="Cambria Math" panose="02040503050406030204" pitchFamily="18" charset="0"/>
                            <a:ea typeface="楷体_GB2312" pitchFamily="49" charset="-122"/>
                          </a:rPr>
                          <m:t>𝑷</m:t>
                        </m:r>
                        <m:r>
                          <a:rPr lang="en-US" altLang="zh-CN" sz="1400" b="1" smtClean="0">
                            <a:solidFill>
                              <a:schemeClr val="accent2">
                                <a:lumMod val="75000"/>
                              </a:schemeClr>
                            </a:solidFill>
                            <a:latin typeface="Cambria Math" panose="02040503050406030204" pitchFamily="18" charset="0"/>
                            <a:ea typeface="楷体_GB2312" pitchFamily="49" charset="-122"/>
                          </a:rPr>
                          <m:t>(</m:t>
                        </m:r>
                        <m:nary>
                          <m:naryPr>
                            <m:chr m:val="⋃"/>
                            <m:ctrlPr>
                              <a:rPr lang="en-US" altLang="zh-CN" sz="1400" b="1" i="1">
                                <a:solidFill>
                                  <a:schemeClr val="accent2">
                                    <a:lumMod val="75000"/>
                                  </a:schemeClr>
                                </a:solidFill>
                                <a:latin typeface="Cambria Math" panose="02040503050406030204" pitchFamily="18" charset="0"/>
                                <a:ea typeface="楷体_GB2312" pitchFamily="49" charset="-122"/>
                              </a:rPr>
                            </m:ctrlPr>
                          </m:naryPr>
                          <m:sub>
                            <m:r>
                              <a:rPr lang="en-US" altLang="zh-CN" sz="1400" b="1" i="0" smtClean="0">
                                <a:solidFill>
                                  <a:schemeClr val="accent2">
                                    <a:lumMod val="75000"/>
                                  </a:schemeClr>
                                </a:solidFill>
                                <a:latin typeface="Cambria Math" panose="02040503050406030204" pitchFamily="18" charset="0"/>
                                <a:ea typeface="楷体_GB2312" pitchFamily="49" charset="-122"/>
                              </a:rPr>
                              <m:t>𝐤</m:t>
                            </m:r>
                            <m:r>
                              <a:rPr lang="en-US" altLang="zh-CN" sz="1400" b="1" smtClean="0">
                                <a:solidFill>
                                  <a:schemeClr val="accent2">
                                    <a:lumMod val="75000"/>
                                  </a:schemeClr>
                                </a:solidFill>
                                <a:latin typeface="Cambria Math" panose="02040503050406030204" pitchFamily="18" charset="0"/>
                                <a:ea typeface="楷体_GB2312" pitchFamily="49" charset="-122"/>
                              </a:rPr>
                              <m:t>=</m:t>
                            </m:r>
                            <m:r>
                              <a:rPr lang="en-US" altLang="zh-CN" sz="1400" b="1" i="1" smtClean="0">
                                <a:solidFill>
                                  <a:schemeClr val="accent2">
                                    <a:lumMod val="75000"/>
                                  </a:schemeClr>
                                </a:solidFill>
                                <a:latin typeface="Cambria Math" panose="02040503050406030204" pitchFamily="18" charset="0"/>
                                <a:ea typeface="楷体_GB2312" pitchFamily="49" charset="-122"/>
                              </a:rPr>
                              <m:t>𝟏</m:t>
                            </m:r>
                          </m:sub>
                          <m:sup>
                            <m:r>
                              <a:rPr lang="en-US" altLang="zh-CN" sz="1400" b="1" i="1" smtClean="0">
                                <a:solidFill>
                                  <a:schemeClr val="accent2">
                                    <a:lumMod val="75000"/>
                                  </a:schemeClr>
                                </a:solidFill>
                                <a:latin typeface="Cambria Math" panose="02040503050406030204" pitchFamily="18" charset="0"/>
                                <a:ea typeface="楷体_GB2312" pitchFamily="49" charset="-122"/>
                              </a:rPr>
                              <m:t>∞</m:t>
                            </m:r>
                          </m:sup>
                          <m:e>
                            <m:sSub>
                              <m:sSubPr>
                                <m:ctrlPr>
                                  <a:rPr lang="en-US" altLang="zh-CN" sz="1400" b="1" i="1">
                                    <a:solidFill>
                                      <a:schemeClr val="accent2">
                                        <a:lumMod val="75000"/>
                                      </a:schemeClr>
                                    </a:solidFill>
                                    <a:latin typeface="Cambria Math" panose="02040503050406030204" pitchFamily="18" charset="0"/>
                                    <a:ea typeface="楷体_GB2312" pitchFamily="49" charset="-122"/>
                                  </a:rPr>
                                </m:ctrlPr>
                              </m:sSubPr>
                              <m:e>
                                <m:r>
                                  <a:rPr lang="en-US" altLang="zh-CN" sz="1400" b="1" i="1" smtClean="0">
                                    <a:solidFill>
                                      <a:schemeClr val="accent2">
                                        <a:lumMod val="75000"/>
                                      </a:schemeClr>
                                    </a:solidFill>
                                    <a:latin typeface="Cambria Math" panose="02040503050406030204" pitchFamily="18" charset="0"/>
                                    <a:ea typeface="楷体_GB2312" pitchFamily="49" charset="-122"/>
                                  </a:rPr>
                                  <m:t>𝐀</m:t>
                                </m:r>
                              </m:e>
                              <m:sub>
                                <m:r>
                                  <a:rPr lang="en-US" altLang="zh-CN" sz="1400" b="1" i="0" smtClean="0">
                                    <a:solidFill>
                                      <a:schemeClr val="accent2">
                                        <a:lumMod val="75000"/>
                                      </a:schemeClr>
                                    </a:solidFill>
                                    <a:latin typeface="Cambria Math" panose="02040503050406030204" pitchFamily="18" charset="0"/>
                                    <a:ea typeface="楷体_GB2312" pitchFamily="49" charset="-122"/>
                                  </a:rPr>
                                  <m:t>𝐤</m:t>
                                </m:r>
                              </m:sub>
                            </m:sSub>
                            <m:r>
                              <a:rPr lang="en-US" altLang="zh-CN" sz="1400" b="1" i="1" smtClean="0">
                                <a:solidFill>
                                  <a:schemeClr val="accent2">
                                    <a:lumMod val="75000"/>
                                  </a:schemeClr>
                                </a:solidFill>
                                <a:latin typeface="Cambria Math"/>
                                <a:ea typeface="楷体_GB2312" pitchFamily="49" charset="-122"/>
                              </a:rPr>
                              <m:t>)</m:t>
                            </m:r>
                          </m:e>
                        </m:nary>
                        <m:r>
                          <a:rPr lang="en-US" altLang="zh-CN" sz="1400" b="1" smtClean="0">
                            <a:solidFill>
                              <a:schemeClr val="accent2">
                                <a:lumMod val="75000"/>
                              </a:schemeClr>
                            </a:solidFill>
                            <a:latin typeface="Cambria Math" panose="02040503050406030204" pitchFamily="18" charset="0"/>
                            <a:ea typeface="楷体_GB2312" pitchFamily="49" charset="-122"/>
                          </a:rPr>
                          <m:t>=</m:t>
                        </m:r>
                        <m:nary>
                          <m:naryPr>
                            <m:chr m:val="∑"/>
                            <m:ctrlPr>
                              <a:rPr lang="en-US" altLang="zh-CN" sz="1400" b="1" i="1">
                                <a:solidFill>
                                  <a:schemeClr val="accent2">
                                    <a:lumMod val="75000"/>
                                  </a:schemeClr>
                                </a:solidFill>
                                <a:latin typeface="Cambria Math" panose="02040503050406030204" pitchFamily="18" charset="0"/>
                                <a:ea typeface="楷体_GB2312" pitchFamily="49" charset="-122"/>
                              </a:rPr>
                            </m:ctrlPr>
                          </m:naryPr>
                          <m:sub>
                            <m:r>
                              <a:rPr lang="en-US" altLang="zh-CN" sz="1400" b="1" i="0" smtClean="0">
                                <a:solidFill>
                                  <a:schemeClr val="accent2">
                                    <a:lumMod val="75000"/>
                                  </a:schemeClr>
                                </a:solidFill>
                                <a:latin typeface="Cambria Math" panose="02040503050406030204" pitchFamily="18" charset="0"/>
                                <a:ea typeface="楷体_GB2312" pitchFamily="49" charset="-122"/>
                              </a:rPr>
                              <m:t>𝐤</m:t>
                            </m:r>
                            <m:r>
                              <a:rPr lang="en-US" altLang="zh-CN" sz="1400" b="1" smtClean="0">
                                <a:solidFill>
                                  <a:schemeClr val="accent2">
                                    <a:lumMod val="75000"/>
                                  </a:schemeClr>
                                </a:solidFill>
                                <a:latin typeface="Cambria Math" panose="02040503050406030204" pitchFamily="18" charset="0"/>
                                <a:ea typeface="楷体_GB2312" pitchFamily="49" charset="-122"/>
                              </a:rPr>
                              <m:t>=</m:t>
                            </m:r>
                            <m:r>
                              <a:rPr lang="en-US" altLang="zh-CN" sz="1400" b="1" i="1" smtClean="0">
                                <a:solidFill>
                                  <a:schemeClr val="accent2">
                                    <a:lumMod val="75000"/>
                                  </a:schemeClr>
                                </a:solidFill>
                                <a:latin typeface="Cambria Math" panose="02040503050406030204" pitchFamily="18" charset="0"/>
                                <a:ea typeface="楷体_GB2312" pitchFamily="49" charset="-122"/>
                              </a:rPr>
                              <m:t>𝟏</m:t>
                            </m:r>
                          </m:sub>
                          <m:sup>
                            <m:r>
                              <a:rPr lang="en-US" altLang="zh-CN" sz="1400" b="1" i="1" smtClean="0">
                                <a:solidFill>
                                  <a:schemeClr val="accent2">
                                    <a:lumMod val="75000"/>
                                  </a:schemeClr>
                                </a:solidFill>
                                <a:latin typeface="Cambria Math" panose="02040503050406030204" pitchFamily="18" charset="0"/>
                                <a:ea typeface="楷体_GB2312" pitchFamily="49" charset="-122"/>
                              </a:rPr>
                              <m:t>∞</m:t>
                            </m:r>
                          </m:sup>
                          <m:e>
                            <m:r>
                              <a:rPr lang="en-US" altLang="zh-CN" sz="1400" b="1" i="1" smtClean="0">
                                <a:solidFill>
                                  <a:schemeClr val="accent2">
                                    <a:lumMod val="75000"/>
                                  </a:schemeClr>
                                </a:solidFill>
                                <a:latin typeface="Cambria Math" panose="02040503050406030204" pitchFamily="18" charset="0"/>
                                <a:ea typeface="楷体_GB2312" pitchFamily="49" charset="-122"/>
                              </a:rPr>
                              <m:t>𝑷</m:t>
                            </m:r>
                          </m:e>
                        </m:nary>
                        <m:r>
                          <a:rPr lang="en-US" altLang="zh-CN" sz="1400" b="1" smtClean="0">
                            <a:solidFill>
                              <a:schemeClr val="accent2">
                                <a:lumMod val="75000"/>
                              </a:schemeClr>
                            </a:solidFill>
                            <a:latin typeface="Cambria Math" panose="02040503050406030204" pitchFamily="18" charset="0"/>
                            <a:ea typeface="楷体_GB2312" pitchFamily="49" charset="-122"/>
                          </a:rPr>
                          <m:t>(</m:t>
                        </m:r>
                        <m:sSub>
                          <m:sSubPr>
                            <m:ctrlPr>
                              <a:rPr lang="en-US" altLang="zh-CN" sz="1400" b="1" i="1">
                                <a:solidFill>
                                  <a:schemeClr val="accent2">
                                    <a:lumMod val="75000"/>
                                  </a:schemeClr>
                                </a:solidFill>
                                <a:latin typeface="Cambria Math" panose="02040503050406030204" pitchFamily="18" charset="0"/>
                                <a:ea typeface="楷体_GB2312" pitchFamily="49" charset="-122"/>
                              </a:rPr>
                            </m:ctrlPr>
                          </m:sSubPr>
                          <m:e>
                            <m:r>
                              <a:rPr lang="en-US" altLang="zh-CN" sz="1400" b="1" i="1" smtClean="0">
                                <a:solidFill>
                                  <a:schemeClr val="accent2">
                                    <a:lumMod val="75000"/>
                                  </a:schemeClr>
                                </a:solidFill>
                                <a:latin typeface="Cambria Math" panose="02040503050406030204" pitchFamily="18" charset="0"/>
                                <a:ea typeface="楷体_GB2312" pitchFamily="49" charset="-122"/>
                              </a:rPr>
                              <m:t>𝐀</m:t>
                            </m:r>
                          </m:e>
                          <m:sub>
                            <m:r>
                              <a:rPr lang="en-US" altLang="zh-CN" sz="1400" b="1" i="0" smtClean="0">
                                <a:solidFill>
                                  <a:schemeClr val="accent2">
                                    <a:lumMod val="75000"/>
                                  </a:schemeClr>
                                </a:solidFill>
                                <a:latin typeface="Cambria Math" panose="02040503050406030204" pitchFamily="18" charset="0"/>
                                <a:ea typeface="楷体_GB2312" pitchFamily="49" charset="-122"/>
                              </a:rPr>
                              <m:t>𝐤</m:t>
                            </m:r>
                          </m:sub>
                        </m:sSub>
                        <m:r>
                          <a:rPr lang="en-US" altLang="zh-CN" sz="1400" b="1" smtClean="0">
                            <a:solidFill>
                              <a:schemeClr val="accent2">
                                <a:lumMod val="75000"/>
                              </a:schemeClr>
                            </a:solidFill>
                            <a:latin typeface="Cambria Math" panose="02040503050406030204" pitchFamily="18" charset="0"/>
                            <a:ea typeface="楷体_GB2312" pitchFamily="49" charset="-122"/>
                          </a:rPr>
                          <m:t>)</m:t>
                        </m:r>
                      </m:oMath>
                    </m:oMathPara>
                  </a14:m>
                  <a:endParaRPr lang="zh-CN" altLang="en-US" sz="1400" b="1" dirty="0">
                    <a:solidFill>
                      <a:schemeClr val="accent2">
                        <a:lumMod val="75000"/>
                      </a:schemeClr>
                    </a:solidFill>
                  </a:endParaRPr>
                </a:p>
              </p:txBody>
            </p:sp>
          </mc:Choice>
          <mc:Fallback xmlns="">
            <p:sp>
              <p:nvSpPr>
                <p:cNvPr id="25" name="文本框 76">
                  <a:extLst>
                    <a:ext uri="{FF2B5EF4-FFF2-40B4-BE49-F238E27FC236}">
                      <a16:creationId xmlns:a16="http://schemas.microsoft.com/office/drawing/2014/main" id="{3797F9AD-9641-419C-9079-F241B2B6B057}"/>
                    </a:ext>
                  </a:extLst>
                </p:cNvPr>
                <p:cNvSpPr txBox="1">
                  <a:spLocks noRot="1" noChangeAspect="1" noMove="1" noResize="1" noEditPoints="1" noAdjustHandles="1" noChangeArrowheads="1" noChangeShapeType="1" noTextEdit="1"/>
                </p:cNvSpPr>
                <p:nvPr/>
              </p:nvSpPr>
              <p:spPr>
                <a:xfrm>
                  <a:off x="6515791" y="4759282"/>
                  <a:ext cx="2276062" cy="972924"/>
                </a:xfrm>
                <a:prstGeom prst="rect">
                  <a:avLst/>
                </a:prstGeom>
                <a:blipFill>
                  <a:blip r:embed="rId15"/>
                  <a:stretch>
                    <a:fillRect l="-3922" t="-7576" r="-1961"/>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95AE9EE2-F853-48C0-AF02-3EA7472ACD98}"/>
                </a:ext>
              </a:extLst>
            </p:cNvPr>
            <p:cNvSpPr/>
            <p:nvPr/>
          </p:nvSpPr>
          <p:spPr>
            <a:xfrm>
              <a:off x="6503090" y="4759170"/>
              <a:ext cx="2335201" cy="1054027"/>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2">
                    <a:lumMod val="75000"/>
                  </a:schemeClr>
                </a:solidFill>
              </a:endParaRPr>
            </a:p>
          </p:txBody>
        </p:sp>
      </p:grpSp>
      <p:pic>
        <p:nvPicPr>
          <p:cNvPr id="27" name="图片 26">
            <a:extLst>
              <a:ext uri="{FF2B5EF4-FFF2-40B4-BE49-F238E27FC236}">
                <a16:creationId xmlns:a16="http://schemas.microsoft.com/office/drawing/2014/main" id="{16D59CF9-4D8A-42B5-8DC7-BB42E759C49E}"/>
              </a:ext>
            </a:extLst>
          </p:cNvPr>
          <p:cNvPicPr>
            <a:picLocks noChangeAspect="1"/>
          </p:cNvPicPr>
          <p:nvPr/>
        </p:nvPicPr>
        <p:blipFill>
          <a:blip r:embed="rId16"/>
          <a:stretch>
            <a:fillRect/>
          </a:stretch>
        </p:blipFill>
        <p:spPr>
          <a:xfrm>
            <a:off x="1870689" y="3706230"/>
            <a:ext cx="1546279" cy="421448"/>
          </a:xfrm>
          <a:prstGeom prst="rect">
            <a:avLst/>
          </a:prstGeom>
        </p:spPr>
      </p:pic>
    </p:spTree>
    <p:extLst>
      <p:ext uri="{BB962C8B-B14F-4D97-AF65-F5344CB8AC3E}">
        <p14:creationId xmlns:p14="http://schemas.microsoft.com/office/powerpoint/2010/main" val="276737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par>
                          <p:cTn id="41" fill="hold">
                            <p:stCondLst>
                              <p:cond delay="500"/>
                            </p:stCondLst>
                            <p:childTnLst>
                              <p:par>
                                <p:cTn id="42" presetID="1" presetClass="exit" presetSubtype="0" fill="hold" nodeType="afterEffect">
                                  <p:stCondLst>
                                    <p:cond delay="0"/>
                                  </p:stCondLst>
                                  <p:childTnLst>
                                    <p:set>
                                      <p:cBhvr>
                                        <p:cTn id="43" dur="1" fill="hold">
                                          <p:stCondLst>
                                            <p:cond delay="0"/>
                                          </p:stCondLst>
                                        </p:cTn>
                                        <p:tgtEl>
                                          <p:spTgt spid="2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 presetClass="exit" presetSubtype="0" fill="hold" nodeType="withEffect">
                                  <p:stCondLst>
                                    <p:cond delay="0"/>
                                  </p:stCondLst>
                                  <p:childTnLst>
                                    <p:set>
                                      <p:cBhvr>
                                        <p:cTn id="54" dur="1" fill="hold">
                                          <p:stCondLst>
                                            <p:cond delay="0"/>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par>
                          <p:cTn id="69" fill="hold">
                            <p:stCondLst>
                              <p:cond delay="500"/>
                            </p:stCondLst>
                            <p:childTnLst>
                              <p:par>
                                <p:cTn id="70" presetID="1" presetClass="exit" presetSubtype="0" fill="hold" nodeType="afterEffect">
                                  <p:stCondLst>
                                    <p:cond delay="0"/>
                                  </p:stCondLst>
                                  <p:childTnLst>
                                    <p:set>
                                      <p:cBhvr>
                                        <p:cTn id="71" dur="1" fill="hold">
                                          <p:stCondLst>
                                            <p:cond delay="0"/>
                                          </p:stCondLst>
                                        </p:cTn>
                                        <p:tgtEl>
                                          <p:spTgt spid="24"/>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6" grpId="0"/>
      <p:bldP spid="18" grpId="0"/>
      <p:bldP spid="19" grpId="0"/>
      <p:bldP spid="20" grpId="0"/>
      <p:bldP spid="21" grpId="0"/>
      <p:bldP spid="22" grpId="0"/>
      <p:bldP spid="96"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05">
                <a:extLst>
                  <a:ext uri="{FF2B5EF4-FFF2-40B4-BE49-F238E27FC236}">
                    <a16:creationId xmlns:a16="http://schemas.microsoft.com/office/drawing/2014/main" id="{996DC6A9-2171-45B8-9079-C902FBEF4727}"/>
                  </a:ext>
                </a:extLst>
              </p:cNvPr>
              <p:cNvSpPr txBox="1"/>
              <p:nvPr/>
            </p:nvSpPr>
            <p:spPr>
              <a:xfrm>
                <a:off x="3437364" y="6048598"/>
                <a:ext cx="185396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𝐵</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2" name="文本框 105">
                <a:extLst>
                  <a:ext uri="{FF2B5EF4-FFF2-40B4-BE49-F238E27FC236}">
                    <a16:creationId xmlns:a16="http://schemas.microsoft.com/office/drawing/2014/main" id="{996DC6A9-2171-45B8-9079-C902FBEF4727}"/>
                  </a:ext>
                </a:extLst>
              </p:cNvPr>
              <p:cNvSpPr txBox="1">
                <a:spLocks noRot="1" noChangeAspect="1" noMove="1" noResize="1" noEditPoints="1" noAdjustHandles="1" noChangeArrowheads="1" noChangeShapeType="1" noTextEdit="1"/>
              </p:cNvSpPr>
              <p:nvPr/>
            </p:nvSpPr>
            <p:spPr>
              <a:xfrm>
                <a:off x="3437364" y="6048598"/>
                <a:ext cx="1853969" cy="307777"/>
              </a:xfrm>
              <a:prstGeom prst="rect">
                <a:avLst/>
              </a:prstGeom>
              <a:blipFill>
                <a:blip r:embed="rId2"/>
                <a:stretch>
                  <a:fillRect l="-2041" r="-4082" b="-32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文本框 104">
                <a:extLst>
                  <a:ext uri="{FF2B5EF4-FFF2-40B4-BE49-F238E27FC236}">
                    <a16:creationId xmlns:a16="http://schemas.microsoft.com/office/drawing/2014/main" id="{9D9B0EE7-EED8-4AEA-A347-FAEF73ACA54D}"/>
                  </a:ext>
                </a:extLst>
              </p:cNvPr>
              <p:cNvSpPr txBox="1"/>
              <p:nvPr/>
            </p:nvSpPr>
            <p:spPr>
              <a:xfrm>
                <a:off x="1665893" y="5617656"/>
                <a:ext cx="3855030" cy="404470"/>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The probability of Event </a:t>
                </a:r>
                <a14:m>
                  <m:oMath xmlns:m="http://schemas.openxmlformats.org/officeDocument/2006/math">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𝒜</m:t>
                        </m:r>
                      </m:e>
                    </m:acc>
                  </m:oMath>
                </a14:m>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is</a:t>
                </a:r>
                <a:endParaRPr lang="zh-CN" altLang="en-US" sz="2000" dirty="0">
                  <a:latin typeface="华文新魏" panose="02010800040101010101" pitchFamily="2" charset="-122"/>
                  <a:ea typeface="华文新魏" panose="02010800040101010101" pitchFamily="2" charset="-122"/>
                </a:endParaRPr>
              </a:p>
            </p:txBody>
          </p:sp>
        </mc:Choice>
        <mc:Fallback xmlns="">
          <p:sp>
            <p:nvSpPr>
              <p:cNvPr id="3" name="文本框 104">
                <a:extLst>
                  <a:ext uri="{FF2B5EF4-FFF2-40B4-BE49-F238E27FC236}">
                    <a16:creationId xmlns:a16="http://schemas.microsoft.com/office/drawing/2014/main" id="{9D9B0EE7-EED8-4AEA-A347-FAEF73ACA54D}"/>
                  </a:ext>
                </a:extLst>
              </p:cNvPr>
              <p:cNvSpPr txBox="1">
                <a:spLocks noRot="1" noChangeAspect="1" noMove="1" noResize="1" noEditPoints="1" noAdjustHandles="1" noChangeArrowheads="1" noChangeShapeType="1" noTextEdit="1"/>
              </p:cNvSpPr>
              <p:nvPr/>
            </p:nvSpPr>
            <p:spPr>
              <a:xfrm>
                <a:off x="1665893" y="5617656"/>
                <a:ext cx="3855030" cy="404470"/>
              </a:xfrm>
              <a:prstGeom prst="rect">
                <a:avLst/>
              </a:prstGeom>
              <a:blipFill>
                <a:blip r:embed="rId3"/>
                <a:stretch>
                  <a:fillRect l="-1645" t="-6061" r="-987" b="-272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文本框 103">
                <a:extLst>
                  <a:ext uri="{FF2B5EF4-FFF2-40B4-BE49-F238E27FC236}">
                    <a16:creationId xmlns:a16="http://schemas.microsoft.com/office/drawing/2014/main" id="{2FF3E3E1-2898-4571-91AB-B117E9002704}"/>
                  </a:ext>
                </a:extLst>
              </p:cNvPr>
              <p:cNvSpPr txBox="1"/>
              <p:nvPr/>
            </p:nvSpPr>
            <p:spPr>
              <a:xfrm>
                <a:off x="3290816" y="4942229"/>
                <a:ext cx="3226717" cy="619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zh-CN" altLang="en-US" sz="2000" b="0" i="1" smtClean="0">
                              <a:latin typeface="Cambria Math" panose="02040503050406030204" pitchFamily="18" charset="0"/>
                            </a:rPr>
                            <m:t>𝒜</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𝒜</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e>
                        <m:e>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𝒜</m:t>
                          </m:r>
                        </m:e>
                      </m:d>
                    </m:oMath>
                  </m:oMathPara>
                </a14:m>
                <a:endParaRPr lang="en-US" altLang="zh-CN"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𝒜</m:t>
                      </m:r>
                      <m:r>
                        <a:rPr lang="en-US" altLang="zh-CN" sz="2000" b="0" i="1" smtClean="0">
                          <a:latin typeface="Cambria Math" panose="02040503050406030204" pitchFamily="18" charset="0"/>
                        </a:rPr>
                        <m:t> </m:t>
                      </m:r>
                      <m:r>
                        <m:rPr>
                          <m:sty m:val="p"/>
                        </m:rPr>
                        <a:rPr lang="en-US" altLang="zh-CN" sz="2000" b="0" i="0" smtClean="0">
                          <a:latin typeface="Cambria Math" panose="02040503050406030204" pitchFamily="18" charset="0"/>
                        </a:rPr>
                        <m:t>is</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the</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Event</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Region</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of</m:t>
                      </m:r>
                      <m:r>
                        <a:rPr lang="en-US" altLang="zh-CN" sz="2000" b="0" i="1" smtClean="0">
                          <a:latin typeface="Cambria Math" panose="02040503050406030204" pitchFamily="18" charset="0"/>
                        </a:rPr>
                        <m:t> </m:t>
                      </m:r>
                      <m:r>
                        <m:rPr>
                          <m:sty m:val="p"/>
                        </m:rPr>
                        <a:rPr lang="en-US" altLang="zh-CN" sz="2000" b="0" i="0" smtClean="0">
                          <a:latin typeface="Cambria Math" panose="02040503050406030204" pitchFamily="18" charset="0"/>
                        </a:rPr>
                        <m:t>Ω</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4" name="文本框 103">
                <a:extLst>
                  <a:ext uri="{FF2B5EF4-FFF2-40B4-BE49-F238E27FC236}">
                    <a16:creationId xmlns:a16="http://schemas.microsoft.com/office/drawing/2014/main" id="{2FF3E3E1-2898-4571-91AB-B117E9002704}"/>
                  </a:ext>
                </a:extLst>
              </p:cNvPr>
              <p:cNvSpPr txBox="1">
                <a:spLocks noRot="1" noChangeAspect="1" noMove="1" noResize="1" noEditPoints="1" noAdjustHandles="1" noChangeArrowheads="1" noChangeShapeType="1" noTextEdit="1"/>
              </p:cNvSpPr>
              <p:nvPr/>
            </p:nvSpPr>
            <p:spPr>
              <a:xfrm>
                <a:off x="3290816" y="4942229"/>
                <a:ext cx="3226717" cy="619913"/>
              </a:xfrm>
              <a:prstGeom prst="rect">
                <a:avLst/>
              </a:prstGeom>
              <a:blipFill>
                <a:blip r:embed="rId4"/>
                <a:stretch>
                  <a:fillRect l="-1176" t="-8163" r="-784" b="-18367"/>
                </a:stretch>
              </a:blipFill>
            </p:spPr>
            <p:txBody>
              <a:bodyPr/>
              <a:lstStyle/>
              <a:p>
                <a:r>
                  <a:rPr lang="en-CN">
                    <a:noFill/>
                  </a:rPr>
                  <a:t> </a:t>
                </a:r>
              </a:p>
            </p:txBody>
          </p:sp>
        </mc:Fallback>
      </mc:AlternateContent>
      <p:sp>
        <p:nvSpPr>
          <p:cNvPr id="5" name="文本框 102">
            <a:extLst>
              <a:ext uri="{FF2B5EF4-FFF2-40B4-BE49-F238E27FC236}">
                <a16:creationId xmlns:a16="http://schemas.microsoft.com/office/drawing/2014/main" id="{C3F13B5B-8C70-401E-8949-C503DE2DC65C}"/>
              </a:ext>
            </a:extLst>
          </p:cNvPr>
          <p:cNvSpPr txBox="1"/>
          <p:nvPr/>
        </p:nvSpPr>
        <p:spPr>
          <a:xfrm>
            <a:off x="1665891" y="4868111"/>
            <a:ext cx="1653017" cy="707886"/>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Event Region</a:t>
            </a:r>
          </a:p>
          <a:p>
            <a:r>
              <a:rPr lang="zh-CN" altLang="en-US" sz="2000" dirty="0">
                <a:latin typeface="华文新魏" panose="02010800040101010101" pitchFamily="2" charset="-122"/>
                <a:ea typeface="华文新魏" panose="02010800040101010101" pitchFamily="2" charset="-122"/>
              </a:rPr>
              <a:t>（事件域）</a:t>
            </a:r>
          </a:p>
        </p:txBody>
      </p:sp>
      <mc:AlternateContent xmlns:mc="http://schemas.openxmlformats.org/markup-compatibility/2006" xmlns:a14="http://schemas.microsoft.com/office/drawing/2010/main">
        <mc:Choice Requires="a14">
          <p:sp>
            <p:nvSpPr>
              <p:cNvPr id="6" name="文本框 101">
                <a:extLst>
                  <a:ext uri="{FF2B5EF4-FFF2-40B4-BE49-F238E27FC236}">
                    <a16:creationId xmlns:a16="http://schemas.microsoft.com/office/drawing/2014/main" id="{EEE57D41-2482-4425-9A9C-BA4A6C412D9E}"/>
                  </a:ext>
                </a:extLst>
              </p:cNvPr>
              <p:cNvSpPr txBox="1"/>
              <p:nvPr/>
            </p:nvSpPr>
            <p:spPr>
              <a:xfrm>
                <a:off x="3715130" y="4477759"/>
                <a:ext cx="1127167" cy="3175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m:rPr>
                              <m:sty m:val="p"/>
                            </m:rPr>
                            <a:rPr lang="en-US" altLang="zh-CN" sz="2000" b="0" i="0" smtClean="0">
                              <a:latin typeface="Cambria Math" panose="02040503050406030204" pitchFamily="18" charset="0"/>
                            </a:rPr>
                            <m:t>Ω</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Ω</m:t>
                      </m:r>
                    </m:oMath>
                  </m:oMathPara>
                </a14:m>
                <a:endParaRPr lang="zh-CN" altLang="en-US" sz="2000" dirty="0"/>
              </a:p>
            </p:txBody>
          </p:sp>
        </mc:Choice>
        <mc:Fallback xmlns="">
          <p:sp>
            <p:nvSpPr>
              <p:cNvPr id="6" name="文本框 101">
                <a:extLst>
                  <a:ext uri="{FF2B5EF4-FFF2-40B4-BE49-F238E27FC236}">
                    <a16:creationId xmlns:a16="http://schemas.microsoft.com/office/drawing/2014/main" id="{EEE57D41-2482-4425-9A9C-BA4A6C412D9E}"/>
                  </a:ext>
                </a:extLst>
              </p:cNvPr>
              <p:cNvSpPr txBox="1">
                <a:spLocks noRot="1" noChangeAspect="1" noMove="1" noResize="1" noEditPoints="1" noAdjustHandles="1" noChangeArrowheads="1" noChangeShapeType="1" noTextEdit="1"/>
              </p:cNvSpPr>
              <p:nvPr/>
            </p:nvSpPr>
            <p:spPr>
              <a:xfrm>
                <a:off x="3715130" y="4477759"/>
                <a:ext cx="1127167" cy="317523"/>
              </a:xfrm>
              <a:prstGeom prst="rect">
                <a:avLst/>
              </a:prstGeom>
              <a:blipFill>
                <a:blip r:embed="rId5"/>
                <a:stretch>
                  <a:fillRect l="-4444" t="-7692" r="-3333" b="-1538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100">
                <a:extLst>
                  <a:ext uri="{FF2B5EF4-FFF2-40B4-BE49-F238E27FC236}">
                    <a16:creationId xmlns:a16="http://schemas.microsoft.com/office/drawing/2014/main" id="{2C9C6B99-A24D-4B59-A8DE-460FCAE062D0}"/>
                  </a:ext>
                </a:extLst>
              </p:cNvPr>
              <p:cNvSpPr txBox="1"/>
              <p:nvPr/>
            </p:nvSpPr>
            <p:spPr>
              <a:xfrm>
                <a:off x="1446849" y="4091040"/>
                <a:ext cx="6156526" cy="400110"/>
              </a:xfrm>
              <a:prstGeom prst="rect">
                <a:avLst/>
              </a:prstGeom>
              <a:noFill/>
            </p:spPr>
            <p:txBody>
              <a:bodyPr wrap="square" rtlCol="0">
                <a:spAutoFit/>
              </a:bodyPr>
              <a:lstStyle/>
              <a:p>
                <a14:m>
                  <m:oMath xmlns:m="http://schemas.openxmlformats.org/officeDocument/2006/math">
                    <m:r>
                      <a:rPr lang="en-US" altLang="zh-CN" sz="2000" b="0" i="1" smtClean="0">
                        <a:latin typeface="Cambria Math" panose="02040503050406030204" pitchFamily="18" charset="0"/>
                      </a:rPr>
                      <m:t>∵</m:t>
                    </m:r>
                  </m:oMath>
                </a14:m>
                <a:r>
                  <a:rPr lang="en-US" altLang="zh-CN" sz="2000" dirty="0">
                    <a:latin typeface="华文新魏" panose="02010800040101010101" pitchFamily="2" charset="-122"/>
                    <a:ea typeface="华文新魏" panose="02010800040101010101" pitchFamily="2" charset="-122"/>
                  </a:rPr>
                  <a:t> Event B happened, so the sample space has become</a:t>
                </a:r>
                <a:endParaRPr lang="zh-CN" altLang="en-US" sz="2000" dirty="0">
                  <a:latin typeface="华文新魏" panose="02010800040101010101" pitchFamily="2" charset="-122"/>
                  <a:ea typeface="华文新魏" panose="02010800040101010101" pitchFamily="2" charset="-122"/>
                </a:endParaRPr>
              </a:p>
            </p:txBody>
          </p:sp>
        </mc:Choice>
        <mc:Fallback xmlns="">
          <p:sp>
            <p:nvSpPr>
              <p:cNvPr id="7" name="文本框 100">
                <a:extLst>
                  <a:ext uri="{FF2B5EF4-FFF2-40B4-BE49-F238E27FC236}">
                    <a16:creationId xmlns:a16="http://schemas.microsoft.com/office/drawing/2014/main" id="{2C9C6B99-A24D-4B59-A8DE-460FCAE062D0}"/>
                  </a:ext>
                </a:extLst>
              </p:cNvPr>
              <p:cNvSpPr txBox="1">
                <a:spLocks noRot="1" noChangeAspect="1" noMove="1" noResize="1" noEditPoints="1" noAdjustHandles="1" noChangeArrowheads="1" noChangeShapeType="1" noTextEdit="1"/>
              </p:cNvSpPr>
              <p:nvPr/>
            </p:nvSpPr>
            <p:spPr>
              <a:xfrm>
                <a:off x="1446849" y="4091040"/>
                <a:ext cx="6156526" cy="400110"/>
              </a:xfrm>
              <a:prstGeom prst="rect">
                <a:avLst/>
              </a:prstGeom>
              <a:blipFill>
                <a:blip r:embed="rId6"/>
                <a:stretch>
                  <a:fillRect t="-6061" b="-27273"/>
                </a:stretch>
              </a:blipFill>
            </p:spPr>
            <p:txBody>
              <a:bodyPr/>
              <a:lstStyle/>
              <a:p>
                <a:r>
                  <a:rPr lang="zh-CN" altLang="en-US">
                    <a:noFill/>
                  </a:rPr>
                  <a:t> </a:t>
                </a:r>
              </a:p>
            </p:txBody>
          </p:sp>
        </mc:Fallback>
      </mc:AlternateContent>
      <p:sp>
        <p:nvSpPr>
          <p:cNvPr id="8" name="文本框 99">
            <a:extLst>
              <a:ext uri="{FF2B5EF4-FFF2-40B4-BE49-F238E27FC236}">
                <a16:creationId xmlns:a16="http://schemas.microsoft.com/office/drawing/2014/main" id="{9E2097E5-EAE2-4274-9F33-9277B6AA9068}"/>
              </a:ext>
            </a:extLst>
          </p:cNvPr>
          <p:cNvSpPr txBox="1"/>
          <p:nvPr/>
        </p:nvSpPr>
        <p:spPr>
          <a:xfrm>
            <a:off x="394958" y="4116016"/>
            <a:ext cx="1051891" cy="369332"/>
          </a:xfrm>
          <a:prstGeom prst="rect">
            <a:avLst/>
          </a:prstGeom>
          <a:noFill/>
        </p:spPr>
        <p:txBody>
          <a:bodyPr wrap="none" rtlCol="0">
            <a:spAutoFit/>
          </a:bodyPr>
          <a:lstStyle/>
          <a:p>
            <a:r>
              <a:rPr lang="en-US" altLang="zh-CN"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Analyze:</a:t>
            </a:r>
            <a:endParaRPr lang="zh-CN" altLang="en-US"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9" name="AutoShape 104">
            <a:extLst>
              <a:ext uri="{FF2B5EF4-FFF2-40B4-BE49-F238E27FC236}">
                <a16:creationId xmlns:a16="http://schemas.microsoft.com/office/drawing/2014/main" id="{073C9B13-F842-40A3-8F6C-247D78BB6575}"/>
              </a:ext>
            </a:extLst>
          </p:cNvPr>
          <p:cNvSpPr>
            <a:spLocks noChangeArrowheads="1"/>
          </p:cNvSpPr>
          <p:nvPr/>
        </p:nvSpPr>
        <p:spPr bwMode="auto">
          <a:xfrm>
            <a:off x="5520923" y="3347666"/>
            <a:ext cx="3108972" cy="768350"/>
          </a:xfrm>
          <a:prstGeom prst="wedgeRectCallout">
            <a:avLst>
              <a:gd name="adj1" fmla="val -66758"/>
              <a:gd name="adj2" fmla="val 25721"/>
            </a:avLst>
          </a:prstGeom>
          <a:solidFill>
            <a:schemeClr val="bg1"/>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lnSpc>
                <a:spcPct val="120000"/>
              </a:lnSpc>
              <a:spcBef>
                <a:spcPct val="50000"/>
              </a:spcBef>
              <a:buClrTx/>
              <a:buSzTx/>
              <a:buFontTx/>
              <a:buNone/>
              <a:defRPr/>
            </a:pPr>
            <a:r>
              <a:rPr lang="en-US" altLang="zh-CN" dirty="0">
                <a:solidFill>
                  <a:srgbClr val="C00000"/>
                </a:solidFill>
                <a:latin typeface="楷体_GB2312" pitchFamily="49" charset="-122"/>
              </a:rPr>
              <a:t>Conditional Probability is a kind of probability.</a:t>
            </a:r>
            <a:endParaRPr lang="zh-CN" altLang="zh-CN" dirty="0">
              <a:solidFill>
                <a:srgbClr val="C00000"/>
              </a:solidFill>
              <a:latin typeface="楷体_GB2312" pitchFamily="49" charset="-122"/>
            </a:endParaRPr>
          </a:p>
        </p:txBody>
      </p:sp>
      <p:sp>
        <p:nvSpPr>
          <p:cNvPr id="10" name="文本框 98">
            <a:extLst>
              <a:ext uri="{FF2B5EF4-FFF2-40B4-BE49-F238E27FC236}">
                <a16:creationId xmlns:a16="http://schemas.microsoft.com/office/drawing/2014/main" id="{B381D968-4CBE-4FFD-B2B1-AABAB243856B}"/>
              </a:ext>
            </a:extLst>
          </p:cNvPr>
          <p:cNvSpPr txBox="1"/>
          <p:nvPr/>
        </p:nvSpPr>
        <p:spPr>
          <a:xfrm>
            <a:off x="394958" y="3709832"/>
            <a:ext cx="4594528" cy="369332"/>
          </a:xfrm>
          <a:prstGeom prst="rect">
            <a:avLst/>
          </a:prstGeom>
          <a:noFill/>
        </p:spPr>
        <p:txBody>
          <a:bodyPr wrap="non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a:t>
            </a:r>
            <a:r>
              <a:rPr lang="en-US" altLang="zh-CN" dirty="0">
                <a:solidFill>
                  <a:schemeClr val="accent2">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What do these properties suggest?</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21" name="文本框 1">
                <a:extLst>
                  <a:ext uri="{FF2B5EF4-FFF2-40B4-BE49-F238E27FC236}">
                    <a16:creationId xmlns:a16="http://schemas.microsoft.com/office/drawing/2014/main" id="{05342723-629C-3A46-A7CA-CA572F0A7D74}"/>
                  </a:ext>
                </a:extLst>
              </p:cNvPr>
              <p:cNvSpPr txBox="1"/>
              <p:nvPr/>
            </p:nvSpPr>
            <p:spPr>
              <a:xfrm>
                <a:off x="1167992" y="429618"/>
                <a:ext cx="6882205" cy="461665"/>
              </a:xfrm>
              <a:prstGeom prst="rect">
                <a:avLst/>
              </a:prstGeom>
              <a:noFill/>
            </p:spPr>
            <p:txBody>
              <a:bodyPr wrap="none" rtlCol="0">
                <a:spAutoFit/>
              </a:bodyPr>
              <a:lstStyle/>
              <a:p>
                <a:r>
                  <a:rPr lang="en-US" altLang="zh-CN"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Basic properties of</a:t>
                </a:r>
                <a:r>
                  <a:rPr lang="zh-CN" altLang="en-US"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r>
                  <a:rPr lang="en-US" altLang="zh-CN"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Conditional Probability</a:t>
                </a:r>
                <a14:m>
                  <m:oMath xmlns:m="http://schemas.openxmlformats.org/officeDocument/2006/math">
                    <m:r>
                      <a:rPr lang="en-US" altLang="zh-CN" sz="2400" b="1" i="0" smtClean="0">
                        <a:solidFill>
                          <a:schemeClr val="accent1">
                            <a:lumMod val="75000"/>
                          </a:schemeClr>
                        </a:solidFill>
                        <a:effectLst>
                          <a:outerShdw blurRad="38100" dist="38100" dir="2700000" algn="tl">
                            <a:srgbClr val="000000">
                              <a:alpha val="43137"/>
                            </a:srgbClr>
                          </a:outerShdw>
                        </a:effectLst>
                        <a:latin typeface="Cambria Math"/>
                        <a:ea typeface="华文新魏" panose="02010800040101010101" pitchFamily="2" charset="-122"/>
                      </a:rPr>
                      <m:t> </m:t>
                    </m:r>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t>𝑷</m:t>
                    </m:r>
                    <m:d>
                      <m:dPr>
                        <m:ctrlP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ctrlPr>
                      </m:dPr>
                      <m:e>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a:ea typeface="华文新魏" panose="02010800040101010101" pitchFamily="2" charset="-122"/>
                          </a:rPr>
                          <m:t>𝑨</m:t>
                        </m:r>
                      </m:e>
                      <m:e>
                        <m:r>
                          <a:rPr lang="en-US" altLang="zh-CN" sz="2400" b="1" i="1" smtClean="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华文新魏" panose="02010800040101010101" pitchFamily="2" charset="-122"/>
                          </a:rPr>
                          <m:t>𝑩</m:t>
                        </m:r>
                      </m:e>
                    </m:d>
                  </m:oMath>
                </a14:m>
                <a:endParaRPr lang="zh-CN" altLang="en-US" sz="2400" b="1" dirty="0">
                  <a:solidFill>
                    <a:schemeClr val="accent1">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mc:Choice>
        <mc:Fallback xmlns="">
          <p:sp>
            <p:nvSpPr>
              <p:cNvPr id="21" name="文本框 1">
                <a:extLst>
                  <a:ext uri="{FF2B5EF4-FFF2-40B4-BE49-F238E27FC236}">
                    <a16:creationId xmlns:a16="http://schemas.microsoft.com/office/drawing/2014/main" id="{05342723-629C-3A46-A7CA-CA572F0A7D74}"/>
                  </a:ext>
                </a:extLst>
              </p:cNvPr>
              <p:cNvSpPr txBox="1">
                <a:spLocks noRot="1" noChangeAspect="1" noMove="1" noResize="1" noEditPoints="1" noAdjustHandles="1" noChangeArrowheads="1" noChangeShapeType="1" noTextEdit="1"/>
              </p:cNvSpPr>
              <p:nvPr/>
            </p:nvSpPr>
            <p:spPr>
              <a:xfrm>
                <a:off x="1167992" y="429618"/>
                <a:ext cx="6882205" cy="461665"/>
              </a:xfrm>
              <a:prstGeom prst="rect">
                <a:avLst/>
              </a:prstGeom>
              <a:blipFill>
                <a:blip r:embed="rId7"/>
                <a:stretch>
                  <a:fillRect l="-1473" t="-10526" b="-342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文本框 2">
                <a:extLst>
                  <a:ext uri="{FF2B5EF4-FFF2-40B4-BE49-F238E27FC236}">
                    <a16:creationId xmlns:a16="http://schemas.microsoft.com/office/drawing/2014/main" id="{6870A231-60C5-7541-8631-B276B6809BDF}"/>
                  </a:ext>
                </a:extLst>
              </p:cNvPr>
              <p:cNvSpPr txBox="1"/>
              <p:nvPr/>
            </p:nvSpPr>
            <p:spPr>
              <a:xfrm>
                <a:off x="360282" y="1117368"/>
                <a:ext cx="2486450"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Assume </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&gt;0</m:t>
                    </m:r>
                  </m:oMath>
                </a14:m>
                <a:r>
                  <a:rPr lang="en-US" altLang="zh-CN" dirty="0">
                    <a:latin typeface="华文新魏" panose="02010800040101010101" pitchFamily="2" charset="-122"/>
                    <a:ea typeface="华文新魏" panose="02010800040101010101" pitchFamily="2" charset="-122"/>
                  </a:rPr>
                  <a:t>, then</a:t>
                </a:r>
                <a:endParaRPr lang="zh-CN" altLang="en-US" dirty="0">
                  <a:latin typeface="华文新魏" panose="02010800040101010101" pitchFamily="2" charset="-122"/>
                  <a:ea typeface="华文新魏" panose="02010800040101010101" pitchFamily="2" charset="-122"/>
                </a:endParaRPr>
              </a:p>
            </p:txBody>
          </p:sp>
        </mc:Choice>
        <mc:Fallback xmlns="">
          <p:sp>
            <p:nvSpPr>
              <p:cNvPr id="22" name="文本框 2">
                <a:extLst>
                  <a:ext uri="{FF2B5EF4-FFF2-40B4-BE49-F238E27FC236}">
                    <a16:creationId xmlns:a16="http://schemas.microsoft.com/office/drawing/2014/main" id="{6870A231-60C5-7541-8631-B276B6809BDF}"/>
                  </a:ext>
                </a:extLst>
              </p:cNvPr>
              <p:cNvSpPr txBox="1">
                <a:spLocks noRot="1" noChangeAspect="1" noMove="1" noResize="1" noEditPoints="1" noAdjustHandles="1" noChangeArrowheads="1" noChangeShapeType="1" noTextEdit="1"/>
              </p:cNvSpPr>
              <p:nvPr/>
            </p:nvSpPr>
            <p:spPr>
              <a:xfrm>
                <a:off x="360282" y="1117368"/>
                <a:ext cx="2486450" cy="369332"/>
              </a:xfrm>
              <a:prstGeom prst="rect">
                <a:avLst/>
              </a:prstGeom>
              <a:blipFill>
                <a:blip r:embed="rId8"/>
                <a:stretch>
                  <a:fillRect l="-1961" t="-6557" r="-1716"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3">
                <a:extLst>
                  <a:ext uri="{FF2B5EF4-FFF2-40B4-BE49-F238E27FC236}">
                    <a16:creationId xmlns:a16="http://schemas.microsoft.com/office/drawing/2014/main" id="{AE0983E2-F95C-BD44-A8F8-F9DC4FE7228A}"/>
                  </a:ext>
                </a:extLst>
              </p:cNvPr>
              <p:cNvSpPr txBox="1"/>
              <p:nvPr/>
            </p:nvSpPr>
            <p:spPr>
              <a:xfrm>
                <a:off x="438475" y="1509389"/>
                <a:ext cx="5934445" cy="369332"/>
              </a:xfrm>
              <a:prstGeom prst="rect">
                <a:avLst/>
              </a:prstGeom>
              <a:noFill/>
            </p:spPr>
            <p:txBody>
              <a:bodyPr wrap="non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1. </a:t>
                </a:r>
                <a:r>
                  <a:rPr lang="en-US" altLang="zh-CN" dirty="0">
                    <a:solidFill>
                      <a:srgbClr val="C00000"/>
                    </a:solidFill>
                    <a:latin typeface="华文新魏" panose="02010800040101010101" pitchFamily="2" charset="-122"/>
                    <a:ea typeface="华文新魏" panose="02010800040101010101" pitchFamily="2" charset="-122"/>
                  </a:rPr>
                  <a:t>Non-Negativity</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非负性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For any Event A, </a:t>
                </a:r>
                <a14:m>
                  <m:oMath xmlns:m="http://schemas.openxmlformats.org/officeDocument/2006/math">
                    <m:r>
                      <a:rPr lang="en-US" altLang="zh-CN" b="0" i="1" smtClean="0">
                        <a:solidFill>
                          <a:schemeClr val="tx2">
                            <a:lumMod val="75000"/>
                          </a:schemeClr>
                        </a:solidFill>
                        <a:latin typeface="Cambria Math" panose="02040503050406030204" pitchFamily="18" charset="0"/>
                      </a:rPr>
                      <m:t>𝑃</m:t>
                    </m:r>
                    <m:d>
                      <m:dPr>
                        <m:ctrlPr>
                          <a:rPr lang="en-US" altLang="zh-CN" b="0" i="1" smtClean="0">
                            <a:solidFill>
                              <a:schemeClr val="tx2">
                                <a:lumMod val="75000"/>
                              </a:schemeClr>
                            </a:solidFill>
                            <a:latin typeface="Cambria Math" panose="02040503050406030204" pitchFamily="18" charset="0"/>
                          </a:rPr>
                        </m:ctrlPr>
                      </m:dPr>
                      <m:e>
                        <m:r>
                          <a:rPr lang="en-US" altLang="zh-CN" b="0" i="1" smtClean="0">
                            <a:solidFill>
                              <a:schemeClr val="tx2">
                                <a:lumMod val="75000"/>
                              </a:schemeClr>
                            </a:solidFill>
                            <a:latin typeface="Cambria Math" panose="02040503050406030204" pitchFamily="18" charset="0"/>
                          </a:rPr>
                          <m:t>𝐴</m:t>
                        </m:r>
                      </m:e>
                      <m:e>
                        <m:r>
                          <a:rPr lang="en-US" altLang="zh-CN" b="0" i="1" smtClean="0">
                            <a:solidFill>
                              <a:schemeClr val="tx2">
                                <a:lumMod val="75000"/>
                              </a:schemeClr>
                            </a:solidFill>
                            <a:latin typeface="Cambria Math" panose="02040503050406030204" pitchFamily="18" charset="0"/>
                          </a:rPr>
                          <m:t>𝐵</m:t>
                        </m:r>
                      </m:e>
                    </m:d>
                    <m:r>
                      <a:rPr lang="en-US" altLang="zh-CN" b="0" i="1" smtClean="0">
                        <a:solidFill>
                          <a:schemeClr val="tx2">
                            <a:lumMod val="75000"/>
                          </a:schemeClr>
                        </a:solidFill>
                        <a:latin typeface="Cambria Math" panose="02040503050406030204" pitchFamily="18" charset="0"/>
                      </a:rPr>
                      <m:t>≥0</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Choice>
        <mc:Fallback xmlns="">
          <p:sp>
            <p:nvSpPr>
              <p:cNvPr id="23" name="文本框 3">
                <a:extLst>
                  <a:ext uri="{FF2B5EF4-FFF2-40B4-BE49-F238E27FC236}">
                    <a16:creationId xmlns:a16="http://schemas.microsoft.com/office/drawing/2014/main" id="{AE0983E2-F95C-BD44-A8F8-F9DC4FE7228A}"/>
                  </a:ext>
                </a:extLst>
              </p:cNvPr>
              <p:cNvSpPr txBox="1">
                <a:spLocks noRot="1" noChangeAspect="1" noMove="1" noResize="1" noEditPoints="1" noAdjustHandles="1" noChangeArrowheads="1" noChangeShapeType="1" noTextEdit="1"/>
              </p:cNvSpPr>
              <p:nvPr/>
            </p:nvSpPr>
            <p:spPr>
              <a:xfrm>
                <a:off x="438475" y="1509389"/>
                <a:ext cx="5934445" cy="369332"/>
              </a:xfrm>
              <a:prstGeom prst="rect">
                <a:avLst/>
              </a:prstGeom>
              <a:blipFill>
                <a:blip r:embed="rId9"/>
                <a:stretch>
                  <a:fillRect l="-855" t="-10345" b="-275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 name="文本框 4">
                <a:extLst>
                  <a:ext uri="{FF2B5EF4-FFF2-40B4-BE49-F238E27FC236}">
                    <a16:creationId xmlns:a16="http://schemas.microsoft.com/office/drawing/2014/main" id="{7E9E8DAB-176B-F447-A011-52A96677DBEE}"/>
                  </a:ext>
                </a:extLst>
              </p:cNvPr>
              <p:cNvSpPr txBox="1"/>
              <p:nvPr/>
            </p:nvSpPr>
            <p:spPr>
              <a:xfrm>
                <a:off x="417455" y="1926914"/>
                <a:ext cx="6164636" cy="369332"/>
              </a:xfrm>
              <a:prstGeom prst="rect">
                <a:avLst/>
              </a:prstGeom>
              <a:noFill/>
            </p:spPr>
            <p:txBody>
              <a:bodyPr wrap="non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2. </a:t>
                </a:r>
                <a:r>
                  <a:rPr lang="en-US" altLang="zh-CN" dirty="0">
                    <a:solidFill>
                      <a:srgbClr val="C00000"/>
                    </a:solidFill>
                    <a:latin typeface="华文新魏" panose="02010800040101010101" pitchFamily="2" charset="-122"/>
                    <a:ea typeface="华文新魏" panose="02010800040101010101" pitchFamily="2" charset="-122"/>
                  </a:rPr>
                  <a:t>Normalization</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规范性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For certain event </a:t>
                </a:r>
                <a14:m>
                  <m:oMath xmlns:m="http://schemas.openxmlformats.org/officeDocument/2006/math">
                    <m:r>
                      <m:rPr>
                        <m:sty m:val="p"/>
                      </m:rPr>
                      <a:rPr lang="en-US" altLang="zh-CN" b="0" i="0" smtClean="0">
                        <a:solidFill>
                          <a:schemeClr val="tx2">
                            <a:lumMod val="75000"/>
                          </a:schemeClr>
                        </a:solidFill>
                        <a:latin typeface="Cambria Math" panose="02040503050406030204" pitchFamily="18" charset="0"/>
                        <a:ea typeface="华文新魏" panose="02010800040101010101" pitchFamily="2" charset="-122"/>
                      </a:rPr>
                      <m:t>Ω</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 </a:t>
                </a:r>
                <a14:m>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d>
                      <m:d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dPr>
                      <m:e>
                        <m:r>
                          <m:rPr>
                            <m:sty m:val="p"/>
                          </m:rPr>
                          <a:rPr lang="en-US" altLang="zh-CN" b="0" i="0" smtClean="0">
                            <a:solidFill>
                              <a:schemeClr val="tx2">
                                <a:lumMod val="75000"/>
                              </a:schemeClr>
                            </a:solidFill>
                            <a:latin typeface="Cambria Math" panose="02040503050406030204" pitchFamily="18" charset="0"/>
                            <a:ea typeface="华文新魏" panose="02010800040101010101" pitchFamily="2" charset="-122"/>
                          </a:rPr>
                          <m:t>Ω</m:t>
                        </m:r>
                      </m:e>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e>
                    </m:d>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oMath>
                </a14:m>
                <a:endParaRPr lang="zh-CN" altLang="en-US" dirty="0">
                  <a:solidFill>
                    <a:srgbClr val="C00000"/>
                  </a:solidFill>
                  <a:latin typeface="华文新魏" panose="02010800040101010101" pitchFamily="2" charset="-122"/>
                  <a:ea typeface="华文新魏" panose="02010800040101010101" pitchFamily="2" charset="-122"/>
                </a:endParaRPr>
              </a:p>
            </p:txBody>
          </p:sp>
        </mc:Choice>
        <mc:Fallback xmlns="">
          <p:sp>
            <p:nvSpPr>
              <p:cNvPr id="24" name="文本框 4">
                <a:extLst>
                  <a:ext uri="{FF2B5EF4-FFF2-40B4-BE49-F238E27FC236}">
                    <a16:creationId xmlns:a16="http://schemas.microsoft.com/office/drawing/2014/main" id="{7E9E8DAB-176B-F447-A011-52A96677DBEE}"/>
                  </a:ext>
                </a:extLst>
              </p:cNvPr>
              <p:cNvSpPr txBox="1">
                <a:spLocks noRot="1" noChangeAspect="1" noMove="1" noResize="1" noEditPoints="1" noAdjustHandles="1" noChangeArrowheads="1" noChangeShapeType="1" noTextEdit="1"/>
              </p:cNvSpPr>
              <p:nvPr/>
            </p:nvSpPr>
            <p:spPr>
              <a:xfrm>
                <a:off x="417455" y="1926914"/>
                <a:ext cx="6164636" cy="369332"/>
              </a:xfrm>
              <a:prstGeom prst="rect">
                <a:avLst/>
              </a:prstGeom>
              <a:blipFill>
                <a:blip r:embed="rId10"/>
                <a:stretch>
                  <a:fillRect l="-821"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文本框 5">
                <a:extLst>
                  <a:ext uri="{FF2B5EF4-FFF2-40B4-BE49-F238E27FC236}">
                    <a16:creationId xmlns:a16="http://schemas.microsoft.com/office/drawing/2014/main" id="{AE13936B-1FBD-AA47-A67D-94E7B6B134C0}"/>
                  </a:ext>
                </a:extLst>
              </p:cNvPr>
              <p:cNvSpPr txBox="1"/>
              <p:nvPr/>
            </p:nvSpPr>
            <p:spPr>
              <a:xfrm>
                <a:off x="417700" y="2358283"/>
                <a:ext cx="8679883" cy="1129027"/>
              </a:xfrm>
              <a:prstGeom prst="rect">
                <a:avLst/>
              </a:prstGeom>
              <a:noFill/>
            </p:spPr>
            <p:txBody>
              <a:bodyPr wrap="square" rtlCol="0">
                <a:spAutoFit/>
              </a:bodyPr>
              <a:lstStyle/>
              <a:p>
                <a:r>
                  <a:rPr lang="en-US" altLang="zh-CN" dirty="0">
                    <a:solidFill>
                      <a:schemeClr val="tx2">
                        <a:lumMod val="75000"/>
                      </a:schemeClr>
                    </a:solidFill>
                    <a:latin typeface="华文新魏" panose="02010800040101010101" pitchFamily="2" charset="-122"/>
                    <a:ea typeface="华文新魏" panose="02010800040101010101" pitchFamily="2" charset="-122"/>
                  </a:rPr>
                  <a:t>3. </a:t>
                </a:r>
                <a:r>
                  <a:rPr lang="en-US" altLang="zh-CN" dirty="0">
                    <a:solidFill>
                      <a:srgbClr val="C00000"/>
                    </a:solidFill>
                    <a:latin typeface="华文新魏" panose="02010800040101010101" pitchFamily="2" charset="-122"/>
                    <a:ea typeface="华文新魏" panose="02010800040101010101" pitchFamily="2" charset="-122"/>
                  </a:rPr>
                  <a:t>Countable additivity</a:t>
                </a:r>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可列可加性</a:t>
                </a:r>
                <a:r>
                  <a:rPr lang="en-US" altLang="zh-CN" dirty="0">
                    <a:solidFill>
                      <a:srgbClr val="C00000"/>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Let </a:t>
                </a:r>
                <a14:m>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oMath>
                </a14:m>
                <a:r>
                  <a:rPr lang="zh-CN" altLang="en-US" dirty="0">
                    <a:solidFill>
                      <a:schemeClr val="tx2">
                        <a:lumMod val="75000"/>
                      </a:schemeClr>
                    </a:solidFill>
                    <a:latin typeface="华文新魏" panose="02010800040101010101" pitchFamily="2" charset="-122"/>
                    <a:ea typeface="华文新魏" panose="02010800040101010101" pitchFamily="2"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be </a:t>
                </a:r>
                <a14:m>
                  <m:oMath xmlns:m="http://schemas.openxmlformats.org/officeDocument/2006/math">
                    <m:r>
                      <a:rPr lang="en-US" altLang="zh-CN" b="1" i="1" smtClean="0">
                        <a:solidFill>
                          <a:schemeClr val="tx2">
                            <a:lumMod val="75000"/>
                          </a:schemeClr>
                        </a:solidFill>
                        <a:latin typeface="Cambria Math" panose="02040503050406030204" pitchFamily="18" charset="0"/>
                        <a:ea typeface="华文新魏" panose="02010800040101010101" pitchFamily="2" charset="-122"/>
                      </a:rPr>
                      <m:t>𝒑𝒂𝒊𝒓𝒘𝒊𝒔𝒆</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 </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𝒅𝒊𝒔𝒋𝒐𝒊𝒏𝒕</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 </m:t>
                    </m:r>
                    <m:r>
                      <a:rPr lang="en-US" altLang="zh-CN" b="1" i="1" smtClean="0">
                        <a:solidFill>
                          <a:schemeClr val="tx2">
                            <a:lumMod val="75000"/>
                          </a:schemeClr>
                        </a:solidFill>
                        <a:latin typeface="Cambria Math" panose="02040503050406030204" pitchFamily="18" charset="0"/>
                        <a:ea typeface="华文新魏" panose="02010800040101010101" pitchFamily="2" charset="-122"/>
                      </a:rPr>
                      <m:t>𝒆𝒗𝒆𝒏𝒕𝒔</m:t>
                    </m:r>
                  </m:oMath>
                </a14:m>
                <a:r>
                  <a:rPr lang="en-US" altLang="zh-CN" dirty="0">
                    <a:solidFill>
                      <a:schemeClr val="tx2">
                        <a:lumMod val="75000"/>
                      </a:schemeClr>
                    </a:solidFill>
                    <a:latin typeface="华文新魏" panose="02010800040101010101" pitchFamily="2" charset="-122"/>
                    <a:ea typeface="华文新魏" panose="02010800040101010101" pitchFamily="2" charset="-122"/>
                  </a:rPr>
                  <a:t>, then</a:t>
                </a:r>
              </a:p>
              <a:p>
                <a:pPr/>
                <a14:m>
                  <m:oMathPara xmlns:m="http://schemas.openxmlformats.org/officeDocument/2006/math">
                    <m:oMathParaPr>
                      <m:jc m:val="centerGroup"/>
                    </m:oMathParaPr>
                    <m:oMath xmlns:m="http://schemas.openxmlformats.org/officeDocument/2006/math">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d>
                        <m:d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dPr>
                        <m:e>
                          <m:nary>
                            <m:naryPr>
                              <m:chr m:val="⋃"/>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naryPr>
                            <m:sub>
                              <m:r>
                                <m:rPr>
                                  <m:brk m:alnAt="23"/>
                                </m:rP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sub>
                            <m:sup>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up>
                            <m:e>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e>
                          </m:nary>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e>
                      </m:d>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nary>
                        <m:naryPr>
                          <m:chr m:val="∑"/>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naryPr>
                        <m:sub>
                          <m:r>
                            <m:rPr>
                              <m:brk m:alnAt="23"/>
                            </m:rP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=1</m:t>
                          </m:r>
                        </m:sub>
                        <m:sup>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up>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𝑃</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sSub>
                            <m:sSubPr>
                              <m:ctrlPr>
                                <a:rPr lang="en-US" altLang="zh-CN" b="0" i="1" smtClean="0">
                                  <a:solidFill>
                                    <a:schemeClr val="tx2">
                                      <a:lumMod val="75000"/>
                                    </a:schemeClr>
                                  </a:solidFill>
                                  <a:latin typeface="Cambria Math" panose="02040503050406030204" pitchFamily="18" charset="0"/>
                                  <a:ea typeface="华文新魏" panose="02010800040101010101" pitchFamily="2" charset="-122"/>
                                </a:rPr>
                              </m:ctrlPr>
                            </m:sSubPr>
                            <m:e>
                              <m:r>
                                <a:rPr lang="en-US" altLang="zh-CN" b="0" i="1" smtClean="0">
                                  <a:solidFill>
                                    <a:schemeClr val="tx2">
                                      <a:lumMod val="75000"/>
                                    </a:schemeClr>
                                  </a:solidFill>
                                  <a:latin typeface="Cambria Math" panose="02040503050406030204" pitchFamily="18" charset="0"/>
                                  <a:ea typeface="华文新魏" panose="02010800040101010101" pitchFamily="2" charset="-122"/>
                                </a:rPr>
                                <m:t>𝐴</m:t>
                              </m:r>
                            </m:e>
                            <m:sub>
                              <m:r>
                                <a:rPr lang="en-US" altLang="zh-CN" b="0" i="1" smtClean="0">
                                  <a:solidFill>
                                    <a:schemeClr val="tx2">
                                      <a:lumMod val="75000"/>
                                    </a:schemeClr>
                                  </a:solidFill>
                                  <a:latin typeface="Cambria Math" panose="02040503050406030204" pitchFamily="18" charset="0"/>
                                  <a:ea typeface="华文新魏" panose="02010800040101010101" pitchFamily="2" charset="-122"/>
                                </a:rPr>
                                <m:t>𝑘</m:t>
                              </m:r>
                            </m:sub>
                          </m:sSub>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𝐵</m:t>
                          </m:r>
                          <m:r>
                            <a:rPr lang="en-US" altLang="zh-CN" b="0" i="1" smtClean="0">
                              <a:solidFill>
                                <a:schemeClr val="tx2">
                                  <a:lumMod val="75000"/>
                                </a:schemeClr>
                              </a:solidFill>
                              <a:latin typeface="Cambria Math" panose="02040503050406030204" pitchFamily="18" charset="0"/>
                              <a:ea typeface="华文新魏" panose="02010800040101010101" pitchFamily="2" charset="-122"/>
                            </a:rPr>
                            <m:t>)</m:t>
                          </m:r>
                        </m:e>
                      </m:nary>
                    </m:oMath>
                  </m:oMathPara>
                </a14:m>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Choice>
        <mc:Fallback xmlns="">
          <p:sp>
            <p:nvSpPr>
              <p:cNvPr id="25" name="文本框 5">
                <a:extLst>
                  <a:ext uri="{FF2B5EF4-FFF2-40B4-BE49-F238E27FC236}">
                    <a16:creationId xmlns:a16="http://schemas.microsoft.com/office/drawing/2014/main" id="{AE13936B-1FBD-AA47-A67D-94E7B6B134C0}"/>
                  </a:ext>
                </a:extLst>
              </p:cNvPr>
              <p:cNvSpPr txBox="1">
                <a:spLocks noRot="1" noChangeAspect="1" noMove="1" noResize="1" noEditPoints="1" noAdjustHandles="1" noChangeArrowheads="1" noChangeShapeType="1" noTextEdit="1"/>
              </p:cNvSpPr>
              <p:nvPr/>
            </p:nvSpPr>
            <p:spPr>
              <a:xfrm>
                <a:off x="417700" y="2358283"/>
                <a:ext cx="8679883" cy="1129027"/>
              </a:xfrm>
              <a:prstGeom prst="rect">
                <a:avLst/>
              </a:prstGeom>
              <a:blipFill>
                <a:blip r:embed="rId11"/>
                <a:stretch>
                  <a:fillRect l="-731" t="-53333" b="-120000"/>
                </a:stretch>
              </a:blipFill>
            </p:spPr>
            <p:txBody>
              <a:bodyPr/>
              <a:lstStyle/>
              <a:p>
                <a:r>
                  <a:rPr lang="en-CN">
                    <a:noFill/>
                  </a:rPr>
                  <a:t> </a:t>
                </a:r>
              </a:p>
            </p:txBody>
          </p:sp>
        </mc:Fallback>
      </mc:AlternateContent>
    </p:spTree>
    <p:extLst>
      <p:ext uri="{BB962C8B-B14F-4D97-AF65-F5344CB8AC3E}">
        <p14:creationId xmlns:p14="http://schemas.microsoft.com/office/powerpoint/2010/main" val="384734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9CEAC23-F886-4D55-A46C-04558C9FF2EA}"/>
              </a:ext>
            </a:extLst>
          </p:cNvPr>
          <p:cNvGrpSpPr/>
          <p:nvPr/>
        </p:nvGrpSpPr>
        <p:grpSpPr>
          <a:xfrm>
            <a:off x="2362789" y="161368"/>
            <a:ext cx="4903318" cy="523220"/>
            <a:chOff x="2996267" y="545168"/>
            <a:chExt cx="2779711" cy="523220"/>
          </a:xfrm>
        </p:grpSpPr>
        <p:sp>
          <p:nvSpPr>
            <p:cNvPr id="3" name="文本框 2">
              <a:extLst>
                <a:ext uri="{FF2B5EF4-FFF2-40B4-BE49-F238E27FC236}">
                  <a16:creationId xmlns:a16="http://schemas.microsoft.com/office/drawing/2014/main" id="{C8EB60CC-16A2-4FD5-ADCC-1734C4A56D69}"/>
                </a:ext>
              </a:extLst>
            </p:cNvPr>
            <p:cNvSpPr txBox="1"/>
            <p:nvPr/>
          </p:nvSpPr>
          <p:spPr>
            <a:xfrm>
              <a:off x="3005019" y="545168"/>
              <a:ext cx="2770959"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Multiplication Law (</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乘法定律</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31" name="Line 76">
              <a:extLst>
                <a:ext uri="{FF2B5EF4-FFF2-40B4-BE49-F238E27FC236}">
                  <a16:creationId xmlns:a16="http://schemas.microsoft.com/office/drawing/2014/main" id="{C78FED73-F871-4A84-ACC6-4CC1FD4FBCF6}"/>
                </a:ext>
              </a:extLst>
            </p:cNvPr>
            <p:cNvSpPr>
              <a:spLocks noChangeShapeType="1"/>
            </p:cNvSpPr>
            <p:nvPr/>
          </p:nvSpPr>
          <p:spPr bwMode="auto">
            <a:xfrm>
              <a:off x="2996267" y="1068388"/>
              <a:ext cx="2712383"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b="1"/>
            </a:p>
          </p:txBody>
        </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9D1BE28-E116-4C8E-93B2-4CE3862392B0}"/>
                  </a:ext>
                </a:extLst>
              </p:cNvPr>
              <p:cNvSpPr txBox="1"/>
              <p:nvPr/>
            </p:nvSpPr>
            <p:spPr>
              <a:xfrm>
                <a:off x="196551" y="892893"/>
                <a:ext cx="8737137" cy="2198487"/>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Based on 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Conditional Probability </a:t>
                </a:r>
                <a:endParaRPr lang="en-US" altLang="zh-CN" b="0" i="1" dirty="0">
                  <a:latin typeface="华文新魏" panose="02010800040101010101" pitchFamily="2" charset="-122"/>
                  <a:ea typeface="华文新魏" panose="02010800040101010101" pitchFamily="2" charset="-122"/>
                </a:endParaRPr>
              </a:p>
              <a:p>
                <a:pPr algn="ctr">
                  <a:spcAft>
                    <a:spcPts val="600"/>
                  </a:spcAft>
                </a:pPr>
                <a14:m>
                  <m:oMath xmlns:m="http://schemas.openxmlformats.org/officeDocument/2006/math">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m:t>
                        </m:r>
                      </m:e>
                      <m:e>
                        <m:r>
                          <a:rPr lang="en-US" altLang="zh-CN" sz="2000" b="0" i="1" smtClean="0">
                            <a:latin typeface="Cambria Math" panose="02040503050406030204" pitchFamily="18" charset="0"/>
                          </a:rPr>
                          <m:t>𝐵</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𝐴𝐵</m:t>
                        </m:r>
                        <m:r>
                          <a:rPr lang="en-US" altLang="zh-CN" sz="2000" b="0" i="1" smtClean="0">
                            <a:latin typeface="Cambria Math" panose="02040503050406030204" pitchFamily="18" charset="0"/>
                          </a:rPr>
                          <m:t>)</m:t>
                        </m:r>
                      </m:num>
                      <m:den>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𝐵</m:t>
                        </m:r>
                        <m:r>
                          <a:rPr lang="en-US" altLang="zh-CN" sz="2000" b="0" i="1" smtClean="0">
                            <a:latin typeface="Cambria Math" panose="02040503050406030204" pitchFamily="18" charset="0"/>
                          </a:rPr>
                          <m:t>)</m:t>
                        </m:r>
                      </m:den>
                    </m:f>
                    <m:r>
                      <a:rPr lang="en-US" altLang="zh-CN" sz="2000" b="0" i="1" smtClean="0">
                        <a:latin typeface="Cambria Math" panose="02040503050406030204" pitchFamily="18" charset="0"/>
                      </a:rPr>
                      <m:t> </m:t>
                    </m:r>
                    <m:r>
                      <a:rPr lang="en-US" altLang="zh-CN" sz="2000" b="0" i="1" smtClean="0">
                        <a:latin typeface="Cambria Math"/>
                      </a:rPr>
                      <m:t>     </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d>
                        <m:r>
                          <a:rPr lang="en-US" altLang="zh-CN" sz="2000" b="0" i="1" smtClean="0">
                            <a:latin typeface="Cambria Math" panose="02040503050406030204" pitchFamily="18" charset="0"/>
                          </a:rPr>
                          <m:t>&gt;0</m:t>
                        </m:r>
                      </m:e>
                    </m:d>
                  </m:oMath>
                </a14:m>
                <a:r>
                  <a:rPr lang="en-US" altLang="zh-CN" dirty="0">
                    <a:latin typeface="华文新魏" panose="02010800040101010101" pitchFamily="2" charset="-122"/>
                    <a:ea typeface="华文新魏" panose="02010800040101010101" pitchFamily="2" charset="-122"/>
                  </a:rPr>
                  <a:t> </a:t>
                </a:r>
              </a:p>
              <a:p>
                <a:pPr>
                  <a:spcAft>
                    <a:spcPts val="600"/>
                  </a:spcAft>
                </a:pPr>
                <a:r>
                  <a:rPr lang="en-US" altLang="zh-CN" dirty="0">
                    <a:latin typeface="华文新魏" panose="02010800040101010101" pitchFamily="2" charset="-122"/>
                    <a:ea typeface="华文新魏" panose="02010800040101010101" pitchFamily="2" charset="-122"/>
                  </a:rPr>
                  <a:t>We can</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obtain the </a:t>
                </a:r>
                <a:r>
                  <a:rPr lang="en-US" altLang="zh-CN" b="1" dirty="0">
                    <a:solidFill>
                      <a:srgbClr val="C00000"/>
                    </a:solidFill>
                    <a:latin typeface="华文新魏" panose="02010800040101010101" pitchFamily="2" charset="-122"/>
                    <a:ea typeface="华文新魏" panose="02010800040101010101" pitchFamily="2" charset="-122"/>
                  </a:rPr>
                  <a:t>Multiplication Law</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乘法定律</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公式</a:t>
                </a:r>
                <a:r>
                  <a:rPr lang="en-US" altLang="zh-CN" b="1" dirty="0">
                    <a:solidFill>
                      <a:srgbClr val="C00000"/>
                    </a:solidFill>
                    <a:latin typeface="华文新魏" panose="02010800040101010101" pitchFamily="2" charset="-122"/>
                    <a:ea typeface="华文新魏" panose="02010800040101010101" pitchFamily="2" charset="-122"/>
                  </a:rPr>
                  <a:t>):</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𝑨𝑩</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m:t>
                          </m:r>
                        </m:e>
                        <m:e>
                          <m:r>
                            <a:rPr lang="en-US" altLang="zh-CN" b="1" i="1" smtClean="0">
                              <a:solidFill>
                                <a:srgbClr val="C00000"/>
                              </a:solidFill>
                              <a:latin typeface="Cambria Math" panose="02040503050406030204" pitchFamily="18" charset="0"/>
                            </a:rPr>
                            <m:t>𝑩</m:t>
                          </m:r>
                        </m:e>
                      </m:d>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𝑩</m:t>
                      </m:r>
                      <m:r>
                        <a:rPr lang="en-US" altLang="zh-CN" b="1" i="1" smtClean="0">
                          <a:solidFill>
                            <a:srgbClr val="C00000"/>
                          </a:solidFill>
                          <a:latin typeface="Cambria Math" panose="02040503050406030204" pitchFamily="18" charset="0"/>
                        </a:rPr>
                        <m:t>)</m:t>
                      </m:r>
                    </m:oMath>
                  </m:oMathPara>
                </a14:m>
                <a:endParaRPr lang="en-US" altLang="zh-CN" b="1" dirty="0">
                  <a:solidFill>
                    <a:srgbClr val="C00000"/>
                  </a:solidFill>
                  <a:latin typeface="华文新魏" panose="02010800040101010101" pitchFamily="2" charset="-122"/>
                  <a:ea typeface="华文新魏" panose="02010800040101010101" pitchFamily="2" charset="-122"/>
                </a:endParaRPr>
              </a:p>
              <a:p>
                <a:r>
                  <a:rPr lang="en-US" altLang="zh-CN" b="1" dirty="0">
                    <a:solidFill>
                      <a:srgbClr val="C00000"/>
                    </a:solidFill>
                    <a:latin typeface="华文新魏" panose="02010800040101010101" pitchFamily="2" charset="-122"/>
                    <a:ea typeface="华文新魏" panose="02010800040101010101" pitchFamily="2" charset="-122"/>
                  </a:rPr>
                  <a:t>			or    </a:t>
                </a:r>
                <a14:m>
                  <m:oMath xmlns:m="http://schemas.openxmlformats.org/officeDocument/2006/math">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𝑨𝑩</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𝑩</m:t>
                        </m:r>
                      </m:e>
                      <m:e>
                        <m:r>
                          <a:rPr lang="en-US" altLang="zh-CN" b="1" i="1" smtClean="0">
                            <a:solidFill>
                              <a:srgbClr val="C00000"/>
                            </a:solidFill>
                            <a:latin typeface="Cambria Math" panose="02040503050406030204" pitchFamily="18" charset="0"/>
                          </a:rPr>
                          <m:t>𝑨</m:t>
                        </m:r>
                      </m:e>
                    </m:d>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m:t>
                        </m:r>
                      </m:e>
                    </m:d>
                  </m:oMath>
                </a14:m>
                <a:endParaRPr lang="en-US" altLang="zh-CN" b="1" dirty="0">
                  <a:solidFill>
                    <a:srgbClr val="C00000"/>
                  </a:solidFill>
                  <a:latin typeface="华文新魏" panose="02010800040101010101" pitchFamily="2" charset="-122"/>
                  <a:ea typeface="华文新魏" panose="02010800040101010101" pitchFamily="2" charset="-122"/>
                </a:endParaRPr>
              </a:p>
              <a:p>
                <a:r>
                  <a:rPr lang="en-US" altLang="zh-CN" b="1" dirty="0">
                    <a:solidFill>
                      <a:srgbClr val="C00000"/>
                    </a:solidFill>
                    <a:latin typeface="华文新魏" panose="02010800040101010101" pitchFamily="2" charset="-122"/>
                    <a:ea typeface="华文新魏" panose="02010800040101010101" pitchFamily="2" charset="-122"/>
                  </a:rPr>
                  <a:t>			                   </a:t>
                </a:r>
                <a14:m>
                  <m:oMath xmlns:m="http://schemas.openxmlformats.org/officeDocument/2006/math">
                    <m:r>
                      <a:rPr lang="en-US" altLang="zh-CN" b="1" i="0" smtClean="0">
                        <a:solidFill>
                          <a:srgbClr val="C00000"/>
                        </a:solidFill>
                        <a:latin typeface="Cambria Math"/>
                      </a:rPr>
                      <m:t> </m:t>
                    </m:r>
                    <m:r>
                      <a:rPr lang="en-US" altLang="zh-CN" b="1" i="1" smtClean="0">
                        <a:solidFill>
                          <a:srgbClr val="C00000"/>
                        </a:solidFill>
                        <a:latin typeface="Cambria Math"/>
                      </a:rPr>
                      <m:t> </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m:t>
                        </m:r>
                      </m:e>
                      <m:e>
                        <m:r>
                          <a:rPr lang="en-US" altLang="zh-CN" b="1" i="1" smtClean="0">
                            <a:solidFill>
                              <a:srgbClr val="C00000"/>
                            </a:solidFill>
                            <a:latin typeface="Cambria Math" panose="02040503050406030204" pitchFamily="18" charset="0"/>
                          </a:rPr>
                          <m:t>𝑩</m:t>
                        </m:r>
                      </m:e>
                    </m:d>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𝑩</m:t>
                        </m:r>
                      </m:e>
                    </m:d>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a:rPr>
                      <m:t>       </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𝑃</m:t>
                    </m:r>
                    <m:d>
                      <m:dPr>
                        <m:ctrlPr>
                          <a:rPr lang="en-US" altLang="zh-CN" b="0" i="1" smtClean="0">
                            <a:solidFill>
                              <a:srgbClr val="C00000"/>
                            </a:solidFill>
                            <a:latin typeface="Cambria Math" panose="02040503050406030204" pitchFamily="18" charset="0"/>
                          </a:rPr>
                        </m:ctrlPr>
                      </m:dPr>
                      <m:e>
                        <m:r>
                          <a:rPr lang="en-US" altLang="zh-CN" b="0" i="1" smtClean="0">
                            <a:solidFill>
                              <a:srgbClr val="C00000"/>
                            </a:solidFill>
                            <a:latin typeface="Cambria Math" panose="02040503050406030204" pitchFamily="18" charset="0"/>
                          </a:rPr>
                          <m:t>𝐴</m:t>
                        </m:r>
                      </m:e>
                    </m:d>
                    <m:r>
                      <a:rPr lang="en-US" altLang="zh-CN" b="0" i="1" smtClean="0">
                        <a:solidFill>
                          <a:srgbClr val="C00000"/>
                        </a:solidFill>
                        <a:latin typeface="Cambria Math" panose="02040503050406030204" pitchFamily="18" charset="0"/>
                      </a:rPr>
                      <m:t>&gt;0,</m:t>
                    </m:r>
                    <m:r>
                      <a:rPr lang="en-US" altLang="zh-CN" b="0" i="1" smtClean="0">
                        <a:solidFill>
                          <a:srgbClr val="C00000"/>
                        </a:solidFill>
                        <a:latin typeface="Cambria Math"/>
                      </a:rPr>
                      <m:t> </m:t>
                    </m:r>
                    <m:r>
                      <a:rPr lang="en-US" altLang="zh-CN" b="0" i="1" smtClean="0">
                        <a:solidFill>
                          <a:srgbClr val="C00000"/>
                        </a:solidFill>
                        <a:latin typeface="Cambria Math" panose="02040503050406030204" pitchFamily="18" charset="0"/>
                      </a:rPr>
                      <m:t>𝑃</m:t>
                    </m:r>
                    <m:d>
                      <m:dPr>
                        <m:ctrlPr>
                          <a:rPr lang="en-US" altLang="zh-CN" b="0" i="1" smtClean="0">
                            <a:solidFill>
                              <a:srgbClr val="C00000"/>
                            </a:solidFill>
                            <a:latin typeface="Cambria Math" panose="02040503050406030204" pitchFamily="18" charset="0"/>
                          </a:rPr>
                        </m:ctrlPr>
                      </m:dPr>
                      <m:e>
                        <m:r>
                          <a:rPr lang="en-US" altLang="zh-CN" b="0" i="1" smtClean="0">
                            <a:solidFill>
                              <a:srgbClr val="C00000"/>
                            </a:solidFill>
                            <a:latin typeface="Cambria Math" panose="02040503050406030204" pitchFamily="18" charset="0"/>
                          </a:rPr>
                          <m:t>𝐵</m:t>
                        </m:r>
                      </m:e>
                    </m:d>
                    <m:r>
                      <a:rPr lang="en-US" altLang="zh-CN" b="0" i="1" smtClean="0">
                        <a:solidFill>
                          <a:srgbClr val="C00000"/>
                        </a:solidFill>
                        <a:latin typeface="Cambria Math" panose="02040503050406030204" pitchFamily="18" charset="0"/>
                      </a:rPr>
                      <m:t>&gt;0)</m:t>
                    </m:r>
                  </m:oMath>
                </a14:m>
                <a:endParaRPr lang="zh-CN" altLang="en-US" dirty="0">
                  <a:solidFill>
                    <a:srgbClr val="C00000"/>
                  </a:solidFill>
                  <a:latin typeface="华文新魏" panose="02010800040101010101" pitchFamily="2" charset="-122"/>
                  <a:ea typeface="华文新魏" panose="02010800040101010101" pitchFamily="2" charset="-122"/>
                </a:endParaRPr>
              </a:p>
            </p:txBody>
          </p:sp>
        </mc:Choice>
        <mc:Fallback xmlns="">
          <p:sp>
            <p:nvSpPr>
              <p:cNvPr id="5" name="文本框 4">
                <a:extLst>
                  <a:ext uri="{FF2B5EF4-FFF2-40B4-BE49-F238E27FC236}">
                    <a16:creationId xmlns:a16="http://schemas.microsoft.com/office/drawing/2014/main" id="{C9D1BE28-E116-4C8E-93B2-4CE3862392B0}"/>
                  </a:ext>
                </a:extLst>
              </p:cNvPr>
              <p:cNvSpPr txBox="1">
                <a:spLocks noRot="1" noChangeAspect="1" noMove="1" noResize="1" noEditPoints="1" noAdjustHandles="1" noChangeArrowheads="1" noChangeShapeType="1" noTextEdit="1"/>
              </p:cNvSpPr>
              <p:nvPr/>
            </p:nvSpPr>
            <p:spPr>
              <a:xfrm>
                <a:off x="196551" y="892893"/>
                <a:ext cx="8737137" cy="2198487"/>
              </a:xfrm>
              <a:prstGeom prst="rect">
                <a:avLst/>
              </a:prstGeom>
              <a:blipFill>
                <a:blip r:embed="rId3"/>
                <a:stretch>
                  <a:fillRect l="-558" t="-1108" b="-138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ADF4921-152F-47F7-A1B2-F9B63B2E49BE}"/>
              </a:ext>
            </a:extLst>
          </p:cNvPr>
          <p:cNvSpPr txBox="1"/>
          <p:nvPr/>
        </p:nvSpPr>
        <p:spPr>
          <a:xfrm>
            <a:off x="196550" y="3154414"/>
            <a:ext cx="8816821" cy="1292662"/>
          </a:xfrm>
          <a:prstGeom prst="rect">
            <a:avLst/>
          </a:prstGeom>
          <a:noFill/>
        </p:spPr>
        <p:txBody>
          <a:bodyPr wrap="square" rtlCol="0">
            <a:spAutoFit/>
          </a:bodyPr>
          <a:lstStyle/>
          <a:p>
            <a:r>
              <a:rPr lang="en-US" altLang="zh-CN" sz="2400"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solidFill>
                  <a:schemeClr val="tx2">
                    <a:lumMod val="75000"/>
                  </a:schemeClr>
                </a:solidFill>
                <a:latin typeface="华文新魏" panose="02010800040101010101" pitchFamily="2" charset="-122"/>
                <a:ea typeface="华文新魏" panose="02010800040101010101" pitchFamily="2" charset="-122"/>
              </a:rPr>
              <a:t>There are 2 black balls and 2 white balls in the first bag. There are 3 black and 3 white balls in the second bag. Pick 1 ball from the first bag and put it into the second bag. Then pick 1 ball from second bag. What is the probability that both picks are white ball?</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DA58877-2DF9-4631-82EC-6AEE16800F8C}"/>
                  </a:ext>
                </a:extLst>
              </p:cNvPr>
              <p:cNvSpPr txBox="1"/>
              <p:nvPr/>
            </p:nvSpPr>
            <p:spPr>
              <a:xfrm>
                <a:off x="321742" y="4433085"/>
                <a:ext cx="6641510" cy="400110"/>
              </a:xfrm>
              <a:prstGeom prst="rect">
                <a:avLst/>
              </a:prstGeom>
              <a:noFill/>
            </p:spPr>
            <p:txBody>
              <a:bodyPr wrap="square" rtlCol="0">
                <a:spAutoFit/>
              </a:bodyPr>
              <a:lstStyle/>
              <a:p>
                <a:r>
                  <a:rPr lang="en-US" altLang="zh-CN" sz="2000" b="1" dirty="0">
                    <a:solidFill>
                      <a:schemeClr val="accent2">
                        <a:lumMod val="75000"/>
                      </a:schemeClr>
                    </a:solidFill>
                    <a:latin typeface="华文新魏" panose="02010800040101010101" pitchFamily="2" charset="-122"/>
                    <a:ea typeface="华文新魏" panose="02010800040101010101" pitchFamily="2" charset="-122"/>
                  </a:rPr>
                  <a:t>Solve:  </a:t>
                </a:r>
                <a:r>
                  <a:rPr lang="en-US" altLang="zh-CN" dirty="0">
                    <a:latin typeface="华文新魏" panose="02010800040101010101" pitchFamily="2" charset="-122"/>
                    <a:ea typeface="华文新魏" panose="02010800040101010101" pitchFamily="2" charset="-122"/>
                  </a:rPr>
                  <a:t>let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𝑖</m:t>
                            </m:r>
                          </m:e>
                          <m:sup>
                            <m:r>
                              <a:rPr lang="en-US" altLang="zh-CN" b="0" i="1" smtClean="0">
                                <a:latin typeface="Cambria Math" panose="02040503050406030204" pitchFamily="18" charset="0"/>
                              </a:rPr>
                              <m:t>𝑡h</m:t>
                            </m:r>
                          </m:sup>
                        </m:sSup>
                        <m:r>
                          <a:rPr lang="en-US" altLang="zh-CN" b="0" i="1" smtClean="0">
                            <a:latin typeface="Cambria Math" panose="02040503050406030204" pitchFamily="18" charset="0"/>
                          </a:rPr>
                          <m:t> </m:t>
                        </m:r>
                        <m:r>
                          <m:rPr>
                            <m:sty m:val="p"/>
                          </m:rPr>
                          <a:rPr lang="en-US" altLang="zh-CN" b="0" i="0" smtClean="0">
                            <a:latin typeface="Cambria Math" panose="02040503050406030204" pitchFamily="18" charset="0"/>
                          </a:rPr>
                          <m:t>pick</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gets</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white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ball</m:t>
                        </m:r>
                      </m:e>
                    </m:d>
                    <m:r>
                      <a:rPr lang="en-US" altLang="zh-CN" b="0" i="1" smtClean="0">
                        <a:latin typeface="Cambria Math" panose="02040503050406030204" pitchFamily="18" charset="0"/>
                      </a:rPr>
                      <m:t>, </m:t>
                    </m:r>
                    <m:r>
                      <a:rPr lang="en-US" altLang="zh-CN" b="0" i="1" smtClean="0">
                        <a:latin typeface="Cambria Math"/>
                      </a:rPr>
                      <m:t>  </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 2)</m:t>
                    </m:r>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7" name="文本框 6">
                <a:extLst>
                  <a:ext uri="{FF2B5EF4-FFF2-40B4-BE49-F238E27FC236}">
                    <a16:creationId xmlns:a16="http://schemas.microsoft.com/office/drawing/2014/main" id="{DDA58877-2DF9-4631-82EC-6AEE16800F8C}"/>
                  </a:ext>
                </a:extLst>
              </p:cNvPr>
              <p:cNvSpPr txBox="1">
                <a:spLocks noRot="1" noChangeAspect="1" noMove="1" noResize="1" noEditPoints="1" noAdjustHandles="1" noChangeArrowheads="1" noChangeShapeType="1" noTextEdit="1"/>
              </p:cNvSpPr>
              <p:nvPr/>
            </p:nvSpPr>
            <p:spPr>
              <a:xfrm>
                <a:off x="321742" y="4433085"/>
                <a:ext cx="6641510" cy="400110"/>
              </a:xfrm>
              <a:prstGeom prst="rect">
                <a:avLst/>
              </a:prstGeom>
              <a:blipFill>
                <a:blip r:embed="rId4"/>
                <a:stretch>
                  <a:fillRect l="-954" t="-6061" b="-2424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1E70282-0638-43F3-B383-68E2A4048C99}"/>
                  </a:ext>
                </a:extLst>
              </p:cNvPr>
              <p:cNvSpPr txBox="1"/>
              <p:nvPr/>
            </p:nvSpPr>
            <p:spPr>
              <a:xfrm>
                <a:off x="2181669" y="4793190"/>
                <a:ext cx="1134894" cy="51860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oMath>
                  </m:oMathPara>
                </a14:m>
                <a:endParaRPr lang="zh-CN" altLang="en-US" dirty="0"/>
              </a:p>
            </p:txBody>
          </p:sp>
        </mc:Choice>
        <mc:Fallback xmlns="">
          <p:sp>
            <p:nvSpPr>
              <p:cNvPr id="8" name="文本框 7">
                <a:extLst>
                  <a:ext uri="{FF2B5EF4-FFF2-40B4-BE49-F238E27FC236}">
                    <a16:creationId xmlns:a16="http://schemas.microsoft.com/office/drawing/2014/main" id="{B1E70282-0638-43F3-B383-68E2A4048C99}"/>
                  </a:ext>
                </a:extLst>
              </p:cNvPr>
              <p:cNvSpPr txBox="1">
                <a:spLocks noRot="1" noChangeAspect="1" noMove="1" noResize="1" noEditPoints="1" noAdjustHandles="1" noChangeArrowheads="1" noChangeShapeType="1" noTextEdit="1"/>
              </p:cNvSpPr>
              <p:nvPr/>
            </p:nvSpPr>
            <p:spPr>
              <a:xfrm>
                <a:off x="2181669" y="4793190"/>
                <a:ext cx="1134894" cy="518604"/>
              </a:xfrm>
              <a:prstGeom prst="rect">
                <a:avLst/>
              </a:prstGeom>
              <a:blipFill>
                <a:blip r:embed="rId5"/>
                <a:stretch>
                  <a:fillRect l="-1099" t="-4762" r="-2198" b="-1190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0F5478B-E028-4438-B2C6-E742EC82E59A}"/>
                  </a:ext>
                </a:extLst>
              </p:cNvPr>
              <p:cNvSpPr txBox="1"/>
              <p:nvPr/>
            </p:nvSpPr>
            <p:spPr>
              <a:xfrm>
                <a:off x="3918549" y="4793382"/>
                <a:ext cx="1477748" cy="5184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m:t>
                          </m:r>
                        </m:num>
                        <m:den>
                          <m:r>
                            <a:rPr lang="en-US" altLang="zh-CN" b="0" i="1" smtClean="0">
                              <a:latin typeface="Cambria Math" panose="02040503050406030204" pitchFamily="18" charset="0"/>
                            </a:rPr>
                            <m:t>7</m:t>
                          </m:r>
                        </m:den>
                      </m:f>
                    </m:oMath>
                  </m:oMathPara>
                </a14:m>
                <a:endParaRPr lang="zh-CN" altLang="en-US" dirty="0"/>
              </a:p>
            </p:txBody>
          </p:sp>
        </mc:Choice>
        <mc:Fallback xmlns="">
          <p:sp>
            <p:nvSpPr>
              <p:cNvPr id="9" name="文本框 8">
                <a:extLst>
                  <a:ext uri="{FF2B5EF4-FFF2-40B4-BE49-F238E27FC236}">
                    <a16:creationId xmlns:a16="http://schemas.microsoft.com/office/drawing/2014/main" id="{C0F5478B-E028-4438-B2C6-E742EC82E59A}"/>
                  </a:ext>
                </a:extLst>
              </p:cNvPr>
              <p:cNvSpPr txBox="1">
                <a:spLocks noRot="1" noChangeAspect="1" noMove="1" noResize="1" noEditPoints="1" noAdjustHandles="1" noChangeArrowheads="1" noChangeShapeType="1" noTextEdit="1"/>
              </p:cNvSpPr>
              <p:nvPr/>
            </p:nvSpPr>
            <p:spPr>
              <a:xfrm>
                <a:off x="3918549" y="4793382"/>
                <a:ext cx="1477748" cy="518412"/>
              </a:xfrm>
              <a:prstGeom prst="rect">
                <a:avLst/>
              </a:prstGeom>
              <a:blipFill>
                <a:blip r:embed="rId6"/>
                <a:stretch>
                  <a:fillRect t="-2381" r="-855" b="-11905"/>
                </a:stretch>
              </a:blipFill>
            </p:spPr>
            <p:txBody>
              <a:bodyPr/>
              <a:lstStyle/>
              <a:p>
                <a:r>
                  <a:rPr lang="en-CN">
                    <a:noFill/>
                  </a:rPr>
                  <a:t> </a:t>
                </a:r>
              </a:p>
            </p:txBody>
          </p:sp>
        </mc:Fallback>
      </mc:AlternateContent>
      <p:sp>
        <p:nvSpPr>
          <p:cNvPr id="10" name="文本框 9">
            <a:extLst>
              <a:ext uri="{FF2B5EF4-FFF2-40B4-BE49-F238E27FC236}">
                <a16:creationId xmlns:a16="http://schemas.microsoft.com/office/drawing/2014/main" id="{77E8D81A-8EDE-4B3A-8A0E-1BB069AFE4B7}"/>
              </a:ext>
            </a:extLst>
          </p:cNvPr>
          <p:cNvSpPr txBox="1"/>
          <p:nvPr/>
        </p:nvSpPr>
        <p:spPr>
          <a:xfrm>
            <a:off x="1104900" y="5304047"/>
            <a:ext cx="3896861"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By the Multiplication Law, we have:</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C936A0-ECC8-43B7-A6EE-123FA80DE4D7}"/>
                  </a:ext>
                </a:extLst>
              </p:cNvPr>
              <p:cNvSpPr txBox="1"/>
              <p:nvPr/>
            </p:nvSpPr>
            <p:spPr>
              <a:xfrm>
                <a:off x="2177429" y="5709293"/>
                <a:ext cx="284532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m:oMathPara>
                </a14:m>
                <a:endParaRPr lang="zh-CN" altLang="en-US" dirty="0"/>
              </a:p>
            </p:txBody>
          </p:sp>
        </mc:Choice>
        <mc:Fallback xmlns="">
          <p:sp>
            <p:nvSpPr>
              <p:cNvPr id="11" name="文本框 10">
                <a:extLst>
                  <a:ext uri="{FF2B5EF4-FFF2-40B4-BE49-F238E27FC236}">
                    <a16:creationId xmlns:a16="http://schemas.microsoft.com/office/drawing/2014/main" id="{9BC936A0-ECC8-43B7-A6EE-123FA80DE4D7}"/>
                  </a:ext>
                </a:extLst>
              </p:cNvPr>
              <p:cNvSpPr txBox="1">
                <a:spLocks noRot="1" noChangeAspect="1" noMove="1" noResize="1" noEditPoints="1" noAdjustHandles="1" noChangeArrowheads="1" noChangeShapeType="1" noTextEdit="1"/>
              </p:cNvSpPr>
              <p:nvPr/>
            </p:nvSpPr>
            <p:spPr>
              <a:xfrm>
                <a:off x="2177429" y="5709293"/>
                <a:ext cx="2845322" cy="276999"/>
              </a:xfrm>
              <a:prstGeom prst="rect">
                <a:avLst/>
              </a:prstGeom>
              <a:blipFill>
                <a:blip r:embed="rId7"/>
                <a:stretch>
                  <a:fillRect b="-3478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09560F6-0609-4E7F-A731-98D3984BC9AB}"/>
                  </a:ext>
                </a:extLst>
              </p:cNvPr>
              <p:cNvSpPr txBox="1"/>
              <p:nvPr/>
            </p:nvSpPr>
            <p:spPr>
              <a:xfrm>
                <a:off x="3087770" y="6081088"/>
                <a:ext cx="808617" cy="5194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a:rPr>
                            <m:t>4</m:t>
                          </m:r>
                        </m:num>
                        <m:den>
                          <m:r>
                            <a:rPr lang="en-US" altLang="zh-CN" b="0" i="1" smtClean="0">
                              <a:latin typeface="Cambria Math"/>
                            </a:rPr>
                            <m:t>7</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m:oMathPara>
                </a14:m>
                <a:endParaRPr lang="zh-CN" altLang="en-US" dirty="0"/>
              </a:p>
            </p:txBody>
          </p:sp>
        </mc:Choice>
        <mc:Fallback xmlns="">
          <p:sp>
            <p:nvSpPr>
              <p:cNvPr id="12" name="文本框 11">
                <a:extLst>
                  <a:ext uri="{FF2B5EF4-FFF2-40B4-BE49-F238E27FC236}">
                    <a16:creationId xmlns:a16="http://schemas.microsoft.com/office/drawing/2014/main" id="{809560F6-0609-4E7F-A731-98D3984BC9AB}"/>
                  </a:ext>
                </a:extLst>
              </p:cNvPr>
              <p:cNvSpPr txBox="1">
                <a:spLocks noRot="1" noChangeAspect="1" noMove="1" noResize="1" noEditPoints="1" noAdjustHandles="1" noChangeArrowheads="1" noChangeShapeType="1" noTextEdit="1"/>
              </p:cNvSpPr>
              <p:nvPr/>
            </p:nvSpPr>
            <p:spPr>
              <a:xfrm>
                <a:off x="3087770" y="6081088"/>
                <a:ext cx="808617" cy="519438"/>
              </a:xfrm>
              <a:prstGeom prst="rect">
                <a:avLst/>
              </a:prstGeom>
              <a:blipFill>
                <a:blip r:embed="rId8"/>
                <a:stretch>
                  <a:fillRect t="-7317" r="-1563" b="-1463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A261372-883A-4A46-BE9B-52CA04B131E3}"/>
                  </a:ext>
                </a:extLst>
              </p:cNvPr>
              <p:cNvSpPr txBox="1"/>
              <p:nvPr/>
            </p:nvSpPr>
            <p:spPr>
              <a:xfrm>
                <a:off x="3884146" y="6081088"/>
                <a:ext cx="449792" cy="5194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7</m:t>
                          </m:r>
                        </m:den>
                      </m:f>
                    </m:oMath>
                  </m:oMathPara>
                </a14:m>
                <a:endParaRPr lang="zh-CN" altLang="en-US" dirty="0"/>
              </a:p>
            </p:txBody>
          </p:sp>
        </mc:Choice>
        <mc:Fallback xmlns="">
          <p:sp>
            <p:nvSpPr>
              <p:cNvPr id="13" name="文本框 12">
                <a:extLst>
                  <a:ext uri="{FF2B5EF4-FFF2-40B4-BE49-F238E27FC236}">
                    <a16:creationId xmlns:a16="http://schemas.microsoft.com/office/drawing/2014/main" id="{FA261372-883A-4A46-BE9B-52CA04B131E3}"/>
                  </a:ext>
                </a:extLst>
              </p:cNvPr>
              <p:cNvSpPr txBox="1">
                <a:spLocks noRot="1" noChangeAspect="1" noMove="1" noResize="1" noEditPoints="1" noAdjustHandles="1" noChangeArrowheads="1" noChangeShapeType="1" noTextEdit="1"/>
              </p:cNvSpPr>
              <p:nvPr/>
            </p:nvSpPr>
            <p:spPr>
              <a:xfrm>
                <a:off x="3884146" y="6081088"/>
                <a:ext cx="449792" cy="519438"/>
              </a:xfrm>
              <a:prstGeom prst="rect">
                <a:avLst/>
              </a:prstGeom>
              <a:blipFill>
                <a:blip r:embed="rId9"/>
                <a:stretch>
                  <a:fillRect l="-2703" t="-7317" r="-8108" b="-1463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586335" y="4077744"/>
                <a:ext cx="114358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2">
                              <a:lumMod val="75000"/>
                            </a:schemeClr>
                          </a:solidFill>
                          <a:latin typeface="Cambria Math" panose="02040503050406030204" pitchFamily="18" charset="0"/>
                        </a:rPr>
                        <m:t>𝑃</m:t>
                      </m:r>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r>
                                <a:rPr lang="en-US" altLang="zh-CN" i="1">
                                  <a:solidFill>
                                    <a:schemeClr val="accent2">
                                      <a:lumMod val="75000"/>
                                    </a:schemeClr>
                                  </a:solidFill>
                                  <a:latin typeface="Cambria Math" panose="02040503050406030204" pitchFamily="18" charset="0"/>
                                </a:rPr>
                                <m:t>𝐴</m:t>
                              </m:r>
                            </m:e>
                            <m:sub>
                              <m:r>
                                <a:rPr lang="en-US" altLang="zh-CN" i="1">
                                  <a:solidFill>
                                    <a:schemeClr val="accent2">
                                      <a:lumMod val="75000"/>
                                    </a:schemeClr>
                                  </a:solidFill>
                                  <a:latin typeface="Cambria Math" panose="02040503050406030204" pitchFamily="18" charset="0"/>
                                </a:rPr>
                                <m:t>1</m:t>
                              </m:r>
                            </m:sub>
                          </m:sSub>
                          <m:sSub>
                            <m:sSubPr>
                              <m:ctrlPr>
                                <a:rPr lang="en-US" altLang="zh-CN" i="1">
                                  <a:solidFill>
                                    <a:schemeClr val="accent2">
                                      <a:lumMod val="75000"/>
                                    </a:schemeClr>
                                  </a:solidFill>
                                  <a:latin typeface="Cambria Math" panose="02040503050406030204" pitchFamily="18" charset="0"/>
                                </a:rPr>
                              </m:ctrlPr>
                            </m:sSubPr>
                            <m:e>
                              <m:r>
                                <a:rPr lang="en-US" altLang="zh-CN" i="1">
                                  <a:solidFill>
                                    <a:schemeClr val="accent2">
                                      <a:lumMod val="75000"/>
                                    </a:schemeClr>
                                  </a:solidFill>
                                  <a:latin typeface="Cambria Math" panose="02040503050406030204" pitchFamily="18" charset="0"/>
                                </a:rPr>
                                <m:t>𝐴</m:t>
                              </m:r>
                            </m:e>
                            <m:sub>
                              <m:r>
                                <a:rPr lang="en-US" altLang="zh-CN" i="1">
                                  <a:solidFill>
                                    <a:schemeClr val="accent2">
                                      <a:lumMod val="75000"/>
                                    </a:schemeClr>
                                  </a:solidFill>
                                  <a:latin typeface="Cambria Math" panose="02040503050406030204" pitchFamily="18" charset="0"/>
                                </a:rPr>
                                <m:t>2</m:t>
                              </m:r>
                            </m:sub>
                          </m:sSub>
                        </m:e>
                      </m:d>
                    </m:oMath>
                  </m:oMathPara>
                </a14:m>
                <a:endParaRPr lang="zh-CN" altLang="en-US" dirty="0">
                  <a:solidFill>
                    <a:schemeClr val="accent2">
                      <a:lumMod val="75000"/>
                    </a:schemeClr>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3586335" y="4077744"/>
                <a:ext cx="1143586" cy="369332"/>
              </a:xfrm>
              <a:prstGeom prst="rect">
                <a:avLst/>
              </a:prstGeom>
              <a:blipFill>
                <a:blip r:embed="rId10"/>
                <a:stretch>
                  <a:fillRect/>
                </a:stretch>
              </a:blipFill>
            </p:spPr>
            <p:txBody>
              <a:bodyPr/>
              <a:lstStyle/>
              <a:p>
                <a:r>
                  <a:rPr lang="en-CN">
                    <a:noFill/>
                  </a:rPr>
                  <a:t> </a:t>
                </a:r>
              </a:p>
            </p:txBody>
          </p:sp>
        </mc:Fallback>
      </mc:AlternateContent>
      <p:sp>
        <p:nvSpPr>
          <p:cNvPr id="14" name="矩形 13"/>
          <p:cNvSpPr/>
          <p:nvPr/>
        </p:nvSpPr>
        <p:spPr>
          <a:xfrm>
            <a:off x="3053331" y="4775351"/>
            <a:ext cx="397637" cy="630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148807" y="4775543"/>
            <a:ext cx="397637" cy="630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67AFA4A-A7C6-4C98-B401-189ABF662247}"/>
                  </a:ext>
                </a:extLst>
              </p:cNvPr>
              <p:cNvSpPr txBox="1"/>
              <p:nvPr/>
            </p:nvSpPr>
            <p:spPr>
              <a:xfrm>
                <a:off x="4816424" y="5709293"/>
                <a:ext cx="1960357"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2">
                              <a:lumMod val="75000"/>
                            </a:schemeClr>
                          </a:solidFill>
                          <a:latin typeface="Cambria Math" panose="02040503050406030204" pitchFamily="18" charset="0"/>
                        </a:rPr>
                        <m:t>=</m:t>
                      </m:r>
                      <m:r>
                        <a:rPr lang="en-US" altLang="zh-CN" b="0" i="1" smtClean="0">
                          <a:solidFill>
                            <a:schemeClr val="accent2">
                              <a:lumMod val="75000"/>
                            </a:schemeClr>
                          </a:solidFill>
                          <a:latin typeface="Cambria Math" panose="02040503050406030204" pitchFamily="18" charset="0"/>
                        </a:rPr>
                        <m:t>𝑃</m:t>
                      </m:r>
                      <m:d>
                        <m:dPr>
                          <m:ctrlPr>
                            <a:rPr lang="en-US" altLang="zh-CN" b="0" i="1" smtClean="0">
                              <a:solidFill>
                                <a:schemeClr val="accent2">
                                  <a:lumMod val="75000"/>
                                </a:schemeClr>
                              </a:solidFill>
                              <a:latin typeface="Cambria Math" panose="02040503050406030204" pitchFamily="18" charset="0"/>
                            </a:rPr>
                          </m:ctrlPr>
                        </m:dPr>
                        <m:e>
                          <m:sSub>
                            <m:sSubPr>
                              <m:ctrlPr>
                                <a:rPr lang="en-US" altLang="zh-CN" b="0" i="1" smtClean="0">
                                  <a:solidFill>
                                    <a:schemeClr val="accent2">
                                      <a:lumMod val="75000"/>
                                    </a:schemeClr>
                                  </a:solidFill>
                                  <a:latin typeface="Cambria Math" panose="02040503050406030204" pitchFamily="18" charset="0"/>
                                </a:rPr>
                              </m:ctrlPr>
                            </m:sSubPr>
                            <m:e>
                              <m:r>
                                <a:rPr lang="en-US" altLang="zh-CN" b="0" i="1" smtClean="0">
                                  <a:solidFill>
                                    <a:schemeClr val="accent2">
                                      <a:lumMod val="75000"/>
                                    </a:schemeClr>
                                  </a:solidFill>
                                  <a:latin typeface="Cambria Math" panose="02040503050406030204" pitchFamily="18" charset="0"/>
                                </a:rPr>
                                <m:t>𝐴</m:t>
                              </m:r>
                            </m:e>
                            <m:sub>
                              <m:r>
                                <a:rPr lang="en-US" altLang="zh-CN" b="0" i="1" smtClean="0">
                                  <a:solidFill>
                                    <a:schemeClr val="accent2">
                                      <a:lumMod val="75000"/>
                                    </a:schemeClr>
                                  </a:solidFill>
                                  <a:latin typeface="Cambria Math" panose="02040503050406030204" pitchFamily="18" charset="0"/>
                                </a:rPr>
                                <m:t>1</m:t>
                              </m:r>
                            </m:sub>
                          </m:sSub>
                        </m:e>
                        <m:e>
                          <m:sSub>
                            <m:sSubPr>
                              <m:ctrlPr>
                                <a:rPr lang="en-US" altLang="zh-CN" b="0" i="1" smtClean="0">
                                  <a:solidFill>
                                    <a:schemeClr val="accent2">
                                      <a:lumMod val="75000"/>
                                    </a:schemeClr>
                                  </a:solidFill>
                                  <a:latin typeface="Cambria Math" panose="02040503050406030204" pitchFamily="18" charset="0"/>
                                </a:rPr>
                              </m:ctrlPr>
                            </m:sSubPr>
                            <m:e>
                              <m:r>
                                <a:rPr lang="en-US" altLang="zh-CN" b="0" i="1" smtClean="0">
                                  <a:solidFill>
                                    <a:schemeClr val="accent2">
                                      <a:lumMod val="75000"/>
                                    </a:schemeClr>
                                  </a:solidFill>
                                  <a:latin typeface="Cambria Math" panose="02040503050406030204" pitchFamily="18" charset="0"/>
                                </a:rPr>
                                <m:t>𝐴</m:t>
                              </m:r>
                            </m:e>
                            <m:sub>
                              <m:r>
                                <a:rPr lang="en-US" altLang="zh-CN" b="0" i="1" smtClean="0">
                                  <a:solidFill>
                                    <a:schemeClr val="accent2">
                                      <a:lumMod val="75000"/>
                                    </a:schemeClr>
                                  </a:solidFill>
                                  <a:latin typeface="Cambria Math" panose="02040503050406030204" pitchFamily="18" charset="0"/>
                                </a:rPr>
                                <m:t>2</m:t>
                              </m:r>
                            </m:sub>
                          </m:sSub>
                        </m:e>
                      </m:d>
                      <m:r>
                        <a:rPr lang="en-US" altLang="zh-CN" b="0" i="1" smtClean="0">
                          <a:solidFill>
                            <a:schemeClr val="accent2">
                              <a:lumMod val="75000"/>
                            </a:schemeClr>
                          </a:solidFill>
                          <a:latin typeface="Cambria Math" panose="02040503050406030204" pitchFamily="18" charset="0"/>
                        </a:rPr>
                        <m:t>𝑃</m:t>
                      </m:r>
                      <m:r>
                        <a:rPr lang="en-US" altLang="zh-CN" b="0" i="1" smtClean="0">
                          <a:solidFill>
                            <a:schemeClr val="accent2">
                              <a:lumMod val="75000"/>
                            </a:schemeClr>
                          </a:solidFill>
                          <a:latin typeface="Cambria Math" panose="02040503050406030204" pitchFamily="18" charset="0"/>
                        </a:rPr>
                        <m:t>(</m:t>
                      </m:r>
                      <m:sSub>
                        <m:sSubPr>
                          <m:ctrlPr>
                            <a:rPr lang="en-US" altLang="zh-CN" b="0" i="1" smtClean="0">
                              <a:solidFill>
                                <a:schemeClr val="accent2">
                                  <a:lumMod val="75000"/>
                                </a:schemeClr>
                              </a:solidFill>
                              <a:latin typeface="Cambria Math" panose="02040503050406030204" pitchFamily="18" charset="0"/>
                            </a:rPr>
                          </m:ctrlPr>
                        </m:sSubPr>
                        <m:e>
                          <m:r>
                            <a:rPr lang="en-US" altLang="zh-CN" b="0" i="1" smtClean="0">
                              <a:solidFill>
                                <a:schemeClr val="accent2">
                                  <a:lumMod val="75000"/>
                                </a:schemeClr>
                              </a:solidFill>
                              <a:latin typeface="Cambria Math" panose="02040503050406030204" pitchFamily="18" charset="0"/>
                            </a:rPr>
                            <m:t>𝐴</m:t>
                          </m:r>
                        </m:e>
                        <m:sub>
                          <m:r>
                            <a:rPr lang="en-US" altLang="zh-CN" b="0" i="1" smtClean="0">
                              <a:solidFill>
                                <a:schemeClr val="accent2">
                                  <a:lumMod val="75000"/>
                                </a:schemeClr>
                              </a:solidFill>
                              <a:latin typeface="Cambria Math" panose="02040503050406030204" pitchFamily="18" charset="0"/>
                            </a:rPr>
                            <m:t>2</m:t>
                          </m:r>
                        </m:sub>
                      </m:sSub>
                      <m:r>
                        <a:rPr lang="en-US" altLang="zh-CN" b="0" i="1" smtClean="0">
                          <a:solidFill>
                            <a:schemeClr val="accent2">
                              <a:lumMod val="75000"/>
                            </a:schemeClr>
                          </a:solidFill>
                          <a:latin typeface="Cambria Math" panose="02040503050406030204" pitchFamily="18" charset="0"/>
                        </a:rPr>
                        <m:t>)</m:t>
                      </m:r>
                    </m:oMath>
                  </m:oMathPara>
                </a14:m>
                <a:endParaRPr lang="zh-CN" altLang="en-US" dirty="0">
                  <a:solidFill>
                    <a:schemeClr val="accent2">
                      <a:lumMod val="75000"/>
                    </a:schemeClr>
                  </a:solidFill>
                </a:endParaRPr>
              </a:p>
            </p:txBody>
          </p:sp>
        </mc:Choice>
        <mc:Fallback xmlns="">
          <p:sp>
            <p:nvSpPr>
              <p:cNvPr id="17" name="文本框 16">
                <a:extLst>
                  <a:ext uri="{FF2B5EF4-FFF2-40B4-BE49-F238E27FC236}">
                    <a16:creationId xmlns:a16="http://schemas.microsoft.com/office/drawing/2014/main" id="{267AFA4A-A7C6-4C98-B401-189ABF662247}"/>
                  </a:ext>
                </a:extLst>
              </p:cNvPr>
              <p:cNvSpPr txBox="1">
                <a:spLocks noRot="1" noChangeAspect="1" noMove="1" noResize="1" noEditPoints="1" noAdjustHandles="1" noChangeArrowheads="1" noChangeShapeType="1" noTextEdit="1"/>
              </p:cNvSpPr>
              <p:nvPr/>
            </p:nvSpPr>
            <p:spPr>
              <a:xfrm>
                <a:off x="4816424" y="5709293"/>
                <a:ext cx="1960357" cy="276999"/>
              </a:xfrm>
              <a:prstGeom prst="rect">
                <a:avLst/>
              </a:prstGeom>
              <a:blipFill>
                <a:blip r:embed="rId11"/>
                <a:stretch>
                  <a:fillRect b="-34783"/>
                </a:stretch>
              </a:blipFill>
            </p:spPr>
            <p:txBody>
              <a:bodyPr/>
              <a:lstStyle/>
              <a:p>
                <a:r>
                  <a:rPr lang="en-CN">
                    <a:noFill/>
                  </a:rPr>
                  <a:t> </a:t>
                </a:r>
              </a:p>
            </p:txBody>
          </p:sp>
        </mc:Fallback>
      </mc:AlternateContent>
    </p:spTree>
    <p:extLst>
      <p:ext uri="{BB962C8B-B14F-4D97-AF65-F5344CB8AC3E}">
        <p14:creationId xmlns:p14="http://schemas.microsoft.com/office/powerpoint/2010/main" val="349640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0" nodeType="clickEffect">
                                  <p:stCondLst>
                                    <p:cond delay="0"/>
                                  </p:stCondLst>
                                  <p:childTnLst>
                                    <p:animEffect transition="out" filter="fade">
                                      <p:cBhvr>
                                        <p:cTn id="58" dur="500"/>
                                        <p:tgtEl>
                                          <p:spTgt spid="16"/>
                                        </p:tgtEl>
                                      </p:cBhvr>
                                    </p:animEffect>
                                    <p:set>
                                      <p:cBhvr>
                                        <p:cTn id="59" dur="1" fill="hold">
                                          <p:stCondLst>
                                            <p:cond delay="499"/>
                                          </p:stCondLst>
                                        </p:cTn>
                                        <p:tgtEl>
                                          <p:spTgt spid="16"/>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500"/>
                                        <p:tgtEl>
                                          <p:spTgt spid="1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500"/>
                                        <p:tgtEl>
                                          <p:spTgt spid="12"/>
                                        </p:tgtEl>
                                      </p:cBhvr>
                                    </p:animEffect>
                                  </p:childTnLst>
                                </p:cTn>
                              </p:par>
                            </p:childTnLst>
                          </p:cTn>
                        </p:par>
                        <p:par>
                          <p:cTn id="84" fill="hold">
                            <p:stCondLst>
                              <p:cond delay="500"/>
                            </p:stCondLst>
                            <p:childTnLst>
                              <p:par>
                                <p:cTn id="85" presetID="10" presetClass="entr" presetSubtype="0" fill="hold" grpId="0" nodeType="after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fade">
                                      <p:cBhvr>
                                        <p:cTn id="8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2" grpId="0"/>
      <p:bldP spid="14" grpId="0" animBg="1"/>
      <p:bldP spid="16" grpId="0" animBg="1"/>
      <p:bldP spid="17" grpId="0"/>
      <p:bldP spid="1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1A21333-55FA-4CA1-A405-388B8FBD1331}"/>
              </a:ext>
            </a:extLst>
          </p:cNvPr>
          <p:cNvSpPr txBox="1"/>
          <p:nvPr/>
        </p:nvSpPr>
        <p:spPr>
          <a:xfrm>
            <a:off x="414338" y="756274"/>
            <a:ext cx="8316006" cy="1384995"/>
          </a:xfrm>
          <a:prstGeom prst="rect">
            <a:avLst/>
          </a:prstGeom>
          <a:noFill/>
        </p:spPr>
        <p:txBody>
          <a:bodyPr wrap="square" rtlCol="0">
            <a:spAutoFit/>
          </a:bodyPr>
          <a:lstStyle/>
          <a:p>
            <a:r>
              <a:rPr lang="en-US" altLang="zh-CN" sz="24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sz="2000" dirty="0">
                <a:latin typeface="华文新魏" panose="02010800040101010101" pitchFamily="2" charset="-122"/>
                <a:ea typeface="华文新魏" panose="02010800040101010101" pitchFamily="2" charset="-122"/>
              </a:rPr>
              <a:t>A football team needs to win all three games to pass the group stage</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小组赛</a:t>
            </a:r>
            <a:r>
              <a:rPr lang="en-US" altLang="zh-CN" sz="2000" dirty="0">
                <a:latin typeface="华文新魏" panose="02010800040101010101" pitchFamily="2" charset="-122"/>
                <a:ea typeface="华文新魏" panose="02010800040101010101" pitchFamily="2" charset="-122"/>
              </a:rPr>
              <a:t>). The probability that the</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team</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fails to pass the group stage at the first game is 0.5, at the second game is 0.7, and at the third game is 0.9. What is the probability that the team passes</a:t>
            </a: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the group stage?</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43B78AE-8D60-4B11-B1B4-9511DFBBE1E2}"/>
                  </a:ext>
                </a:extLst>
              </p:cNvPr>
              <p:cNvSpPr txBox="1"/>
              <p:nvPr/>
            </p:nvSpPr>
            <p:spPr>
              <a:xfrm>
                <a:off x="1627036" y="2280218"/>
                <a:ext cx="5746445" cy="438262"/>
              </a:xfrm>
              <a:prstGeom prst="rect">
                <a:avLst/>
              </a:prstGeom>
              <a:noFill/>
            </p:spPr>
            <p:txBody>
              <a:bodyPr wrap="none" rtlCol="0">
                <a:spAutoFit/>
              </a:bodyPr>
              <a:lstStyle/>
              <a:p>
                <a:r>
                  <a:rPr lang="en-US" altLang="zh-CN" sz="2000" dirty="0">
                    <a:latin typeface="华文新魏" panose="02010800040101010101" pitchFamily="2" charset="-122"/>
                    <a:ea typeface="华文新魏" panose="02010800040101010101" pitchFamily="2" charset="-122"/>
                  </a:rPr>
                  <a:t>let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r>
                          <m:rPr>
                            <m:sty m:val="p"/>
                          </m:rPr>
                          <a:rPr lang="en-US" altLang="zh-CN" sz="2000" b="0" i="0" smtClean="0">
                            <a:latin typeface="Cambria Math" panose="02040503050406030204" pitchFamily="18" charset="0"/>
                          </a:rPr>
                          <m:t>The</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team</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wins</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the</m:t>
                        </m:r>
                        <m:r>
                          <a:rPr lang="zh-CN" altLang="en-US" sz="2000" b="0" i="0" smtClean="0">
                            <a:latin typeface="Cambria Math" panose="02040503050406030204" pitchFamily="18" charset="0"/>
                          </a:rPr>
                          <m:t> </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𝑖</m:t>
                            </m:r>
                          </m:e>
                          <m:sup>
                            <m:r>
                              <m:rPr>
                                <m:sty m:val="p"/>
                              </m:rPr>
                              <a:rPr lang="en-US" altLang="zh-CN" sz="2000" b="0" i="0" smtClean="0">
                                <a:latin typeface="Cambria Math" panose="02040503050406030204" pitchFamily="18" charset="0"/>
                              </a:rPr>
                              <m:t>th</m:t>
                            </m:r>
                          </m:sup>
                        </m:sSup>
                        <m:r>
                          <m:rPr>
                            <m:sty m:val="p"/>
                          </m:rPr>
                          <a:rPr lang="en-US" altLang="zh-CN" sz="2000" b="0" i="0" smtClean="0">
                            <a:latin typeface="Cambria Math" panose="02040503050406030204" pitchFamily="18" charset="0"/>
                          </a:rPr>
                          <m:t>game</m:t>
                        </m:r>
                      </m:e>
                    </m:d>
                    <m:r>
                      <a:rPr lang="en-US" altLang="zh-CN" sz="2000" b="0" i="1" smtClean="0">
                        <a:latin typeface="Cambria Math" panose="02040503050406030204" pitchFamily="18" charset="0"/>
                      </a:rPr>
                      <m:t>, </m:t>
                    </m:r>
                    <m:r>
                      <a:rPr lang="en-US" altLang="zh-CN" sz="2000" b="0" i="1" smtClean="0">
                        <a:latin typeface="Cambria Math"/>
                      </a:rPr>
                      <m:t> </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 2, 3)</m:t>
                    </m:r>
                  </m:oMath>
                </a14:m>
                <a:endParaRPr lang="zh-CN" altLang="en-US" sz="2000" dirty="0">
                  <a:latin typeface="华文新魏" panose="02010800040101010101" pitchFamily="2" charset="-122"/>
                  <a:ea typeface="华文新魏" panose="02010800040101010101" pitchFamily="2" charset="-122"/>
                </a:endParaRPr>
              </a:p>
            </p:txBody>
          </p:sp>
        </mc:Choice>
        <mc:Fallback xmlns="">
          <p:sp>
            <p:nvSpPr>
              <p:cNvPr id="3" name="文本框 2">
                <a:extLst>
                  <a:ext uri="{FF2B5EF4-FFF2-40B4-BE49-F238E27FC236}">
                    <a16:creationId xmlns:a16="http://schemas.microsoft.com/office/drawing/2014/main" id="{F43B78AE-8D60-4B11-B1B4-9511DFBBE1E2}"/>
                  </a:ext>
                </a:extLst>
              </p:cNvPr>
              <p:cNvSpPr txBox="1">
                <a:spLocks noRot="1" noChangeAspect="1" noMove="1" noResize="1" noEditPoints="1" noAdjustHandles="1" noChangeArrowheads="1" noChangeShapeType="1" noTextEdit="1"/>
              </p:cNvSpPr>
              <p:nvPr/>
            </p:nvSpPr>
            <p:spPr>
              <a:xfrm>
                <a:off x="1627036" y="2280218"/>
                <a:ext cx="5746445" cy="438262"/>
              </a:xfrm>
              <a:prstGeom prst="rect">
                <a:avLst/>
              </a:prstGeom>
              <a:blipFill>
                <a:blip r:embed="rId2"/>
                <a:stretch>
                  <a:fillRect l="-1325" b="-22222"/>
                </a:stretch>
              </a:blipFill>
            </p:spPr>
            <p:txBody>
              <a:bodyPr/>
              <a:lstStyle/>
              <a:p>
                <a:r>
                  <a:rPr lang="en-CN">
                    <a:noFill/>
                  </a:rPr>
                  <a:t> </a:t>
                </a:r>
              </a:p>
            </p:txBody>
          </p:sp>
        </mc:Fallback>
      </mc:AlternateContent>
      <p:sp>
        <p:nvSpPr>
          <p:cNvPr id="4" name="文本框 3">
            <a:extLst>
              <a:ext uri="{FF2B5EF4-FFF2-40B4-BE49-F238E27FC236}">
                <a16:creationId xmlns:a16="http://schemas.microsoft.com/office/drawing/2014/main" id="{52DD3316-1BB6-4483-82D6-8EEC9F67292D}"/>
              </a:ext>
            </a:extLst>
          </p:cNvPr>
          <p:cNvSpPr txBox="1"/>
          <p:nvPr/>
        </p:nvSpPr>
        <p:spPr>
          <a:xfrm>
            <a:off x="543085" y="2314683"/>
            <a:ext cx="1083951"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Solution:</a:t>
            </a:r>
            <a:endParaRPr lang="zh-CN" altLang="en-US" b="1" dirty="0">
              <a:solidFill>
                <a:schemeClr val="accent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0" name="TextBox 9"/>
              <p:cNvSpPr txBox="1"/>
              <p:nvPr/>
            </p:nvSpPr>
            <p:spPr>
              <a:xfrm>
                <a:off x="1085060" y="2752945"/>
                <a:ext cx="7041902" cy="2215991"/>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=1−0.5=0.5</m:t>
                      </m:r>
                    </m:oMath>
                  </m:oMathPara>
                </a14:m>
                <a:endParaRPr lang="en-US" altLang="zh-CN" b="1" dirty="0"/>
              </a:p>
              <a:p>
                <a:pPr>
                  <a:spcAft>
                    <a:spcPts val="60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e>
                      </m:d>
                      <m:r>
                        <a:rPr lang="en-US" altLang="zh-CN" i="1">
                          <a:latin typeface="Cambria Math" panose="02040503050406030204" pitchFamily="18" charset="0"/>
                        </a:rPr>
                        <m:t>=</m:t>
                      </m:r>
                      <m:r>
                        <a:rPr lang="en-US" altLang="zh-CN" b="0" i="1" smtClean="0">
                          <a:latin typeface="Cambria Math" panose="02040503050406030204" pitchFamily="18" charset="0"/>
                        </a:rPr>
                        <m:t>1−0.7=0.3</m:t>
                      </m:r>
                    </m:oMath>
                  </m:oMathPara>
                </a14:m>
                <a:endParaRPr lang="en-US" altLang="zh-CN" b="1" dirty="0"/>
              </a:p>
              <a:p>
                <a:pPr>
                  <a:spcAft>
                    <a:spcPts val="60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3</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r>
                        <a:rPr lang="en-US" altLang="zh-CN" b="0" i="1" smtClean="0">
                          <a:latin typeface="Cambria Math" panose="02040503050406030204" pitchFamily="18" charset="0"/>
                        </a:rPr>
                        <m:t>1−0.9=0.1</m:t>
                      </m:r>
                    </m:oMath>
                  </m:oMathPara>
                </a14:m>
                <a:endParaRPr lang="en-US" altLang="zh-CN" b="1" dirty="0"/>
              </a:p>
              <a:p>
                <a:pPr>
                  <a:spcAft>
                    <a:spcPts val="600"/>
                  </a:spcAft>
                </a:pPr>
                <a:endParaRPr lang="en-US" altLang="zh-CN" b="1" dirty="0"/>
              </a:p>
              <a:p>
                <a:pPr>
                  <a:spcAft>
                    <a:spcPts val="60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𝑃</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The</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team</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passes</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the</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group</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stage</m:t>
                          </m:r>
                        </m:e>
                      </m:d>
                      <m:r>
                        <a:rPr lang="en-US" altLang="zh-CN" i="1">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3</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e>
                      </m:d>
                    </m:oMath>
                  </m:oMathPara>
                </a14:m>
                <a:endParaRPr lang="en-US" altLang="zh-CN" b="1" dirty="0"/>
              </a:p>
              <a:p>
                <a:pPr>
                  <a:spcAft>
                    <a:spcPts val="60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=0.5</m:t>
                      </m:r>
                      <m:r>
                        <a:rPr lang="zh-CN" altLang="en-US" i="1">
                          <a:latin typeface="Cambria Math" panose="02040503050406030204" pitchFamily="18" charset="0"/>
                        </a:rPr>
                        <m:t>∗</m:t>
                      </m:r>
                      <m:r>
                        <a:rPr lang="en-US" altLang="zh-CN" i="1">
                          <a:latin typeface="Cambria Math" panose="02040503050406030204" pitchFamily="18" charset="0"/>
                        </a:rPr>
                        <m:t>0.3</m:t>
                      </m:r>
                      <m:r>
                        <a:rPr lang="zh-CN" altLang="en-US" i="1">
                          <a:latin typeface="Cambria Math" panose="02040503050406030204" pitchFamily="18" charset="0"/>
                        </a:rPr>
                        <m:t>∗</m:t>
                      </m:r>
                      <m:r>
                        <a:rPr lang="en-US" altLang="zh-CN" i="1">
                          <a:latin typeface="Cambria Math" panose="02040503050406030204" pitchFamily="18" charset="0"/>
                        </a:rPr>
                        <m:t>0.1=0.015</m:t>
                      </m:r>
                    </m:oMath>
                  </m:oMathPara>
                </a14:m>
                <a:endParaRPr lang="en-US" altLang="zh-CN" b="1" dirty="0"/>
              </a:p>
            </p:txBody>
          </p:sp>
        </mc:Choice>
        <mc:Fallback xmlns="">
          <p:sp>
            <p:nvSpPr>
              <p:cNvPr id="10" name="TextBox 9"/>
              <p:cNvSpPr txBox="1">
                <a:spLocks noRot="1" noChangeAspect="1" noMove="1" noResize="1" noEditPoints="1" noAdjustHandles="1" noChangeArrowheads="1" noChangeShapeType="1" noTextEdit="1"/>
              </p:cNvSpPr>
              <p:nvPr/>
            </p:nvSpPr>
            <p:spPr>
              <a:xfrm>
                <a:off x="1085060" y="2752945"/>
                <a:ext cx="7041902" cy="221599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923A15E-73F9-45DC-B040-E1CA5B4DB8D8}"/>
                  </a:ext>
                </a:extLst>
              </p:cNvPr>
              <p:cNvSpPr txBox="1"/>
              <p:nvPr/>
            </p:nvSpPr>
            <p:spPr>
              <a:xfrm>
                <a:off x="315959" y="5133048"/>
                <a:ext cx="8581209" cy="369332"/>
              </a:xfrm>
              <a:prstGeom prst="rect">
                <a:avLst/>
              </a:prstGeom>
              <a:noFill/>
            </p:spPr>
            <p:txBody>
              <a:bodyPr wrap="square" rtlCol="0">
                <a:spAutoFit/>
              </a:bodyPr>
              <a:lstStyle/>
              <a:p>
                <a:r>
                  <a:rPr lang="en-US" altLang="zh-CN" b="1" dirty="0">
                    <a:solidFill>
                      <a:schemeClr val="accent1">
                        <a:lumMod val="75000"/>
                      </a:schemeClr>
                    </a:solidFill>
                    <a:latin typeface="华文新魏" panose="02010800040101010101" pitchFamily="2" charset="-122"/>
                    <a:ea typeface="华文新魏" panose="02010800040101010101" pitchFamily="2" charset="-122"/>
                  </a:rPr>
                  <a:t>In general, if there are n games in the group stage and </a:t>
                </a:r>
                <a14:m>
                  <m:oMath xmlns:m="http://schemas.openxmlformats.org/officeDocument/2006/math">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𝟏</m:t>
                            </m:r>
                          </m:sub>
                        </m:sSub>
                      </m:e>
                    </m:d>
                    <m:r>
                      <a:rPr lang="en-US" altLang="zh-CN" b="1" i="1" smtClean="0">
                        <a:solidFill>
                          <a:schemeClr val="accent1">
                            <a:lumMod val="75000"/>
                          </a:schemeClr>
                        </a:solidFill>
                        <a:latin typeface="Cambria Math" panose="02040503050406030204" pitchFamily="18" charset="0"/>
                      </a:rPr>
                      <m:t>&gt;</m:t>
                    </m:r>
                    <m:r>
                      <a:rPr lang="en-US" altLang="zh-CN" b="1" i="1" smtClean="0">
                        <a:solidFill>
                          <a:schemeClr val="accent1">
                            <a:lumMod val="75000"/>
                          </a:schemeClr>
                        </a:solidFill>
                        <a:latin typeface="Cambria Math" panose="02040503050406030204" pitchFamily="18" charset="0"/>
                      </a:rPr>
                      <m:t>𝟎</m:t>
                    </m:r>
                  </m:oMath>
                </a14:m>
                <a:r>
                  <a:rPr lang="en-US" altLang="zh-CN" b="1" dirty="0">
                    <a:solidFill>
                      <a:schemeClr val="accent1">
                        <a:lumMod val="75000"/>
                      </a:schemeClr>
                    </a:solidFill>
                    <a:latin typeface="华文新魏" panose="02010800040101010101" pitchFamily="2" charset="-122"/>
                    <a:ea typeface="华文新魏" panose="02010800040101010101" pitchFamily="2" charset="-122"/>
                  </a:rPr>
                  <a:t>, then</a:t>
                </a:r>
              </a:p>
            </p:txBody>
          </p:sp>
        </mc:Choice>
        <mc:Fallback xmlns="">
          <p:sp>
            <p:nvSpPr>
              <p:cNvPr id="9" name="文本框 8">
                <a:extLst>
                  <a:ext uri="{FF2B5EF4-FFF2-40B4-BE49-F238E27FC236}">
                    <a16:creationId xmlns:a16="http://schemas.microsoft.com/office/drawing/2014/main" id="{1923A15E-73F9-45DC-B040-E1CA5B4DB8D8}"/>
                  </a:ext>
                </a:extLst>
              </p:cNvPr>
              <p:cNvSpPr txBox="1">
                <a:spLocks noRot="1" noChangeAspect="1" noMove="1" noResize="1" noEditPoints="1" noAdjustHandles="1" noChangeArrowheads="1" noChangeShapeType="1" noTextEdit="1"/>
              </p:cNvSpPr>
              <p:nvPr/>
            </p:nvSpPr>
            <p:spPr>
              <a:xfrm>
                <a:off x="315959" y="5133048"/>
                <a:ext cx="8581209" cy="369332"/>
              </a:xfrm>
              <a:prstGeom prst="rect">
                <a:avLst/>
              </a:prstGeom>
              <a:blipFill>
                <a:blip r:embed="rId4"/>
                <a:stretch>
                  <a:fillRect l="-639" t="-6557"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169A9A2-52BA-463E-A8EC-653F841D1BEF}"/>
                  </a:ext>
                </a:extLst>
              </p:cNvPr>
              <p:cNvSpPr txBox="1"/>
              <p:nvPr/>
            </p:nvSpPr>
            <p:spPr>
              <a:xfrm>
                <a:off x="595365" y="5700602"/>
                <a:ext cx="579330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sub>
                          </m:sSub>
                        </m:e>
                      </m:d>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sub>
                          </m:sSub>
                        </m:e>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𝟏</m:t>
                              </m:r>
                            </m:sub>
                          </m:sSub>
                        </m:e>
                      </m:d>
                      <m:r>
                        <a:rPr lang="en-US" altLang="zh-CN" b="1" i="1" smtClean="0">
                          <a:solidFill>
                            <a:schemeClr val="accent1">
                              <a:lumMod val="75000"/>
                            </a:schemeClr>
                          </a:solidFill>
                          <a:latin typeface="Cambria Math" panose="02040503050406030204" pitchFamily="18" charset="0"/>
                        </a:rPr>
                        <m:t>𝑷</m:t>
                      </m:r>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𝟏</m:t>
                          </m:r>
                        </m:sub>
                      </m:sSub>
                      <m:r>
                        <a:rPr lang="en-US" altLang="zh-CN" b="1" i="1" smtClean="0">
                          <a:solidFill>
                            <a:schemeClr val="accent1">
                              <a:lumMod val="75000"/>
                            </a:schemeClr>
                          </a:solidFill>
                          <a:latin typeface="Cambria Math" panose="02040503050406030204" pitchFamily="18" charset="0"/>
                        </a:rPr>
                        <m:t>)</m:t>
                      </m:r>
                    </m:oMath>
                  </m:oMathPara>
                </a14:m>
                <a:endParaRPr lang="zh-CN" altLang="en-US" b="1" dirty="0">
                  <a:solidFill>
                    <a:schemeClr val="accent1">
                      <a:lumMod val="75000"/>
                    </a:schemeClr>
                  </a:solidFill>
                </a:endParaRPr>
              </a:p>
            </p:txBody>
          </p:sp>
        </mc:Choice>
        <mc:Fallback xmlns="">
          <p:sp>
            <p:nvSpPr>
              <p:cNvPr id="11" name="文本框 10">
                <a:extLst>
                  <a:ext uri="{FF2B5EF4-FFF2-40B4-BE49-F238E27FC236}">
                    <a16:creationId xmlns:a16="http://schemas.microsoft.com/office/drawing/2014/main" id="{A169A9A2-52BA-463E-A8EC-653F841D1BEF}"/>
                  </a:ext>
                </a:extLst>
              </p:cNvPr>
              <p:cNvSpPr txBox="1">
                <a:spLocks noRot="1" noChangeAspect="1" noMove="1" noResize="1" noEditPoints="1" noAdjustHandles="1" noChangeArrowheads="1" noChangeShapeType="1" noTextEdit="1"/>
              </p:cNvSpPr>
              <p:nvPr/>
            </p:nvSpPr>
            <p:spPr>
              <a:xfrm>
                <a:off x="595365" y="5700602"/>
                <a:ext cx="5793305" cy="276999"/>
              </a:xfrm>
              <a:prstGeom prst="rect">
                <a:avLst/>
              </a:prstGeom>
              <a:blipFill>
                <a:blip r:embed="rId5"/>
                <a:stretch>
                  <a:fillRect t="-2174"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8170931-AA51-490D-8B94-838D3695E747}"/>
                  </a:ext>
                </a:extLst>
              </p:cNvPr>
              <p:cNvSpPr txBox="1"/>
              <p:nvPr/>
            </p:nvSpPr>
            <p:spPr>
              <a:xfrm>
                <a:off x="2226087" y="5935688"/>
                <a:ext cx="6614983" cy="64633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b="1" i="1" smtClean="0">
                          <a:solidFill>
                            <a:schemeClr val="accent1">
                              <a:lumMod val="75000"/>
                            </a:schemeClr>
                          </a:solidFill>
                          <a:latin typeface="Cambria Math"/>
                        </a:rPr>
                        <m:t>       </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a:rPr>
                        <m:t> </m:t>
                      </m:r>
                    </m:oMath>
                  </m:oMathPara>
                </a14:m>
                <a:endParaRPr lang="en-US" altLang="zh-CN" b="1" i="1" dirty="0">
                  <a:solidFill>
                    <a:schemeClr val="accent1">
                      <a:lumMod val="75000"/>
                    </a:schemeClr>
                  </a:solidFill>
                  <a:latin typeface="Cambria Math"/>
                </a:endParaRPr>
              </a:p>
              <a:p>
                <a:r>
                  <a:rPr lang="en-US" altLang="zh-CN" b="1" dirty="0">
                    <a:solidFill>
                      <a:schemeClr val="accent1">
                        <a:lumMod val="75000"/>
                      </a:schemeClr>
                    </a:solidFill>
                  </a:rPr>
                  <a:t> </a:t>
                </a:r>
                <a:r>
                  <a:rPr lang="en-US" altLang="zh-CN" sz="2400" b="1" dirty="0">
                    <a:solidFill>
                      <a:schemeClr val="accent1">
                        <a:lumMod val="75000"/>
                      </a:schemeClr>
                    </a:solidFill>
                  </a:rPr>
                  <a:t>=</a:t>
                </a:r>
                <a14:m>
                  <m:oMath xmlns:m="http://schemas.openxmlformats.org/officeDocument/2006/math">
                    <m:r>
                      <a:rPr lang="en-US" altLang="zh-CN" b="1" i="0" smtClean="0">
                        <a:solidFill>
                          <a:schemeClr val="accent1">
                            <a:lumMod val="75000"/>
                          </a:schemeClr>
                        </a:solidFill>
                        <a:latin typeface="Cambria Math"/>
                      </a:rPr>
                      <m:t> </m:t>
                    </m:r>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sub>
                        </m:sSub>
                      </m:e>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𝟏</m:t>
                            </m:r>
                          </m:sub>
                        </m:sSub>
                      </m:e>
                    </m:d>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𝟏</m:t>
                            </m:r>
                          </m:sub>
                        </m:sSub>
                      </m:e>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𝒏</m:t>
                            </m:r>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𝟐</m:t>
                            </m:r>
                          </m:sub>
                        </m:sSub>
                      </m:e>
                    </m:d>
                    <m:r>
                      <a:rPr lang="en-US" altLang="zh-CN" b="1" i="1" smtClean="0">
                        <a:solidFill>
                          <a:schemeClr val="accent1">
                            <a:lumMod val="75000"/>
                          </a:schemeClr>
                        </a:solidFill>
                        <a:latin typeface="Cambria Math" panose="02040503050406030204" pitchFamily="18" charset="0"/>
                      </a:rPr>
                      <m:t>…</m:t>
                    </m:r>
                    <m:r>
                      <a:rPr lang="en-US" altLang="zh-CN" b="1" i="1" smtClean="0">
                        <a:solidFill>
                          <a:schemeClr val="accent1">
                            <a:lumMod val="75000"/>
                          </a:schemeClr>
                        </a:solidFill>
                        <a:latin typeface="Cambria Math" panose="02040503050406030204" pitchFamily="18" charset="0"/>
                      </a:rPr>
                      <m:t>𝑷</m:t>
                    </m:r>
                    <m:d>
                      <m:dPr>
                        <m:ctrlPr>
                          <a:rPr lang="en-US" altLang="zh-CN" b="1" i="1" smtClean="0">
                            <a:solidFill>
                              <a:schemeClr val="accent1">
                                <a:lumMod val="75000"/>
                              </a:schemeClr>
                            </a:solidFill>
                            <a:latin typeface="Cambria Math" panose="02040503050406030204" pitchFamily="18" charset="0"/>
                          </a:rPr>
                        </m:ctrlPr>
                      </m:dPr>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𝟐</m:t>
                            </m:r>
                          </m:sub>
                        </m:sSub>
                      </m:e>
                      <m:e>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e>
                    </m:d>
                    <m:r>
                      <a:rPr lang="en-US" altLang="zh-CN" b="1" i="1" smtClean="0">
                        <a:solidFill>
                          <a:schemeClr val="accent1">
                            <a:lumMod val="75000"/>
                          </a:schemeClr>
                        </a:solidFill>
                        <a:latin typeface="Cambria Math" panose="02040503050406030204" pitchFamily="18" charset="0"/>
                      </a:rPr>
                      <m:t>𝑷</m:t>
                    </m:r>
                    <m:r>
                      <a:rPr lang="en-US" altLang="zh-CN" b="1" i="1" smtClean="0">
                        <a:solidFill>
                          <a:schemeClr val="accent1">
                            <a:lumMod val="75000"/>
                          </a:schemeClr>
                        </a:solidFill>
                        <a:latin typeface="Cambria Math" panose="02040503050406030204" pitchFamily="18" charset="0"/>
                      </a:rPr>
                      <m:t>(</m:t>
                    </m:r>
                    <m:sSub>
                      <m:sSubPr>
                        <m:ctrlPr>
                          <a:rPr lang="en-US" altLang="zh-CN" b="1" i="1" smtClean="0">
                            <a:solidFill>
                              <a:schemeClr val="accent1">
                                <a:lumMod val="75000"/>
                              </a:schemeClr>
                            </a:solidFill>
                            <a:latin typeface="Cambria Math" panose="02040503050406030204" pitchFamily="18" charset="0"/>
                          </a:rPr>
                        </m:ctrlPr>
                      </m:sSubPr>
                      <m:e>
                        <m:r>
                          <a:rPr lang="en-US" altLang="zh-CN" b="1" i="1" smtClean="0">
                            <a:solidFill>
                              <a:schemeClr val="accent1">
                                <a:lumMod val="75000"/>
                              </a:schemeClr>
                            </a:solidFill>
                            <a:latin typeface="Cambria Math" panose="02040503050406030204" pitchFamily="18" charset="0"/>
                          </a:rPr>
                          <m:t>𝑨</m:t>
                        </m:r>
                      </m:e>
                      <m:sub>
                        <m:r>
                          <a:rPr lang="en-US" altLang="zh-CN" b="1" i="1" smtClean="0">
                            <a:solidFill>
                              <a:schemeClr val="accent1">
                                <a:lumMod val="75000"/>
                              </a:schemeClr>
                            </a:solidFill>
                            <a:latin typeface="Cambria Math" panose="02040503050406030204" pitchFamily="18" charset="0"/>
                          </a:rPr>
                          <m:t>𝟏</m:t>
                        </m:r>
                      </m:sub>
                    </m:sSub>
                    <m:r>
                      <a:rPr lang="en-US" altLang="zh-CN" b="1" i="1" smtClean="0">
                        <a:solidFill>
                          <a:schemeClr val="accent1">
                            <a:lumMod val="75000"/>
                          </a:schemeClr>
                        </a:solidFill>
                        <a:latin typeface="Cambria Math" panose="02040503050406030204" pitchFamily="18" charset="0"/>
                      </a:rPr>
                      <m:t>)</m:t>
                    </m:r>
                  </m:oMath>
                </a14:m>
                <a:endParaRPr lang="zh-CN" altLang="en-US" b="1" dirty="0">
                  <a:solidFill>
                    <a:schemeClr val="accent1">
                      <a:lumMod val="75000"/>
                    </a:schemeClr>
                  </a:solidFill>
                </a:endParaRPr>
              </a:p>
            </p:txBody>
          </p:sp>
        </mc:Choice>
        <mc:Fallback xmlns="">
          <p:sp>
            <p:nvSpPr>
              <p:cNvPr id="12" name="文本框 11">
                <a:extLst>
                  <a:ext uri="{FF2B5EF4-FFF2-40B4-BE49-F238E27FC236}">
                    <a16:creationId xmlns:a16="http://schemas.microsoft.com/office/drawing/2014/main" id="{B8170931-AA51-490D-8B94-838D3695E747}"/>
                  </a:ext>
                </a:extLst>
              </p:cNvPr>
              <p:cNvSpPr txBox="1">
                <a:spLocks noRot="1" noChangeAspect="1" noMove="1" noResize="1" noEditPoints="1" noAdjustHandles="1" noChangeArrowheads="1" noChangeShapeType="1" noTextEdit="1"/>
              </p:cNvSpPr>
              <p:nvPr/>
            </p:nvSpPr>
            <p:spPr>
              <a:xfrm>
                <a:off x="2226087" y="5935688"/>
                <a:ext cx="6614983" cy="646331"/>
              </a:xfrm>
              <a:prstGeom prst="rect">
                <a:avLst/>
              </a:prstGeom>
              <a:blipFill>
                <a:blip r:embed="rId6"/>
                <a:stretch>
                  <a:fillRect l="-1843" b="-2830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172A0320-F5AC-438F-B24D-D12A98370ED8}"/>
              </a:ext>
            </a:extLst>
          </p:cNvPr>
          <p:cNvGrpSpPr/>
          <p:nvPr/>
        </p:nvGrpSpPr>
        <p:grpSpPr>
          <a:xfrm>
            <a:off x="1984411" y="309752"/>
            <a:ext cx="5644494" cy="523220"/>
            <a:chOff x="2893941" y="545168"/>
            <a:chExt cx="5644494" cy="523220"/>
          </a:xfrm>
        </p:grpSpPr>
        <p:sp>
          <p:nvSpPr>
            <p:cNvPr id="21" name="文本框 20">
              <a:extLst>
                <a:ext uri="{FF2B5EF4-FFF2-40B4-BE49-F238E27FC236}">
                  <a16:creationId xmlns:a16="http://schemas.microsoft.com/office/drawing/2014/main" id="{EC01ABC9-81BF-40BE-AE80-CE110E9B1E7F}"/>
                </a:ext>
              </a:extLst>
            </p:cNvPr>
            <p:cNvSpPr txBox="1"/>
            <p:nvPr/>
          </p:nvSpPr>
          <p:spPr>
            <a:xfrm>
              <a:off x="2893941" y="545168"/>
              <a:ext cx="5644494"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More about</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the Multiplication Law</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22" name="Line 76">
              <a:extLst>
                <a:ext uri="{FF2B5EF4-FFF2-40B4-BE49-F238E27FC236}">
                  <a16:creationId xmlns:a16="http://schemas.microsoft.com/office/drawing/2014/main" id="{04503834-887D-4D5F-88F4-1A5BF341C6A7}"/>
                </a:ext>
              </a:extLst>
            </p:cNvPr>
            <p:cNvSpPr>
              <a:spLocks noChangeShapeType="1"/>
            </p:cNvSpPr>
            <p:nvPr/>
          </p:nvSpPr>
          <p:spPr bwMode="auto">
            <a:xfrm>
              <a:off x="2893941" y="1068388"/>
              <a:ext cx="5644494"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grpSp>
      <p:sp>
        <p:nvSpPr>
          <p:cNvPr id="3" name="文本框 2">
            <a:extLst>
              <a:ext uri="{FF2B5EF4-FFF2-40B4-BE49-F238E27FC236}">
                <a16:creationId xmlns:a16="http://schemas.microsoft.com/office/drawing/2014/main" id="{458F22F0-A301-4505-BB1B-3482A5BBA879}"/>
              </a:ext>
            </a:extLst>
          </p:cNvPr>
          <p:cNvSpPr txBox="1"/>
          <p:nvPr/>
        </p:nvSpPr>
        <p:spPr>
          <a:xfrm>
            <a:off x="927431" y="1412552"/>
            <a:ext cx="7996048" cy="369332"/>
          </a:xfrm>
          <a:prstGeom prst="rect">
            <a:avLst/>
          </a:prstGeom>
          <a:noFill/>
        </p:spPr>
        <p:txBody>
          <a:bodyPr wrap="square" rtlCol="0">
            <a:spAutoFit/>
          </a:bodyPr>
          <a:lstStyle/>
          <a:p>
            <a:pPr>
              <a:spcAft>
                <a:spcPts val="600"/>
              </a:spcAft>
            </a:pPr>
            <a:r>
              <a:rPr lang="en-US" altLang="zh-CN" dirty="0">
                <a:latin typeface="华文新魏" panose="02010800040101010101" pitchFamily="2" charset="-122"/>
                <a:ea typeface="华文新魏" panose="02010800040101010101" pitchFamily="2" charset="-122"/>
              </a:rPr>
              <a:t>In Classical Probability, we learnt the </a:t>
            </a:r>
            <a:r>
              <a:rPr lang="en-US" altLang="zh-CN" b="1" dirty="0">
                <a:solidFill>
                  <a:srgbClr val="FF0000"/>
                </a:solidFill>
                <a:latin typeface="华文新魏" panose="02010800040101010101" pitchFamily="2" charset="-122"/>
                <a:ea typeface="华文新魏" panose="02010800040101010101" pitchFamily="2" charset="-122"/>
              </a:rPr>
              <a:t>Addition Law </a:t>
            </a:r>
            <a:r>
              <a:rPr lang="en-US" altLang="zh-CN" dirty="0">
                <a:latin typeface="华文新魏" panose="02010800040101010101" pitchFamily="2" charset="-122"/>
                <a:ea typeface="华文新魏" panose="02010800040101010101" pitchFamily="2" charset="-122"/>
              </a:rPr>
              <a:t>in the previous lecture </a:t>
            </a:r>
            <a:endParaRPr lang="zh-CN" altLang="en-US" b="1"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571C418-8A38-48B8-8EA7-C3D33E0EABC2}"/>
                  </a:ext>
                </a:extLst>
              </p:cNvPr>
              <p:cNvSpPr txBox="1"/>
              <p:nvPr/>
            </p:nvSpPr>
            <p:spPr>
              <a:xfrm>
                <a:off x="2914641" y="1883095"/>
                <a:ext cx="3371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𝐴𝐵</m:t>
                      </m:r>
                      <m:r>
                        <a:rPr lang="en-US" altLang="zh-CN" b="0" i="1" smtClean="0">
                          <a:latin typeface="Cambria Math" panose="02040503050406030204" pitchFamily="18" charset="0"/>
                        </a:rPr>
                        <m:t>)</m:t>
                      </m:r>
                    </m:oMath>
                  </m:oMathPara>
                </a14:m>
                <a:endParaRPr lang="zh-CN" altLang="en-US" dirty="0"/>
              </a:p>
            </p:txBody>
          </p:sp>
        </mc:Choice>
        <mc:Fallback xmlns="">
          <p:sp>
            <p:nvSpPr>
              <p:cNvPr id="4" name="文本框 3">
                <a:extLst>
                  <a:ext uri="{FF2B5EF4-FFF2-40B4-BE49-F238E27FC236}">
                    <a16:creationId xmlns:a16="http://schemas.microsoft.com/office/drawing/2014/main" id="{D571C418-8A38-48B8-8EA7-C3D33E0EABC2}"/>
                  </a:ext>
                </a:extLst>
              </p:cNvPr>
              <p:cNvSpPr txBox="1">
                <a:spLocks noRot="1" noChangeAspect="1" noMove="1" noResize="1" noEditPoints="1" noAdjustHandles="1" noChangeArrowheads="1" noChangeShapeType="1" noTextEdit="1"/>
              </p:cNvSpPr>
              <p:nvPr/>
            </p:nvSpPr>
            <p:spPr>
              <a:xfrm>
                <a:off x="2914641" y="1883095"/>
                <a:ext cx="3371244" cy="276999"/>
              </a:xfrm>
              <a:prstGeom prst="rect">
                <a:avLst/>
              </a:prstGeom>
              <a:blipFill>
                <a:blip r:embed="rId2"/>
                <a:stretch>
                  <a:fillRect l="-904" t="-2222" r="-1989" b="-3555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2E6FD441-F442-4113-86DC-4FF1EB7079DE}"/>
              </a:ext>
            </a:extLst>
          </p:cNvPr>
          <p:cNvSpPr txBox="1"/>
          <p:nvPr/>
        </p:nvSpPr>
        <p:spPr>
          <a:xfrm>
            <a:off x="927431" y="2435544"/>
            <a:ext cx="5272597"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In</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this</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lecture,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we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just learnt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 </a:t>
            </a:r>
            <a:r>
              <a:rPr lang="en-US" altLang="zh-CN" b="1" dirty="0">
                <a:solidFill>
                  <a:srgbClr val="FF0000"/>
                </a:solidFill>
                <a:latin typeface="华文新魏" panose="02010800040101010101" pitchFamily="2" charset="-122"/>
                <a:ea typeface="华文新魏" panose="02010800040101010101" pitchFamily="2" charset="-122"/>
              </a:rPr>
              <a:t>Multiplication Law</a:t>
            </a:r>
            <a:endParaRPr lang="zh-CN" altLang="en-US" b="1" dirty="0">
              <a:solidFill>
                <a:srgbClr val="FF0000"/>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C33C3E0-E9B6-4789-B223-F6424E1AD4B8}"/>
                  </a:ext>
                </a:extLst>
              </p:cNvPr>
              <p:cNvSpPr txBox="1"/>
              <p:nvPr/>
            </p:nvSpPr>
            <p:spPr>
              <a:xfrm>
                <a:off x="2862406" y="2795152"/>
                <a:ext cx="22268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oMath>
                  </m:oMathPara>
                </a14:m>
                <a:endParaRPr lang="zh-CN" altLang="en-US" dirty="0"/>
              </a:p>
            </p:txBody>
          </p:sp>
        </mc:Choice>
        <mc:Fallback xmlns="">
          <p:sp>
            <p:nvSpPr>
              <p:cNvPr id="6" name="文本框 5">
                <a:extLst>
                  <a:ext uri="{FF2B5EF4-FFF2-40B4-BE49-F238E27FC236}">
                    <a16:creationId xmlns:a16="http://schemas.microsoft.com/office/drawing/2014/main" id="{0C33C3E0-E9B6-4789-B223-F6424E1AD4B8}"/>
                  </a:ext>
                </a:extLst>
              </p:cNvPr>
              <p:cNvSpPr txBox="1">
                <a:spLocks noRot="1" noChangeAspect="1" noMove="1" noResize="1" noEditPoints="1" noAdjustHandles="1" noChangeArrowheads="1" noChangeShapeType="1" noTextEdit="1"/>
              </p:cNvSpPr>
              <p:nvPr/>
            </p:nvSpPr>
            <p:spPr>
              <a:xfrm>
                <a:off x="2862406" y="2795152"/>
                <a:ext cx="2226892" cy="276999"/>
              </a:xfrm>
              <a:prstGeom prst="rect">
                <a:avLst/>
              </a:prstGeom>
              <a:blipFill>
                <a:blip r:embed="rId3"/>
                <a:stretch>
                  <a:fillRect l="-1918" t="-4444" r="-3288" b="-35556"/>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42311175-1D79-4B54-8AB7-2F615B0B69FB}"/>
              </a:ext>
            </a:extLst>
          </p:cNvPr>
          <p:cNvSpPr txBox="1"/>
          <p:nvPr/>
        </p:nvSpPr>
        <p:spPr>
          <a:xfrm>
            <a:off x="888162" y="3592252"/>
            <a:ext cx="7741859" cy="646331"/>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They are </a:t>
            </a:r>
            <a:r>
              <a:rPr lang="en-US" altLang="zh-CN" b="1" dirty="0">
                <a:latin typeface="华文新魏" panose="02010800040101010101" pitchFamily="2" charset="-122"/>
                <a:ea typeface="华文新魏" panose="02010800040101010101" pitchFamily="2" charset="-122"/>
              </a:rPr>
              <a:t>two basic theorems</a:t>
            </a:r>
            <a:r>
              <a:rPr lang="zh-CN" altLang="en-US" b="1"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in</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probability</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theory. They are the foundation of the further development of probability</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theory.</a:t>
            </a:r>
            <a:endParaRPr lang="zh-CN" altLang="en-US"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271" name="Group 151"/>
          <p:cNvGrpSpPr>
            <a:grpSpLocks/>
          </p:cNvGrpSpPr>
          <p:nvPr/>
        </p:nvGrpSpPr>
        <p:grpSpPr bwMode="auto">
          <a:xfrm>
            <a:off x="3111500" y="3857625"/>
            <a:ext cx="2935288" cy="1508125"/>
            <a:chOff x="1655" y="981"/>
            <a:chExt cx="2585" cy="1678"/>
          </a:xfrm>
        </p:grpSpPr>
        <p:sp>
          <p:nvSpPr>
            <p:cNvPr id="11342" name="Rectangle 152"/>
            <p:cNvSpPr>
              <a:spLocks noChangeArrowheads="1"/>
            </p:cNvSpPr>
            <p:nvPr/>
          </p:nvSpPr>
          <p:spPr bwMode="auto">
            <a:xfrm>
              <a:off x="1655" y="981"/>
              <a:ext cx="2585" cy="1678"/>
            </a:xfrm>
            <a:prstGeom prst="rect">
              <a:avLst/>
            </a:prstGeom>
            <a:solidFill>
              <a:schemeClr val="accent1">
                <a:alpha val="65097"/>
              </a:schemeClr>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1343" name="Freeform 153"/>
            <p:cNvSpPr>
              <a:spLocks/>
            </p:cNvSpPr>
            <p:nvPr/>
          </p:nvSpPr>
          <p:spPr bwMode="auto">
            <a:xfrm>
              <a:off x="1655" y="981"/>
              <a:ext cx="862" cy="590"/>
            </a:xfrm>
            <a:custGeom>
              <a:avLst/>
              <a:gdLst>
                <a:gd name="T0" fmla="*/ 0 w 952"/>
                <a:gd name="T1" fmla="*/ 456 h 604"/>
                <a:gd name="T2" fmla="*/ 137 w 952"/>
                <a:gd name="T3" fmla="*/ 421 h 604"/>
                <a:gd name="T4" fmla="*/ 273 w 952"/>
                <a:gd name="T5" fmla="*/ 176 h 604"/>
                <a:gd name="T6" fmla="*/ 318 w 952"/>
                <a:gd name="T7" fmla="*/ 0 h 6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2" h="604">
                  <a:moveTo>
                    <a:pt x="0" y="590"/>
                  </a:moveTo>
                  <a:cubicBezTo>
                    <a:pt x="136" y="597"/>
                    <a:pt x="272" y="604"/>
                    <a:pt x="408" y="544"/>
                  </a:cubicBezTo>
                  <a:cubicBezTo>
                    <a:pt x="544" y="484"/>
                    <a:pt x="725" y="318"/>
                    <a:pt x="816" y="227"/>
                  </a:cubicBezTo>
                  <a:cubicBezTo>
                    <a:pt x="907" y="136"/>
                    <a:pt x="929" y="68"/>
                    <a:pt x="952" y="0"/>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4" name="Freeform 154"/>
            <p:cNvSpPr>
              <a:spLocks/>
            </p:cNvSpPr>
            <p:nvPr/>
          </p:nvSpPr>
          <p:spPr bwMode="auto">
            <a:xfrm>
              <a:off x="1655" y="2062"/>
              <a:ext cx="907" cy="597"/>
            </a:xfrm>
            <a:custGeom>
              <a:avLst/>
              <a:gdLst>
                <a:gd name="T0" fmla="*/ 0 w 907"/>
                <a:gd name="T1" fmla="*/ 8 h 597"/>
                <a:gd name="T2" fmla="*/ 499 w 907"/>
                <a:gd name="T3" fmla="*/ 98 h 597"/>
                <a:gd name="T4" fmla="*/ 907 w 907"/>
                <a:gd name="T5" fmla="*/ 597 h 597"/>
                <a:gd name="T6" fmla="*/ 0 60000 65536"/>
                <a:gd name="T7" fmla="*/ 0 60000 65536"/>
                <a:gd name="T8" fmla="*/ 0 60000 65536"/>
              </a:gdLst>
              <a:ahLst/>
              <a:cxnLst>
                <a:cxn ang="T6">
                  <a:pos x="T0" y="T1"/>
                </a:cxn>
                <a:cxn ang="T7">
                  <a:pos x="T2" y="T3"/>
                </a:cxn>
                <a:cxn ang="T8">
                  <a:pos x="T4" y="T5"/>
                </a:cxn>
              </a:cxnLst>
              <a:rect l="0" t="0" r="r" b="b"/>
              <a:pathLst>
                <a:path w="907" h="597">
                  <a:moveTo>
                    <a:pt x="0" y="8"/>
                  </a:moveTo>
                  <a:cubicBezTo>
                    <a:pt x="174" y="4"/>
                    <a:pt x="348" y="0"/>
                    <a:pt x="499" y="98"/>
                  </a:cubicBezTo>
                  <a:cubicBezTo>
                    <a:pt x="650" y="196"/>
                    <a:pt x="778" y="396"/>
                    <a:pt x="907" y="597"/>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5" name="Freeform 155"/>
            <p:cNvSpPr>
              <a:spLocks/>
            </p:cNvSpPr>
            <p:nvPr/>
          </p:nvSpPr>
          <p:spPr bwMode="auto">
            <a:xfrm rot="193118">
              <a:off x="2192" y="1389"/>
              <a:ext cx="188" cy="817"/>
            </a:xfrm>
            <a:custGeom>
              <a:avLst/>
              <a:gdLst>
                <a:gd name="T0" fmla="*/ 0 w 188"/>
                <a:gd name="T1" fmla="*/ 0 h 771"/>
                <a:gd name="T2" fmla="*/ 181 w 188"/>
                <a:gd name="T3" fmla="*/ 685 h 771"/>
                <a:gd name="T4" fmla="*/ 45 w 188"/>
                <a:gd name="T5" fmla="*/ 1460 h 771"/>
                <a:gd name="T6" fmla="*/ 0 60000 65536"/>
                <a:gd name="T7" fmla="*/ 0 60000 65536"/>
                <a:gd name="T8" fmla="*/ 0 60000 65536"/>
              </a:gdLst>
              <a:ahLst/>
              <a:cxnLst>
                <a:cxn ang="T6">
                  <a:pos x="T0" y="T1"/>
                </a:cxn>
                <a:cxn ang="T7">
                  <a:pos x="T2" y="T3"/>
                </a:cxn>
                <a:cxn ang="T8">
                  <a:pos x="T4" y="T5"/>
                </a:cxn>
              </a:cxnLst>
              <a:rect l="0" t="0" r="r" b="b"/>
              <a:pathLst>
                <a:path w="188" h="771">
                  <a:moveTo>
                    <a:pt x="0" y="0"/>
                  </a:moveTo>
                  <a:cubicBezTo>
                    <a:pt x="87" y="117"/>
                    <a:pt x="174" y="234"/>
                    <a:pt x="181" y="362"/>
                  </a:cubicBezTo>
                  <a:cubicBezTo>
                    <a:pt x="188" y="490"/>
                    <a:pt x="116" y="630"/>
                    <a:pt x="45" y="771"/>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6" name="Freeform 156"/>
            <p:cNvSpPr>
              <a:spLocks/>
            </p:cNvSpPr>
            <p:nvPr/>
          </p:nvSpPr>
          <p:spPr bwMode="auto">
            <a:xfrm>
              <a:off x="2426" y="2062"/>
              <a:ext cx="862" cy="370"/>
            </a:xfrm>
            <a:custGeom>
              <a:avLst/>
              <a:gdLst>
                <a:gd name="T0" fmla="*/ 0 w 771"/>
                <a:gd name="T1" fmla="*/ 370 h 370"/>
                <a:gd name="T2" fmla="*/ 1080 w 771"/>
                <a:gd name="T3" fmla="*/ 53 h 370"/>
                <a:gd name="T4" fmla="*/ 2631 w 771"/>
                <a:gd name="T5" fmla="*/ 53 h 370"/>
                <a:gd name="T6" fmla="*/ 0 60000 65536"/>
                <a:gd name="T7" fmla="*/ 0 60000 65536"/>
                <a:gd name="T8" fmla="*/ 0 60000 65536"/>
              </a:gdLst>
              <a:ahLst/>
              <a:cxnLst>
                <a:cxn ang="T6">
                  <a:pos x="T0" y="T1"/>
                </a:cxn>
                <a:cxn ang="T7">
                  <a:pos x="T2" y="T3"/>
                </a:cxn>
                <a:cxn ang="T8">
                  <a:pos x="T4" y="T5"/>
                </a:cxn>
              </a:cxnLst>
              <a:rect l="0" t="0" r="r" b="b"/>
              <a:pathLst>
                <a:path w="771" h="370">
                  <a:moveTo>
                    <a:pt x="0" y="370"/>
                  </a:moveTo>
                  <a:cubicBezTo>
                    <a:pt x="94" y="238"/>
                    <a:pt x="189" y="106"/>
                    <a:pt x="317" y="53"/>
                  </a:cubicBezTo>
                  <a:cubicBezTo>
                    <a:pt x="445" y="0"/>
                    <a:pt x="608" y="26"/>
                    <a:pt x="771" y="53"/>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7" name="Freeform 157"/>
            <p:cNvSpPr>
              <a:spLocks/>
            </p:cNvSpPr>
            <p:nvPr/>
          </p:nvSpPr>
          <p:spPr bwMode="auto">
            <a:xfrm>
              <a:off x="2380" y="1707"/>
              <a:ext cx="545" cy="363"/>
            </a:xfrm>
            <a:custGeom>
              <a:avLst/>
              <a:gdLst>
                <a:gd name="T0" fmla="*/ 0 w 545"/>
                <a:gd name="T1" fmla="*/ 0 h 363"/>
                <a:gd name="T2" fmla="*/ 318 w 545"/>
                <a:gd name="T3" fmla="*/ 90 h 363"/>
                <a:gd name="T4" fmla="*/ 545 w 545"/>
                <a:gd name="T5" fmla="*/ 363 h 363"/>
                <a:gd name="T6" fmla="*/ 0 60000 65536"/>
                <a:gd name="T7" fmla="*/ 0 60000 65536"/>
                <a:gd name="T8" fmla="*/ 0 60000 65536"/>
              </a:gdLst>
              <a:ahLst/>
              <a:cxnLst>
                <a:cxn ang="T6">
                  <a:pos x="T0" y="T1"/>
                </a:cxn>
                <a:cxn ang="T7">
                  <a:pos x="T2" y="T3"/>
                </a:cxn>
                <a:cxn ang="T8">
                  <a:pos x="T4" y="T5"/>
                </a:cxn>
              </a:cxnLst>
              <a:rect l="0" t="0" r="r" b="b"/>
              <a:pathLst>
                <a:path w="545" h="363">
                  <a:moveTo>
                    <a:pt x="0" y="0"/>
                  </a:moveTo>
                  <a:cubicBezTo>
                    <a:pt x="113" y="15"/>
                    <a:pt x="227" y="30"/>
                    <a:pt x="318" y="90"/>
                  </a:cubicBezTo>
                  <a:cubicBezTo>
                    <a:pt x="409" y="150"/>
                    <a:pt x="477" y="256"/>
                    <a:pt x="545" y="363"/>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8" name="Freeform 158"/>
            <p:cNvSpPr>
              <a:spLocks/>
            </p:cNvSpPr>
            <p:nvPr/>
          </p:nvSpPr>
          <p:spPr bwMode="auto">
            <a:xfrm>
              <a:off x="3605" y="981"/>
              <a:ext cx="635" cy="816"/>
            </a:xfrm>
            <a:custGeom>
              <a:avLst/>
              <a:gdLst>
                <a:gd name="T0" fmla="*/ 0 w 635"/>
                <a:gd name="T1" fmla="*/ 0 h 816"/>
                <a:gd name="T2" fmla="*/ 182 w 635"/>
                <a:gd name="T3" fmla="*/ 454 h 816"/>
                <a:gd name="T4" fmla="*/ 635 w 635"/>
                <a:gd name="T5" fmla="*/ 816 h 816"/>
                <a:gd name="T6" fmla="*/ 0 60000 65536"/>
                <a:gd name="T7" fmla="*/ 0 60000 65536"/>
                <a:gd name="T8" fmla="*/ 0 60000 65536"/>
              </a:gdLst>
              <a:ahLst/>
              <a:cxnLst>
                <a:cxn ang="T6">
                  <a:pos x="T0" y="T1"/>
                </a:cxn>
                <a:cxn ang="T7">
                  <a:pos x="T2" y="T3"/>
                </a:cxn>
                <a:cxn ang="T8">
                  <a:pos x="T4" y="T5"/>
                </a:cxn>
              </a:cxnLst>
              <a:rect l="0" t="0" r="r" b="b"/>
              <a:pathLst>
                <a:path w="635" h="816">
                  <a:moveTo>
                    <a:pt x="0" y="0"/>
                  </a:moveTo>
                  <a:cubicBezTo>
                    <a:pt x="38" y="159"/>
                    <a:pt x="76" y="318"/>
                    <a:pt x="182" y="454"/>
                  </a:cubicBezTo>
                  <a:cubicBezTo>
                    <a:pt x="288" y="590"/>
                    <a:pt x="461" y="703"/>
                    <a:pt x="635" y="816"/>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49" name="Freeform 159"/>
            <p:cNvSpPr>
              <a:spLocks/>
            </p:cNvSpPr>
            <p:nvPr/>
          </p:nvSpPr>
          <p:spPr bwMode="auto">
            <a:xfrm>
              <a:off x="3605" y="2160"/>
              <a:ext cx="635" cy="499"/>
            </a:xfrm>
            <a:custGeom>
              <a:avLst/>
              <a:gdLst>
                <a:gd name="T0" fmla="*/ 0 w 635"/>
                <a:gd name="T1" fmla="*/ 499 h 499"/>
                <a:gd name="T2" fmla="*/ 182 w 635"/>
                <a:gd name="T3" fmla="*/ 91 h 499"/>
                <a:gd name="T4" fmla="*/ 635 w 635"/>
                <a:gd name="T5" fmla="*/ 0 h 499"/>
                <a:gd name="T6" fmla="*/ 0 60000 65536"/>
                <a:gd name="T7" fmla="*/ 0 60000 65536"/>
                <a:gd name="T8" fmla="*/ 0 60000 65536"/>
              </a:gdLst>
              <a:ahLst/>
              <a:cxnLst>
                <a:cxn ang="T6">
                  <a:pos x="T0" y="T1"/>
                </a:cxn>
                <a:cxn ang="T7">
                  <a:pos x="T2" y="T3"/>
                </a:cxn>
                <a:cxn ang="T8">
                  <a:pos x="T4" y="T5"/>
                </a:cxn>
              </a:cxnLst>
              <a:rect l="0" t="0" r="r" b="b"/>
              <a:pathLst>
                <a:path w="635" h="499">
                  <a:moveTo>
                    <a:pt x="0" y="499"/>
                  </a:moveTo>
                  <a:cubicBezTo>
                    <a:pt x="38" y="336"/>
                    <a:pt x="76" y="174"/>
                    <a:pt x="182" y="91"/>
                  </a:cubicBezTo>
                  <a:cubicBezTo>
                    <a:pt x="288" y="8"/>
                    <a:pt x="461" y="4"/>
                    <a:pt x="635" y="0"/>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0" name="Freeform 160"/>
            <p:cNvSpPr>
              <a:spLocks/>
            </p:cNvSpPr>
            <p:nvPr/>
          </p:nvSpPr>
          <p:spPr bwMode="auto">
            <a:xfrm>
              <a:off x="2698" y="1253"/>
              <a:ext cx="998" cy="544"/>
            </a:xfrm>
            <a:custGeom>
              <a:avLst/>
              <a:gdLst>
                <a:gd name="T0" fmla="*/ 0 w 998"/>
                <a:gd name="T1" fmla="*/ 544 h 544"/>
                <a:gd name="T2" fmla="*/ 499 w 998"/>
                <a:gd name="T3" fmla="*/ 91 h 544"/>
                <a:gd name="T4" fmla="*/ 998 w 998"/>
                <a:gd name="T5" fmla="*/ 0 h 544"/>
                <a:gd name="T6" fmla="*/ 0 60000 65536"/>
                <a:gd name="T7" fmla="*/ 0 60000 65536"/>
                <a:gd name="T8" fmla="*/ 0 60000 65536"/>
              </a:gdLst>
              <a:ahLst/>
              <a:cxnLst>
                <a:cxn ang="T6">
                  <a:pos x="T0" y="T1"/>
                </a:cxn>
                <a:cxn ang="T7">
                  <a:pos x="T2" y="T3"/>
                </a:cxn>
                <a:cxn ang="T8">
                  <a:pos x="T4" y="T5"/>
                </a:cxn>
              </a:cxnLst>
              <a:rect l="0" t="0" r="r" b="b"/>
              <a:pathLst>
                <a:path w="998" h="544">
                  <a:moveTo>
                    <a:pt x="0" y="544"/>
                  </a:moveTo>
                  <a:cubicBezTo>
                    <a:pt x="166" y="363"/>
                    <a:pt x="333" y="182"/>
                    <a:pt x="499" y="91"/>
                  </a:cubicBezTo>
                  <a:cubicBezTo>
                    <a:pt x="665" y="0"/>
                    <a:pt x="831" y="0"/>
                    <a:pt x="998" y="0"/>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1" name="Freeform 161"/>
            <p:cNvSpPr>
              <a:spLocks/>
            </p:cNvSpPr>
            <p:nvPr/>
          </p:nvSpPr>
          <p:spPr bwMode="auto">
            <a:xfrm>
              <a:off x="3590" y="1435"/>
              <a:ext cx="197" cy="907"/>
            </a:xfrm>
            <a:custGeom>
              <a:avLst/>
              <a:gdLst>
                <a:gd name="T0" fmla="*/ 197 w 197"/>
                <a:gd name="T1" fmla="*/ 0 h 907"/>
                <a:gd name="T2" fmla="*/ 15 w 197"/>
                <a:gd name="T3" fmla="*/ 408 h 907"/>
                <a:gd name="T4" fmla="*/ 106 w 197"/>
                <a:gd name="T5" fmla="*/ 907 h 907"/>
                <a:gd name="T6" fmla="*/ 0 60000 65536"/>
                <a:gd name="T7" fmla="*/ 0 60000 65536"/>
                <a:gd name="T8" fmla="*/ 0 60000 65536"/>
              </a:gdLst>
              <a:ahLst/>
              <a:cxnLst>
                <a:cxn ang="T6">
                  <a:pos x="T0" y="T1"/>
                </a:cxn>
                <a:cxn ang="T7">
                  <a:pos x="T2" y="T3"/>
                </a:cxn>
                <a:cxn ang="T8">
                  <a:pos x="T4" y="T5"/>
                </a:cxn>
              </a:cxnLst>
              <a:rect l="0" t="0" r="r" b="b"/>
              <a:pathLst>
                <a:path w="197" h="907">
                  <a:moveTo>
                    <a:pt x="197" y="0"/>
                  </a:moveTo>
                  <a:cubicBezTo>
                    <a:pt x="113" y="128"/>
                    <a:pt x="30" y="257"/>
                    <a:pt x="15" y="408"/>
                  </a:cubicBezTo>
                  <a:cubicBezTo>
                    <a:pt x="0" y="559"/>
                    <a:pt x="53" y="733"/>
                    <a:pt x="106" y="907"/>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2" name="Freeform 162"/>
            <p:cNvSpPr>
              <a:spLocks/>
            </p:cNvSpPr>
            <p:nvPr/>
          </p:nvSpPr>
          <p:spPr bwMode="auto">
            <a:xfrm>
              <a:off x="2970" y="2024"/>
              <a:ext cx="635" cy="635"/>
            </a:xfrm>
            <a:custGeom>
              <a:avLst/>
              <a:gdLst>
                <a:gd name="T0" fmla="*/ 0 w 635"/>
                <a:gd name="T1" fmla="*/ 635 h 635"/>
                <a:gd name="T2" fmla="*/ 272 w 635"/>
                <a:gd name="T3" fmla="*/ 136 h 635"/>
                <a:gd name="T4" fmla="*/ 635 w 635"/>
                <a:gd name="T5" fmla="*/ 0 h 635"/>
                <a:gd name="T6" fmla="*/ 0 60000 65536"/>
                <a:gd name="T7" fmla="*/ 0 60000 65536"/>
                <a:gd name="T8" fmla="*/ 0 60000 65536"/>
              </a:gdLst>
              <a:ahLst/>
              <a:cxnLst>
                <a:cxn ang="T6">
                  <a:pos x="T0" y="T1"/>
                </a:cxn>
                <a:cxn ang="T7">
                  <a:pos x="T2" y="T3"/>
                </a:cxn>
                <a:cxn ang="T8">
                  <a:pos x="T4" y="T5"/>
                </a:cxn>
              </a:cxnLst>
              <a:rect l="0" t="0" r="r" b="b"/>
              <a:pathLst>
                <a:path w="635" h="635">
                  <a:moveTo>
                    <a:pt x="0" y="635"/>
                  </a:moveTo>
                  <a:cubicBezTo>
                    <a:pt x="83" y="438"/>
                    <a:pt x="166" y="242"/>
                    <a:pt x="272" y="136"/>
                  </a:cubicBezTo>
                  <a:cubicBezTo>
                    <a:pt x="378" y="30"/>
                    <a:pt x="506" y="15"/>
                    <a:pt x="635" y="0"/>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53" name="Freeform 163"/>
            <p:cNvSpPr>
              <a:spLocks/>
            </p:cNvSpPr>
            <p:nvPr/>
          </p:nvSpPr>
          <p:spPr bwMode="auto">
            <a:xfrm>
              <a:off x="2925" y="981"/>
              <a:ext cx="182" cy="408"/>
            </a:xfrm>
            <a:custGeom>
              <a:avLst/>
              <a:gdLst>
                <a:gd name="T0" fmla="*/ 0 w 182"/>
                <a:gd name="T1" fmla="*/ 0 h 408"/>
                <a:gd name="T2" fmla="*/ 45 w 182"/>
                <a:gd name="T3" fmla="*/ 272 h 408"/>
                <a:gd name="T4" fmla="*/ 182 w 182"/>
                <a:gd name="T5" fmla="*/ 408 h 408"/>
                <a:gd name="T6" fmla="*/ 0 60000 65536"/>
                <a:gd name="T7" fmla="*/ 0 60000 65536"/>
                <a:gd name="T8" fmla="*/ 0 60000 65536"/>
              </a:gdLst>
              <a:ahLst/>
              <a:cxnLst>
                <a:cxn ang="T6">
                  <a:pos x="T0" y="T1"/>
                </a:cxn>
                <a:cxn ang="T7">
                  <a:pos x="T2" y="T3"/>
                </a:cxn>
                <a:cxn ang="T8">
                  <a:pos x="T4" y="T5"/>
                </a:cxn>
              </a:cxnLst>
              <a:rect l="0" t="0" r="r" b="b"/>
              <a:pathLst>
                <a:path w="182" h="408">
                  <a:moveTo>
                    <a:pt x="0" y="0"/>
                  </a:moveTo>
                  <a:cubicBezTo>
                    <a:pt x="7" y="102"/>
                    <a:pt x="15" y="204"/>
                    <a:pt x="45" y="272"/>
                  </a:cubicBezTo>
                  <a:cubicBezTo>
                    <a:pt x="75" y="340"/>
                    <a:pt x="128" y="374"/>
                    <a:pt x="182" y="408"/>
                  </a:cubicBezTo>
                </a:path>
              </a:pathLst>
            </a:custGeom>
            <a:noFill/>
            <a:ln w="9525"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354" name="Object 164"/>
            <p:cNvGraphicFramePr>
              <a:graphicFrameLocks noChangeAspect="1"/>
            </p:cNvGraphicFramePr>
            <p:nvPr/>
          </p:nvGraphicFramePr>
          <p:xfrm>
            <a:off x="3833" y="2296"/>
            <a:ext cx="368" cy="318"/>
          </p:xfrm>
          <a:graphic>
            <a:graphicData uri="http://schemas.openxmlformats.org/presentationml/2006/ole">
              <mc:AlternateContent xmlns:mc="http://schemas.openxmlformats.org/markup-compatibility/2006">
                <mc:Choice xmlns:v="urn:schemas-microsoft-com:vml" Requires="v">
                  <p:oleObj spid="_x0000_s2056" name="公式" r:id="rId3" imgW="95289" imgH="95287" progId="Equation.3">
                    <p:embed/>
                  </p:oleObj>
                </mc:Choice>
                <mc:Fallback>
                  <p:oleObj name="公式" r:id="rId3" imgW="95289" imgH="95287" progId="Equation.3">
                    <p:embed/>
                    <p:pic>
                      <p:nvPicPr>
                        <p:cNvPr id="0" name="Object 1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3" y="2296"/>
                          <a:ext cx="368" cy="31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55" name="Object 165"/>
            <p:cNvGraphicFramePr>
              <a:graphicFrameLocks noChangeAspect="1"/>
            </p:cNvGraphicFramePr>
            <p:nvPr/>
          </p:nvGraphicFramePr>
          <p:xfrm>
            <a:off x="2380" y="1843"/>
            <a:ext cx="345" cy="318"/>
          </p:xfrm>
          <a:graphic>
            <a:graphicData uri="http://schemas.openxmlformats.org/presentationml/2006/ole">
              <mc:AlternateContent xmlns:mc="http://schemas.openxmlformats.org/markup-compatibility/2006">
                <mc:Choice xmlns:v="urn:schemas-microsoft-com:vml" Requires="v">
                  <p:oleObj spid="_x0000_s2057" name="公式" r:id="rId5" imgW="85841" imgH="95287" progId="Equation.3">
                    <p:embed/>
                  </p:oleObj>
                </mc:Choice>
                <mc:Fallback>
                  <p:oleObj name="公式" r:id="rId5" imgW="85841" imgH="95287" progId="Equation.3">
                    <p:embed/>
                    <p:pic>
                      <p:nvPicPr>
                        <p:cNvPr id="0" name="Object 1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 y="1843"/>
                          <a:ext cx="345" cy="31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56" name="Object 166"/>
            <p:cNvGraphicFramePr>
              <a:graphicFrameLocks noChangeAspect="1"/>
            </p:cNvGraphicFramePr>
            <p:nvPr/>
          </p:nvGraphicFramePr>
          <p:xfrm>
            <a:off x="1791" y="2251"/>
            <a:ext cx="345" cy="318"/>
          </p:xfrm>
          <a:graphic>
            <a:graphicData uri="http://schemas.openxmlformats.org/presentationml/2006/ole">
              <mc:AlternateContent xmlns:mc="http://schemas.openxmlformats.org/markup-compatibility/2006">
                <mc:Choice xmlns:v="urn:schemas-microsoft-com:vml" Requires="v">
                  <p:oleObj spid="_x0000_s2058" name="公式" r:id="rId7" imgW="85841" imgH="95287" progId="Equation.3">
                    <p:embed/>
                  </p:oleObj>
                </mc:Choice>
                <mc:Fallback>
                  <p:oleObj name="公式" r:id="rId7" imgW="85841" imgH="95287" progId="Equation.3">
                    <p:embed/>
                    <p:pic>
                      <p:nvPicPr>
                        <p:cNvPr id="0" name="Object 1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1" y="2251"/>
                          <a:ext cx="345" cy="31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57" name="Object 167"/>
            <p:cNvGraphicFramePr>
              <a:graphicFrameLocks noChangeAspect="1"/>
            </p:cNvGraphicFramePr>
            <p:nvPr/>
          </p:nvGraphicFramePr>
          <p:xfrm>
            <a:off x="2471" y="1253"/>
            <a:ext cx="345" cy="318"/>
          </p:xfrm>
          <a:graphic>
            <a:graphicData uri="http://schemas.openxmlformats.org/presentationml/2006/ole">
              <mc:AlternateContent xmlns:mc="http://schemas.openxmlformats.org/markup-compatibility/2006">
                <mc:Choice xmlns:v="urn:schemas-microsoft-com:vml" Requires="v">
                  <p:oleObj spid="_x0000_s2059" name="公式" r:id="rId9" imgW="85841" imgH="95287" progId="Equation.3">
                    <p:embed/>
                  </p:oleObj>
                </mc:Choice>
                <mc:Fallback>
                  <p:oleObj name="公式" r:id="rId9" imgW="85841" imgH="95287" progId="Equation.3">
                    <p:embed/>
                    <p:pic>
                      <p:nvPicPr>
                        <p:cNvPr id="0" name="Object 16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71" y="1253"/>
                          <a:ext cx="345" cy="31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58" name="Object 168"/>
            <p:cNvGraphicFramePr>
              <a:graphicFrameLocks noChangeAspect="1"/>
            </p:cNvGraphicFramePr>
            <p:nvPr/>
          </p:nvGraphicFramePr>
          <p:xfrm>
            <a:off x="1791" y="1072"/>
            <a:ext cx="322" cy="318"/>
          </p:xfrm>
          <a:graphic>
            <a:graphicData uri="http://schemas.openxmlformats.org/presentationml/2006/ole">
              <mc:AlternateContent xmlns:mc="http://schemas.openxmlformats.org/markup-compatibility/2006">
                <mc:Choice xmlns:v="urn:schemas-microsoft-com:vml" Requires="v">
                  <p:oleObj spid="_x0000_s2060" name="公式" r:id="rId11" imgW="76123" imgH="95287" progId="Equation.3">
                    <p:embed/>
                  </p:oleObj>
                </mc:Choice>
                <mc:Fallback>
                  <p:oleObj name="公式" r:id="rId11" imgW="76123" imgH="95287" progId="Equation.3">
                    <p:embed/>
                    <p:pic>
                      <p:nvPicPr>
                        <p:cNvPr id="0" name="Object 16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1" y="1072"/>
                          <a:ext cx="322" cy="31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9291" name="Group 171"/>
          <p:cNvGrpSpPr>
            <a:grpSpLocks/>
          </p:cNvGrpSpPr>
          <p:nvPr/>
        </p:nvGrpSpPr>
        <p:grpSpPr bwMode="auto">
          <a:xfrm>
            <a:off x="3675063" y="4071938"/>
            <a:ext cx="1863725" cy="1073150"/>
            <a:chOff x="2419" y="2997"/>
            <a:chExt cx="1174" cy="676"/>
          </a:xfrm>
        </p:grpSpPr>
        <p:sp>
          <p:nvSpPr>
            <p:cNvPr id="389289" name="Oval 169"/>
            <p:cNvSpPr>
              <a:spLocks noChangeArrowheads="1"/>
            </p:cNvSpPr>
            <p:nvPr/>
          </p:nvSpPr>
          <p:spPr bwMode="auto">
            <a:xfrm>
              <a:off x="2419" y="2997"/>
              <a:ext cx="1174" cy="676"/>
            </a:xfrm>
            <a:prstGeom prst="ellipse">
              <a:avLst/>
            </a:prstGeom>
            <a:gradFill rotWithShape="1">
              <a:gsLst>
                <a:gs pos="0">
                  <a:srgbClr val="FFCC00">
                    <a:gamma/>
                    <a:shade val="46275"/>
                    <a:invGamma/>
                  </a:srgbClr>
                </a:gs>
                <a:gs pos="50000">
                  <a:srgbClr val="FFCC00">
                    <a:alpha val="47000"/>
                  </a:srgbClr>
                </a:gs>
                <a:gs pos="100000">
                  <a:srgbClr val="FFCC00">
                    <a:gamma/>
                    <a:shade val="46275"/>
                    <a:invGamma/>
                  </a:srgbClr>
                </a:gs>
              </a:gsLst>
              <a:lin ang="2700000" scaled="1"/>
            </a:gradFill>
            <a:ln w="9525" algn="ctr">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graphicFrame>
          <p:nvGraphicFramePr>
            <p:cNvPr id="11341" name="Object 170"/>
            <p:cNvGraphicFramePr>
              <a:graphicFrameLocks noChangeAspect="1"/>
            </p:cNvGraphicFramePr>
            <p:nvPr/>
          </p:nvGraphicFramePr>
          <p:xfrm>
            <a:off x="2873" y="3210"/>
            <a:ext cx="298" cy="224"/>
          </p:xfrm>
          <a:graphic>
            <a:graphicData uri="http://schemas.openxmlformats.org/presentationml/2006/ole">
              <mc:AlternateContent xmlns:mc="http://schemas.openxmlformats.org/markup-compatibility/2006">
                <mc:Choice xmlns:v="urn:schemas-microsoft-com:vml" Requires="v">
                  <p:oleObj spid="_x0000_s2061" name="公式" r:id="rId13" imgW="200026" imgH="228634" progId="Equation.3">
                    <p:embed/>
                  </p:oleObj>
                </mc:Choice>
                <mc:Fallback>
                  <p:oleObj name="公式" r:id="rId13" imgW="200026" imgH="228634" progId="Equation.3">
                    <p:embed/>
                    <p:pic>
                      <p:nvPicPr>
                        <p:cNvPr id="0" name="Object 1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73" y="3210"/>
                          <a:ext cx="298" cy="22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89396" name="Group 276"/>
          <p:cNvGrpSpPr>
            <a:grpSpLocks/>
          </p:cNvGrpSpPr>
          <p:nvPr/>
        </p:nvGrpSpPr>
        <p:grpSpPr bwMode="auto">
          <a:xfrm>
            <a:off x="161926" y="4097338"/>
            <a:ext cx="2340268" cy="493712"/>
            <a:chOff x="530" y="2677"/>
            <a:chExt cx="1326" cy="246"/>
          </a:xfrm>
        </p:grpSpPr>
        <mc:AlternateContent xmlns:mc="http://schemas.openxmlformats.org/markup-compatibility/2006" xmlns:a14="http://schemas.microsoft.com/office/drawing/2010/main">
          <mc:Choice Requires="a14">
            <p:sp>
              <p:nvSpPr>
                <p:cNvPr id="389342" name="AutoShape 222"/>
                <p:cNvSpPr>
                  <a:spLocks noChangeArrowheads="1"/>
                </p:cNvSpPr>
                <p:nvPr/>
              </p:nvSpPr>
              <p:spPr bwMode="auto">
                <a:xfrm>
                  <a:off x="530" y="2677"/>
                  <a:ext cx="1326" cy="246"/>
                </a:xfrm>
                <a:prstGeom prst="wedgeRectCallout">
                  <a:avLst>
                    <a:gd name="adj1" fmla="val 84063"/>
                    <a:gd name="adj2" fmla="val -57424"/>
                  </a:avLst>
                </a:prstGeom>
                <a:solidFill>
                  <a:schemeClr val="bg1"/>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lnSpc>
                      <a:spcPct val="120000"/>
                    </a:lnSpc>
                    <a:spcBef>
                      <a:spcPct val="50000"/>
                    </a:spcBef>
                    <a:buClrTx/>
                    <a:buSzTx/>
                    <a:buFontTx/>
                    <a:buNone/>
                    <a:defRPr/>
                  </a:pPr>
                  <a:r>
                    <a:rPr lang="en-US" altLang="zh-CN" dirty="0">
                      <a:solidFill>
                        <a:schemeClr val="tx2">
                          <a:lumMod val="75000"/>
                        </a:schemeClr>
                      </a:solidFill>
                      <a:effectLst/>
                      <a:latin typeface="华文新魏" pitchFamily="2" charset="-122"/>
                      <a:ea typeface="华文新魏" pitchFamily="2" charset="-122"/>
                    </a:rPr>
                    <a:t>In general, </a:t>
                  </a:r>
                  <a14:m>
                    <m:oMath xmlns:m="http://schemas.openxmlformats.org/officeDocument/2006/math">
                      <m:r>
                        <a:rPr lang="en-US" altLang="zh-CN" b="0" i="1" smtClean="0">
                          <a:solidFill>
                            <a:schemeClr val="tx2">
                              <a:lumMod val="75000"/>
                            </a:schemeClr>
                          </a:solidFill>
                          <a:effectLst/>
                          <a:latin typeface="Cambria Math" panose="02040503050406030204" pitchFamily="18" charset="0"/>
                          <a:ea typeface="华文新魏" pitchFamily="2" charset="-122"/>
                        </a:rPr>
                        <m:t>𝑃</m:t>
                      </m:r>
                      <m:d>
                        <m:dPr>
                          <m:ctrlPr>
                            <a:rPr lang="en-US" altLang="zh-CN" b="0" i="1" smtClean="0">
                              <a:solidFill>
                                <a:schemeClr val="tx2">
                                  <a:lumMod val="75000"/>
                                </a:schemeClr>
                              </a:solidFill>
                              <a:effectLst/>
                              <a:latin typeface="Cambria Math" panose="02040503050406030204" pitchFamily="18" charset="0"/>
                              <a:ea typeface="华文新魏" pitchFamily="2" charset="-122"/>
                            </a:rPr>
                          </m:ctrlPr>
                        </m:dPr>
                        <m:e>
                          <m:sSub>
                            <m:sSubPr>
                              <m:ctrlPr>
                                <a:rPr lang="en-US" altLang="zh-CN" b="0" i="1" smtClean="0">
                                  <a:solidFill>
                                    <a:schemeClr val="tx2">
                                      <a:lumMod val="75000"/>
                                    </a:schemeClr>
                                  </a:solidFill>
                                  <a:effectLst/>
                                  <a:latin typeface="Cambria Math" panose="02040503050406030204" pitchFamily="18" charset="0"/>
                                  <a:ea typeface="华文新魏" pitchFamily="2" charset="-122"/>
                                </a:rPr>
                              </m:ctrlPr>
                            </m:sSubPr>
                            <m:e>
                              <m:r>
                                <a:rPr lang="en-US" altLang="zh-CN" b="0" i="1" smtClean="0">
                                  <a:solidFill>
                                    <a:schemeClr val="tx2">
                                      <a:lumMod val="75000"/>
                                    </a:schemeClr>
                                  </a:solidFill>
                                  <a:effectLst/>
                                  <a:latin typeface="Cambria Math" panose="02040503050406030204" pitchFamily="18" charset="0"/>
                                  <a:ea typeface="华文新魏" pitchFamily="2" charset="-122"/>
                                </a:rPr>
                                <m:t>𝐵</m:t>
                              </m:r>
                            </m:e>
                            <m:sub>
                              <m:r>
                                <a:rPr lang="en-US" altLang="zh-CN" b="0" i="1" smtClean="0">
                                  <a:solidFill>
                                    <a:schemeClr val="tx2">
                                      <a:lumMod val="75000"/>
                                    </a:schemeClr>
                                  </a:solidFill>
                                  <a:effectLst/>
                                  <a:latin typeface="Cambria Math" panose="02040503050406030204" pitchFamily="18" charset="0"/>
                                  <a:ea typeface="华文新魏" pitchFamily="2" charset="-122"/>
                                </a:rPr>
                                <m:t>𝑖</m:t>
                              </m:r>
                            </m:sub>
                          </m:sSub>
                        </m:e>
                      </m:d>
                      <m:r>
                        <a:rPr lang="en-US" altLang="zh-CN" b="0" i="1" smtClean="0">
                          <a:solidFill>
                            <a:schemeClr val="tx2">
                              <a:lumMod val="75000"/>
                            </a:schemeClr>
                          </a:solidFill>
                          <a:effectLst/>
                          <a:latin typeface="Cambria Math" panose="02040503050406030204" pitchFamily="18" charset="0"/>
                          <a:ea typeface="华文新魏" pitchFamily="2" charset="-122"/>
                        </a:rPr>
                        <m:t>&gt;0</m:t>
                      </m:r>
                    </m:oMath>
                  </a14:m>
                  <a:endParaRPr lang="zh-CN" altLang="zh-CN" dirty="0">
                    <a:solidFill>
                      <a:schemeClr val="tx2">
                        <a:lumMod val="75000"/>
                      </a:schemeClr>
                    </a:solidFill>
                    <a:effectLst/>
                    <a:latin typeface="华文新魏" pitchFamily="2" charset="-122"/>
                    <a:ea typeface="华文新魏" pitchFamily="2" charset="-122"/>
                  </a:endParaRPr>
                </a:p>
              </p:txBody>
            </p:sp>
          </mc:Choice>
          <mc:Fallback xmlns="">
            <p:sp>
              <p:nvSpPr>
                <p:cNvPr id="389342" name="AutoShape 222"/>
                <p:cNvSpPr>
                  <a:spLocks noRot="1" noChangeAspect="1" noMove="1" noResize="1" noEditPoints="1" noAdjustHandles="1" noChangeArrowheads="1" noChangeShapeType="1" noTextEdit="1"/>
                </p:cNvSpPr>
                <p:nvPr/>
              </p:nvSpPr>
              <p:spPr bwMode="auto">
                <a:xfrm>
                  <a:off x="530" y="2677"/>
                  <a:ext cx="1326" cy="246"/>
                </a:xfrm>
                <a:prstGeom prst="wedgeRectCallout">
                  <a:avLst>
                    <a:gd name="adj1" fmla="val 84063"/>
                    <a:gd name="adj2" fmla="val -57424"/>
                  </a:avLst>
                </a:prstGeom>
                <a:blipFill>
                  <a:blip r:embed="rId15"/>
                  <a:stretch>
                    <a:fillRect l="-1495"/>
                  </a:stretch>
                </a:blip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lstStyle/>
                <a:p>
                  <a:r>
                    <a:rPr lang="zh-CN" altLang="en-US">
                      <a:noFill/>
                    </a:rPr>
                    <a:t> </a:t>
                  </a:r>
                </a:p>
              </p:txBody>
            </p:sp>
          </mc:Fallback>
        </mc:AlternateContent>
        <p:sp>
          <p:nvSpPr>
            <p:cNvPr id="11321" name="WordArt 211"/>
            <p:cNvSpPr>
              <a:spLocks noChangeArrowheads="1" noChangeShapeType="1" noTextEdit="1"/>
            </p:cNvSpPr>
            <p:nvPr/>
          </p:nvSpPr>
          <p:spPr bwMode="auto">
            <a:xfrm>
              <a:off x="1502" y="2805"/>
              <a:ext cx="36" cy="70"/>
            </a:xfrm>
            <a:prstGeom prst="rect">
              <a:avLst/>
            </a:prstGeom>
          </p:spPr>
          <p:txBody>
            <a:bodyPr wrap="none" fromWordArt="1">
              <a:prstTxWarp prst="textPlain">
                <a:avLst>
                  <a:gd name="adj" fmla="val 50000"/>
                </a:avLst>
              </a:prstTxWarp>
            </a:bodyPr>
            <a:lstStyle/>
            <a:p>
              <a:endParaRPr lang="zh-CN" altLang="en-US" sz="3600" i="1" kern="10" dirty="0">
                <a:ln w="12700">
                  <a:solidFill>
                    <a:srgbClr val="99CCFF"/>
                  </a:solidFill>
                  <a:round/>
                  <a:headEnd/>
                  <a:tailEnd/>
                </a:ln>
                <a:gradFill rotWithShape="1">
                  <a:gsLst>
                    <a:gs pos="0">
                      <a:srgbClr val="FF0000"/>
                    </a:gs>
                    <a:gs pos="50000">
                      <a:srgbClr val="FFFFFF"/>
                    </a:gs>
                    <a:gs pos="100000">
                      <a:srgbClr val="FF0000"/>
                    </a:gs>
                  </a:gsLst>
                  <a:lin ang="2700000" scaled="1"/>
                </a:gradFill>
                <a:effectLst>
                  <a:outerShdw dist="35921" dir="2700000" algn="ctr" rotWithShape="0">
                    <a:srgbClr val="990000"/>
                  </a:outerShdw>
                </a:effectLst>
                <a:latin typeface="Times New Roman"/>
                <a:cs typeface="Times New Roman"/>
              </a:endParaRPr>
            </a:p>
          </p:txBody>
        </p:sp>
        <p:sp>
          <p:nvSpPr>
            <p:cNvPr id="11322" name="WordArt 224"/>
            <p:cNvSpPr>
              <a:spLocks noChangeArrowheads="1" noChangeShapeType="1" noTextEdit="1"/>
            </p:cNvSpPr>
            <p:nvPr/>
          </p:nvSpPr>
          <p:spPr bwMode="auto">
            <a:xfrm>
              <a:off x="1333" y="2740"/>
              <a:ext cx="33" cy="130"/>
            </a:xfrm>
            <a:prstGeom prst="rect">
              <a:avLst/>
            </a:prstGeom>
          </p:spPr>
          <p:txBody>
            <a:bodyPr wrap="none" fromWordArt="1">
              <a:prstTxWarp prst="textPlain">
                <a:avLst>
                  <a:gd name="adj" fmla="val 50000"/>
                </a:avLst>
              </a:prstTxWarp>
            </a:bodyPr>
            <a:lstStyle/>
            <a:p>
              <a:endParaRPr lang="zh-CN" altLang="en-US" sz="3600" kern="10" dirty="0">
                <a:ln w="12700">
                  <a:solidFill>
                    <a:srgbClr val="99CCFF"/>
                  </a:solidFill>
                  <a:round/>
                  <a:headEnd/>
                  <a:tailEnd/>
                </a:ln>
                <a:gradFill rotWithShape="1">
                  <a:gsLst>
                    <a:gs pos="0">
                      <a:srgbClr val="FF0000"/>
                    </a:gs>
                    <a:gs pos="50000">
                      <a:srgbClr val="FFFFFF"/>
                    </a:gs>
                    <a:gs pos="100000">
                      <a:srgbClr val="FF0000"/>
                    </a:gs>
                  </a:gsLst>
                  <a:lin ang="2700000" scaled="1"/>
                </a:gradFill>
                <a:effectLst>
                  <a:outerShdw dist="35921" dir="2700000" algn="ctr" rotWithShape="0">
                    <a:srgbClr val="990000"/>
                  </a:outerShdw>
                </a:effectLst>
                <a:latin typeface="Times New Roman"/>
                <a:cs typeface="Times New Roman"/>
              </a:endParaRPr>
            </a:p>
          </p:txBody>
        </p:sp>
        <p:sp>
          <p:nvSpPr>
            <p:cNvPr id="11323" name="WordArt 225"/>
            <p:cNvSpPr>
              <a:spLocks noChangeArrowheads="1" noChangeShapeType="1" noTextEdit="1"/>
            </p:cNvSpPr>
            <p:nvPr/>
          </p:nvSpPr>
          <p:spPr bwMode="auto">
            <a:xfrm>
              <a:off x="1550" y="2742"/>
              <a:ext cx="33" cy="130"/>
            </a:xfrm>
            <a:prstGeom prst="rect">
              <a:avLst/>
            </a:prstGeom>
          </p:spPr>
          <p:txBody>
            <a:bodyPr wrap="none" fromWordArt="1">
              <a:prstTxWarp prst="textPlain">
                <a:avLst>
                  <a:gd name="adj" fmla="val 50000"/>
                </a:avLst>
              </a:prstTxWarp>
            </a:bodyPr>
            <a:lstStyle/>
            <a:p>
              <a:endParaRPr lang="zh-CN" altLang="en-US" sz="3600" kern="10" dirty="0">
                <a:ln w="12700">
                  <a:solidFill>
                    <a:srgbClr val="99CCFF"/>
                  </a:solidFill>
                  <a:round/>
                  <a:headEnd/>
                  <a:tailEnd/>
                </a:ln>
                <a:gradFill rotWithShape="1">
                  <a:gsLst>
                    <a:gs pos="0">
                      <a:srgbClr val="FF0000"/>
                    </a:gs>
                    <a:gs pos="50000">
                      <a:srgbClr val="FFFFFF"/>
                    </a:gs>
                    <a:gs pos="100000">
                      <a:srgbClr val="FF0000"/>
                    </a:gs>
                  </a:gsLst>
                  <a:lin ang="2700000" scaled="1"/>
                </a:gradFill>
                <a:effectLst>
                  <a:outerShdw dist="35921" dir="2700000" algn="ctr" rotWithShape="0">
                    <a:srgbClr val="990000"/>
                  </a:outerShdw>
                </a:effectLst>
                <a:latin typeface="Times New Roman"/>
                <a:cs typeface="Times New Roman"/>
              </a:endParaRPr>
            </a:p>
          </p:txBody>
        </p:sp>
        <p:sp>
          <p:nvSpPr>
            <p:cNvPr id="11325" name="WordArt 227"/>
            <p:cNvSpPr>
              <a:spLocks noChangeArrowheads="1" noChangeShapeType="1" noTextEdit="1"/>
            </p:cNvSpPr>
            <p:nvPr/>
          </p:nvSpPr>
          <p:spPr bwMode="auto">
            <a:xfrm>
              <a:off x="1622" y="2760"/>
              <a:ext cx="79" cy="97"/>
            </a:xfrm>
            <a:prstGeom prst="rect">
              <a:avLst/>
            </a:prstGeom>
          </p:spPr>
          <p:txBody>
            <a:bodyPr wrap="none" fromWordArt="1">
              <a:prstTxWarp prst="textPlain">
                <a:avLst>
                  <a:gd name="adj" fmla="val 50000"/>
                </a:avLst>
              </a:prstTxWarp>
            </a:bodyPr>
            <a:lstStyle/>
            <a:p>
              <a:endParaRPr lang="zh-CN" altLang="en-US" sz="3600" i="1" kern="10" dirty="0">
                <a:ln w="12700">
                  <a:solidFill>
                    <a:srgbClr val="99CCFF"/>
                  </a:solidFill>
                  <a:round/>
                  <a:headEnd/>
                  <a:tailEnd/>
                </a:ln>
                <a:gradFill rotWithShape="1">
                  <a:gsLst>
                    <a:gs pos="0">
                      <a:srgbClr val="FF0000"/>
                    </a:gs>
                    <a:gs pos="50000">
                      <a:srgbClr val="FFFFFF"/>
                    </a:gs>
                    <a:gs pos="100000">
                      <a:srgbClr val="FF0000"/>
                    </a:gs>
                  </a:gsLst>
                  <a:lin ang="2700000" scaled="1"/>
                </a:gradFill>
                <a:effectLst>
                  <a:outerShdw dist="35921" dir="2700000" algn="ctr" rotWithShape="0">
                    <a:srgbClr val="990000"/>
                  </a:outerShdw>
                </a:effectLst>
                <a:latin typeface="Times New Roman"/>
                <a:cs typeface="Times New Roman"/>
              </a:endParaRPr>
            </a:p>
          </p:txBody>
        </p:sp>
      </p:grpSp>
      <p:sp>
        <p:nvSpPr>
          <p:cNvPr id="389382" name="AutoShape 262"/>
          <p:cNvSpPr>
            <a:spLocks noChangeArrowheads="1"/>
          </p:cNvSpPr>
          <p:nvPr/>
        </p:nvSpPr>
        <p:spPr bwMode="auto">
          <a:xfrm>
            <a:off x="6581354" y="3690257"/>
            <a:ext cx="2434744" cy="653937"/>
          </a:xfrm>
          <a:prstGeom prst="wedgeRectCallout">
            <a:avLst>
              <a:gd name="adj1" fmla="val -83696"/>
              <a:gd name="adj2" fmla="val -5054"/>
            </a:avLst>
          </a:prstGeom>
          <a:solidFill>
            <a:schemeClr val="bg1"/>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a:lnSpc>
                <a:spcPct val="120000"/>
              </a:lnSpc>
              <a:spcBef>
                <a:spcPct val="50000"/>
              </a:spcBef>
              <a:defRPr/>
            </a:pPr>
            <a:r>
              <a:rPr lang="en-US" altLang="zh-CN" dirty="0">
                <a:solidFill>
                  <a:schemeClr val="tx2">
                    <a:lumMod val="75000"/>
                  </a:schemeClr>
                </a:solidFill>
                <a:latin typeface="华文新魏" pitchFamily="2" charset="-122"/>
                <a:ea typeface="华文新魏" pitchFamily="2" charset="-122"/>
              </a:rPr>
              <a:t>Probability is the</a:t>
            </a:r>
            <a:r>
              <a:rPr lang="zh-CN" altLang="en-US" dirty="0">
                <a:solidFill>
                  <a:schemeClr val="tx2">
                    <a:lumMod val="75000"/>
                  </a:schemeClr>
                </a:solidFill>
                <a:latin typeface="华文新魏" pitchFamily="2" charset="-122"/>
                <a:ea typeface="华文新魏" pitchFamily="2" charset="-122"/>
              </a:rPr>
              <a:t> </a:t>
            </a:r>
            <a:r>
              <a:rPr lang="en-US" altLang="zh-CN" dirty="0">
                <a:solidFill>
                  <a:schemeClr val="tx2">
                    <a:lumMod val="75000"/>
                  </a:schemeClr>
                </a:solidFill>
                <a:latin typeface="华文新魏" pitchFamily="2" charset="-122"/>
                <a:ea typeface="华文新魏" pitchFamily="2" charset="-122"/>
              </a:rPr>
              <a:t>"area" of each piece.</a:t>
            </a:r>
            <a:endParaRPr lang="zh-CN" altLang="zh-CN" dirty="0">
              <a:solidFill>
                <a:schemeClr val="tx2">
                  <a:lumMod val="75000"/>
                </a:schemeClr>
              </a:solidFill>
              <a:latin typeface="华文新魏" pitchFamily="2" charset="-122"/>
              <a:ea typeface="华文新魏" pitchFamily="2" charset="-122"/>
            </a:endParaRPr>
          </a:p>
        </p:txBody>
      </p:sp>
      <p:grpSp>
        <p:nvGrpSpPr>
          <p:cNvPr id="389417" name="Group 297"/>
          <p:cNvGrpSpPr>
            <a:grpSpLocks/>
          </p:cNvGrpSpPr>
          <p:nvPr/>
        </p:nvGrpSpPr>
        <p:grpSpPr bwMode="auto">
          <a:xfrm>
            <a:off x="6656092" y="4484688"/>
            <a:ext cx="2360006" cy="1045008"/>
            <a:chOff x="4133" y="3057"/>
            <a:chExt cx="1098" cy="557"/>
          </a:xfrm>
        </p:grpSpPr>
        <mc:AlternateContent xmlns:mc="http://schemas.openxmlformats.org/markup-compatibility/2006" xmlns:a14="http://schemas.microsoft.com/office/drawing/2010/main">
          <mc:Choice Requires="a14">
            <p:sp>
              <p:nvSpPr>
                <p:cNvPr id="389394" name="AutoShape 274"/>
                <p:cNvSpPr>
                  <a:spLocks noChangeArrowheads="1"/>
                </p:cNvSpPr>
                <p:nvPr/>
              </p:nvSpPr>
              <p:spPr bwMode="auto">
                <a:xfrm>
                  <a:off x="4177" y="3065"/>
                  <a:ext cx="1054" cy="549"/>
                </a:xfrm>
                <a:prstGeom prst="wedgeRectCallout">
                  <a:avLst>
                    <a:gd name="adj1" fmla="val -122642"/>
                    <a:gd name="adj2" fmla="val -28951"/>
                  </a:avLst>
                </a:prstGeom>
                <a:solidFill>
                  <a:schemeClr val="bg1"/>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a:lnSpc>
                      <a:spcPct val="120000"/>
                    </a:lnSpc>
                    <a:spcBef>
                      <a:spcPct val="50000"/>
                    </a:spcBef>
                    <a:defRPr/>
                  </a:pPr>
                  <a14:m>
                    <m:oMath xmlns:m="http://schemas.openxmlformats.org/officeDocument/2006/math">
                      <m:r>
                        <a:rPr lang="en-US" altLang="zh-CN" b="1" i="1" smtClean="0">
                          <a:solidFill>
                            <a:schemeClr val="accent6">
                              <a:lumMod val="75000"/>
                            </a:schemeClr>
                          </a:solidFill>
                          <a:effectLst/>
                          <a:latin typeface="Cambria Math" panose="02040503050406030204" pitchFamily="18" charset="0"/>
                          <a:ea typeface="华文新魏" pitchFamily="2" charset="-122"/>
                        </a:rPr>
                        <m:t>𝑷</m:t>
                      </m:r>
                      <m:r>
                        <a:rPr lang="en-US" altLang="zh-CN" b="1" i="1" smtClean="0">
                          <a:solidFill>
                            <a:schemeClr val="accent6">
                              <a:lumMod val="75000"/>
                            </a:schemeClr>
                          </a:solidFill>
                          <a:effectLst/>
                          <a:latin typeface="Cambria Math" panose="02040503050406030204" pitchFamily="18" charset="0"/>
                          <a:ea typeface="华文新魏" pitchFamily="2" charset="-122"/>
                        </a:rPr>
                        <m:t>(</m:t>
                      </m:r>
                      <m:r>
                        <a:rPr lang="en-US" altLang="zh-CN" b="1" i="1" smtClean="0">
                          <a:solidFill>
                            <a:schemeClr val="accent6">
                              <a:lumMod val="75000"/>
                            </a:schemeClr>
                          </a:solidFill>
                          <a:effectLst/>
                          <a:latin typeface="Cambria Math" panose="02040503050406030204" pitchFamily="18" charset="0"/>
                          <a:ea typeface="华文新魏" pitchFamily="2" charset="-122"/>
                        </a:rPr>
                        <m:t>𝑨</m:t>
                      </m:r>
                      <m:r>
                        <a:rPr lang="en-US" altLang="zh-CN" b="1" i="1" smtClean="0">
                          <a:solidFill>
                            <a:schemeClr val="accent6">
                              <a:lumMod val="75000"/>
                            </a:schemeClr>
                          </a:solidFill>
                          <a:effectLst/>
                          <a:latin typeface="Cambria Math" panose="02040503050406030204" pitchFamily="18" charset="0"/>
                          <a:ea typeface="华文新魏" pitchFamily="2" charset="-122"/>
                        </a:rPr>
                        <m:t>)</m:t>
                      </m:r>
                    </m:oMath>
                  </a14:m>
                  <a:r>
                    <a:rPr lang="en-US" altLang="zh-CN" b="1" dirty="0">
                      <a:solidFill>
                        <a:schemeClr val="accent6">
                          <a:lumMod val="75000"/>
                        </a:schemeClr>
                      </a:solidFill>
                      <a:effectLst/>
                      <a:latin typeface="华文新魏" pitchFamily="2" charset="-122"/>
                      <a:ea typeface="华文新魏" pitchFamily="2" charset="-122"/>
                    </a:rPr>
                    <a:t> equals to the </a:t>
                  </a:r>
                  <a:r>
                    <a:rPr lang="en-US" altLang="zh-CN" b="1" dirty="0">
                      <a:solidFill>
                        <a:schemeClr val="accent6">
                          <a:lumMod val="75000"/>
                        </a:schemeClr>
                      </a:solidFill>
                      <a:latin typeface="华文新魏" pitchFamily="2" charset="-122"/>
                      <a:ea typeface="华文新魏" pitchFamily="2" charset="-122"/>
                    </a:rPr>
                    <a:t>summation</a:t>
                  </a:r>
                  <a:r>
                    <a:rPr lang="en-US" altLang="zh-CN" b="1" dirty="0">
                      <a:solidFill>
                        <a:schemeClr val="accent6">
                          <a:lumMod val="75000"/>
                        </a:schemeClr>
                      </a:solidFill>
                      <a:effectLst/>
                      <a:latin typeface="华文新魏" pitchFamily="2" charset="-122"/>
                      <a:ea typeface="华文新魏" pitchFamily="2" charset="-122"/>
                    </a:rPr>
                    <a:t> of the</a:t>
                  </a:r>
                  <a:r>
                    <a:rPr lang="zh-CN" altLang="en-US" b="1" dirty="0">
                      <a:solidFill>
                        <a:schemeClr val="accent6">
                          <a:lumMod val="75000"/>
                        </a:schemeClr>
                      </a:solidFill>
                      <a:effectLst/>
                      <a:latin typeface="华文新魏" pitchFamily="2" charset="-122"/>
                      <a:ea typeface="华文新魏" pitchFamily="2" charset="-122"/>
                    </a:rPr>
                    <a:t> </a:t>
                  </a:r>
                  <a:r>
                    <a:rPr lang="en-US" altLang="zh-CN" b="1" dirty="0">
                      <a:solidFill>
                        <a:schemeClr val="accent6">
                          <a:lumMod val="75000"/>
                        </a:schemeClr>
                      </a:solidFill>
                      <a:latin typeface="华文新魏" pitchFamily="2" charset="-122"/>
                      <a:ea typeface="华文新魏" pitchFamily="2" charset="-122"/>
                    </a:rPr>
                    <a:t>areas.</a:t>
                  </a:r>
                  <a:endParaRPr lang="zh-CN" altLang="zh-CN" b="1" dirty="0">
                    <a:solidFill>
                      <a:schemeClr val="accent6">
                        <a:lumMod val="75000"/>
                      </a:schemeClr>
                    </a:solidFill>
                    <a:latin typeface="华文新魏" pitchFamily="2" charset="-122"/>
                    <a:ea typeface="华文新魏" pitchFamily="2" charset="-122"/>
                  </a:endParaRPr>
                </a:p>
              </p:txBody>
            </p:sp>
          </mc:Choice>
          <mc:Fallback xmlns="">
            <p:sp>
              <p:nvSpPr>
                <p:cNvPr id="389394" name="AutoShape 274"/>
                <p:cNvSpPr>
                  <a:spLocks noRot="1" noChangeAspect="1" noMove="1" noResize="1" noEditPoints="1" noAdjustHandles="1" noChangeArrowheads="1" noChangeShapeType="1" noTextEdit="1"/>
                </p:cNvSpPr>
                <p:nvPr/>
              </p:nvSpPr>
              <p:spPr bwMode="auto">
                <a:xfrm>
                  <a:off x="4177" y="3065"/>
                  <a:ext cx="1054" cy="549"/>
                </a:xfrm>
                <a:prstGeom prst="wedgeRectCallout">
                  <a:avLst>
                    <a:gd name="adj1" fmla="val -122642"/>
                    <a:gd name="adj2" fmla="val -28951"/>
                  </a:avLst>
                </a:prstGeom>
                <a:blipFill>
                  <a:blip r:embed="rId16"/>
                  <a:stretch>
                    <a:fillRect/>
                  </a:stretch>
                </a:blip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lstStyle/>
                <a:p>
                  <a:r>
                    <a:rPr lang="zh-CN" altLang="en-US">
                      <a:noFill/>
                    </a:rPr>
                    <a:t> </a:t>
                  </a:r>
                </a:p>
              </p:txBody>
            </p:sp>
          </mc:Fallback>
        </mc:AlternateContent>
        <p:sp>
          <p:nvSpPr>
            <p:cNvPr id="11292" name="WordArt 280"/>
            <p:cNvSpPr>
              <a:spLocks noChangeArrowheads="1" noChangeShapeType="1" noTextEdit="1"/>
            </p:cNvSpPr>
            <p:nvPr/>
          </p:nvSpPr>
          <p:spPr bwMode="auto">
            <a:xfrm>
              <a:off x="4133" y="3062"/>
              <a:ext cx="105" cy="135"/>
            </a:xfrm>
            <a:prstGeom prst="rect">
              <a:avLst/>
            </a:prstGeom>
          </p:spPr>
          <p:txBody>
            <a:bodyPr wrap="none" fromWordArt="1">
              <a:prstTxWarp prst="textPlain">
                <a:avLst>
                  <a:gd name="adj" fmla="val 50000"/>
                </a:avLst>
              </a:prstTxWarp>
            </a:bodyPr>
            <a:lstStyle/>
            <a:p>
              <a:endParaRPr lang="zh-CN" altLang="en-US" sz="3600" i="1" kern="10" dirty="0">
                <a:ln w="12700">
                  <a:solidFill>
                    <a:srgbClr val="FFFF00"/>
                  </a:solidFill>
                  <a:round/>
                  <a:headEnd/>
                  <a:tailEnd/>
                </a:ln>
                <a:solidFill>
                  <a:schemeClr val="tx2">
                    <a:lumMod val="75000"/>
                  </a:schemeClr>
                </a:solidFill>
                <a:latin typeface="Times New Roman"/>
                <a:cs typeface="Times New Roman"/>
              </a:endParaRPr>
            </a:p>
          </p:txBody>
        </p:sp>
        <p:sp>
          <p:nvSpPr>
            <p:cNvPr id="11293" name="WordArt 281"/>
            <p:cNvSpPr>
              <a:spLocks noChangeArrowheads="1" noChangeShapeType="1" noTextEdit="1"/>
            </p:cNvSpPr>
            <p:nvPr/>
          </p:nvSpPr>
          <p:spPr bwMode="auto">
            <a:xfrm>
              <a:off x="4262" y="3057"/>
              <a:ext cx="30" cy="135"/>
            </a:xfrm>
            <a:prstGeom prst="rect">
              <a:avLst/>
            </a:prstGeom>
          </p:spPr>
          <p:txBody>
            <a:bodyPr wrap="none" fromWordArt="1">
              <a:prstTxWarp prst="textPlain">
                <a:avLst>
                  <a:gd name="adj" fmla="val 50000"/>
                </a:avLst>
              </a:prstTxWarp>
            </a:bodyPr>
            <a:lstStyle/>
            <a:p>
              <a:endParaRPr lang="zh-CN" altLang="en-US" sz="3600" kern="10" dirty="0">
                <a:ln w="12700">
                  <a:solidFill>
                    <a:srgbClr val="FFFF00"/>
                  </a:solidFill>
                  <a:round/>
                  <a:headEnd/>
                  <a:tailEnd/>
                </a:ln>
                <a:solidFill>
                  <a:schemeClr val="tx2">
                    <a:lumMod val="75000"/>
                  </a:schemeClr>
                </a:solidFill>
                <a:latin typeface="Times New Roman"/>
                <a:cs typeface="Times New Roman"/>
              </a:endParaRPr>
            </a:p>
          </p:txBody>
        </p:sp>
      </p:grpSp>
      <p:sp>
        <p:nvSpPr>
          <p:cNvPr id="2" name="文本框 1">
            <a:extLst>
              <a:ext uri="{FF2B5EF4-FFF2-40B4-BE49-F238E27FC236}">
                <a16:creationId xmlns:a16="http://schemas.microsoft.com/office/drawing/2014/main" id="{4A7A8538-FC87-4586-A083-68AD15C8AC75}"/>
              </a:ext>
            </a:extLst>
          </p:cNvPr>
          <p:cNvSpPr txBox="1"/>
          <p:nvPr/>
        </p:nvSpPr>
        <p:spPr>
          <a:xfrm>
            <a:off x="241358" y="913929"/>
            <a:ext cx="8435142" cy="646331"/>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 </a:t>
            </a:r>
            <a:r>
              <a:rPr lang="en-US" altLang="zh-CN" dirty="0">
                <a:solidFill>
                  <a:schemeClr val="accent1">
                    <a:lumMod val="75000"/>
                  </a:schemeClr>
                </a:solidFill>
                <a:latin typeface="华文新魏" panose="02010800040101010101" pitchFamily="2" charset="-122"/>
                <a:ea typeface="华文新魏" panose="02010800040101010101" pitchFamily="2" charset="-122"/>
              </a:rPr>
              <a:t>How to resolve a complex probability problem with the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summation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of several simple probabilities?</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847E3C0-5F36-4C40-8DBC-24B991E67992}"/>
                  </a:ext>
                </a:extLst>
              </p:cNvPr>
              <p:cNvSpPr txBox="1"/>
              <p:nvPr/>
            </p:nvSpPr>
            <p:spPr>
              <a:xfrm>
                <a:off x="603504" y="5696712"/>
                <a:ext cx="7491923"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Idea: </a:t>
                </a:r>
                <a:r>
                  <a:rPr lang="en-US" altLang="zh-CN" dirty="0">
                    <a:solidFill>
                      <a:schemeClr val="accent1">
                        <a:lumMod val="75000"/>
                      </a:schemeClr>
                    </a:solidFill>
                    <a:latin typeface="华文新魏" panose="02010800040101010101" pitchFamily="2" charset="-122"/>
                    <a:ea typeface="华文新魏" panose="02010800040101010101" pitchFamily="2" charset="-122"/>
                  </a:rPr>
                  <a:t>Split </a:t>
                </a:r>
                <a14:m>
                  <m:oMath xmlns:m="http://schemas.openxmlformats.org/officeDocument/2006/math">
                    <m:r>
                      <a:rPr lang="en-US" altLang="zh-CN" b="0" i="1" smtClean="0">
                        <a:solidFill>
                          <a:schemeClr val="accent1">
                            <a:lumMod val="75000"/>
                          </a:schemeClr>
                        </a:solidFill>
                        <a:latin typeface="Cambria Math" panose="02040503050406030204" pitchFamily="18" charset="0"/>
                      </a:rPr>
                      <m:t>𝐴</m:t>
                    </m:r>
                  </m:oMath>
                </a14:m>
                <a:r>
                  <a:rPr lang="en-US" altLang="zh-CN" dirty="0">
                    <a:solidFill>
                      <a:schemeClr val="accent1">
                        <a:lumMod val="75000"/>
                      </a:schemeClr>
                    </a:solidFill>
                    <a:latin typeface="华文新魏" panose="02010800040101010101" pitchFamily="2" charset="-122"/>
                    <a:ea typeface="华文新魏" panose="02010800040101010101" pitchFamily="2" charset="-122"/>
                  </a:rPr>
                  <a:t> to </a:t>
                </a:r>
                <a14:m>
                  <m:oMath xmlns:m="http://schemas.openxmlformats.org/officeDocument/2006/math">
                    <m:sSub>
                      <m:sSubPr>
                        <m:ctrlPr>
                          <a:rPr lang="en-US" altLang="zh-CN" b="0" i="1" smtClean="0">
                            <a:solidFill>
                              <a:schemeClr val="accent1">
                                <a:lumMod val="75000"/>
                              </a:schemeClr>
                            </a:solidFill>
                            <a:latin typeface="Cambria Math" panose="02040503050406030204" pitchFamily="18" charset="0"/>
                          </a:rPr>
                        </m:ctrlPr>
                      </m:sSubPr>
                      <m:e>
                        <m:r>
                          <a:rPr lang="en-US" altLang="zh-CN" b="0" i="1" smtClean="0">
                            <a:solidFill>
                              <a:schemeClr val="accent1">
                                <a:lumMod val="75000"/>
                              </a:schemeClr>
                            </a:solidFill>
                            <a:latin typeface="Cambria Math" panose="02040503050406030204" pitchFamily="18" charset="0"/>
                          </a:rPr>
                          <m:t>𝐵</m:t>
                        </m:r>
                      </m:e>
                      <m:sub>
                        <m:r>
                          <a:rPr lang="en-US" altLang="zh-CN" b="0" i="1" smtClean="0">
                            <a:solidFill>
                              <a:schemeClr val="accent1">
                                <a:lumMod val="75000"/>
                              </a:schemeClr>
                            </a:solidFill>
                            <a:latin typeface="Cambria Math" panose="02040503050406030204" pitchFamily="18" charset="0"/>
                          </a:rPr>
                          <m:t>1</m:t>
                        </m:r>
                      </m:sub>
                    </m:sSub>
                    <m:r>
                      <a:rPr lang="en-US" altLang="zh-CN" b="0" i="1" smtClean="0">
                        <a:solidFill>
                          <a:schemeClr val="accent1">
                            <a:lumMod val="75000"/>
                          </a:schemeClr>
                        </a:solidFill>
                        <a:latin typeface="Cambria Math" panose="02040503050406030204" pitchFamily="18" charset="0"/>
                      </a:rPr>
                      <m:t>,</m:t>
                    </m:r>
                    <m:sSub>
                      <m:sSubPr>
                        <m:ctrlPr>
                          <a:rPr lang="en-US" altLang="zh-CN" b="0" i="1" smtClean="0">
                            <a:solidFill>
                              <a:schemeClr val="accent1">
                                <a:lumMod val="75000"/>
                              </a:schemeClr>
                            </a:solidFill>
                            <a:latin typeface="Cambria Math" panose="02040503050406030204" pitchFamily="18" charset="0"/>
                          </a:rPr>
                        </m:ctrlPr>
                      </m:sSubPr>
                      <m:e>
                        <m:r>
                          <a:rPr lang="en-US" altLang="zh-CN" b="0" i="1" smtClean="0">
                            <a:solidFill>
                              <a:schemeClr val="accent1">
                                <a:lumMod val="75000"/>
                              </a:schemeClr>
                            </a:solidFill>
                            <a:latin typeface="Cambria Math" panose="02040503050406030204" pitchFamily="18" charset="0"/>
                          </a:rPr>
                          <m:t>𝐵</m:t>
                        </m:r>
                      </m:e>
                      <m:sub>
                        <m:r>
                          <a:rPr lang="en-US" altLang="zh-CN" b="0" i="1" smtClean="0">
                            <a:solidFill>
                              <a:schemeClr val="accent1">
                                <a:lumMod val="75000"/>
                              </a:schemeClr>
                            </a:solidFill>
                            <a:latin typeface="Cambria Math" panose="02040503050406030204" pitchFamily="18" charset="0"/>
                          </a:rPr>
                          <m:t>2</m:t>
                        </m:r>
                      </m:sub>
                    </m:sSub>
                    <m:r>
                      <a:rPr lang="en-US" altLang="zh-CN" b="0" i="1" smtClean="0">
                        <a:solidFill>
                          <a:schemeClr val="accent1">
                            <a:lumMod val="75000"/>
                          </a:schemeClr>
                        </a:solidFill>
                        <a:latin typeface="Cambria Math" panose="02040503050406030204" pitchFamily="18" charset="0"/>
                      </a:rPr>
                      <m:t>,…,</m:t>
                    </m:r>
                    <m:sSub>
                      <m:sSubPr>
                        <m:ctrlPr>
                          <a:rPr lang="en-US" altLang="zh-CN" b="0" i="1" smtClean="0">
                            <a:solidFill>
                              <a:schemeClr val="accent1">
                                <a:lumMod val="75000"/>
                              </a:schemeClr>
                            </a:solidFill>
                            <a:latin typeface="Cambria Math" panose="02040503050406030204" pitchFamily="18" charset="0"/>
                          </a:rPr>
                        </m:ctrlPr>
                      </m:sSubPr>
                      <m:e>
                        <m:r>
                          <a:rPr lang="en-US" altLang="zh-CN" b="0" i="1" smtClean="0">
                            <a:solidFill>
                              <a:schemeClr val="accent1">
                                <a:lumMod val="75000"/>
                              </a:schemeClr>
                            </a:solidFill>
                            <a:latin typeface="Cambria Math" panose="02040503050406030204" pitchFamily="18" charset="0"/>
                          </a:rPr>
                          <m:t>𝐵</m:t>
                        </m:r>
                      </m:e>
                      <m:sub>
                        <m:r>
                          <a:rPr lang="en-US" altLang="zh-CN" b="0" i="1" smtClean="0">
                            <a:solidFill>
                              <a:schemeClr val="accent1">
                                <a:lumMod val="75000"/>
                              </a:schemeClr>
                            </a:solidFill>
                            <a:latin typeface="Cambria Math" panose="02040503050406030204" pitchFamily="18" charset="0"/>
                          </a:rPr>
                          <m:t>𝑛</m:t>
                        </m:r>
                      </m:sub>
                    </m:sSub>
                  </m:oMath>
                </a14:m>
                <a:r>
                  <a:rPr lang="en-US" altLang="zh-CN" dirty="0">
                    <a:solidFill>
                      <a:schemeClr val="accent1">
                        <a:lumMod val="75000"/>
                      </a:schemeClr>
                    </a:solidFill>
                    <a:latin typeface="华文新魏" panose="02010800040101010101" pitchFamily="2" charset="-122"/>
                    <a:ea typeface="华文新魏" panose="02010800040101010101" pitchFamily="2" charset="-122"/>
                  </a:rPr>
                  <a:t> and calculate the summation of their results. </a:t>
                </a:r>
                <a:endParaRPr lang="zh-CN" altLang="en-US" dirty="0">
                  <a:latin typeface="华文新魏" panose="02010800040101010101" pitchFamily="2" charset="-122"/>
                  <a:ea typeface="华文新魏" panose="02010800040101010101" pitchFamily="2" charset="-122"/>
                </a:endParaRPr>
              </a:p>
            </p:txBody>
          </p:sp>
        </mc:Choice>
        <mc:Fallback xmlns="">
          <p:sp>
            <p:nvSpPr>
              <p:cNvPr id="7" name="文本框 6">
                <a:extLst>
                  <a:ext uri="{FF2B5EF4-FFF2-40B4-BE49-F238E27FC236}">
                    <a16:creationId xmlns:a16="http://schemas.microsoft.com/office/drawing/2014/main" id="{D847E3C0-5F36-4C40-8DBC-24B991E67992}"/>
                  </a:ext>
                </a:extLst>
              </p:cNvPr>
              <p:cNvSpPr txBox="1">
                <a:spLocks noRot="1" noChangeAspect="1" noMove="1" noResize="1" noEditPoints="1" noAdjustHandles="1" noChangeArrowheads="1" noChangeShapeType="1" noTextEdit="1"/>
              </p:cNvSpPr>
              <p:nvPr/>
            </p:nvSpPr>
            <p:spPr>
              <a:xfrm>
                <a:off x="603504" y="5696712"/>
                <a:ext cx="7491923" cy="369332"/>
              </a:xfrm>
              <a:prstGeom prst="rect">
                <a:avLst/>
              </a:prstGeom>
              <a:blipFill>
                <a:blip r:embed="rId19"/>
                <a:stretch>
                  <a:fillRect l="-651" t="-8333"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44FD33E-2A70-4D6E-BA25-62F15298D971}"/>
                  </a:ext>
                </a:extLst>
              </p:cNvPr>
              <p:cNvSpPr txBox="1"/>
              <p:nvPr/>
            </p:nvSpPr>
            <p:spPr>
              <a:xfrm>
                <a:off x="603504" y="6135970"/>
                <a:ext cx="6254148" cy="369332"/>
              </a:xfrm>
              <a:prstGeom prst="rect">
                <a:avLst/>
              </a:prstGeom>
              <a:noFill/>
            </p:spPr>
            <p:txBody>
              <a:bodyPr wrap="none" rtlCol="0">
                <a:spAutoFit/>
              </a:bodyPr>
              <a:lstStyle/>
              <a:p>
                <a:r>
                  <a:rPr lang="en-US" altLang="zh-CN" b="1" dirty="0">
                    <a:solidFill>
                      <a:srgbClr val="FF6600"/>
                    </a:solidFill>
                    <a:latin typeface="华文新魏" panose="02010800040101010101" pitchFamily="2" charset="-122"/>
                    <a:ea typeface="华文新魏" panose="02010800040101010101" pitchFamily="2" charset="-122"/>
                  </a:rPr>
                  <a:t>Question: </a:t>
                </a:r>
                <a:r>
                  <a:rPr lang="en-US" altLang="zh-CN" dirty="0">
                    <a:latin typeface="华文新魏" panose="02010800040101010101" pitchFamily="2" charset="-122"/>
                    <a:ea typeface="华文新魏" panose="02010800040101010101" pitchFamily="2" charset="-122"/>
                  </a:rPr>
                  <a:t>how to split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 </m:t>
                    </m:r>
                  </m:oMath>
                </a14:m>
                <a:r>
                  <a:rPr lang="en-US" altLang="zh-CN" dirty="0">
                    <a:latin typeface="华文新魏" panose="02010800040101010101" pitchFamily="2" charset="-122"/>
                    <a:ea typeface="华文新魏" panose="02010800040101010101" pitchFamily="2" charset="-122"/>
                  </a:rPr>
                  <a:t>and calculate the summation </a:t>
                </a:r>
                <a14:m>
                  <m:oMath xmlns:m="http://schemas.openxmlformats.org/officeDocument/2006/math">
                    <m:r>
                      <a:rPr lang="en-US" altLang="zh-CN" i="1">
                        <a:latin typeface="Cambria Math" panose="02040503050406030204" pitchFamily="18" charset="0"/>
                      </a:rPr>
                      <m:t>𝑃</m:t>
                    </m:r>
                    <m:r>
                      <a:rPr lang="en-US" altLang="zh-CN" i="1">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m:t>
                    </m:r>
                  </m:oMath>
                </a14:m>
                <a:r>
                  <a:rPr lang="en-US" altLang="zh-CN"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mc:Choice>
        <mc:Fallback xmlns="">
          <p:sp>
            <p:nvSpPr>
              <p:cNvPr id="8" name="文本框 7">
                <a:extLst>
                  <a:ext uri="{FF2B5EF4-FFF2-40B4-BE49-F238E27FC236}">
                    <a16:creationId xmlns:a16="http://schemas.microsoft.com/office/drawing/2014/main" id="{B44FD33E-2A70-4D6E-BA25-62F15298D971}"/>
                  </a:ext>
                </a:extLst>
              </p:cNvPr>
              <p:cNvSpPr txBox="1">
                <a:spLocks noRot="1" noChangeAspect="1" noMove="1" noResize="1" noEditPoints="1" noAdjustHandles="1" noChangeArrowheads="1" noChangeShapeType="1" noTextEdit="1"/>
              </p:cNvSpPr>
              <p:nvPr/>
            </p:nvSpPr>
            <p:spPr>
              <a:xfrm>
                <a:off x="603504" y="6135970"/>
                <a:ext cx="6254148" cy="369332"/>
              </a:xfrm>
              <a:prstGeom prst="rect">
                <a:avLst/>
              </a:prstGeom>
              <a:blipFill>
                <a:blip r:embed="rId20"/>
                <a:stretch>
                  <a:fillRect l="-780" t="-8333" b="-28333"/>
                </a:stretch>
              </a:blipFill>
            </p:spPr>
            <p:txBody>
              <a:bodyPr/>
              <a:lstStyle/>
              <a:p>
                <a:r>
                  <a:rPr lang="zh-CN" altLang="en-US">
                    <a:noFill/>
                  </a:rPr>
                  <a:t> </a:t>
                </a:r>
              </a:p>
            </p:txBody>
          </p:sp>
        </mc:Fallback>
      </mc:AlternateContent>
      <p:grpSp>
        <p:nvGrpSpPr>
          <p:cNvPr id="43" name="组合 42">
            <a:extLst>
              <a:ext uri="{FF2B5EF4-FFF2-40B4-BE49-F238E27FC236}">
                <a16:creationId xmlns:a16="http://schemas.microsoft.com/office/drawing/2014/main" id="{6A4ADEF9-E954-4DE7-88B9-4BB8B7CF0B22}"/>
              </a:ext>
            </a:extLst>
          </p:cNvPr>
          <p:cNvGrpSpPr/>
          <p:nvPr/>
        </p:nvGrpSpPr>
        <p:grpSpPr>
          <a:xfrm>
            <a:off x="1490970" y="194556"/>
            <a:ext cx="6318445" cy="551330"/>
            <a:chOff x="3179763" y="517058"/>
            <a:chExt cx="6318445" cy="551330"/>
          </a:xfrm>
        </p:grpSpPr>
        <p:sp>
          <p:nvSpPr>
            <p:cNvPr id="44" name="文本框 37">
              <a:extLst>
                <a:ext uri="{FF2B5EF4-FFF2-40B4-BE49-F238E27FC236}">
                  <a16:creationId xmlns:a16="http://schemas.microsoft.com/office/drawing/2014/main" id="{4D47C377-92E3-495B-B758-D309658A0B9C}"/>
                </a:ext>
              </a:extLst>
            </p:cNvPr>
            <p:cNvSpPr txBox="1"/>
            <p:nvPr/>
          </p:nvSpPr>
          <p:spPr>
            <a:xfrm>
              <a:off x="3412888" y="517058"/>
              <a:ext cx="6085320"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Law of Total Probability</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全概率定律</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45" name="Line 76">
              <a:extLst>
                <a:ext uri="{FF2B5EF4-FFF2-40B4-BE49-F238E27FC236}">
                  <a16:creationId xmlns:a16="http://schemas.microsoft.com/office/drawing/2014/main" id="{A8A4EECE-8EB6-4C16-AA77-24FF680329C6}"/>
                </a:ext>
              </a:extLst>
            </p:cNvPr>
            <p:cNvSpPr>
              <a:spLocks noChangeShapeType="1"/>
            </p:cNvSpPr>
            <p:nvPr/>
          </p:nvSpPr>
          <p:spPr bwMode="auto">
            <a:xfrm flipV="1">
              <a:off x="3179763" y="1055287"/>
              <a:ext cx="6205230" cy="13101"/>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grpSp>
      <p:sp>
        <p:nvSpPr>
          <p:cNvPr id="49" name="文本框 48">
            <a:extLst>
              <a:ext uri="{FF2B5EF4-FFF2-40B4-BE49-F238E27FC236}">
                <a16:creationId xmlns:a16="http://schemas.microsoft.com/office/drawing/2014/main" id="{A68E2A7E-9173-417D-8404-DC259C226115}"/>
              </a:ext>
            </a:extLst>
          </p:cNvPr>
          <p:cNvSpPr txBox="1"/>
          <p:nvPr/>
        </p:nvSpPr>
        <p:spPr>
          <a:xfrm>
            <a:off x="736600" y="1557555"/>
            <a:ext cx="3926075" cy="369332"/>
          </a:xfrm>
          <a:prstGeom prst="rect">
            <a:avLst/>
          </a:prstGeom>
          <a:noFill/>
        </p:spPr>
        <p:txBody>
          <a:bodyPr wrap="none" rtlCol="0">
            <a:spAutoFit/>
          </a:bodyPr>
          <a:lstStyle/>
          <a:p>
            <a:r>
              <a:rPr lang="en-US" altLang="zh-CN" b="1" dirty="0">
                <a:solidFill>
                  <a:srgbClr val="C00000"/>
                </a:solidFill>
                <a:latin typeface="华文新魏" panose="02010800040101010101" pitchFamily="2" charset="-122"/>
                <a:ea typeface="华文新魏" panose="02010800040101010101" pitchFamily="2" charset="-122"/>
              </a:rPr>
              <a:t>Partition </a:t>
            </a:r>
            <a:r>
              <a:rPr lang="en-US" altLang="zh-CN" b="1" dirty="0">
                <a:solidFill>
                  <a:srgbClr val="C00000"/>
                </a:solidFill>
                <a:latin typeface="黑体" panose="02010609060101010101" pitchFamily="49" charset="-122"/>
                <a:ea typeface="黑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分划</a:t>
            </a:r>
            <a:r>
              <a:rPr lang="en-US" altLang="zh-CN" b="1" dirty="0">
                <a:solidFill>
                  <a:srgbClr val="C00000"/>
                </a:solidFill>
                <a:latin typeface="黑体" panose="02010609060101010101" pitchFamily="49" charset="-122"/>
                <a:ea typeface="黑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of the sample space:</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CB2BB9F5-3119-47B4-8CF9-2B2034EC5903}"/>
                  </a:ext>
                </a:extLst>
              </p:cNvPr>
              <p:cNvSpPr txBox="1"/>
              <p:nvPr/>
            </p:nvSpPr>
            <p:spPr>
              <a:xfrm>
                <a:off x="736600" y="1898535"/>
                <a:ext cx="8095439" cy="1364797"/>
              </a:xfrm>
              <a:prstGeom prst="rect">
                <a:avLst/>
              </a:prstGeom>
              <a:noFill/>
            </p:spPr>
            <p:txBody>
              <a:bodyPr wrap="square" rtlCol="0">
                <a:spAutoFit/>
              </a:bodyPr>
              <a:lstStyle/>
              <a:p>
                <a:pPr>
                  <a:lnSpc>
                    <a:spcPct val="114000"/>
                  </a:lnSpc>
                </a:pPr>
                <a:r>
                  <a:rPr lang="en-US" altLang="zh-CN" b="0" dirty="0">
                    <a:latin typeface="STXinwei" panose="02010800040101010101" pitchFamily="2" charset="-122"/>
                    <a:ea typeface="STXinwei" panose="02010800040101010101" pitchFamily="2" charset="-122"/>
                  </a:rPr>
                  <a:t>Let</a:t>
                </a:r>
                <a:r>
                  <a:rPr lang="zh-CN" altLang="en-US" b="0" dirty="0">
                    <a:latin typeface="STXinwei" panose="02010800040101010101" pitchFamily="2" charset="-122"/>
                    <a:ea typeface="STXinwei" panose="02010800040101010101" pitchFamily="2" charset="-122"/>
                  </a:rPr>
                  <a:t> </a:t>
                </a:r>
                <a14:m>
                  <m:oMath xmlns:m="http://schemas.openxmlformats.org/officeDocument/2006/math">
                    <m:r>
                      <m:rPr>
                        <m:sty m:val="p"/>
                      </m:rPr>
                      <a:rPr lang="en-US" altLang="zh-CN" b="0" i="0" smtClean="0">
                        <a:latin typeface="Cambria Math" panose="02040503050406030204" pitchFamily="18" charset="0"/>
                      </a:rPr>
                      <m:t>Ω</m:t>
                    </m:r>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be the sample space, if events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meet the requirements:</a:t>
                </a:r>
              </a:p>
              <a:p>
                <a:pPr marL="800100" lvl="1" indent="-342900">
                  <a:lnSpc>
                    <a:spcPct val="114000"/>
                  </a:lnSpc>
                  <a:buAutoNum type="arabicPeriod"/>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 </m:t>
                    </m:r>
                    <m:r>
                      <m:rPr>
                        <m:sty m:val="p"/>
                      </m:rPr>
                      <a:rPr lang="en-US" altLang="zh-CN" b="0" i="0" smtClean="0">
                        <a:latin typeface="Cambria Math" panose="02040503050406030204" pitchFamily="18" charset="0"/>
                        <a:ea typeface="华文新魏" panose="02010800040101010101" pitchFamily="2" charset="-122"/>
                      </a:rPr>
                      <m:t>are</m:t>
                    </m:r>
                    <m:r>
                      <a:rPr lang="en-US" altLang="zh-CN" b="0" i="0" smtClean="0">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𝐩𝐚𝐢𝐫𝐰𝐢𝐬𝐞</m:t>
                    </m:r>
                    <m:r>
                      <a:rPr lang="en-US" altLang="zh-CN" b="1" i="0" smtClean="0">
                        <a:solidFill>
                          <a:srgbClr val="C00000"/>
                        </a:solidFill>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𝐝𝐢𝐬𝐣𝐨𝐢𝐧𝐭</m:t>
                    </m:r>
                    <m:r>
                      <a:rPr lang="en-US" altLang="zh-CN" b="1" i="0" smtClean="0">
                        <a:solidFill>
                          <a:srgbClr val="C00000"/>
                        </a:solidFill>
                        <a:latin typeface="Cambria Math" panose="02040503050406030204" pitchFamily="18" charset="0"/>
                        <a:ea typeface="华文新魏" panose="02010800040101010101" pitchFamily="2" charset="-122"/>
                      </a:rPr>
                      <m:t> </m:t>
                    </m:r>
                    <m:r>
                      <a:rPr lang="zh-CN" altLang="en-US" b="1" i="1">
                        <a:solidFill>
                          <a:srgbClr val="C00000"/>
                        </a:solidFill>
                        <a:latin typeface="Cambria Math" panose="02040503050406030204" pitchFamily="18" charset="0"/>
                        <a:ea typeface="华文新魏" panose="02010800040101010101" pitchFamily="2" charset="-122"/>
                      </a:rPr>
                      <m:t>（</m:t>
                    </m:r>
                    <m:r>
                      <a:rPr lang="zh-CN" altLang="en-US" b="1" i="1" smtClean="0">
                        <a:solidFill>
                          <a:srgbClr val="C00000"/>
                        </a:solidFill>
                        <a:latin typeface="Cambria Math" panose="02040503050406030204" pitchFamily="18" charset="0"/>
                        <a:ea typeface="华文新魏" panose="02010800040101010101" pitchFamily="2" charset="-122"/>
                      </a:rPr>
                      <m:t>两两</m:t>
                    </m:r>
                    <m:r>
                      <a:rPr lang="zh-CN" altLang="en-US" b="1" i="1">
                        <a:solidFill>
                          <a:srgbClr val="C00000"/>
                        </a:solidFill>
                        <a:latin typeface="Cambria Math" panose="02040503050406030204" pitchFamily="18" charset="0"/>
                        <a:ea typeface="华文新魏" panose="02010800040101010101" pitchFamily="2" charset="-122"/>
                      </a:rPr>
                      <m:t>不相容</m:t>
                    </m:r>
                    <m:r>
                      <a:rPr lang="zh-CN" altLang="en-US" b="1" i="1" smtClean="0">
                        <a:solidFill>
                          <a:srgbClr val="C00000"/>
                        </a:solidFill>
                        <a:latin typeface="Cambria Math" panose="02040503050406030204" pitchFamily="18" charset="0"/>
                        <a:ea typeface="华文新魏" panose="02010800040101010101" pitchFamily="2" charset="-122"/>
                      </a:rPr>
                      <m:t>）</m:t>
                    </m:r>
                    <m:r>
                      <a:rPr lang="en-US" altLang="zh-CN" b="0" i="0" smtClean="0">
                        <a:latin typeface="Cambria Math"/>
                        <a:ea typeface="华文新魏" panose="02010800040101010101" pitchFamily="2" charset="-122"/>
                      </a:rPr>
                      <m:t> </m:t>
                    </m:r>
                    <m:r>
                      <a:rPr lang="zh-CN" altLang="en-US" b="0" i="0" smtClean="0">
                        <a:latin typeface="Cambria Math" panose="02040503050406030204" pitchFamily="18" charset="0"/>
                        <a:ea typeface="华文新魏" panose="02010800040101010101" pitchFamily="2" charset="-122"/>
                      </a:rPr>
                      <m:t> </m:t>
                    </m:r>
                  </m:oMath>
                </a14:m>
                <a:endParaRPr lang="en-US" altLang="zh-CN" b="0" i="0" dirty="0">
                  <a:latin typeface="Cambria Math" panose="02040503050406030204" pitchFamily="18" charset="0"/>
                  <a:ea typeface="华文新魏" panose="02010800040101010101" pitchFamily="2" charset="-122"/>
                </a:endParaRPr>
              </a:p>
              <a:p>
                <a:pPr lvl="1">
                  <a:lnSpc>
                    <a:spcPct val="114000"/>
                  </a:lnSpc>
                </a:pPr>
                <a:r>
                  <a:rPr lang="en-US" altLang="zh-CN" dirty="0">
                    <a:ea typeface="华文新魏" panose="02010800040101010101" pitchFamily="2" charset="-122"/>
                  </a:rPr>
                  <a:t>               </a:t>
                </a:r>
                <a14:m>
                  <m:oMath xmlns:m="http://schemas.openxmlformats.org/officeDocument/2006/math">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𝑖</m:t>
                        </m:r>
                      </m:sub>
                    </m:sSub>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𝑗</m:t>
                        </m:r>
                      </m:sub>
                    </m:sSub>
                    <m:r>
                      <a:rPr lang="en-US" altLang="zh-CN" i="1">
                        <a:latin typeface="Cambria Math" panose="02040503050406030204" pitchFamily="18" charset="0"/>
                        <a:ea typeface="华文新魏" panose="02010800040101010101" pitchFamily="2" charset="-122"/>
                      </a:rPr>
                      <m:t>=</m:t>
                    </m:r>
                    <m:r>
                      <m:rPr>
                        <m:sty m:val="p"/>
                      </m:rPr>
                      <a:rPr lang="en-US" altLang="zh-CN">
                        <a:latin typeface="Cambria Math" panose="02040503050406030204" pitchFamily="18" charset="0"/>
                        <a:ea typeface="华文新魏" panose="02010800040101010101" pitchFamily="2" charset="-122"/>
                      </a:rPr>
                      <m:t>Φ</m:t>
                    </m:r>
                    <m:r>
                      <a:rPr lang="en-US" altLang="zh-CN" b="0" i="0" smtClean="0">
                        <a:latin typeface="Cambria Math"/>
                        <a:ea typeface="华文新魏" panose="02010800040101010101" pitchFamily="2" charset="-122"/>
                      </a:rPr>
                      <m:t> </m:t>
                    </m:r>
                    <m:d>
                      <m:dPr>
                        <m:ctrlPr>
                          <a:rPr lang="en-US" altLang="zh-CN" b="0" i="1" smtClean="0">
                            <a:latin typeface="Cambria Math" panose="02040503050406030204" pitchFamily="18" charset="0"/>
                            <a:ea typeface="华文新魏" panose="02010800040101010101" pitchFamily="2" charset="-122"/>
                          </a:rPr>
                        </m:ctrlPr>
                      </m:dPr>
                      <m:e>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=1,…,</m:t>
                        </m:r>
                        <m:r>
                          <a:rPr lang="en-US" altLang="zh-CN" b="0" i="1" smtClean="0">
                            <a:latin typeface="Cambria Math" panose="02040503050406030204" pitchFamily="18" charset="0"/>
                            <a:ea typeface="华文新魏" panose="02010800040101010101" pitchFamily="2" charset="-122"/>
                          </a:rPr>
                          <m:t>𝑛</m:t>
                        </m:r>
                      </m:e>
                    </m:d>
                    <m:r>
                      <a:rPr lang="en-US" altLang="zh-CN" b="0" i="1" smtClean="0">
                        <a:latin typeface="Cambria Math" panose="02040503050406030204" pitchFamily="18" charset="0"/>
                        <a:ea typeface="华文新魏" panose="02010800040101010101" pitchFamily="2" charset="-122"/>
                      </a:rPr>
                      <m:t>.</m:t>
                    </m:r>
                  </m:oMath>
                </a14:m>
                <a:endParaRPr lang="en-US" altLang="zh-CN" dirty="0">
                  <a:latin typeface="华文新魏" panose="02010800040101010101" pitchFamily="2" charset="-122"/>
                  <a:ea typeface="华文新魏" panose="02010800040101010101" pitchFamily="2" charset="-122"/>
                </a:endParaRPr>
              </a:p>
              <a:p>
                <a:pPr marL="800100" lvl="1" indent="-342900">
                  <a:lnSpc>
                    <a:spcPct val="114000"/>
                  </a:lnSpc>
                  <a:buFont typeface="+mj-lt"/>
                  <a:buAutoNum type="arabicPeriod" startAt="2"/>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m:t>
                    </m:r>
                    <m:r>
                      <m:rPr>
                        <m:sty m:val="p"/>
                      </m:rPr>
                      <a:rPr lang="en-US" altLang="zh-CN" b="0" i="0" smtClean="0">
                        <a:latin typeface="Cambria Math" panose="02040503050406030204" pitchFamily="18" charset="0"/>
                        <a:ea typeface="华文新魏" panose="02010800040101010101" pitchFamily="2" charset="-122"/>
                      </a:rPr>
                      <m:t>Ω</m:t>
                    </m:r>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50" name="文本框 49">
                <a:extLst>
                  <a:ext uri="{FF2B5EF4-FFF2-40B4-BE49-F238E27FC236}">
                    <a16:creationId xmlns:a16="http://schemas.microsoft.com/office/drawing/2014/main" id="{CB2BB9F5-3119-47B4-8CF9-2B2034EC5903}"/>
                  </a:ext>
                </a:extLst>
              </p:cNvPr>
              <p:cNvSpPr txBox="1">
                <a:spLocks noRot="1" noChangeAspect="1" noMove="1" noResize="1" noEditPoints="1" noAdjustHandles="1" noChangeArrowheads="1" noChangeShapeType="1" noTextEdit="1"/>
              </p:cNvSpPr>
              <p:nvPr/>
            </p:nvSpPr>
            <p:spPr>
              <a:xfrm>
                <a:off x="736600" y="1898535"/>
                <a:ext cx="8095439" cy="1364797"/>
              </a:xfrm>
              <a:prstGeom prst="rect">
                <a:avLst/>
              </a:prstGeom>
              <a:blipFill>
                <a:blip r:embed="rId21"/>
                <a:stretch>
                  <a:fillRect l="-678" t="-446" b="-4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E334C941-2231-47CF-819D-D3EF05650F6F}"/>
                  </a:ext>
                </a:extLst>
              </p:cNvPr>
              <p:cNvSpPr txBox="1"/>
              <p:nvPr/>
            </p:nvSpPr>
            <p:spPr>
              <a:xfrm>
                <a:off x="746635" y="3171562"/>
                <a:ext cx="6692666" cy="369332"/>
              </a:xfrm>
              <a:prstGeom prst="rect">
                <a:avLst/>
              </a:prstGeom>
              <a:noFill/>
            </p:spPr>
            <p:txBody>
              <a:bodyPr wrap="square" rtlCol="0">
                <a:spAutoFit/>
              </a:bodyPr>
              <a:lstStyle/>
              <a:p>
                <a:r>
                  <a:rPr lang="en-US" altLang="zh-CN" dirty="0">
                    <a:latin typeface="STXinwei" panose="02010800040101010101" pitchFamily="2" charset="-122"/>
                    <a:ea typeface="STXinwei" panose="02010800040101010101" pitchFamily="2" charset="-122"/>
                    <a:cs typeface="Arial Unicode MS" panose="020B0604020202020204" pitchFamily="34" charset="-122"/>
                  </a:rPr>
                  <a:t>We call each of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𝟏</m:t>
                        </m:r>
                      </m:sub>
                    </m:sSub>
                    <m:r>
                      <a:rPr lang="en-US" altLang="zh-CN" b="1" i="1" smtClean="0">
                        <a:solidFill>
                          <a:srgbClr val="C00000"/>
                        </a:solidFill>
                        <a:latin typeface="Cambria Math"/>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𝟐</m:t>
                        </m:r>
                      </m:sub>
                    </m:sSub>
                    <m:r>
                      <a:rPr lang="en-US" altLang="zh-CN" b="1" i="1" smtClean="0">
                        <a:solidFill>
                          <a:srgbClr val="C00000"/>
                        </a:solidFill>
                        <a:latin typeface="Cambria Math"/>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𝒏</m:t>
                        </m:r>
                      </m:sub>
                    </m:sSub>
                  </m:oMath>
                </a14:m>
                <a:r>
                  <a:rPr lang="en-US" altLang="zh-CN" b="1"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 as a Partition of the sample space </a:t>
                </a:r>
                <a14:m>
                  <m:oMath xmlns:m="http://schemas.openxmlformats.org/officeDocument/2006/math">
                    <m:r>
                      <a:rPr lang="en-US" altLang="zh-CN" b="1" i="0" smtClean="0">
                        <a:solidFill>
                          <a:srgbClr val="C00000"/>
                        </a:solidFill>
                        <a:latin typeface="Cambria Math"/>
                      </a:rPr>
                      <m:t>𝛀</m:t>
                    </m:r>
                  </m:oMath>
                </a14:m>
                <a:r>
                  <a:rPr lang="en-US" altLang="zh-CN" dirty="0">
                    <a:latin typeface="STXinwei" panose="02010800040101010101" pitchFamily="2" charset="-122"/>
                    <a:ea typeface="STXinwei" panose="02010800040101010101" pitchFamily="2" charset="-122"/>
                    <a:cs typeface="Arial Unicode MS" panose="020B0604020202020204" pitchFamily="34" charset="-122"/>
                  </a:rPr>
                  <a:t>.</a:t>
                </a:r>
                <a:endParaRPr lang="zh-CN" altLang="en-US" dirty="0">
                  <a:latin typeface="STXinwei" panose="02010800040101010101" pitchFamily="2" charset="-122"/>
                  <a:ea typeface="STXinwei" panose="02010800040101010101" pitchFamily="2" charset="-122"/>
                  <a:cs typeface="Arial Unicode MS" panose="020B0604020202020204" pitchFamily="34" charset="-122"/>
                </a:endParaRPr>
              </a:p>
            </p:txBody>
          </p:sp>
        </mc:Choice>
        <mc:Fallback xmlns="">
          <p:sp>
            <p:nvSpPr>
              <p:cNvPr id="51" name="文本框 50">
                <a:extLst>
                  <a:ext uri="{FF2B5EF4-FFF2-40B4-BE49-F238E27FC236}">
                    <a16:creationId xmlns:a16="http://schemas.microsoft.com/office/drawing/2014/main" id="{E334C941-2231-47CF-819D-D3EF05650F6F}"/>
                  </a:ext>
                </a:extLst>
              </p:cNvPr>
              <p:cNvSpPr txBox="1">
                <a:spLocks noRot="1" noChangeAspect="1" noMove="1" noResize="1" noEditPoints="1" noAdjustHandles="1" noChangeArrowheads="1" noChangeShapeType="1" noTextEdit="1"/>
              </p:cNvSpPr>
              <p:nvPr/>
            </p:nvSpPr>
            <p:spPr>
              <a:xfrm>
                <a:off x="746635" y="3171562"/>
                <a:ext cx="6692666" cy="369332"/>
              </a:xfrm>
              <a:prstGeom prst="rect">
                <a:avLst/>
              </a:prstGeom>
              <a:blipFill>
                <a:blip r:embed="rId22"/>
                <a:stretch>
                  <a:fillRect l="-729" t="-6557" r="-729" b="-2623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389271"/>
                                        </p:tgtEl>
                                        <p:attrNameLst>
                                          <p:attrName>style.visibility</p:attrName>
                                        </p:attrNameLst>
                                      </p:cBhvr>
                                      <p:to>
                                        <p:strVal val="visible"/>
                                      </p:to>
                                    </p:set>
                                    <p:anim calcmode="lin" valueType="num">
                                      <p:cBhvr>
                                        <p:cTn id="21" dur="500" fill="hold"/>
                                        <p:tgtEl>
                                          <p:spTgt spid="389271"/>
                                        </p:tgtEl>
                                        <p:attrNameLst>
                                          <p:attrName>ppt_w</p:attrName>
                                        </p:attrNameLst>
                                      </p:cBhvr>
                                      <p:tavLst>
                                        <p:tav tm="0">
                                          <p:val>
                                            <p:fltVal val="0"/>
                                          </p:val>
                                        </p:tav>
                                        <p:tav tm="100000">
                                          <p:val>
                                            <p:strVal val="#ppt_w"/>
                                          </p:val>
                                        </p:tav>
                                      </p:tavLst>
                                    </p:anim>
                                    <p:anim calcmode="lin" valueType="num">
                                      <p:cBhvr>
                                        <p:cTn id="22" dur="500" fill="hold"/>
                                        <p:tgtEl>
                                          <p:spTgt spid="389271"/>
                                        </p:tgtEl>
                                        <p:attrNameLst>
                                          <p:attrName>ppt_h</p:attrName>
                                        </p:attrNameLst>
                                      </p:cBhvr>
                                      <p:tavLst>
                                        <p:tav tm="0">
                                          <p:val>
                                            <p:fltVal val="0"/>
                                          </p:val>
                                        </p:tav>
                                        <p:tav tm="100000">
                                          <p:val>
                                            <p:strVal val="#ppt_h"/>
                                          </p:val>
                                        </p:tav>
                                      </p:tavLst>
                                    </p:anim>
                                    <p:animEffect transition="in" filter="fade">
                                      <p:cBhvr>
                                        <p:cTn id="23" dur="500"/>
                                        <p:tgtEl>
                                          <p:spTgt spid="38927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nodeType="clickEffect">
                                  <p:stCondLst>
                                    <p:cond delay="0"/>
                                  </p:stCondLst>
                                  <p:childTnLst>
                                    <p:set>
                                      <p:cBhvr>
                                        <p:cTn id="27" dur="1" fill="hold">
                                          <p:stCondLst>
                                            <p:cond delay="0"/>
                                          </p:stCondLst>
                                        </p:cTn>
                                        <p:tgtEl>
                                          <p:spTgt spid="389396"/>
                                        </p:tgtEl>
                                        <p:attrNameLst>
                                          <p:attrName>style.visibility</p:attrName>
                                        </p:attrNameLst>
                                      </p:cBhvr>
                                      <p:to>
                                        <p:strVal val="visible"/>
                                      </p:to>
                                    </p:set>
                                    <p:anim calcmode="lin" valueType="num">
                                      <p:cBhvr>
                                        <p:cTn id="28" dur="500" fill="hold"/>
                                        <p:tgtEl>
                                          <p:spTgt spid="389396"/>
                                        </p:tgtEl>
                                        <p:attrNameLst>
                                          <p:attrName>ppt_w</p:attrName>
                                        </p:attrNameLst>
                                      </p:cBhvr>
                                      <p:tavLst>
                                        <p:tav tm="0">
                                          <p:val>
                                            <p:fltVal val="0"/>
                                          </p:val>
                                        </p:tav>
                                        <p:tav tm="100000">
                                          <p:val>
                                            <p:strVal val="#ppt_w"/>
                                          </p:val>
                                        </p:tav>
                                      </p:tavLst>
                                    </p:anim>
                                    <p:anim calcmode="lin" valueType="num">
                                      <p:cBhvr>
                                        <p:cTn id="29" dur="500" fill="hold"/>
                                        <p:tgtEl>
                                          <p:spTgt spid="389396"/>
                                        </p:tgtEl>
                                        <p:attrNameLst>
                                          <p:attrName>ppt_h</p:attrName>
                                        </p:attrNameLst>
                                      </p:cBhvr>
                                      <p:tavLst>
                                        <p:tav tm="0">
                                          <p:val>
                                            <p:fltVal val="0"/>
                                          </p:val>
                                        </p:tav>
                                        <p:tav tm="100000">
                                          <p:val>
                                            <p:strVal val="#ppt_h"/>
                                          </p:val>
                                        </p:tav>
                                      </p:tavLst>
                                    </p:anim>
                                    <p:animEffect transition="in" filter="fade">
                                      <p:cBhvr>
                                        <p:cTn id="30" dur="500"/>
                                        <p:tgtEl>
                                          <p:spTgt spid="38939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9382"/>
                                        </p:tgtEl>
                                        <p:attrNameLst>
                                          <p:attrName>style.visibility</p:attrName>
                                        </p:attrNameLst>
                                      </p:cBhvr>
                                      <p:to>
                                        <p:strVal val="visible"/>
                                      </p:to>
                                    </p:set>
                                    <p:animEffect transition="in" filter="fade">
                                      <p:cBhvr>
                                        <p:cTn id="35" dur="500"/>
                                        <p:tgtEl>
                                          <p:spTgt spid="389382"/>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0" fill="hold" nodeType="clickEffect">
                                  <p:stCondLst>
                                    <p:cond delay="0"/>
                                  </p:stCondLst>
                                  <p:childTnLst>
                                    <p:set>
                                      <p:cBhvr>
                                        <p:cTn id="39" dur="1" fill="hold">
                                          <p:stCondLst>
                                            <p:cond delay="0"/>
                                          </p:stCondLst>
                                        </p:cTn>
                                        <p:tgtEl>
                                          <p:spTgt spid="389417"/>
                                        </p:tgtEl>
                                        <p:attrNameLst>
                                          <p:attrName>style.visibility</p:attrName>
                                        </p:attrNameLst>
                                      </p:cBhvr>
                                      <p:to>
                                        <p:strVal val="visible"/>
                                      </p:to>
                                    </p:set>
                                    <p:anim calcmode="lin" valueType="num">
                                      <p:cBhvr>
                                        <p:cTn id="40" dur="500" fill="hold"/>
                                        <p:tgtEl>
                                          <p:spTgt spid="389417"/>
                                        </p:tgtEl>
                                        <p:attrNameLst>
                                          <p:attrName>ppt_w</p:attrName>
                                        </p:attrNameLst>
                                      </p:cBhvr>
                                      <p:tavLst>
                                        <p:tav tm="0">
                                          <p:val>
                                            <p:fltVal val="0"/>
                                          </p:val>
                                        </p:tav>
                                        <p:tav tm="100000">
                                          <p:val>
                                            <p:strVal val="#ppt_w"/>
                                          </p:val>
                                        </p:tav>
                                      </p:tavLst>
                                    </p:anim>
                                    <p:anim calcmode="lin" valueType="num">
                                      <p:cBhvr>
                                        <p:cTn id="41" dur="500" fill="hold"/>
                                        <p:tgtEl>
                                          <p:spTgt spid="389417"/>
                                        </p:tgtEl>
                                        <p:attrNameLst>
                                          <p:attrName>ppt_h</p:attrName>
                                        </p:attrNameLst>
                                      </p:cBhvr>
                                      <p:tavLst>
                                        <p:tav tm="0">
                                          <p:val>
                                            <p:fltVal val="0"/>
                                          </p:val>
                                        </p:tav>
                                        <p:tav tm="100000">
                                          <p:val>
                                            <p:strVal val="#ppt_h"/>
                                          </p:val>
                                        </p:tav>
                                      </p:tavLst>
                                    </p:anim>
                                    <p:animEffect transition="in" filter="fade">
                                      <p:cBhvr>
                                        <p:cTn id="42" dur="500"/>
                                        <p:tgtEl>
                                          <p:spTgt spid="389417"/>
                                        </p:tgtEl>
                                      </p:cBhvr>
                                    </p:animEffect>
                                  </p:childTnLst>
                                </p:cTn>
                              </p:par>
                            </p:childTnLst>
                          </p:cTn>
                        </p:par>
                        <p:par>
                          <p:cTn id="43" fill="hold">
                            <p:stCondLst>
                              <p:cond delay="500"/>
                            </p:stCondLst>
                            <p:childTnLst>
                              <p:par>
                                <p:cTn id="44" presetID="53" presetClass="entr" presetSubtype="0" fill="hold" nodeType="afterEffect">
                                  <p:stCondLst>
                                    <p:cond delay="0"/>
                                  </p:stCondLst>
                                  <p:childTnLst>
                                    <p:set>
                                      <p:cBhvr>
                                        <p:cTn id="45" dur="1" fill="hold">
                                          <p:stCondLst>
                                            <p:cond delay="0"/>
                                          </p:stCondLst>
                                        </p:cTn>
                                        <p:tgtEl>
                                          <p:spTgt spid="389291"/>
                                        </p:tgtEl>
                                        <p:attrNameLst>
                                          <p:attrName>style.visibility</p:attrName>
                                        </p:attrNameLst>
                                      </p:cBhvr>
                                      <p:to>
                                        <p:strVal val="visible"/>
                                      </p:to>
                                    </p:set>
                                    <p:anim calcmode="lin" valueType="num">
                                      <p:cBhvr>
                                        <p:cTn id="46" dur="500" fill="hold"/>
                                        <p:tgtEl>
                                          <p:spTgt spid="389291"/>
                                        </p:tgtEl>
                                        <p:attrNameLst>
                                          <p:attrName>ppt_w</p:attrName>
                                        </p:attrNameLst>
                                      </p:cBhvr>
                                      <p:tavLst>
                                        <p:tav tm="0">
                                          <p:val>
                                            <p:fltVal val="0"/>
                                          </p:val>
                                        </p:tav>
                                        <p:tav tm="100000">
                                          <p:val>
                                            <p:strVal val="#ppt_w"/>
                                          </p:val>
                                        </p:tav>
                                      </p:tavLst>
                                    </p:anim>
                                    <p:anim calcmode="lin" valueType="num">
                                      <p:cBhvr>
                                        <p:cTn id="47" dur="500" fill="hold"/>
                                        <p:tgtEl>
                                          <p:spTgt spid="389291"/>
                                        </p:tgtEl>
                                        <p:attrNameLst>
                                          <p:attrName>ppt_h</p:attrName>
                                        </p:attrNameLst>
                                      </p:cBhvr>
                                      <p:tavLst>
                                        <p:tav tm="0">
                                          <p:val>
                                            <p:fltVal val="0"/>
                                          </p:val>
                                        </p:tav>
                                        <p:tav tm="100000">
                                          <p:val>
                                            <p:strVal val="#ppt_h"/>
                                          </p:val>
                                        </p:tav>
                                      </p:tavLst>
                                    </p:anim>
                                    <p:animEffect transition="in" filter="fade">
                                      <p:cBhvr>
                                        <p:cTn id="48" dur="500"/>
                                        <p:tgtEl>
                                          <p:spTgt spid="38929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1000"/>
                                        <p:tgtEl>
                                          <p:spTgt spid="389271"/>
                                        </p:tgtEl>
                                      </p:cBhvr>
                                    </p:animEffect>
                                    <p:set>
                                      <p:cBhvr>
                                        <p:cTn id="63" dur="1" fill="hold">
                                          <p:stCondLst>
                                            <p:cond delay="999"/>
                                          </p:stCondLst>
                                        </p:cTn>
                                        <p:tgtEl>
                                          <p:spTgt spid="389271"/>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1000"/>
                                        <p:tgtEl>
                                          <p:spTgt spid="389291"/>
                                        </p:tgtEl>
                                      </p:cBhvr>
                                    </p:animEffect>
                                    <p:set>
                                      <p:cBhvr>
                                        <p:cTn id="66" dur="1" fill="hold">
                                          <p:stCondLst>
                                            <p:cond delay="999"/>
                                          </p:stCondLst>
                                        </p:cTn>
                                        <p:tgtEl>
                                          <p:spTgt spid="389291"/>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0"/>
                                        <p:tgtEl>
                                          <p:spTgt spid="389396"/>
                                        </p:tgtEl>
                                      </p:cBhvr>
                                    </p:animEffect>
                                    <p:set>
                                      <p:cBhvr>
                                        <p:cTn id="69" dur="1" fill="hold">
                                          <p:stCondLst>
                                            <p:cond delay="999"/>
                                          </p:stCondLst>
                                        </p:cTn>
                                        <p:tgtEl>
                                          <p:spTgt spid="389396"/>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000"/>
                                        <p:tgtEl>
                                          <p:spTgt spid="389417"/>
                                        </p:tgtEl>
                                      </p:cBhvr>
                                    </p:animEffect>
                                    <p:set>
                                      <p:cBhvr>
                                        <p:cTn id="72" dur="1" fill="hold">
                                          <p:stCondLst>
                                            <p:cond delay="999"/>
                                          </p:stCondLst>
                                        </p:cTn>
                                        <p:tgtEl>
                                          <p:spTgt spid="389417"/>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7"/>
                                        </p:tgtEl>
                                      </p:cBhvr>
                                    </p:animEffect>
                                    <p:set>
                                      <p:cBhvr>
                                        <p:cTn id="75" dur="1" fill="hold">
                                          <p:stCondLst>
                                            <p:cond delay="499"/>
                                          </p:stCondLst>
                                        </p:cTn>
                                        <p:tgtEl>
                                          <p:spTgt spid="7"/>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500"/>
                                        <p:tgtEl>
                                          <p:spTgt spid="8"/>
                                        </p:tgtEl>
                                      </p:cBhvr>
                                    </p:animEffect>
                                    <p:set>
                                      <p:cBhvr>
                                        <p:cTn id="78" dur="1" fill="hold">
                                          <p:stCondLst>
                                            <p:cond delay="499"/>
                                          </p:stCondLst>
                                        </p:cTn>
                                        <p:tgtEl>
                                          <p:spTgt spid="8"/>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389382"/>
                                        </p:tgtEl>
                                      </p:cBhvr>
                                    </p:animEffect>
                                    <p:set>
                                      <p:cBhvr>
                                        <p:cTn id="81" dur="1" fill="hold">
                                          <p:stCondLst>
                                            <p:cond delay="499"/>
                                          </p:stCondLst>
                                        </p:cTn>
                                        <p:tgtEl>
                                          <p:spTgt spid="3893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82" grpId="0" animBg="1"/>
      <p:bldP spid="389382" grpId="1" animBg="1"/>
      <p:bldP spid="2" grpId="0"/>
      <p:bldP spid="7" grpId="0"/>
      <p:bldP spid="7" grpId="1"/>
      <p:bldP spid="8" grpId="0"/>
      <p:bldP spid="8" grpId="1"/>
      <p:bldP spid="49" grpId="0"/>
      <p:bldP spid="50" grpId="0"/>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B5C32A47-217E-4FB6-A22C-7B28121F5E9C}"/>
              </a:ext>
            </a:extLst>
          </p:cNvPr>
          <p:cNvGrpSpPr/>
          <p:nvPr/>
        </p:nvGrpSpPr>
        <p:grpSpPr>
          <a:xfrm>
            <a:off x="476749" y="5637612"/>
            <a:ext cx="3733057" cy="830997"/>
            <a:chOff x="2803525" y="5559275"/>
            <a:chExt cx="4633913" cy="1130300"/>
          </a:xfrm>
        </p:grpSpPr>
        <p:sp>
          <p:nvSpPr>
            <p:cNvPr id="441444" name="Rectangle 100"/>
            <p:cNvSpPr>
              <a:spLocks noChangeArrowheads="1"/>
            </p:cNvSpPr>
            <p:nvPr/>
          </p:nvSpPr>
          <p:spPr bwMode="auto">
            <a:xfrm>
              <a:off x="2803525" y="5618013"/>
              <a:ext cx="4633913" cy="1012825"/>
            </a:xfrm>
            <a:prstGeom prst="rect">
              <a:avLst/>
            </a:prstGeom>
            <a:gradFill rotWithShape="1">
              <a:gsLst>
                <a:gs pos="0">
                  <a:schemeClr val="folHlink"/>
                </a:gs>
                <a:gs pos="50000">
                  <a:schemeClr val="folHlink">
                    <a:gamma/>
                    <a:shade val="46275"/>
                    <a:invGamma/>
                  </a:schemeClr>
                </a:gs>
                <a:gs pos="100000">
                  <a:schemeClr val="folHlink"/>
                </a:gs>
              </a:gsLst>
              <a:lin ang="2700000" scaled="1"/>
            </a:gradFill>
            <a:ln w="19050" algn="ctr">
              <a:solidFill>
                <a:schemeClr val="accent2"/>
              </a:solidFill>
              <a:miter lim="800000"/>
              <a:headEnd/>
              <a:tailEnd type="none" w="lg" len="lg"/>
            </a:ln>
            <a:effectLst>
              <a:outerShdw dist="107763" dir="2700000" algn="ctr" rotWithShape="0">
                <a:schemeClr val="bg2">
                  <a:alpha val="50000"/>
                </a:schemeClr>
              </a:outerShdw>
            </a:effectLst>
          </p:spPr>
          <p:txBody>
            <a:bodyPr wrap="none" anchor="ctr"/>
            <a:lstStyle/>
            <a:p>
              <a:pPr>
                <a:defRPr/>
              </a:pPr>
              <a:endParaRPr lang="zh-CN" altLang="en-US"/>
            </a:p>
          </p:txBody>
        </p:sp>
        <p:graphicFrame>
          <p:nvGraphicFramePr>
            <p:cNvPr id="441445" name="Object 101"/>
            <p:cNvGraphicFramePr>
              <a:graphicFrameLocks noChangeAspect="1"/>
            </p:cNvGraphicFramePr>
            <p:nvPr>
              <p:extLst>
                <p:ext uri="{D42A27DB-BD31-4B8C-83A1-F6EECF244321}">
                  <p14:modId xmlns:p14="http://schemas.microsoft.com/office/powerpoint/2010/main" val="3175299395"/>
                </p:ext>
              </p:extLst>
            </p:nvPr>
          </p:nvGraphicFramePr>
          <p:xfrm>
            <a:off x="2927350" y="5559275"/>
            <a:ext cx="4386262" cy="1130300"/>
          </p:xfrm>
          <a:graphic>
            <a:graphicData uri="http://schemas.openxmlformats.org/presentationml/2006/ole">
              <mc:AlternateContent xmlns:mc="http://schemas.openxmlformats.org/markup-compatibility/2006">
                <mc:Choice xmlns:v="urn:schemas-microsoft-com:vml" Requires="v">
                  <p:oleObj spid="_x0000_s3075" name="Equation" r:id="rId3" imgW="1324060" imgH="285860" progId="Equation.DSMT4">
                    <p:embed/>
                  </p:oleObj>
                </mc:Choice>
                <mc:Fallback>
                  <p:oleObj name="Equation" r:id="rId3" imgW="1324060" imgH="285860" progId="Equation.DSMT4">
                    <p:embed/>
                    <p:pic>
                      <p:nvPicPr>
                        <p:cNvPr id="0" name="Object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0" y="5559275"/>
                          <a:ext cx="4386262"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DE02DA9-1D1E-44FD-A2E4-FF94D8BC7960}"/>
                  </a:ext>
                </a:extLst>
              </p:cNvPr>
              <p:cNvSpPr txBox="1"/>
              <p:nvPr/>
            </p:nvSpPr>
            <p:spPr>
              <a:xfrm>
                <a:off x="746635" y="3730758"/>
                <a:ext cx="5182123" cy="646331"/>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For an event </a:t>
                </a:r>
                <a:r>
                  <a:rPr lang="en-US" altLang="zh-CN" i="1" dirty="0">
                    <a:latin typeface="Amasis MT Pro Light" panose="020B0604020202020204" pitchFamily="18" charset="0"/>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we have</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华文新魏" panose="02010800040101010101" pitchFamily="2" charset="-122"/>
                        </a:rPr>
                        <m:t>𝐴</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𝐴</m:t>
                      </m:r>
                      <m:r>
                        <a:rPr lang="en-US" altLang="zh-CN" b="0" i="1" smtClean="0">
                          <a:latin typeface="Cambria Math" panose="02040503050406030204" pitchFamily="18" charset="0"/>
                          <a:ea typeface="华文新魏" panose="02010800040101010101" pitchFamily="2" charset="-122"/>
                        </a:rPr>
                        <m:t>⋂</m:t>
                      </m:r>
                      <m:r>
                        <m:rPr>
                          <m:sty m:val="p"/>
                        </m:rPr>
                        <a:rPr lang="en-US" altLang="zh-CN" b="0" i="0" smtClean="0">
                          <a:latin typeface="Cambria Math" panose="02040503050406030204" pitchFamily="18" charset="0"/>
                          <a:ea typeface="华文新魏" panose="02010800040101010101" pitchFamily="2" charset="-122"/>
                        </a:rPr>
                        <m:t>Ω</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𝐴</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𝐴</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𝐴</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oMath>
                  </m:oMathPara>
                </a14:m>
                <a:endParaRPr lang="zh-CN" altLang="en-US" dirty="0">
                  <a:latin typeface="华文新魏" panose="02010800040101010101" pitchFamily="2" charset="-122"/>
                  <a:ea typeface="华文新魏" panose="02010800040101010101" pitchFamily="2" charset="-122"/>
                </a:endParaRPr>
              </a:p>
            </p:txBody>
          </p:sp>
        </mc:Choice>
        <mc:Fallback xmlns="">
          <p:sp>
            <p:nvSpPr>
              <p:cNvPr id="2" name="文本框 1">
                <a:extLst>
                  <a:ext uri="{FF2B5EF4-FFF2-40B4-BE49-F238E27FC236}">
                    <a16:creationId xmlns:a16="http://schemas.microsoft.com/office/drawing/2014/main" id="{2DE02DA9-1D1E-44FD-A2E4-FF94D8BC7960}"/>
                  </a:ext>
                </a:extLst>
              </p:cNvPr>
              <p:cNvSpPr txBox="1">
                <a:spLocks noRot="1" noChangeAspect="1" noMove="1" noResize="1" noEditPoints="1" noAdjustHandles="1" noChangeArrowheads="1" noChangeShapeType="1" noTextEdit="1"/>
              </p:cNvSpPr>
              <p:nvPr/>
            </p:nvSpPr>
            <p:spPr>
              <a:xfrm>
                <a:off x="746635" y="3730758"/>
                <a:ext cx="5182123" cy="646331"/>
              </a:xfrm>
              <a:prstGeom prst="rect">
                <a:avLst/>
              </a:prstGeom>
              <a:blipFill>
                <a:blip r:embed="rId5"/>
                <a:stretch>
                  <a:fillRect l="-940" t="-56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F793BCC-B7EF-4538-AADE-C17C6EC05A67}"/>
                  </a:ext>
                </a:extLst>
              </p:cNvPr>
              <p:cNvSpPr txBox="1"/>
              <p:nvPr/>
            </p:nvSpPr>
            <p:spPr>
              <a:xfrm>
                <a:off x="746635" y="4489704"/>
                <a:ext cx="3034292"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e>
                      </m:d>
                    </m:oMath>
                  </m:oMathPara>
                </a14:m>
                <a:endParaRPr lang="en-US" altLang="zh-CN" b="0" dirty="0"/>
              </a:p>
              <a:p>
                <a:endParaRPr lang="en-US" altLang="zh-CN" b="0" dirty="0"/>
              </a:p>
            </p:txBody>
          </p:sp>
        </mc:Choice>
        <mc:Fallback xmlns="">
          <p:sp>
            <p:nvSpPr>
              <p:cNvPr id="3" name="文本框 2">
                <a:extLst>
                  <a:ext uri="{FF2B5EF4-FFF2-40B4-BE49-F238E27FC236}">
                    <a16:creationId xmlns:a16="http://schemas.microsoft.com/office/drawing/2014/main" id="{FF793BCC-B7EF-4538-AADE-C17C6EC05A67}"/>
                  </a:ext>
                </a:extLst>
              </p:cNvPr>
              <p:cNvSpPr txBox="1">
                <a:spLocks noRot="1" noChangeAspect="1" noMove="1" noResize="1" noEditPoints="1" noAdjustHandles="1" noChangeArrowheads="1" noChangeShapeType="1" noTextEdit="1"/>
              </p:cNvSpPr>
              <p:nvPr/>
            </p:nvSpPr>
            <p:spPr>
              <a:xfrm>
                <a:off x="746635" y="4489704"/>
                <a:ext cx="3034292" cy="553998"/>
              </a:xfrm>
              <a:prstGeom prst="rect">
                <a:avLst/>
              </a:prstGeom>
              <a:blipFill>
                <a:blip r:embed="rId6"/>
                <a:stretch>
                  <a:fillRect l="-4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E8DBA51-FBC3-4C9C-B1F8-F438C85219BF}"/>
                  </a:ext>
                </a:extLst>
              </p:cNvPr>
              <p:cNvSpPr txBox="1"/>
              <p:nvPr/>
            </p:nvSpPr>
            <p:spPr>
              <a:xfrm>
                <a:off x="1303661" y="4829868"/>
                <a:ext cx="355180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m:oMathPara>
                </a14:m>
                <a:endParaRPr lang="zh-CN" altLang="en-US" dirty="0"/>
              </a:p>
            </p:txBody>
          </p:sp>
        </mc:Choice>
        <mc:Fallback xmlns="">
          <p:sp>
            <p:nvSpPr>
              <p:cNvPr id="4" name="文本框 3">
                <a:extLst>
                  <a:ext uri="{FF2B5EF4-FFF2-40B4-BE49-F238E27FC236}">
                    <a16:creationId xmlns:a16="http://schemas.microsoft.com/office/drawing/2014/main" id="{FE8DBA51-FBC3-4C9C-B1F8-F438C85219BF}"/>
                  </a:ext>
                </a:extLst>
              </p:cNvPr>
              <p:cNvSpPr txBox="1">
                <a:spLocks noRot="1" noChangeAspect="1" noMove="1" noResize="1" noEditPoints="1" noAdjustHandles="1" noChangeArrowheads="1" noChangeShapeType="1" noTextEdit="1"/>
              </p:cNvSpPr>
              <p:nvPr/>
            </p:nvSpPr>
            <p:spPr>
              <a:xfrm>
                <a:off x="1303661" y="4829868"/>
                <a:ext cx="3551806" cy="276999"/>
              </a:xfrm>
              <a:prstGeom prst="rect">
                <a:avLst/>
              </a:prstGeom>
              <a:blipFill>
                <a:blip r:embed="rId7"/>
                <a:stretch>
                  <a:fillRect t="-2174" r="-1372"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F07C3B6-8397-4CC9-9853-0CF2EC7C9129}"/>
                  </a:ext>
                </a:extLst>
              </p:cNvPr>
              <p:cNvSpPr txBox="1"/>
              <p:nvPr/>
            </p:nvSpPr>
            <p:spPr>
              <a:xfrm>
                <a:off x="1292775" y="5201003"/>
                <a:ext cx="55399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m:oMathPara>
                </a14:m>
                <a:endParaRPr lang="zh-CN" altLang="en-US" dirty="0"/>
              </a:p>
            </p:txBody>
          </p:sp>
        </mc:Choice>
        <mc:Fallback xmlns="">
          <p:sp>
            <p:nvSpPr>
              <p:cNvPr id="5" name="文本框 4">
                <a:extLst>
                  <a:ext uri="{FF2B5EF4-FFF2-40B4-BE49-F238E27FC236}">
                    <a16:creationId xmlns:a16="http://schemas.microsoft.com/office/drawing/2014/main" id="{6F07C3B6-8397-4CC9-9853-0CF2EC7C9129}"/>
                  </a:ext>
                </a:extLst>
              </p:cNvPr>
              <p:cNvSpPr txBox="1">
                <a:spLocks noRot="1" noChangeAspect="1" noMove="1" noResize="1" noEditPoints="1" noAdjustHandles="1" noChangeArrowheads="1" noChangeShapeType="1" noTextEdit="1"/>
              </p:cNvSpPr>
              <p:nvPr/>
            </p:nvSpPr>
            <p:spPr>
              <a:xfrm>
                <a:off x="1292775" y="5201003"/>
                <a:ext cx="5539978" cy="276999"/>
              </a:xfrm>
              <a:prstGeom prst="rect">
                <a:avLst/>
              </a:prstGeom>
              <a:blipFill>
                <a:blip r:embed="rId8"/>
                <a:stretch>
                  <a:fillRect t="-2174" r="-770" b="-3260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17534A5-9B59-4177-8111-32B3B3CCA1D0}"/>
              </a:ext>
            </a:extLst>
          </p:cNvPr>
          <p:cNvSpPr txBox="1"/>
          <p:nvPr/>
        </p:nvSpPr>
        <p:spPr>
          <a:xfrm>
            <a:off x="4934196" y="5822277"/>
            <a:ext cx="3445199" cy="461665"/>
          </a:xfrm>
          <a:prstGeom prst="rect">
            <a:avLst/>
          </a:prstGeom>
          <a:noFill/>
        </p:spPr>
        <p:txBody>
          <a:bodyPr wrap="square" rtlCol="0">
            <a:spAutoFit/>
          </a:bodyPr>
          <a:lstStyle/>
          <a:p>
            <a:pPr algn="ctr"/>
            <a:r>
              <a:rPr lang="en-US" altLang="zh-CN" sz="2400" b="1" dirty="0">
                <a:solidFill>
                  <a:srgbClr val="C00000"/>
                </a:solidFill>
                <a:latin typeface="华文新魏" panose="02010800040101010101" pitchFamily="2" charset="-122"/>
                <a:ea typeface="华文新魏" panose="02010800040101010101" pitchFamily="2" charset="-122"/>
              </a:rPr>
              <a:t>Law of Total Probability</a:t>
            </a:r>
            <a:endParaRPr lang="zh-CN" altLang="en-US" sz="2400" b="1" dirty="0">
              <a:solidFill>
                <a:srgbClr val="C00000"/>
              </a:solidFill>
              <a:latin typeface="华文新魏" panose="02010800040101010101" pitchFamily="2" charset="-122"/>
              <a:ea typeface="华文新魏" panose="02010800040101010101" pitchFamily="2" charset="-122"/>
            </a:endParaRPr>
          </a:p>
        </p:txBody>
      </p:sp>
      <p:grpSp>
        <p:nvGrpSpPr>
          <p:cNvPr id="8" name="组合 7"/>
          <p:cNvGrpSpPr/>
          <p:nvPr/>
        </p:nvGrpSpPr>
        <p:grpSpPr>
          <a:xfrm>
            <a:off x="5632449" y="3826630"/>
            <a:ext cx="2669992" cy="569252"/>
            <a:chOff x="7810776" y="3561300"/>
            <a:chExt cx="3445150" cy="678779"/>
          </a:xfrm>
        </p:grpSpPr>
        <p:sp>
          <p:nvSpPr>
            <p:cNvPr id="17" name="文本框 8">
              <a:extLst>
                <a:ext uri="{FF2B5EF4-FFF2-40B4-BE49-F238E27FC236}">
                  <a16:creationId xmlns:a16="http://schemas.microsoft.com/office/drawing/2014/main" id="{4A40ECF2-E81B-4B19-A431-57B1692F976E}"/>
                </a:ext>
              </a:extLst>
            </p:cNvPr>
            <p:cNvSpPr txBox="1"/>
            <p:nvPr/>
          </p:nvSpPr>
          <p:spPr>
            <a:xfrm>
              <a:off x="7810776" y="3561300"/>
              <a:ext cx="3445150" cy="403694"/>
            </a:xfrm>
            <a:prstGeom prst="rect">
              <a:avLst/>
            </a:prstGeom>
            <a:noFill/>
          </p:spPr>
          <p:txBody>
            <a:bodyPr wrap="square" rtlCol="0">
              <a:spAutoFit/>
            </a:bodyPr>
            <a:lstStyle/>
            <a:p>
              <a:r>
                <a:rPr lang="en-US" altLang="zh-CN" sz="1600" b="1" dirty="0">
                  <a:solidFill>
                    <a:schemeClr val="accent2">
                      <a:lumMod val="75000"/>
                    </a:schemeClr>
                  </a:solidFill>
                </a:rPr>
                <a:t>Distributive law</a:t>
              </a:r>
              <a:r>
                <a:rPr lang="zh-CN" altLang="en-US" sz="1600" b="1" dirty="0">
                  <a:solidFill>
                    <a:schemeClr val="accent2">
                      <a:lumMod val="75000"/>
                    </a:schemeClr>
                  </a:solidFill>
                </a:rPr>
                <a:t>（分配率）</a:t>
              </a:r>
              <a:endParaRPr lang="en-US" altLang="zh-CN" sz="1600" b="1" dirty="0">
                <a:solidFill>
                  <a:schemeClr val="accent2">
                    <a:lumMod val="75000"/>
                  </a:schemeClr>
                </a:solidFill>
              </a:endParaRPr>
            </a:p>
          </p:txBody>
        </p:sp>
        <mc:AlternateContent xmlns:mc="http://schemas.openxmlformats.org/markup-compatibility/2006" xmlns:a14="http://schemas.microsoft.com/office/drawing/2010/main">
          <mc:Choice Requires="a14">
            <p:sp>
              <p:nvSpPr>
                <p:cNvPr id="20" name="文本框 24">
                  <a:extLst>
                    <a:ext uri="{FF2B5EF4-FFF2-40B4-BE49-F238E27FC236}">
                      <a16:creationId xmlns:a16="http://schemas.microsoft.com/office/drawing/2014/main" id="{0F3B722A-547D-4261-A7F3-358984C59543}"/>
                    </a:ext>
                  </a:extLst>
                </p:cNvPr>
                <p:cNvSpPr txBox="1"/>
                <p:nvPr/>
              </p:nvSpPr>
              <p:spPr>
                <a:xfrm>
                  <a:off x="7912662" y="3941428"/>
                  <a:ext cx="3343264" cy="2986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accent2">
                                <a:lumMod val="75000"/>
                              </a:schemeClr>
                            </a:solidFill>
                            <a:latin typeface="Cambria Math" panose="02040503050406030204" pitchFamily="18" charset="0"/>
                          </a:rPr>
                          <m:t>𝐴</m:t>
                        </m:r>
                        <m:r>
                          <a:rPr lang="en-US" altLang="zh-CN" sz="1600" b="0" i="1" smtClean="0">
                            <a:solidFill>
                              <a:schemeClr val="accent2">
                                <a:lumMod val="75000"/>
                              </a:schemeClr>
                            </a:solidFill>
                            <a:latin typeface="Cambria Math" panose="02040503050406030204" pitchFamily="18" charset="0"/>
                          </a:rPr>
                          <m:t>⋂</m:t>
                        </m:r>
                        <m:d>
                          <m:dPr>
                            <m:ctrlPr>
                              <a:rPr lang="en-US" altLang="zh-CN" sz="1600" i="1" smtClean="0">
                                <a:solidFill>
                                  <a:schemeClr val="accent2">
                                    <a:lumMod val="75000"/>
                                  </a:schemeClr>
                                </a:solidFill>
                                <a:latin typeface="Cambria Math" panose="02040503050406030204" pitchFamily="18" charset="0"/>
                              </a:rPr>
                            </m:ctrlPr>
                          </m:dPr>
                          <m:e>
                            <m:r>
                              <a:rPr lang="en-US" altLang="zh-CN" sz="1600" b="0" i="1" smtClean="0">
                                <a:solidFill>
                                  <a:schemeClr val="accent2">
                                    <a:lumMod val="75000"/>
                                  </a:schemeClr>
                                </a:solidFill>
                                <a:latin typeface="Cambria Math" panose="02040503050406030204" pitchFamily="18" charset="0"/>
                              </a:rPr>
                              <m:t>𝐵</m:t>
                            </m:r>
                            <m:r>
                              <a:rPr lang="en-US" altLang="zh-CN" sz="1600" b="0" i="1" smtClean="0">
                                <a:solidFill>
                                  <a:schemeClr val="accent2">
                                    <a:lumMod val="75000"/>
                                  </a:schemeClr>
                                </a:solidFill>
                                <a:latin typeface="Cambria Math" panose="02040503050406030204" pitchFamily="18" charset="0"/>
                              </a:rPr>
                              <m:t>⋃</m:t>
                            </m:r>
                            <m:r>
                              <a:rPr lang="en-US" altLang="zh-CN" sz="1600" b="0" i="1" smtClean="0">
                                <a:solidFill>
                                  <a:schemeClr val="accent2">
                                    <a:lumMod val="75000"/>
                                  </a:schemeClr>
                                </a:solidFill>
                                <a:latin typeface="Cambria Math" panose="02040503050406030204" pitchFamily="18" charset="0"/>
                              </a:rPr>
                              <m:t>𝐶</m:t>
                            </m:r>
                          </m:e>
                        </m:d>
                        <m:r>
                          <a:rPr lang="en-US" altLang="zh-CN" sz="1600" b="0" i="1" smtClean="0">
                            <a:solidFill>
                              <a:schemeClr val="accent2">
                                <a:lumMod val="75000"/>
                              </a:schemeClr>
                            </a:solidFill>
                            <a:latin typeface="Cambria Math" panose="02040503050406030204" pitchFamily="18" charset="0"/>
                          </a:rPr>
                          <m:t>=(</m:t>
                        </m:r>
                        <m:r>
                          <a:rPr lang="en-US" altLang="zh-CN" sz="1600" b="0" i="1" smtClean="0">
                            <a:solidFill>
                              <a:schemeClr val="accent2">
                                <a:lumMod val="75000"/>
                              </a:schemeClr>
                            </a:solidFill>
                            <a:latin typeface="Cambria Math" panose="02040503050406030204" pitchFamily="18" charset="0"/>
                          </a:rPr>
                          <m:t>𝐴</m:t>
                        </m:r>
                        <m:r>
                          <a:rPr lang="en-US" altLang="zh-CN" sz="1600" b="0" i="1" smtClean="0">
                            <a:solidFill>
                              <a:schemeClr val="accent2">
                                <a:lumMod val="75000"/>
                              </a:schemeClr>
                            </a:solidFill>
                            <a:latin typeface="Cambria Math" panose="02040503050406030204" pitchFamily="18" charset="0"/>
                          </a:rPr>
                          <m:t>⋂</m:t>
                        </m:r>
                        <m:r>
                          <a:rPr lang="en-US" altLang="zh-CN" sz="1600" b="0" i="1" smtClean="0">
                            <a:solidFill>
                              <a:schemeClr val="accent2">
                                <a:lumMod val="75000"/>
                              </a:schemeClr>
                            </a:solidFill>
                            <a:latin typeface="Cambria Math" panose="02040503050406030204" pitchFamily="18" charset="0"/>
                          </a:rPr>
                          <m:t>𝐵</m:t>
                        </m:r>
                        <m:r>
                          <a:rPr lang="en-US" altLang="zh-CN" sz="1600" b="0" i="1" smtClean="0">
                            <a:solidFill>
                              <a:schemeClr val="accent2">
                                <a:lumMod val="75000"/>
                              </a:schemeClr>
                            </a:solidFill>
                            <a:latin typeface="Cambria Math" panose="02040503050406030204" pitchFamily="18" charset="0"/>
                          </a:rPr>
                          <m:t>)⋃(</m:t>
                        </m:r>
                        <m:r>
                          <a:rPr lang="en-US" altLang="zh-CN" sz="1600" b="0" i="1" smtClean="0">
                            <a:solidFill>
                              <a:schemeClr val="accent2">
                                <a:lumMod val="75000"/>
                              </a:schemeClr>
                            </a:solidFill>
                            <a:latin typeface="Cambria Math" panose="02040503050406030204" pitchFamily="18" charset="0"/>
                          </a:rPr>
                          <m:t>𝐴</m:t>
                        </m:r>
                        <m:r>
                          <a:rPr lang="en-US" altLang="zh-CN" sz="1600" b="0" i="1" smtClean="0">
                            <a:solidFill>
                              <a:schemeClr val="accent2">
                                <a:lumMod val="75000"/>
                              </a:schemeClr>
                            </a:solidFill>
                            <a:latin typeface="Cambria Math" panose="02040503050406030204" pitchFamily="18" charset="0"/>
                          </a:rPr>
                          <m:t>⋂</m:t>
                        </m:r>
                        <m:r>
                          <a:rPr lang="en-US" altLang="zh-CN" sz="1600" b="0" i="1" smtClean="0">
                            <a:solidFill>
                              <a:schemeClr val="accent2">
                                <a:lumMod val="75000"/>
                              </a:schemeClr>
                            </a:solidFill>
                            <a:latin typeface="Cambria Math" panose="02040503050406030204" pitchFamily="18" charset="0"/>
                          </a:rPr>
                          <m:t>𝐶</m:t>
                        </m:r>
                        <m:r>
                          <a:rPr lang="en-US" altLang="zh-CN" sz="1600" b="0" i="1" smtClean="0">
                            <a:solidFill>
                              <a:schemeClr val="accent2">
                                <a:lumMod val="75000"/>
                              </a:schemeClr>
                            </a:solidFill>
                            <a:latin typeface="Cambria Math" panose="02040503050406030204" pitchFamily="18" charset="0"/>
                          </a:rPr>
                          <m:t>)</m:t>
                        </m:r>
                      </m:oMath>
                    </m:oMathPara>
                  </a14:m>
                  <a:endParaRPr lang="zh-CN" altLang="en-US" sz="1600" dirty="0">
                    <a:solidFill>
                      <a:schemeClr val="accent2">
                        <a:lumMod val="75000"/>
                      </a:schemeClr>
                    </a:solidFill>
                  </a:endParaRPr>
                </a:p>
              </p:txBody>
            </p:sp>
          </mc:Choice>
          <mc:Fallback xmlns="">
            <p:sp>
              <p:nvSpPr>
                <p:cNvPr id="20" name="文本框 24">
                  <a:extLst>
                    <a:ext uri="{FF2B5EF4-FFF2-40B4-BE49-F238E27FC236}">
                      <a16:creationId xmlns:a16="http://schemas.microsoft.com/office/drawing/2014/main" id="{0F3B722A-547D-4261-A7F3-358984C59543}"/>
                    </a:ext>
                  </a:extLst>
                </p:cNvPr>
                <p:cNvSpPr txBox="1">
                  <a:spLocks noRot="1" noChangeAspect="1" noMove="1" noResize="1" noEditPoints="1" noAdjustHandles="1" noChangeArrowheads="1" noChangeShapeType="1" noTextEdit="1"/>
                </p:cNvSpPr>
                <p:nvPr/>
              </p:nvSpPr>
              <p:spPr>
                <a:xfrm>
                  <a:off x="7912662" y="3941428"/>
                  <a:ext cx="3343264" cy="298651"/>
                </a:xfrm>
                <a:prstGeom prst="rect">
                  <a:avLst/>
                </a:prstGeom>
                <a:blipFill>
                  <a:blip r:embed="rId9"/>
                  <a:stretch>
                    <a:fillRect l="-488" r="-1951" b="-40000"/>
                  </a:stretch>
                </a:blipFill>
              </p:spPr>
              <p:txBody>
                <a:bodyPr/>
                <a:lstStyle/>
                <a:p>
                  <a:r>
                    <a:rPr lang="en-CN">
                      <a:noFill/>
                    </a:rPr>
                    <a:t> </a:t>
                  </a:r>
                </a:p>
              </p:txBody>
            </p:sp>
          </mc:Fallback>
        </mc:AlternateContent>
      </p:grpSp>
      <mc:AlternateContent xmlns:mc="http://schemas.openxmlformats.org/markup-compatibility/2006" xmlns:a14="http://schemas.microsoft.com/office/drawing/2010/main">
        <mc:Choice Requires="a14">
          <p:sp>
            <p:nvSpPr>
              <p:cNvPr id="9" name="矩形 8"/>
              <p:cNvSpPr/>
              <p:nvPr/>
            </p:nvSpPr>
            <p:spPr>
              <a:xfrm>
                <a:off x="5599788" y="4589287"/>
                <a:ext cx="3308599" cy="584775"/>
              </a:xfrm>
              <a:prstGeom prst="rect">
                <a:avLst/>
              </a:prstGeom>
            </p:spPr>
            <p:txBody>
              <a:bodyPr wrap="square">
                <a:spAutoFit/>
              </a:bodyPr>
              <a:lstStyle/>
              <a:p>
                <a:r>
                  <a:rPr lang="en-US" altLang="zh-CN" sz="1600" b="1" dirty="0">
                    <a:solidFill>
                      <a:schemeClr val="accent2">
                        <a:lumMod val="75000"/>
                      </a:schemeClr>
                    </a:solidFill>
                  </a:rPr>
                  <a:t>Multiplication law</a:t>
                </a:r>
                <a:r>
                  <a:rPr lang="zh-CN" altLang="en-US" sz="1600" b="1" dirty="0">
                    <a:solidFill>
                      <a:schemeClr val="accent2">
                        <a:lumMod val="75000"/>
                      </a:schemeClr>
                    </a:solidFill>
                  </a:rPr>
                  <a:t>（乘法定律）</a:t>
                </a:r>
                <a:endParaRPr lang="en-US" altLang="zh-CN" sz="1600" b="1" dirty="0">
                  <a:solidFill>
                    <a:schemeClr val="accent2">
                      <a:lumMod val="75000"/>
                    </a:schemeClr>
                  </a:solidFill>
                </a:endParaRPr>
              </a:p>
              <a:p>
                <a:pPr/>
                <a14:m>
                  <m:oMathPara xmlns:m="http://schemas.openxmlformats.org/officeDocument/2006/math">
                    <m:oMathParaPr>
                      <m:jc m:val="left"/>
                    </m:oMathParaPr>
                    <m:oMath xmlns:m="http://schemas.openxmlformats.org/officeDocument/2006/math">
                      <m:r>
                        <a:rPr lang="en-US" altLang="zh-CN" sz="1600" b="0" i="1" smtClean="0">
                          <a:solidFill>
                            <a:schemeClr val="accent2">
                              <a:lumMod val="75000"/>
                            </a:schemeClr>
                          </a:solidFill>
                          <a:latin typeface="Cambria Math" panose="02040503050406030204" pitchFamily="18" charset="0"/>
                        </a:rPr>
                        <m:t>𝑃</m:t>
                      </m:r>
                      <m:d>
                        <m:dPr>
                          <m:ctrlPr>
                            <a:rPr lang="en-US" altLang="zh-CN" sz="1600" i="1">
                              <a:solidFill>
                                <a:schemeClr val="accent2">
                                  <a:lumMod val="75000"/>
                                </a:schemeClr>
                              </a:solidFill>
                              <a:latin typeface="Cambria Math" panose="02040503050406030204" pitchFamily="18" charset="0"/>
                            </a:rPr>
                          </m:ctrlPr>
                        </m:dPr>
                        <m:e>
                          <m:r>
                            <a:rPr lang="en-US" altLang="zh-CN" sz="1600" b="0" i="1">
                              <a:solidFill>
                                <a:schemeClr val="accent2">
                                  <a:lumMod val="75000"/>
                                </a:schemeClr>
                              </a:solidFill>
                              <a:latin typeface="Cambria Math" panose="02040503050406030204" pitchFamily="18" charset="0"/>
                            </a:rPr>
                            <m:t>𝐴𝐵</m:t>
                          </m:r>
                        </m:e>
                      </m:d>
                      <m:r>
                        <a:rPr lang="en-US" altLang="zh-CN" sz="1600" b="0" i="1">
                          <a:solidFill>
                            <a:schemeClr val="accent2">
                              <a:lumMod val="75000"/>
                            </a:schemeClr>
                          </a:solidFill>
                          <a:latin typeface="Cambria Math" panose="02040503050406030204" pitchFamily="18" charset="0"/>
                        </a:rPr>
                        <m:t>=</m:t>
                      </m:r>
                      <m:r>
                        <a:rPr lang="en-US" altLang="zh-CN" sz="1600" b="0" i="1">
                          <a:solidFill>
                            <a:schemeClr val="accent2">
                              <a:lumMod val="75000"/>
                            </a:schemeClr>
                          </a:solidFill>
                          <a:latin typeface="Cambria Math" panose="02040503050406030204" pitchFamily="18" charset="0"/>
                        </a:rPr>
                        <m:t>𝑃</m:t>
                      </m:r>
                      <m:d>
                        <m:dPr>
                          <m:ctrlPr>
                            <a:rPr lang="en-US" altLang="zh-CN" sz="1600" i="1">
                              <a:solidFill>
                                <a:schemeClr val="accent2">
                                  <a:lumMod val="75000"/>
                                </a:schemeClr>
                              </a:solidFill>
                              <a:latin typeface="Cambria Math" panose="02040503050406030204" pitchFamily="18" charset="0"/>
                            </a:rPr>
                          </m:ctrlPr>
                        </m:dPr>
                        <m:e>
                          <m:r>
                            <a:rPr lang="en-US" altLang="zh-CN" sz="1600" b="0" i="1">
                              <a:solidFill>
                                <a:schemeClr val="accent2">
                                  <a:lumMod val="75000"/>
                                </a:schemeClr>
                              </a:solidFill>
                              <a:latin typeface="Cambria Math" panose="02040503050406030204" pitchFamily="18" charset="0"/>
                            </a:rPr>
                            <m:t>𝐴</m:t>
                          </m:r>
                        </m:e>
                        <m:e>
                          <m:r>
                            <a:rPr lang="en-US" altLang="zh-CN" sz="1600" b="0" i="1">
                              <a:solidFill>
                                <a:schemeClr val="accent2">
                                  <a:lumMod val="75000"/>
                                </a:schemeClr>
                              </a:solidFill>
                              <a:latin typeface="Cambria Math" panose="02040503050406030204" pitchFamily="18" charset="0"/>
                            </a:rPr>
                            <m:t>𝐵</m:t>
                          </m:r>
                        </m:e>
                      </m:d>
                      <m:r>
                        <a:rPr lang="en-US" altLang="zh-CN" sz="1600" b="0" i="1">
                          <a:solidFill>
                            <a:schemeClr val="accent2">
                              <a:lumMod val="75000"/>
                            </a:schemeClr>
                          </a:solidFill>
                          <a:latin typeface="Cambria Math" panose="02040503050406030204" pitchFamily="18" charset="0"/>
                        </a:rPr>
                        <m:t>𝑃</m:t>
                      </m:r>
                      <m:r>
                        <a:rPr lang="en-US" altLang="zh-CN" sz="1600" b="0" i="1">
                          <a:solidFill>
                            <a:schemeClr val="accent2">
                              <a:lumMod val="75000"/>
                            </a:schemeClr>
                          </a:solidFill>
                          <a:latin typeface="Cambria Math" panose="02040503050406030204" pitchFamily="18" charset="0"/>
                        </a:rPr>
                        <m:t>(</m:t>
                      </m:r>
                      <m:r>
                        <a:rPr lang="en-US" altLang="zh-CN" sz="1600" b="0" i="1">
                          <a:solidFill>
                            <a:schemeClr val="accent2">
                              <a:lumMod val="75000"/>
                            </a:schemeClr>
                          </a:solidFill>
                          <a:latin typeface="Cambria Math" panose="02040503050406030204" pitchFamily="18" charset="0"/>
                        </a:rPr>
                        <m:t>𝐵</m:t>
                      </m:r>
                      <m:r>
                        <a:rPr lang="en-US" altLang="zh-CN" sz="1600" b="0" i="1">
                          <a:solidFill>
                            <a:schemeClr val="accent2">
                              <a:lumMod val="75000"/>
                            </a:schemeClr>
                          </a:solidFill>
                          <a:latin typeface="Cambria Math" panose="02040503050406030204" pitchFamily="18" charset="0"/>
                        </a:rPr>
                        <m:t>)</m:t>
                      </m:r>
                    </m:oMath>
                  </m:oMathPara>
                </a14:m>
                <a:endParaRPr lang="en-US" altLang="zh-CN" sz="1600" dirty="0">
                  <a:solidFill>
                    <a:schemeClr val="accent2">
                      <a:lumMod val="75000"/>
                    </a:schemeClr>
                  </a:solidFill>
                  <a:latin typeface="华文新魏" panose="02010800040101010101" pitchFamily="2" charset="-122"/>
                  <a:ea typeface="华文新魏" panose="0201080004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5599788" y="4589287"/>
                <a:ext cx="3308599" cy="584775"/>
              </a:xfrm>
              <a:prstGeom prst="rect">
                <a:avLst/>
              </a:prstGeom>
              <a:blipFill>
                <a:blip r:embed="rId10"/>
                <a:stretch>
                  <a:fillRect l="-1107" t="-3125" b="-5208"/>
                </a:stretch>
              </a:blipFill>
            </p:spPr>
            <p:txBody>
              <a:bodyPr/>
              <a:lstStyle/>
              <a:p>
                <a:r>
                  <a:rPr lang="zh-CN" altLang="en-US">
                    <a:noFill/>
                  </a:rPr>
                  <a:t> </a:t>
                </a:r>
              </a:p>
            </p:txBody>
          </p:sp>
        </mc:Fallback>
      </mc:AlternateContent>
      <p:grpSp>
        <p:nvGrpSpPr>
          <p:cNvPr id="29" name="组合 42">
            <a:extLst>
              <a:ext uri="{FF2B5EF4-FFF2-40B4-BE49-F238E27FC236}">
                <a16:creationId xmlns:a16="http://schemas.microsoft.com/office/drawing/2014/main" id="{A9306FB5-93FE-0143-B93F-C44AF02D58E6}"/>
              </a:ext>
            </a:extLst>
          </p:cNvPr>
          <p:cNvGrpSpPr/>
          <p:nvPr/>
        </p:nvGrpSpPr>
        <p:grpSpPr>
          <a:xfrm>
            <a:off x="1490970" y="194556"/>
            <a:ext cx="6318445" cy="551330"/>
            <a:chOff x="3179763" y="517058"/>
            <a:chExt cx="6318445" cy="551330"/>
          </a:xfrm>
        </p:grpSpPr>
        <p:sp>
          <p:nvSpPr>
            <p:cNvPr id="30" name="文本框 37">
              <a:extLst>
                <a:ext uri="{FF2B5EF4-FFF2-40B4-BE49-F238E27FC236}">
                  <a16:creationId xmlns:a16="http://schemas.microsoft.com/office/drawing/2014/main" id="{EA84555D-6D94-2A48-AA4B-04A7D71E5A76}"/>
                </a:ext>
              </a:extLst>
            </p:cNvPr>
            <p:cNvSpPr txBox="1"/>
            <p:nvPr/>
          </p:nvSpPr>
          <p:spPr>
            <a:xfrm>
              <a:off x="3412888" y="517058"/>
              <a:ext cx="6085320"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Law of Total Probability</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全概率定律</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31" name="Line 76">
              <a:extLst>
                <a:ext uri="{FF2B5EF4-FFF2-40B4-BE49-F238E27FC236}">
                  <a16:creationId xmlns:a16="http://schemas.microsoft.com/office/drawing/2014/main" id="{FBE62F43-9FA8-6044-BCF0-CE448F5F2AC9}"/>
                </a:ext>
              </a:extLst>
            </p:cNvPr>
            <p:cNvSpPr>
              <a:spLocks noChangeShapeType="1"/>
            </p:cNvSpPr>
            <p:nvPr/>
          </p:nvSpPr>
          <p:spPr bwMode="auto">
            <a:xfrm flipV="1">
              <a:off x="3179763" y="1055287"/>
              <a:ext cx="6205230" cy="13101"/>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grpSp>
      <p:sp>
        <p:nvSpPr>
          <p:cNvPr id="21" name="文本框 20">
            <a:extLst>
              <a:ext uri="{FF2B5EF4-FFF2-40B4-BE49-F238E27FC236}">
                <a16:creationId xmlns:a16="http://schemas.microsoft.com/office/drawing/2014/main" id="{71918F4C-BE02-4E2B-B0D5-E505AD0B6521}"/>
              </a:ext>
            </a:extLst>
          </p:cNvPr>
          <p:cNvSpPr txBox="1"/>
          <p:nvPr/>
        </p:nvSpPr>
        <p:spPr>
          <a:xfrm>
            <a:off x="241358" y="913929"/>
            <a:ext cx="8435142" cy="646331"/>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Question: </a:t>
            </a:r>
            <a:r>
              <a:rPr lang="en-US" altLang="zh-CN" dirty="0">
                <a:solidFill>
                  <a:schemeClr val="accent1">
                    <a:lumMod val="75000"/>
                  </a:schemeClr>
                </a:solidFill>
                <a:latin typeface="华文新魏" panose="02010800040101010101" pitchFamily="2" charset="-122"/>
                <a:ea typeface="华文新魏" panose="02010800040101010101" pitchFamily="2" charset="-122"/>
              </a:rPr>
              <a:t>How to resolve a complex probability problem with the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summation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of several simple probabilities?</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22" name="文本框 21">
            <a:extLst>
              <a:ext uri="{FF2B5EF4-FFF2-40B4-BE49-F238E27FC236}">
                <a16:creationId xmlns:a16="http://schemas.microsoft.com/office/drawing/2014/main" id="{F7B2B02A-518E-41BD-8088-539EC84E139B}"/>
              </a:ext>
            </a:extLst>
          </p:cNvPr>
          <p:cNvSpPr txBox="1"/>
          <p:nvPr/>
        </p:nvSpPr>
        <p:spPr>
          <a:xfrm>
            <a:off x="736600" y="1557555"/>
            <a:ext cx="3926075" cy="369332"/>
          </a:xfrm>
          <a:prstGeom prst="rect">
            <a:avLst/>
          </a:prstGeom>
          <a:noFill/>
        </p:spPr>
        <p:txBody>
          <a:bodyPr wrap="none" rtlCol="0">
            <a:spAutoFit/>
          </a:bodyPr>
          <a:lstStyle/>
          <a:p>
            <a:r>
              <a:rPr lang="en-US" altLang="zh-CN" b="1" dirty="0">
                <a:solidFill>
                  <a:srgbClr val="C00000"/>
                </a:solidFill>
                <a:latin typeface="华文新魏" panose="02010800040101010101" pitchFamily="2" charset="-122"/>
                <a:ea typeface="华文新魏" panose="02010800040101010101" pitchFamily="2" charset="-122"/>
              </a:rPr>
              <a:t>Partition </a:t>
            </a:r>
            <a:r>
              <a:rPr lang="en-US" altLang="zh-CN" b="1" dirty="0">
                <a:solidFill>
                  <a:srgbClr val="C00000"/>
                </a:solidFill>
                <a:latin typeface="黑体" panose="02010609060101010101" pitchFamily="49" charset="-122"/>
                <a:ea typeface="黑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分划</a:t>
            </a:r>
            <a:r>
              <a:rPr lang="en-US" altLang="zh-CN" b="1" dirty="0">
                <a:solidFill>
                  <a:srgbClr val="C00000"/>
                </a:solidFill>
                <a:latin typeface="黑体" panose="02010609060101010101" pitchFamily="49" charset="-122"/>
                <a:ea typeface="黑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 </a:t>
            </a:r>
            <a:r>
              <a:rPr lang="en-US" altLang="zh-CN" dirty="0">
                <a:solidFill>
                  <a:schemeClr val="tx2">
                    <a:lumMod val="75000"/>
                  </a:schemeClr>
                </a:solidFill>
                <a:latin typeface="华文新魏" panose="02010800040101010101" pitchFamily="2" charset="-122"/>
                <a:ea typeface="华文新魏" panose="02010800040101010101" pitchFamily="2" charset="-122"/>
              </a:rPr>
              <a:t>of the sample space:</a:t>
            </a:r>
            <a:endParaRPr lang="zh-CN" altLang="en-US" dirty="0">
              <a:solidFill>
                <a:schemeClr val="tx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EB4E166-33A4-43EA-8A54-A5068771C2A5}"/>
                  </a:ext>
                </a:extLst>
              </p:cNvPr>
              <p:cNvSpPr txBox="1"/>
              <p:nvPr/>
            </p:nvSpPr>
            <p:spPr>
              <a:xfrm>
                <a:off x="736600" y="1898535"/>
                <a:ext cx="8095439" cy="1364797"/>
              </a:xfrm>
              <a:prstGeom prst="rect">
                <a:avLst/>
              </a:prstGeom>
              <a:noFill/>
            </p:spPr>
            <p:txBody>
              <a:bodyPr wrap="square" rtlCol="0">
                <a:spAutoFit/>
              </a:bodyPr>
              <a:lstStyle/>
              <a:p>
                <a:pPr>
                  <a:lnSpc>
                    <a:spcPct val="114000"/>
                  </a:lnSpc>
                </a:pPr>
                <a:r>
                  <a:rPr lang="en-US" altLang="zh-CN" b="0" dirty="0">
                    <a:latin typeface="STXinwei" panose="02010800040101010101" pitchFamily="2" charset="-122"/>
                    <a:ea typeface="STXinwei" panose="02010800040101010101" pitchFamily="2" charset="-122"/>
                  </a:rPr>
                  <a:t>Let</a:t>
                </a:r>
                <a:r>
                  <a:rPr lang="zh-CN" altLang="en-US" b="0" dirty="0">
                    <a:latin typeface="STXinwei" panose="02010800040101010101" pitchFamily="2" charset="-122"/>
                    <a:ea typeface="STXinwei" panose="02010800040101010101" pitchFamily="2" charset="-122"/>
                  </a:rPr>
                  <a:t> </a:t>
                </a:r>
                <a14:m>
                  <m:oMath xmlns:m="http://schemas.openxmlformats.org/officeDocument/2006/math">
                    <m:r>
                      <m:rPr>
                        <m:sty m:val="p"/>
                      </m:rPr>
                      <a:rPr lang="en-US" altLang="zh-CN" b="0" i="0" smtClean="0">
                        <a:latin typeface="Cambria Math" panose="02040503050406030204" pitchFamily="18" charset="0"/>
                      </a:rPr>
                      <m:t>Ω</m:t>
                    </m:r>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be the sample space, if events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meet the requirements:</a:t>
                </a:r>
              </a:p>
              <a:p>
                <a:pPr marL="800100" lvl="1" indent="-342900">
                  <a:lnSpc>
                    <a:spcPct val="114000"/>
                  </a:lnSpc>
                  <a:buAutoNum type="arabicPeriod"/>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 </m:t>
                    </m:r>
                    <m:r>
                      <m:rPr>
                        <m:sty m:val="p"/>
                      </m:rPr>
                      <a:rPr lang="en-US" altLang="zh-CN" b="0" i="0" smtClean="0">
                        <a:latin typeface="Cambria Math" panose="02040503050406030204" pitchFamily="18" charset="0"/>
                        <a:ea typeface="华文新魏" panose="02010800040101010101" pitchFamily="2" charset="-122"/>
                      </a:rPr>
                      <m:t>are</m:t>
                    </m:r>
                    <m:r>
                      <a:rPr lang="en-US" altLang="zh-CN" b="0" i="0" smtClean="0">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𝐩𝐚𝐢𝐫𝐰𝐢𝐬𝐞</m:t>
                    </m:r>
                    <m:r>
                      <a:rPr lang="en-US" altLang="zh-CN" b="1" i="0" smtClean="0">
                        <a:solidFill>
                          <a:srgbClr val="C00000"/>
                        </a:solidFill>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𝐝𝐢𝐬𝐣𝐨𝐢𝐧𝐭</m:t>
                    </m:r>
                    <m:r>
                      <a:rPr lang="en-US" altLang="zh-CN" b="1" i="0" smtClean="0">
                        <a:solidFill>
                          <a:srgbClr val="C00000"/>
                        </a:solidFill>
                        <a:latin typeface="Cambria Math" panose="02040503050406030204" pitchFamily="18" charset="0"/>
                        <a:ea typeface="华文新魏" panose="02010800040101010101" pitchFamily="2" charset="-122"/>
                      </a:rPr>
                      <m:t> </m:t>
                    </m:r>
                    <m:r>
                      <a:rPr lang="zh-CN" altLang="en-US" b="1" i="1">
                        <a:solidFill>
                          <a:srgbClr val="C00000"/>
                        </a:solidFill>
                        <a:latin typeface="Cambria Math" panose="02040503050406030204" pitchFamily="18" charset="0"/>
                        <a:ea typeface="华文新魏" panose="02010800040101010101" pitchFamily="2" charset="-122"/>
                      </a:rPr>
                      <m:t>（</m:t>
                    </m:r>
                    <m:r>
                      <a:rPr lang="zh-CN" altLang="en-US" b="1" i="1" smtClean="0">
                        <a:solidFill>
                          <a:srgbClr val="C00000"/>
                        </a:solidFill>
                        <a:latin typeface="Cambria Math" panose="02040503050406030204" pitchFamily="18" charset="0"/>
                        <a:ea typeface="华文新魏" panose="02010800040101010101" pitchFamily="2" charset="-122"/>
                      </a:rPr>
                      <m:t>两两</m:t>
                    </m:r>
                    <m:r>
                      <a:rPr lang="zh-CN" altLang="en-US" b="1" i="1">
                        <a:solidFill>
                          <a:srgbClr val="C00000"/>
                        </a:solidFill>
                        <a:latin typeface="Cambria Math" panose="02040503050406030204" pitchFamily="18" charset="0"/>
                        <a:ea typeface="华文新魏" panose="02010800040101010101" pitchFamily="2" charset="-122"/>
                      </a:rPr>
                      <m:t>不相容</m:t>
                    </m:r>
                    <m:r>
                      <a:rPr lang="zh-CN" altLang="en-US" b="1" i="1" smtClean="0">
                        <a:solidFill>
                          <a:srgbClr val="C00000"/>
                        </a:solidFill>
                        <a:latin typeface="Cambria Math" panose="02040503050406030204" pitchFamily="18" charset="0"/>
                        <a:ea typeface="华文新魏" panose="02010800040101010101" pitchFamily="2" charset="-122"/>
                      </a:rPr>
                      <m:t>）</m:t>
                    </m:r>
                    <m:r>
                      <a:rPr lang="en-US" altLang="zh-CN" b="0" i="0" smtClean="0">
                        <a:latin typeface="Cambria Math"/>
                        <a:ea typeface="华文新魏" panose="02010800040101010101" pitchFamily="2" charset="-122"/>
                      </a:rPr>
                      <m:t> </m:t>
                    </m:r>
                    <m:r>
                      <a:rPr lang="zh-CN" altLang="en-US" b="0" i="0" smtClean="0">
                        <a:latin typeface="Cambria Math" panose="02040503050406030204" pitchFamily="18" charset="0"/>
                        <a:ea typeface="华文新魏" panose="02010800040101010101" pitchFamily="2" charset="-122"/>
                      </a:rPr>
                      <m:t> </m:t>
                    </m:r>
                  </m:oMath>
                </a14:m>
                <a:endParaRPr lang="en-US" altLang="zh-CN" b="0" i="0" dirty="0">
                  <a:latin typeface="Cambria Math" panose="02040503050406030204" pitchFamily="18" charset="0"/>
                  <a:ea typeface="华文新魏" panose="02010800040101010101" pitchFamily="2" charset="-122"/>
                </a:endParaRPr>
              </a:p>
              <a:p>
                <a:pPr lvl="1">
                  <a:lnSpc>
                    <a:spcPct val="114000"/>
                  </a:lnSpc>
                </a:pPr>
                <a:r>
                  <a:rPr lang="en-US" altLang="zh-CN" dirty="0">
                    <a:ea typeface="华文新魏" panose="02010800040101010101" pitchFamily="2" charset="-122"/>
                  </a:rPr>
                  <a:t>               </a:t>
                </a:r>
                <a14:m>
                  <m:oMath xmlns:m="http://schemas.openxmlformats.org/officeDocument/2006/math">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𝑖</m:t>
                        </m:r>
                      </m:sub>
                    </m:sSub>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𝑗</m:t>
                        </m:r>
                      </m:sub>
                    </m:sSub>
                    <m:r>
                      <a:rPr lang="en-US" altLang="zh-CN" i="1">
                        <a:latin typeface="Cambria Math" panose="02040503050406030204" pitchFamily="18" charset="0"/>
                        <a:ea typeface="华文新魏" panose="02010800040101010101" pitchFamily="2" charset="-122"/>
                      </a:rPr>
                      <m:t>=</m:t>
                    </m:r>
                    <m:r>
                      <m:rPr>
                        <m:sty m:val="p"/>
                      </m:rPr>
                      <a:rPr lang="en-US" altLang="zh-CN">
                        <a:latin typeface="Cambria Math" panose="02040503050406030204" pitchFamily="18" charset="0"/>
                        <a:ea typeface="华文新魏" panose="02010800040101010101" pitchFamily="2" charset="-122"/>
                      </a:rPr>
                      <m:t>Φ</m:t>
                    </m:r>
                    <m:r>
                      <a:rPr lang="en-US" altLang="zh-CN" b="0" i="0" smtClean="0">
                        <a:latin typeface="Cambria Math"/>
                        <a:ea typeface="华文新魏" panose="02010800040101010101" pitchFamily="2" charset="-122"/>
                      </a:rPr>
                      <m:t> </m:t>
                    </m:r>
                    <m:d>
                      <m:dPr>
                        <m:ctrlPr>
                          <a:rPr lang="en-US" altLang="zh-CN" b="0" i="1" smtClean="0">
                            <a:latin typeface="Cambria Math" panose="02040503050406030204" pitchFamily="18" charset="0"/>
                            <a:ea typeface="华文新魏" panose="02010800040101010101" pitchFamily="2" charset="-122"/>
                          </a:rPr>
                        </m:ctrlPr>
                      </m:dPr>
                      <m:e>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=1,…,</m:t>
                        </m:r>
                        <m:r>
                          <a:rPr lang="en-US" altLang="zh-CN" b="0" i="1" smtClean="0">
                            <a:latin typeface="Cambria Math" panose="02040503050406030204" pitchFamily="18" charset="0"/>
                            <a:ea typeface="华文新魏" panose="02010800040101010101" pitchFamily="2" charset="-122"/>
                          </a:rPr>
                          <m:t>𝑛</m:t>
                        </m:r>
                      </m:e>
                    </m:d>
                    <m:r>
                      <a:rPr lang="en-US" altLang="zh-CN" b="0" i="1" smtClean="0">
                        <a:latin typeface="Cambria Math" panose="02040503050406030204" pitchFamily="18" charset="0"/>
                        <a:ea typeface="华文新魏" panose="02010800040101010101" pitchFamily="2" charset="-122"/>
                      </a:rPr>
                      <m:t>.</m:t>
                    </m:r>
                  </m:oMath>
                </a14:m>
                <a:endParaRPr lang="en-US" altLang="zh-CN" dirty="0">
                  <a:latin typeface="华文新魏" panose="02010800040101010101" pitchFamily="2" charset="-122"/>
                  <a:ea typeface="华文新魏" panose="02010800040101010101" pitchFamily="2" charset="-122"/>
                </a:endParaRPr>
              </a:p>
              <a:p>
                <a:pPr marL="800100" lvl="1" indent="-342900">
                  <a:lnSpc>
                    <a:spcPct val="114000"/>
                  </a:lnSpc>
                  <a:buFont typeface="+mj-lt"/>
                  <a:buAutoNum type="arabicPeriod" startAt="2"/>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m:t>
                    </m:r>
                    <m:r>
                      <m:rPr>
                        <m:sty m:val="p"/>
                      </m:rPr>
                      <a:rPr lang="en-US" altLang="zh-CN" b="0" i="0" smtClean="0">
                        <a:latin typeface="Cambria Math" panose="02040503050406030204" pitchFamily="18" charset="0"/>
                        <a:ea typeface="华文新魏" panose="02010800040101010101" pitchFamily="2" charset="-122"/>
                      </a:rPr>
                      <m:t>Ω</m:t>
                    </m:r>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23" name="文本框 22">
                <a:extLst>
                  <a:ext uri="{FF2B5EF4-FFF2-40B4-BE49-F238E27FC236}">
                    <a16:creationId xmlns:a16="http://schemas.microsoft.com/office/drawing/2014/main" id="{EEB4E166-33A4-43EA-8A54-A5068771C2A5}"/>
                  </a:ext>
                </a:extLst>
              </p:cNvPr>
              <p:cNvSpPr txBox="1">
                <a:spLocks noRot="1" noChangeAspect="1" noMove="1" noResize="1" noEditPoints="1" noAdjustHandles="1" noChangeArrowheads="1" noChangeShapeType="1" noTextEdit="1"/>
              </p:cNvSpPr>
              <p:nvPr/>
            </p:nvSpPr>
            <p:spPr>
              <a:xfrm>
                <a:off x="736600" y="1898535"/>
                <a:ext cx="8095439" cy="1364797"/>
              </a:xfrm>
              <a:prstGeom prst="rect">
                <a:avLst/>
              </a:prstGeom>
              <a:blipFill>
                <a:blip r:embed="rId11"/>
                <a:stretch>
                  <a:fillRect l="-678" t="-446" b="-4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B146B336-4427-4D6C-991C-ADB6074F613B}"/>
                  </a:ext>
                </a:extLst>
              </p:cNvPr>
              <p:cNvSpPr txBox="1"/>
              <p:nvPr/>
            </p:nvSpPr>
            <p:spPr>
              <a:xfrm>
                <a:off x="746635" y="3171562"/>
                <a:ext cx="6692666" cy="369332"/>
              </a:xfrm>
              <a:prstGeom prst="rect">
                <a:avLst/>
              </a:prstGeom>
              <a:noFill/>
            </p:spPr>
            <p:txBody>
              <a:bodyPr wrap="square" rtlCol="0">
                <a:spAutoFit/>
              </a:bodyPr>
              <a:lstStyle/>
              <a:p>
                <a:r>
                  <a:rPr lang="en-US" altLang="zh-CN" dirty="0">
                    <a:latin typeface="STXinwei" panose="02010800040101010101" pitchFamily="2" charset="-122"/>
                    <a:ea typeface="STXinwei" panose="02010800040101010101" pitchFamily="2" charset="-122"/>
                    <a:cs typeface="Arial Unicode MS" panose="020B0604020202020204" pitchFamily="34" charset="-122"/>
                  </a:rPr>
                  <a:t>We call each of  </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𝟏</m:t>
                        </m:r>
                      </m:sub>
                    </m:sSub>
                    <m:r>
                      <a:rPr lang="en-US" altLang="zh-CN" b="1" i="1" smtClean="0">
                        <a:solidFill>
                          <a:srgbClr val="C00000"/>
                        </a:solidFill>
                        <a:latin typeface="Cambria Math"/>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𝟐</m:t>
                        </m:r>
                      </m:sub>
                    </m:sSub>
                    <m:r>
                      <a:rPr lang="en-US" altLang="zh-CN" b="1" i="1" smtClean="0">
                        <a:solidFill>
                          <a:srgbClr val="C00000"/>
                        </a:solidFill>
                        <a:latin typeface="Cambria Math"/>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𝑩</m:t>
                        </m:r>
                      </m:e>
                      <m:sub>
                        <m:r>
                          <a:rPr lang="en-US" altLang="zh-CN" b="1" i="1" smtClean="0">
                            <a:solidFill>
                              <a:srgbClr val="C00000"/>
                            </a:solidFill>
                            <a:latin typeface="Cambria Math"/>
                          </a:rPr>
                          <m:t>𝒏</m:t>
                        </m:r>
                      </m:sub>
                    </m:sSub>
                  </m:oMath>
                </a14:m>
                <a:r>
                  <a:rPr lang="en-US" altLang="zh-CN" b="1" dirty="0">
                    <a:solidFill>
                      <a:srgbClr val="C00000"/>
                    </a:solidFill>
                    <a:latin typeface="STXinwei" panose="02010800040101010101" pitchFamily="2" charset="-122"/>
                    <a:ea typeface="STXinwei" panose="02010800040101010101" pitchFamily="2" charset="-122"/>
                    <a:cs typeface="Arial Unicode MS" panose="020B0604020202020204" pitchFamily="34" charset="-122"/>
                  </a:rPr>
                  <a:t> as a Partition of the sample space </a:t>
                </a:r>
                <a14:m>
                  <m:oMath xmlns:m="http://schemas.openxmlformats.org/officeDocument/2006/math">
                    <m:r>
                      <a:rPr lang="en-US" altLang="zh-CN" b="1" i="0" smtClean="0">
                        <a:solidFill>
                          <a:srgbClr val="C00000"/>
                        </a:solidFill>
                        <a:latin typeface="Cambria Math"/>
                      </a:rPr>
                      <m:t>𝛀</m:t>
                    </m:r>
                  </m:oMath>
                </a14:m>
                <a:r>
                  <a:rPr lang="en-US" altLang="zh-CN" dirty="0">
                    <a:latin typeface="STXinwei" panose="02010800040101010101" pitchFamily="2" charset="-122"/>
                    <a:ea typeface="STXinwei" panose="02010800040101010101" pitchFamily="2" charset="-122"/>
                    <a:cs typeface="Arial Unicode MS" panose="020B0604020202020204" pitchFamily="34" charset="-122"/>
                  </a:rPr>
                  <a:t>.</a:t>
                </a:r>
                <a:endParaRPr lang="zh-CN" altLang="en-US" dirty="0">
                  <a:latin typeface="STXinwei" panose="02010800040101010101" pitchFamily="2" charset="-122"/>
                  <a:ea typeface="STXinwei" panose="02010800040101010101" pitchFamily="2" charset="-122"/>
                  <a:cs typeface="Arial Unicode MS" panose="020B0604020202020204" pitchFamily="34" charset="-122"/>
                </a:endParaRPr>
              </a:p>
            </p:txBody>
          </p:sp>
        </mc:Choice>
        <mc:Fallback xmlns="">
          <p:sp>
            <p:nvSpPr>
              <p:cNvPr id="25" name="文本框 24">
                <a:extLst>
                  <a:ext uri="{FF2B5EF4-FFF2-40B4-BE49-F238E27FC236}">
                    <a16:creationId xmlns:a16="http://schemas.microsoft.com/office/drawing/2014/main" id="{B146B336-4427-4D6C-991C-ADB6074F613B}"/>
                  </a:ext>
                </a:extLst>
              </p:cNvPr>
              <p:cNvSpPr txBox="1">
                <a:spLocks noRot="1" noChangeAspect="1" noMove="1" noResize="1" noEditPoints="1" noAdjustHandles="1" noChangeArrowheads="1" noChangeShapeType="1" noTextEdit="1"/>
              </p:cNvSpPr>
              <p:nvPr/>
            </p:nvSpPr>
            <p:spPr>
              <a:xfrm>
                <a:off x="746635" y="3171562"/>
                <a:ext cx="6692666" cy="369332"/>
              </a:xfrm>
              <a:prstGeom prst="rect">
                <a:avLst/>
              </a:prstGeom>
              <a:blipFill>
                <a:blip r:embed="rId12"/>
                <a:stretch>
                  <a:fillRect l="-729" t="-6557" r="-729" b="-2623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par>
                          <p:cTn id="18" fill="hold">
                            <p:stCondLst>
                              <p:cond delay="0"/>
                            </p:stCondLst>
                            <p:childTnLst>
                              <p:par>
                                <p:cTn id="19" presetID="10" presetClass="exit" presetSubtype="0" fill="hold" nodeType="afterEffect">
                                  <p:stCondLst>
                                    <p:cond delay="0"/>
                                  </p:stCondLst>
                                  <p:childTnLst>
                                    <p:animEffect transition="out" filter="fad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par>
                                <p:cTn id="32" presetID="1" presetClass="exit" presetSubtype="0" fill="hold" grpId="1" nodeType="withEffect">
                                  <p:stCondLst>
                                    <p:cond delay="0"/>
                                  </p:stCondLst>
                                  <p:childTnLst>
                                    <p:set>
                                      <p:cBhvr>
                                        <p:cTn id="33" dur="1" fill="hold">
                                          <p:stCondLst>
                                            <p:cond delay="0"/>
                                          </p:stCondLst>
                                        </p:cTn>
                                        <p:tgtEl>
                                          <p:spTgt spid="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9" grpId="0"/>
      <p:bldP spid="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104">
            <a:extLst>
              <a:ext uri="{FF2B5EF4-FFF2-40B4-BE49-F238E27FC236}">
                <a16:creationId xmlns:a16="http://schemas.microsoft.com/office/drawing/2014/main" id="{FF0D80E3-5EE8-4142-8835-D0E21141EA67}"/>
              </a:ext>
            </a:extLst>
          </p:cNvPr>
          <p:cNvSpPr>
            <a:spLocks noChangeArrowheads="1"/>
          </p:cNvSpPr>
          <p:nvPr/>
        </p:nvSpPr>
        <p:spPr bwMode="auto">
          <a:xfrm>
            <a:off x="6107765" y="1484790"/>
            <a:ext cx="3024171" cy="762308"/>
          </a:xfrm>
          <a:prstGeom prst="wedgeRectCallout">
            <a:avLst>
              <a:gd name="adj1" fmla="val 14749"/>
              <a:gd name="adj2" fmla="val -122955"/>
            </a:avLst>
          </a:prstGeom>
          <a:solidFill>
            <a:schemeClr val="accent6">
              <a:lumMod val="60000"/>
              <a:lumOff val="40000"/>
            </a:schemeClr>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spcBef>
                <a:spcPct val="0"/>
              </a:spcBef>
              <a:buClrTx/>
              <a:buSzTx/>
              <a:buFontTx/>
              <a:buNone/>
              <a:defRPr/>
            </a:pPr>
            <a:r>
              <a:rPr lang="en-US" altLang="zh-CN" b="1" dirty="0">
                <a:solidFill>
                  <a:srgbClr val="C00000"/>
                </a:solidFill>
                <a:effectLst>
                  <a:outerShdw blurRad="38100" dist="38100" dir="2700000" algn="tl">
                    <a:srgbClr val="000000">
                      <a:alpha val="43137"/>
                    </a:srgbClr>
                  </a:outerShdw>
                </a:effectLst>
                <a:ea typeface="华文新魏" pitchFamily="2" charset="-122"/>
              </a:rPr>
              <a:t>What</a:t>
            </a:r>
            <a:r>
              <a:rPr lang="zh-CN" altLang="en-US" b="1" dirty="0">
                <a:solidFill>
                  <a:srgbClr val="C00000"/>
                </a:solidFill>
                <a:effectLst>
                  <a:outerShdw blurRad="38100" dist="38100" dir="2700000" algn="tl">
                    <a:srgbClr val="000000">
                      <a:alpha val="43137"/>
                    </a:srgbClr>
                  </a:outerShdw>
                </a:effectLst>
                <a:ea typeface="华文新魏" pitchFamily="2" charset="-122"/>
              </a:rPr>
              <a:t> </a:t>
            </a:r>
            <a:r>
              <a:rPr lang="en-US" altLang="zh-CN" b="1" dirty="0">
                <a:solidFill>
                  <a:srgbClr val="C00000"/>
                </a:solidFill>
                <a:effectLst>
                  <a:outerShdw blurRad="38100" dist="38100" dir="2700000" algn="tl">
                    <a:srgbClr val="000000">
                      <a:alpha val="43137"/>
                    </a:srgbClr>
                  </a:outerShdw>
                </a:effectLst>
                <a:ea typeface="华文新魏" pitchFamily="2" charset="-122"/>
              </a:rPr>
              <a:t>if</a:t>
            </a:r>
            <a:r>
              <a:rPr lang="zh-CN" altLang="en-US" b="1" dirty="0">
                <a:solidFill>
                  <a:srgbClr val="C00000"/>
                </a:solidFill>
                <a:effectLst>
                  <a:outerShdw blurRad="38100" dist="38100" dir="2700000" algn="tl">
                    <a:srgbClr val="000000">
                      <a:alpha val="43137"/>
                    </a:srgbClr>
                  </a:outerShdw>
                </a:effectLst>
                <a:ea typeface="华文新魏" pitchFamily="2" charset="-122"/>
              </a:rPr>
              <a:t> </a:t>
            </a:r>
            <a:r>
              <a:rPr lang="en-US" altLang="zh-CN" b="1" dirty="0">
                <a:solidFill>
                  <a:srgbClr val="0070C0"/>
                </a:solidFill>
                <a:ea typeface="华文新魏" pitchFamily="2" charset="-122"/>
              </a:rPr>
              <a:t>adding </a:t>
            </a:r>
            <a:r>
              <a:rPr lang="en-US" altLang="zh-CN" b="1" dirty="0">
                <a:solidFill>
                  <a:srgbClr val="FF0000"/>
                </a:solidFill>
                <a:ea typeface="华文新魏" pitchFamily="2" charset="-122"/>
              </a:rPr>
              <a:t>c</a:t>
            </a:r>
            <a:r>
              <a:rPr lang="en-US" altLang="zh-CN" b="1" dirty="0">
                <a:solidFill>
                  <a:srgbClr val="0070C0"/>
                </a:solidFill>
                <a:ea typeface="华文新魏" pitchFamily="2" charset="-122"/>
              </a:rPr>
              <a:t> balls of the same color</a:t>
            </a:r>
            <a:r>
              <a:rPr lang="zh-CN" altLang="en-US" b="1" dirty="0">
                <a:solidFill>
                  <a:srgbClr val="0070C0"/>
                </a:solidFill>
                <a:ea typeface="华文新魏" pitchFamily="2" charset="-122"/>
              </a:rPr>
              <a:t> </a:t>
            </a:r>
            <a:r>
              <a:rPr lang="en-US" altLang="zh-CN" b="1" dirty="0">
                <a:solidFill>
                  <a:srgbClr val="0070C0"/>
                </a:solidFill>
                <a:ea typeface="华文新魏" pitchFamily="2" charset="-122"/>
              </a:rPr>
              <a:t>to</a:t>
            </a:r>
            <a:r>
              <a:rPr lang="zh-CN" altLang="en-US" b="1" dirty="0">
                <a:solidFill>
                  <a:srgbClr val="0070C0"/>
                </a:solidFill>
                <a:ea typeface="华文新魏" pitchFamily="2" charset="-122"/>
              </a:rPr>
              <a:t> </a:t>
            </a:r>
            <a:r>
              <a:rPr lang="en-US" altLang="zh-CN" b="1" dirty="0">
                <a:solidFill>
                  <a:srgbClr val="0070C0"/>
                </a:solidFill>
                <a:ea typeface="华文新魏" pitchFamily="2" charset="-122"/>
              </a:rPr>
              <a:t>the</a:t>
            </a:r>
            <a:r>
              <a:rPr lang="zh-CN" altLang="en-US" b="1" dirty="0">
                <a:solidFill>
                  <a:srgbClr val="0070C0"/>
                </a:solidFill>
                <a:ea typeface="华文新魏" pitchFamily="2" charset="-122"/>
              </a:rPr>
              <a:t> </a:t>
            </a:r>
            <a:r>
              <a:rPr lang="en-US" altLang="zh-CN" b="1" dirty="0">
                <a:solidFill>
                  <a:srgbClr val="0070C0"/>
                </a:solidFill>
                <a:ea typeface="华文新魏" pitchFamily="2" charset="-122"/>
              </a:rPr>
              <a:t>bag </a:t>
            </a:r>
            <a:r>
              <a:rPr lang="en-US" altLang="zh-CN" sz="2400" b="1" dirty="0">
                <a:solidFill>
                  <a:srgbClr val="C00000"/>
                </a:solidFill>
                <a:effectLst>
                  <a:outerShdw blurRad="38100" dist="38100" dir="2700000" algn="tl">
                    <a:srgbClr val="000000">
                      <a:alpha val="43137"/>
                    </a:srgbClr>
                  </a:outerShdw>
                </a:effectLst>
                <a:ea typeface="华文新魏" pitchFamily="2" charset="-122"/>
              </a:rPr>
              <a:t>?</a:t>
            </a:r>
            <a:endParaRPr lang="zh-CN" altLang="en-US" sz="2400" b="1" dirty="0">
              <a:solidFill>
                <a:srgbClr val="C00000"/>
              </a:solidFill>
              <a:effectLst>
                <a:outerShdw blurRad="38100" dist="38100" dir="2700000" algn="tl">
                  <a:srgbClr val="000000">
                    <a:alpha val="43137"/>
                  </a:srgbClr>
                </a:outerShdw>
              </a:effectLst>
              <a:ea typeface="华文新魏" pitchFamily="2" charset="-122"/>
            </a:endParaRPr>
          </a:p>
        </p:txBody>
      </p:sp>
      <p:sp>
        <p:nvSpPr>
          <p:cNvPr id="390248" name="AutoShape 104"/>
          <p:cNvSpPr>
            <a:spLocks noChangeArrowheads="1"/>
          </p:cNvSpPr>
          <p:nvPr/>
        </p:nvSpPr>
        <p:spPr bwMode="auto">
          <a:xfrm>
            <a:off x="1183391" y="5497620"/>
            <a:ext cx="7618410" cy="1360379"/>
          </a:xfrm>
          <a:prstGeom prst="wedgeRectCallout">
            <a:avLst>
              <a:gd name="adj1" fmla="val -25673"/>
              <a:gd name="adj2" fmla="val -72972"/>
            </a:avLst>
          </a:prstGeom>
          <a:solidFill>
            <a:schemeClr val="accent6">
              <a:lumMod val="60000"/>
              <a:lumOff val="40000"/>
            </a:schemeClr>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spcBef>
                <a:spcPct val="0"/>
              </a:spcBef>
              <a:buClrTx/>
              <a:buSzTx/>
              <a:buFontTx/>
              <a:buNone/>
              <a:defRPr/>
            </a:pPr>
            <a:r>
              <a:rPr lang="en-US" altLang="zh-CN" sz="2000" b="1" dirty="0">
                <a:solidFill>
                  <a:srgbClr val="C00000"/>
                </a:solidFill>
                <a:effectLst>
                  <a:outerShdw blurRad="38100" dist="38100" dir="2700000" algn="tl">
                    <a:srgbClr val="000000">
                      <a:alpha val="43137"/>
                    </a:srgbClr>
                  </a:outerShdw>
                </a:effectLst>
                <a:ea typeface="华文新魏" pitchFamily="2" charset="-122"/>
              </a:rPr>
              <a:t>Interesting: </a:t>
            </a:r>
            <a:r>
              <a:rPr lang="en-US" altLang="zh-CN" sz="2000" b="1" dirty="0">
                <a:solidFill>
                  <a:srgbClr val="0070C0"/>
                </a:solidFill>
                <a:ea typeface="华文新魏" pitchFamily="2" charset="-122"/>
              </a:rPr>
              <a:t>The probability of getting a white ball at the </a:t>
            </a:r>
            <a:r>
              <a:rPr lang="en-US" altLang="zh-CN" sz="2000" b="1" dirty="0">
                <a:solidFill>
                  <a:srgbClr val="FF0000"/>
                </a:solidFill>
                <a:ea typeface="华文新魏" pitchFamily="2" charset="-122"/>
              </a:rPr>
              <a:t>second pick </a:t>
            </a:r>
            <a:r>
              <a:rPr lang="en-US" altLang="zh-CN" sz="2000" b="1" dirty="0">
                <a:solidFill>
                  <a:srgbClr val="0070C0"/>
                </a:solidFill>
                <a:ea typeface="华文新魏" pitchFamily="2" charset="-122"/>
              </a:rPr>
              <a:t>is </a:t>
            </a:r>
            <a:r>
              <a:rPr lang="en-US" altLang="zh-CN" sz="2000" b="1" dirty="0">
                <a:solidFill>
                  <a:srgbClr val="FF0000"/>
                </a:solidFill>
                <a:ea typeface="华文新魏" pitchFamily="2" charset="-122"/>
              </a:rPr>
              <a:t>the same </a:t>
            </a:r>
            <a:r>
              <a:rPr lang="en-US" altLang="zh-CN" sz="2000" b="1" dirty="0">
                <a:solidFill>
                  <a:srgbClr val="0070C0"/>
                </a:solidFill>
                <a:ea typeface="华文新魏" pitchFamily="2" charset="-122"/>
              </a:rPr>
              <a:t>as the probability of getting a white ball at the </a:t>
            </a:r>
            <a:r>
              <a:rPr lang="en-US" altLang="zh-CN" sz="2000" b="1" dirty="0">
                <a:solidFill>
                  <a:srgbClr val="FF0000"/>
                </a:solidFill>
                <a:ea typeface="华文新魏" pitchFamily="2" charset="-122"/>
              </a:rPr>
              <a:t>first pick</a:t>
            </a:r>
            <a:r>
              <a:rPr lang="en-US" altLang="zh-CN" sz="2000" b="1" dirty="0">
                <a:solidFill>
                  <a:srgbClr val="0070C0"/>
                </a:solidFill>
                <a:ea typeface="华文新魏" pitchFamily="2" charset="-122"/>
              </a:rPr>
              <a:t>. The ball which is added</a:t>
            </a:r>
            <a:r>
              <a:rPr lang="zh-CN" altLang="en-US" sz="2000" b="1" dirty="0">
                <a:solidFill>
                  <a:srgbClr val="0070C0"/>
                </a:solidFill>
                <a:ea typeface="华文新魏" pitchFamily="2" charset="-122"/>
              </a:rPr>
              <a:t> </a:t>
            </a:r>
            <a:r>
              <a:rPr lang="en-US" altLang="zh-CN" sz="2000" b="1" dirty="0">
                <a:solidFill>
                  <a:srgbClr val="0070C0"/>
                </a:solidFill>
                <a:ea typeface="华文新魏" pitchFamily="2" charset="-122"/>
              </a:rPr>
              <a:t>to the bag after</a:t>
            </a:r>
            <a:r>
              <a:rPr lang="zh-CN" altLang="en-US" sz="2000" b="1" dirty="0">
                <a:solidFill>
                  <a:srgbClr val="0070C0"/>
                </a:solidFill>
                <a:ea typeface="华文新魏" pitchFamily="2" charset="-122"/>
              </a:rPr>
              <a:t> </a:t>
            </a:r>
            <a:r>
              <a:rPr lang="en-US" altLang="zh-CN" sz="2000" b="1" dirty="0">
                <a:solidFill>
                  <a:srgbClr val="0070C0"/>
                </a:solidFill>
                <a:ea typeface="华文新魏" pitchFamily="2" charset="-122"/>
              </a:rPr>
              <a:t>the first pick does not affect the result, no matter what color it is.</a:t>
            </a:r>
            <a:endParaRPr lang="zh-CN" altLang="en-US" sz="2000" b="1" dirty="0">
              <a:solidFill>
                <a:srgbClr val="0070C0"/>
              </a:solidFill>
              <a:ea typeface="华文新魏" pitchFamily="2" charset="-122"/>
            </a:endParaRPr>
          </a:p>
        </p:txBody>
      </p:sp>
      <p:sp>
        <p:nvSpPr>
          <p:cNvPr id="2" name="文本框 1">
            <a:extLst>
              <a:ext uri="{FF2B5EF4-FFF2-40B4-BE49-F238E27FC236}">
                <a16:creationId xmlns:a16="http://schemas.microsoft.com/office/drawing/2014/main" id="{11353754-BBA6-493B-AB55-A1366083BA35}"/>
              </a:ext>
            </a:extLst>
          </p:cNvPr>
          <p:cNvSpPr txBox="1"/>
          <p:nvPr/>
        </p:nvSpPr>
        <p:spPr>
          <a:xfrm>
            <a:off x="473075" y="314851"/>
            <a:ext cx="8058277" cy="1200329"/>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latin typeface="华文新魏" panose="02010800040101010101" pitchFamily="2" charset="-122"/>
                <a:ea typeface="华文新魏" panose="02010800040101010101" pitchFamily="2" charset="-122"/>
              </a:rPr>
              <a:t>A bag has </a:t>
            </a:r>
            <a:r>
              <a:rPr lang="en-US" altLang="zh-CN" dirty="0">
                <a:solidFill>
                  <a:schemeClr val="accent2">
                    <a:lumMod val="75000"/>
                  </a:schemeClr>
                </a:solidFill>
                <a:latin typeface="华文新魏" panose="02010800040101010101" pitchFamily="2" charset="-122"/>
                <a:ea typeface="华文新魏" panose="02010800040101010101" pitchFamily="2" charset="-122"/>
              </a:rPr>
              <a:t>a </a:t>
            </a:r>
            <a:r>
              <a:rPr lang="en-US" altLang="zh-CN" dirty="0">
                <a:latin typeface="华文新魏" panose="02010800040101010101" pitchFamily="2" charset="-122"/>
                <a:ea typeface="华文新魏" panose="02010800040101010101" pitchFamily="2" charset="-122"/>
              </a:rPr>
              <a:t>red balls and </a:t>
            </a:r>
            <a:r>
              <a:rPr lang="en-US" altLang="zh-CN" dirty="0">
                <a:solidFill>
                  <a:schemeClr val="accent2">
                    <a:lumMod val="75000"/>
                  </a:schemeClr>
                </a:solidFill>
                <a:latin typeface="华文新魏" panose="02010800040101010101" pitchFamily="2" charset="-122"/>
                <a:ea typeface="华文新魏" panose="02010800040101010101" pitchFamily="2" charset="-122"/>
              </a:rPr>
              <a:t>b </a:t>
            </a:r>
            <a:r>
              <a:rPr lang="en-US" altLang="zh-CN" dirty="0">
                <a:latin typeface="华文新魏" panose="02010800040101010101" pitchFamily="2" charset="-122"/>
                <a:ea typeface="华文新魏" panose="02010800040101010101" pitchFamily="2" charset="-122"/>
              </a:rPr>
              <a:t>white balls. Pick a ball from the bag, record</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color of the ball and put it back to the bag.</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the same time,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add another</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ball with the same color</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to</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bag too. Then pick a ball from the bag again. What is the probability of picking a white ball at the second pick?</a:t>
            </a:r>
            <a:endParaRPr lang="zh-CN" altLang="en-US" dirty="0">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9E8C434F-1747-4CC5-B1B7-BAF6565B924F}"/>
              </a:ext>
            </a:extLst>
          </p:cNvPr>
          <p:cNvSpPr txBox="1"/>
          <p:nvPr/>
        </p:nvSpPr>
        <p:spPr>
          <a:xfrm>
            <a:off x="378471" y="1503721"/>
            <a:ext cx="1146468"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Solve</a:t>
            </a:r>
            <a:r>
              <a:rPr lang="en-US" altLang="zh-CN" dirty="0">
                <a:solidFill>
                  <a:schemeClr val="accent2">
                    <a:lumMod val="75000"/>
                  </a:schemeClr>
                </a:solidFill>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Let</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104F20E-D718-4D99-AA01-5182A2A34723}"/>
                  </a:ext>
                </a:extLst>
              </p:cNvPr>
              <p:cNvSpPr txBox="1"/>
              <p:nvPr/>
            </p:nvSpPr>
            <p:spPr>
              <a:xfrm>
                <a:off x="1519991" y="1553489"/>
                <a:ext cx="44940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70C0"/>
                          </a:solidFill>
                          <a:latin typeface="Cambria Math" panose="02040503050406030204" pitchFamily="18" charset="0"/>
                        </a:rPr>
                        <m:t>𝑨</m:t>
                      </m:r>
                      <m:r>
                        <a:rPr lang="en-US" altLang="zh-CN" b="1" i="1" smtClean="0">
                          <a:solidFill>
                            <a:srgbClr val="0070C0"/>
                          </a:solidFill>
                          <a:latin typeface="Cambria Math"/>
                        </a:rPr>
                        <m:t>  </m:t>
                      </m:r>
                      <m:r>
                        <a:rPr lang="en-US" altLang="zh-CN" b="1" i="1" smtClean="0">
                          <a:solidFill>
                            <a:srgbClr val="0070C0"/>
                          </a:solidFill>
                          <a:latin typeface="Cambria Math" panose="02040503050406030204" pitchFamily="18" charset="0"/>
                        </a:rPr>
                        <m:t>=</m:t>
                      </m:r>
                      <m:d>
                        <m:dPr>
                          <m:begChr m:val="{"/>
                          <m:endChr m:val="}"/>
                          <m:ctrlPr>
                            <a:rPr lang="en-US" altLang="zh-CN" b="1" i="1" smtClean="0">
                              <a:solidFill>
                                <a:srgbClr val="0070C0"/>
                              </a:solidFill>
                              <a:latin typeface="Cambria Math" panose="02040503050406030204" pitchFamily="18" charset="0"/>
                            </a:rPr>
                          </m:ctrlPr>
                        </m:dPr>
                        <m:e>
                          <m:r>
                            <m:rPr>
                              <m:sty m:val="p"/>
                            </m:rPr>
                            <a:rPr lang="en-US" altLang="zh-CN" b="0" i="0" smtClean="0">
                              <a:solidFill>
                                <a:srgbClr val="0070C0"/>
                              </a:solidFill>
                              <a:latin typeface="Cambria Math" panose="02040503050406030204" pitchFamily="18" charset="0"/>
                            </a:rPr>
                            <m:t>getting</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a</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white</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ball</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at</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the</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second</m:t>
                          </m:r>
                          <m:r>
                            <a:rPr lang="en-US" altLang="zh-CN" b="0" i="0" smtClean="0">
                              <a:solidFill>
                                <a:srgbClr val="0070C0"/>
                              </a:solidFill>
                              <a:latin typeface="Cambria Math" panose="02040503050406030204" pitchFamily="18" charset="0"/>
                            </a:rPr>
                            <m:t> </m:t>
                          </m:r>
                          <m:r>
                            <m:rPr>
                              <m:sty m:val="p"/>
                            </m:rPr>
                            <a:rPr lang="en-US" altLang="zh-CN" b="0" i="0" smtClean="0">
                              <a:solidFill>
                                <a:srgbClr val="0070C0"/>
                              </a:solidFill>
                              <a:latin typeface="Cambria Math" panose="02040503050406030204" pitchFamily="18" charset="0"/>
                            </a:rPr>
                            <m:t>pick</m:t>
                          </m:r>
                        </m:e>
                      </m:d>
                    </m:oMath>
                  </m:oMathPara>
                </a14:m>
                <a:endParaRPr lang="en-US" altLang="zh-CN" b="1" dirty="0">
                  <a:solidFill>
                    <a:srgbClr val="0070C0"/>
                  </a:solidFill>
                </a:endParaRPr>
              </a:p>
            </p:txBody>
          </p:sp>
        </mc:Choice>
        <mc:Fallback xmlns="">
          <p:sp>
            <p:nvSpPr>
              <p:cNvPr id="4" name="文本框 3">
                <a:extLst>
                  <a:ext uri="{FF2B5EF4-FFF2-40B4-BE49-F238E27FC236}">
                    <a16:creationId xmlns:a16="http://schemas.microsoft.com/office/drawing/2014/main" id="{0104F20E-D718-4D99-AA01-5182A2A34723}"/>
                  </a:ext>
                </a:extLst>
              </p:cNvPr>
              <p:cNvSpPr txBox="1">
                <a:spLocks noRot="1" noChangeAspect="1" noMove="1" noResize="1" noEditPoints="1" noAdjustHandles="1" noChangeArrowheads="1" noChangeShapeType="1" noTextEdit="1"/>
              </p:cNvSpPr>
              <p:nvPr/>
            </p:nvSpPr>
            <p:spPr>
              <a:xfrm>
                <a:off x="1519991" y="1553489"/>
                <a:ext cx="4494051" cy="276999"/>
              </a:xfrm>
              <a:prstGeom prst="rect">
                <a:avLst/>
              </a:prstGeom>
              <a:blipFill>
                <a:blip r:embed="rId2"/>
                <a:stretch>
                  <a:fillRect l="-678" t="-2222" b="-3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3EB4916-DEAB-4546-A5DD-2451DBE97988}"/>
                  </a:ext>
                </a:extLst>
              </p:cNvPr>
              <p:cNvSpPr txBox="1"/>
              <p:nvPr/>
            </p:nvSpPr>
            <p:spPr>
              <a:xfrm>
                <a:off x="1524149" y="1907210"/>
                <a:ext cx="41996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d>
                        <m:dPr>
                          <m:begChr m:val="{"/>
                          <m:endChr m:val="}"/>
                          <m:ctrlPr>
                            <a:rPr lang="en-US" altLang="zh-CN" b="0" i="1" smtClean="0">
                              <a:solidFill>
                                <a:schemeClr val="tx1"/>
                              </a:solidFill>
                              <a:latin typeface="Cambria Math" panose="02040503050406030204" pitchFamily="18" charset="0"/>
                            </a:rPr>
                          </m:ctrlPr>
                        </m:dPr>
                        <m:e>
                          <m:r>
                            <m:rPr>
                              <m:sty m:val="p"/>
                            </m:rPr>
                            <a:rPr lang="en-US" altLang="zh-CN" b="0" i="0" smtClean="0">
                              <a:solidFill>
                                <a:schemeClr val="tx1"/>
                              </a:solidFill>
                              <a:latin typeface="Cambria Math" panose="02040503050406030204" pitchFamily="18" charset="0"/>
                            </a:rPr>
                            <m:t>getting</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a</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white</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ball</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at</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the</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first</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pick</m:t>
                          </m:r>
                        </m:e>
                      </m:d>
                    </m:oMath>
                  </m:oMathPara>
                </a14:m>
                <a:endParaRPr lang="en-US" altLang="zh-CN" b="0" dirty="0">
                  <a:solidFill>
                    <a:schemeClr val="tx1"/>
                  </a:solidFill>
                </a:endParaRPr>
              </a:p>
            </p:txBody>
          </p:sp>
        </mc:Choice>
        <mc:Fallback xmlns="">
          <p:sp>
            <p:nvSpPr>
              <p:cNvPr id="29" name="文本框 28">
                <a:extLst>
                  <a:ext uri="{FF2B5EF4-FFF2-40B4-BE49-F238E27FC236}">
                    <a16:creationId xmlns:a16="http://schemas.microsoft.com/office/drawing/2014/main" id="{53EB4916-DEAB-4546-A5DD-2451DBE97988}"/>
                  </a:ext>
                </a:extLst>
              </p:cNvPr>
              <p:cNvSpPr txBox="1">
                <a:spLocks noRot="1" noChangeAspect="1" noMove="1" noResize="1" noEditPoints="1" noAdjustHandles="1" noChangeArrowheads="1" noChangeShapeType="1" noTextEdit="1"/>
              </p:cNvSpPr>
              <p:nvPr/>
            </p:nvSpPr>
            <p:spPr>
              <a:xfrm>
                <a:off x="1524149" y="1907210"/>
                <a:ext cx="4199611" cy="276999"/>
              </a:xfrm>
              <a:prstGeom prst="rect">
                <a:avLst/>
              </a:prstGeom>
              <a:blipFill>
                <a:blip r:embed="rId3"/>
                <a:stretch>
                  <a:fillRect l="-906" t="-9091" b="-409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5F59C252-E659-4715-A38A-4BC63D26E320}"/>
                  </a:ext>
                </a:extLst>
              </p:cNvPr>
              <p:cNvSpPr txBox="1"/>
              <p:nvPr/>
            </p:nvSpPr>
            <p:spPr>
              <a:xfrm>
                <a:off x="1510891" y="2217653"/>
                <a:ext cx="39821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d>
                        <m:dPr>
                          <m:begChr m:val="{"/>
                          <m:endChr m:val="}"/>
                          <m:ctrlPr>
                            <a:rPr lang="en-US" altLang="zh-CN" b="0" i="1" smtClean="0">
                              <a:solidFill>
                                <a:schemeClr val="tx1"/>
                              </a:solidFill>
                              <a:latin typeface="Cambria Math" panose="02040503050406030204" pitchFamily="18" charset="0"/>
                            </a:rPr>
                          </m:ctrlPr>
                        </m:dPr>
                        <m:e>
                          <m:r>
                            <m:rPr>
                              <m:sty m:val="p"/>
                            </m:rPr>
                            <a:rPr lang="en-US" altLang="zh-CN" b="0" i="0" smtClean="0">
                              <a:solidFill>
                                <a:schemeClr val="tx1"/>
                              </a:solidFill>
                              <a:latin typeface="Cambria Math" panose="02040503050406030204" pitchFamily="18" charset="0"/>
                            </a:rPr>
                            <m:t>getting</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a</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red</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ball</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at</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the</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first</m:t>
                          </m:r>
                          <m:r>
                            <a:rPr lang="en-US" altLang="zh-CN" b="0" i="0" smtClean="0">
                              <a:solidFill>
                                <a:schemeClr val="tx1"/>
                              </a:solidFill>
                              <a:latin typeface="Cambria Math" panose="02040503050406030204" pitchFamily="18" charset="0"/>
                            </a:rPr>
                            <m:t> </m:t>
                          </m:r>
                          <m:r>
                            <m:rPr>
                              <m:sty m:val="p"/>
                            </m:rPr>
                            <a:rPr lang="en-US" altLang="zh-CN" b="0" i="0" smtClean="0">
                              <a:solidFill>
                                <a:schemeClr val="tx1"/>
                              </a:solidFill>
                              <a:latin typeface="Cambria Math" panose="02040503050406030204" pitchFamily="18" charset="0"/>
                            </a:rPr>
                            <m:t>pick</m:t>
                          </m:r>
                        </m:e>
                      </m:d>
                    </m:oMath>
                  </m:oMathPara>
                </a14:m>
                <a:endParaRPr lang="en-US" altLang="zh-CN" b="0" dirty="0">
                  <a:solidFill>
                    <a:schemeClr val="tx1"/>
                  </a:solidFill>
                </a:endParaRPr>
              </a:p>
            </p:txBody>
          </p:sp>
        </mc:Choice>
        <mc:Fallback xmlns="">
          <p:sp>
            <p:nvSpPr>
              <p:cNvPr id="30" name="文本框 29">
                <a:extLst>
                  <a:ext uri="{FF2B5EF4-FFF2-40B4-BE49-F238E27FC236}">
                    <a16:creationId xmlns:a16="http://schemas.microsoft.com/office/drawing/2014/main" id="{5F59C252-E659-4715-A38A-4BC63D26E320}"/>
                  </a:ext>
                </a:extLst>
              </p:cNvPr>
              <p:cNvSpPr txBox="1">
                <a:spLocks noRot="1" noChangeAspect="1" noMove="1" noResize="1" noEditPoints="1" noAdjustHandles="1" noChangeArrowheads="1" noChangeShapeType="1" noTextEdit="1"/>
              </p:cNvSpPr>
              <p:nvPr/>
            </p:nvSpPr>
            <p:spPr>
              <a:xfrm>
                <a:off x="1510891" y="2217653"/>
                <a:ext cx="3982116" cy="276999"/>
              </a:xfrm>
              <a:prstGeom prst="rect">
                <a:avLst/>
              </a:prstGeom>
              <a:blipFill>
                <a:blip r:embed="rId4"/>
                <a:stretch>
                  <a:fillRect l="-955" t="-8696" b="-3478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A46D47E-6F7D-4719-AB13-1888828A29CF}"/>
                  </a:ext>
                </a:extLst>
              </p:cNvPr>
              <p:cNvSpPr txBox="1"/>
              <p:nvPr/>
            </p:nvSpPr>
            <p:spPr>
              <a:xfrm>
                <a:off x="1282186" y="2537784"/>
                <a:ext cx="6053986" cy="369332"/>
              </a:xfrm>
              <a:prstGeom prst="rect">
                <a:avLst/>
              </a:prstGeom>
              <a:noFill/>
            </p:spPr>
            <p:txBody>
              <a:bodyPr wrap="square" rtlCol="0">
                <a:spAutoFit/>
              </a:bodyPr>
              <a:lstStyle/>
              <a:p>
                <a:r>
                  <a:rPr lang="en-US" altLang="zh-CN" dirty="0">
                    <a:solidFill>
                      <a:srgbClr val="C00000"/>
                    </a:solidFill>
                    <a:latin typeface="华文新魏" panose="02010800040101010101" pitchFamily="2" charset="-122"/>
                    <a:ea typeface="华文新魏" panose="02010800040101010101" pitchFamily="2" charset="-122"/>
                  </a:rPr>
                  <a:t>Then </a:t>
                </a:r>
                <a14:m>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𝐵</m:t>
                        </m:r>
                      </m:e>
                      <m:sub>
                        <m:r>
                          <a:rPr lang="en-US" altLang="zh-CN" b="0" i="1" smtClean="0">
                            <a:solidFill>
                              <a:srgbClr val="C00000"/>
                            </a:solidFill>
                            <a:latin typeface="Cambria Math" panose="02040503050406030204" pitchFamily="18" charset="0"/>
                          </a:rPr>
                          <m:t>1</m:t>
                        </m:r>
                      </m:sub>
                    </m:sSub>
                    <m:r>
                      <a:rPr lang="en-US" altLang="zh-CN" b="0" i="1" smtClean="0">
                        <a:solidFill>
                          <a:srgbClr val="C00000"/>
                        </a:solidFill>
                        <a:latin typeface="Cambria Math" panose="02040503050406030204" pitchFamily="18" charset="0"/>
                      </a:rPr>
                      <m:t>,</m:t>
                    </m:r>
                    <m:sSub>
                      <m:sSubPr>
                        <m:ctrlPr>
                          <a:rPr lang="en-US" altLang="zh-CN" b="0"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𝐵</m:t>
                        </m:r>
                      </m:e>
                      <m:sub>
                        <m:r>
                          <a:rPr lang="en-US" altLang="zh-CN" b="0" i="1" smtClean="0">
                            <a:solidFill>
                              <a:srgbClr val="C00000"/>
                            </a:solidFill>
                            <a:latin typeface="Cambria Math" panose="02040503050406030204" pitchFamily="18" charset="0"/>
                          </a:rPr>
                          <m:t>2</m:t>
                        </m:r>
                      </m:sub>
                    </m:sSub>
                  </m:oMath>
                </a14:m>
                <a:r>
                  <a:rPr lang="zh-CN" altLang="en-US"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is </a:t>
                </a:r>
                <a:r>
                  <a:rPr lang="en-US" altLang="zh-CN" b="1" dirty="0">
                    <a:solidFill>
                      <a:srgbClr val="C00000"/>
                    </a:solidFill>
                    <a:latin typeface="华文新魏" panose="02010800040101010101" pitchFamily="2" charset="-122"/>
                    <a:ea typeface="华文新魏" panose="02010800040101010101" pitchFamily="2" charset="-122"/>
                  </a:rPr>
                  <a:t>Partitions</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分划</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of the sample space </a:t>
                </a:r>
                <a14:m>
                  <m:oMath xmlns:m="http://schemas.openxmlformats.org/officeDocument/2006/math">
                    <m:r>
                      <m:rPr>
                        <m:sty m:val="p"/>
                      </m:rPr>
                      <a:rPr lang="en-US" altLang="zh-CN" b="0" i="0" smtClean="0">
                        <a:solidFill>
                          <a:srgbClr val="C00000"/>
                        </a:solidFill>
                        <a:latin typeface="Cambria Math" panose="02040503050406030204" pitchFamily="18" charset="0"/>
                      </a:rPr>
                      <m:t>Ω</m:t>
                    </m:r>
                    <m:r>
                      <a:rPr lang="en-US" altLang="zh-CN" b="0" i="0" smtClean="0">
                        <a:solidFill>
                          <a:srgbClr val="C00000"/>
                        </a:solidFill>
                        <a:latin typeface="Cambria Math" panose="02040503050406030204" pitchFamily="18" charset="0"/>
                      </a:rPr>
                      <m:t>.  </m:t>
                    </m:r>
                  </m:oMath>
                </a14:m>
                <a:r>
                  <a:rPr lang="en-US" altLang="zh-CN" dirty="0">
                    <a:solidFill>
                      <a:srgbClr val="C00000"/>
                    </a:solidFill>
                    <a:latin typeface="华文新魏" panose="02010800040101010101" pitchFamily="2" charset="-122"/>
                    <a:ea typeface="华文新魏" panose="02010800040101010101" pitchFamily="2" charset="-122"/>
                  </a:rPr>
                  <a:t> </a:t>
                </a:r>
              </a:p>
            </p:txBody>
          </p:sp>
        </mc:Choice>
        <mc:Fallback xmlns="">
          <p:sp>
            <p:nvSpPr>
              <p:cNvPr id="5" name="文本框 4">
                <a:extLst>
                  <a:ext uri="{FF2B5EF4-FFF2-40B4-BE49-F238E27FC236}">
                    <a16:creationId xmlns:a16="http://schemas.microsoft.com/office/drawing/2014/main" id="{2A46D47E-6F7D-4719-AB13-1888828A29CF}"/>
                  </a:ext>
                </a:extLst>
              </p:cNvPr>
              <p:cNvSpPr txBox="1">
                <a:spLocks noRot="1" noChangeAspect="1" noMove="1" noResize="1" noEditPoints="1" noAdjustHandles="1" noChangeArrowheads="1" noChangeShapeType="1" noTextEdit="1"/>
              </p:cNvSpPr>
              <p:nvPr/>
            </p:nvSpPr>
            <p:spPr>
              <a:xfrm>
                <a:off x="1282186" y="2537784"/>
                <a:ext cx="6053986" cy="369332"/>
              </a:xfrm>
              <a:prstGeom prst="rect">
                <a:avLst/>
              </a:prstGeom>
              <a:blipFill>
                <a:blip r:embed="rId5"/>
                <a:stretch>
                  <a:fillRect l="-806" t="-6557"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DCB7326-29AE-445A-AA1F-1855E3224E69}"/>
                  </a:ext>
                </a:extLst>
              </p:cNvPr>
              <p:cNvSpPr txBox="1"/>
              <p:nvPr/>
            </p:nvSpPr>
            <p:spPr>
              <a:xfrm>
                <a:off x="1411635" y="3904120"/>
                <a:ext cx="3943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6" name="文本框 5">
                <a:extLst>
                  <a:ext uri="{FF2B5EF4-FFF2-40B4-BE49-F238E27FC236}">
                    <a16:creationId xmlns:a16="http://schemas.microsoft.com/office/drawing/2014/main" id="{2DCB7326-29AE-445A-AA1F-1855E3224E69}"/>
                  </a:ext>
                </a:extLst>
              </p:cNvPr>
              <p:cNvSpPr txBox="1">
                <a:spLocks noRot="1" noChangeAspect="1" noMove="1" noResize="1" noEditPoints="1" noAdjustHandles="1" noChangeArrowheads="1" noChangeShapeType="1" noTextEdit="1"/>
              </p:cNvSpPr>
              <p:nvPr/>
            </p:nvSpPr>
            <p:spPr>
              <a:xfrm>
                <a:off x="1411635" y="3904120"/>
                <a:ext cx="3943644" cy="276999"/>
              </a:xfrm>
              <a:prstGeom prst="rect">
                <a:avLst/>
              </a:prstGeom>
              <a:blipFill>
                <a:blip r:embed="rId6"/>
                <a:stretch>
                  <a:fillRect l="-619" t="-2174" r="-1548" b="-3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F93CC08-22BB-433C-8468-DFCBE81F6377}"/>
                  </a:ext>
                </a:extLst>
              </p:cNvPr>
              <p:cNvSpPr txBox="1"/>
              <p:nvPr/>
            </p:nvSpPr>
            <p:spPr>
              <a:xfrm>
                <a:off x="1945418" y="4240418"/>
                <a:ext cx="3878819" cy="530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+1</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+1</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𝑎</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oMath>
                  </m:oMathPara>
                </a14:m>
                <a:endParaRPr lang="zh-CN" altLang="en-US" dirty="0"/>
              </a:p>
            </p:txBody>
          </p:sp>
        </mc:Choice>
        <mc:Fallback xmlns="">
          <p:sp>
            <p:nvSpPr>
              <p:cNvPr id="7" name="文本框 6">
                <a:extLst>
                  <a:ext uri="{FF2B5EF4-FFF2-40B4-BE49-F238E27FC236}">
                    <a16:creationId xmlns:a16="http://schemas.microsoft.com/office/drawing/2014/main" id="{EF93CC08-22BB-433C-8468-DFCBE81F6377}"/>
                  </a:ext>
                </a:extLst>
              </p:cNvPr>
              <p:cNvSpPr txBox="1">
                <a:spLocks noRot="1" noChangeAspect="1" noMove="1" noResize="1" noEditPoints="1" noAdjustHandles="1" noChangeArrowheads="1" noChangeShapeType="1" noTextEdit="1"/>
              </p:cNvSpPr>
              <p:nvPr/>
            </p:nvSpPr>
            <p:spPr>
              <a:xfrm>
                <a:off x="1945418" y="4240418"/>
                <a:ext cx="3878819" cy="53053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B8EE1932-8C38-4277-89D0-0C4DC337EE14}"/>
                  </a:ext>
                </a:extLst>
              </p:cNvPr>
              <p:cNvSpPr txBox="1"/>
              <p:nvPr/>
            </p:nvSpPr>
            <p:spPr>
              <a:xfrm>
                <a:off x="1945418" y="4767437"/>
                <a:ext cx="892359" cy="54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oMath>
                  </m:oMathPara>
                </a14:m>
                <a:endParaRPr lang="zh-CN" altLang="en-US" dirty="0"/>
              </a:p>
            </p:txBody>
          </p:sp>
        </mc:Choice>
        <mc:Fallback xmlns="">
          <p:sp>
            <p:nvSpPr>
              <p:cNvPr id="34" name="文本框 33">
                <a:extLst>
                  <a:ext uri="{FF2B5EF4-FFF2-40B4-BE49-F238E27FC236}">
                    <a16:creationId xmlns:a16="http://schemas.microsoft.com/office/drawing/2014/main" id="{B8EE1932-8C38-4277-89D0-0C4DC337EE14}"/>
                  </a:ext>
                </a:extLst>
              </p:cNvPr>
              <p:cNvSpPr txBox="1">
                <a:spLocks noRot="1" noChangeAspect="1" noMove="1" noResize="1" noEditPoints="1" noAdjustHandles="1" noChangeArrowheads="1" noChangeShapeType="1" noTextEdit="1"/>
              </p:cNvSpPr>
              <p:nvPr/>
            </p:nvSpPr>
            <p:spPr>
              <a:xfrm>
                <a:off x="1945418" y="4767437"/>
                <a:ext cx="892359" cy="548868"/>
              </a:xfrm>
              <a:prstGeom prst="rect">
                <a:avLst/>
              </a:prstGeom>
              <a:blipFill>
                <a:blip r:embed="rId8"/>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0CA4BC27-5056-4BD8-BEF5-A89E64B46AAC}"/>
              </a:ext>
            </a:extLst>
          </p:cNvPr>
          <p:cNvSpPr/>
          <p:nvPr/>
        </p:nvSpPr>
        <p:spPr>
          <a:xfrm>
            <a:off x="947779" y="3465369"/>
            <a:ext cx="4312399" cy="369332"/>
          </a:xfrm>
          <a:prstGeom prst="rect">
            <a:avLst/>
          </a:prstGeom>
        </p:spPr>
        <p:txBody>
          <a:bodyPr wrap="none">
            <a:spAutoFit/>
          </a:bodyPr>
          <a:lstStyle/>
          <a:p>
            <a:r>
              <a:rPr lang="en-US" altLang="zh-CN" dirty="0">
                <a:latin typeface="华文新魏" panose="02010800040101010101" pitchFamily="2" charset="-122"/>
                <a:ea typeface="华文新魏" panose="02010800040101010101" pitchFamily="2" charset="-122"/>
              </a:rPr>
              <a:t>By the Law of Total Probability, we have:</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E49A4F2-C7BD-4DAA-8584-6B7182AB4C5E}"/>
                  </a:ext>
                </a:extLst>
              </p:cNvPr>
              <p:cNvSpPr txBox="1"/>
              <p:nvPr/>
            </p:nvSpPr>
            <p:spPr>
              <a:xfrm>
                <a:off x="5543287" y="3527604"/>
                <a:ext cx="3588649" cy="530530"/>
              </a:xfrm>
              <a:prstGeom prst="rect">
                <a:avLst/>
              </a:prstGeom>
              <a:solidFill>
                <a:schemeClr val="accent2">
                  <a:lumMod val="60000"/>
                  <a:lumOff val="4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𝑎</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oMath>
                  </m:oMathPara>
                </a14:m>
                <a:endParaRPr lang="zh-CN" altLang="en-US" dirty="0"/>
              </a:p>
            </p:txBody>
          </p:sp>
        </mc:Choice>
        <mc:Fallback xmlns="">
          <p:sp>
            <p:nvSpPr>
              <p:cNvPr id="14" name="文本框 13">
                <a:extLst>
                  <a:ext uri="{FF2B5EF4-FFF2-40B4-BE49-F238E27FC236}">
                    <a16:creationId xmlns:a16="http://schemas.microsoft.com/office/drawing/2014/main" id="{0E49A4F2-C7BD-4DAA-8584-6B7182AB4C5E}"/>
                  </a:ext>
                </a:extLst>
              </p:cNvPr>
              <p:cNvSpPr txBox="1">
                <a:spLocks noRot="1" noChangeAspect="1" noMove="1" noResize="1" noEditPoints="1" noAdjustHandles="1" noChangeArrowheads="1" noChangeShapeType="1" noTextEdit="1"/>
              </p:cNvSpPr>
              <p:nvPr/>
            </p:nvSpPr>
            <p:spPr>
              <a:xfrm>
                <a:off x="5543287" y="3527604"/>
                <a:ext cx="3588649" cy="53053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D04148C-E052-47C2-A4B9-1001C4B097D1}"/>
                  </a:ext>
                </a:extLst>
              </p:cNvPr>
              <p:cNvSpPr txBox="1"/>
              <p:nvPr/>
            </p:nvSpPr>
            <p:spPr>
              <a:xfrm>
                <a:off x="1447121" y="2794390"/>
                <a:ext cx="7551024" cy="733214"/>
              </a:xfrm>
              <a:prstGeom prst="rect">
                <a:avLst/>
              </a:prstGeom>
              <a:noFill/>
            </p:spPr>
            <p:txBody>
              <a:bodyPr wrap="square">
                <a:spAutoFit/>
              </a:bodyPr>
              <a:lstStyle/>
              <a:p>
                <a:pPr marL="800100" lvl="1" indent="-342900">
                  <a:lnSpc>
                    <a:spcPct val="114000"/>
                  </a:lnSpc>
                  <a:buAutoNum type="arabicPeriod"/>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 </m:t>
                    </m:r>
                    <m:r>
                      <m:rPr>
                        <m:sty m:val="p"/>
                      </m:rPr>
                      <a:rPr lang="en-US" altLang="zh-CN" b="0" i="0" smtClean="0">
                        <a:latin typeface="Cambria Math" panose="02040503050406030204" pitchFamily="18" charset="0"/>
                        <a:ea typeface="华文新魏" panose="02010800040101010101" pitchFamily="2" charset="-122"/>
                      </a:rPr>
                      <m:t>are</m:t>
                    </m:r>
                    <m:r>
                      <a:rPr lang="en-US" altLang="zh-CN" b="0" i="0" smtClean="0">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𝐩𝐚𝐢𝐫𝐰𝐢𝐬𝐞</m:t>
                    </m:r>
                    <m:r>
                      <a:rPr lang="en-US" altLang="zh-CN" b="1" i="0" smtClean="0">
                        <a:solidFill>
                          <a:srgbClr val="C00000"/>
                        </a:solidFill>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𝐝𝐢𝐬𝐣𝐨𝐢𝐧𝐭</m:t>
                    </m:r>
                    <m:r>
                      <a:rPr lang="en-US" altLang="zh-CN" b="1" i="0" smtClean="0">
                        <a:solidFill>
                          <a:srgbClr val="C00000"/>
                        </a:solidFill>
                        <a:latin typeface="Cambria Math" panose="02040503050406030204" pitchFamily="18" charset="0"/>
                        <a:ea typeface="华文新魏" panose="02010800040101010101" pitchFamily="2" charset="-122"/>
                      </a:rPr>
                      <m:t> </m:t>
                    </m:r>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𝑖</m:t>
                        </m:r>
                      </m:sub>
                    </m:sSub>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𝑗</m:t>
                        </m:r>
                      </m:sub>
                    </m:sSub>
                    <m:r>
                      <a:rPr lang="en-US" altLang="zh-CN" i="1">
                        <a:latin typeface="Cambria Math" panose="02040503050406030204" pitchFamily="18" charset="0"/>
                        <a:ea typeface="华文新魏" panose="02010800040101010101" pitchFamily="2" charset="-122"/>
                      </a:rPr>
                      <m:t>=</m:t>
                    </m:r>
                    <m:r>
                      <m:rPr>
                        <m:sty m:val="p"/>
                      </m:rPr>
                      <a:rPr lang="en-US" altLang="zh-CN">
                        <a:latin typeface="Cambria Math" panose="02040503050406030204" pitchFamily="18" charset="0"/>
                        <a:ea typeface="华文新魏" panose="02010800040101010101" pitchFamily="2" charset="-122"/>
                      </a:rPr>
                      <m:t>Φ</m:t>
                    </m:r>
                    <m:r>
                      <a:rPr lang="en-US" altLang="zh-CN" b="0" i="0" smtClean="0">
                        <a:latin typeface="Cambria Math"/>
                        <a:ea typeface="华文新魏" panose="02010800040101010101" pitchFamily="2" charset="-122"/>
                      </a:rPr>
                      <m:t> </m:t>
                    </m:r>
                    <m:d>
                      <m:dPr>
                        <m:ctrlPr>
                          <a:rPr lang="en-US" altLang="zh-CN" b="0" i="1" smtClean="0">
                            <a:latin typeface="Cambria Math" panose="02040503050406030204" pitchFamily="18" charset="0"/>
                            <a:ea typeface="华文新魏" panose="02010800040101010101" pitchFamily="2" charset="-122"/>
                          </a:rPr>
                        </m:ctrlPr>
                      </m:dPr>
                      <m:e>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=1,…,</m:t>
                        </m:r>
                        <m:r>
                          <a:rPr lang="en-US" altLang="zh-CN" b="0" i="1" smtClean="0">
                            <a:latin typeface="Cambria Math" panose="02040503050406030204" pitchFamily="18" charset="0"/>
                            <a:ea typeface="华文新魏" panose="02010800040101010101" pitchFamily="2" charset="-122"/>
                          </a:rPr>
                          <m:t>𝑛</m:t>
                        </m:r>
                      </m:e>
                    </m:d>
                    <m:r>
                      <a:rPr lang="en-US" altLang="zh-CN" b="0" i="1" smtClean="0">
                        <a:latin typeface="Cambria Math" panose="02040503050406030204" pitchFamily="18" charset="0"/>
                        <a:ea typeface="华文新魏" panose="02010800040101010101" pitchFamily="2" charset="-122"/>
                      </a:rPr>
                      <m:t>.</m:t>
                    </m:r>
                  </m:oMath>
                </a14:m>
                <a:endParaRPr lang="en-US" altLang="zh-CN" dirty="0">
                  <a:latin typeface="华文新魏" panose="02010800040101010101" pitchFamily="2" charset="-122"/>
                  <a:ea typeface="华文新魏" panose="02010800040101010101" pitchFamily="2" charset="-122"/>
                </a:endParaRPr>
              </a:p>
              <a:p>
                <a:pPr marL="800100" lvl="1" indent="-342900">
                  <a:lnSpc>
                    <a:spcPct val="114000"/>
                  </a:lnSpc>
                  <a:buFont typeface="+mj-lt"/>
                  <a:buAutoNum type="arabicPeriod" startAt="2"/>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m:t>
                    </m:r>
                    <m:r>
                      <m:rPr>
                        <m:sty m:val="p"/>
                      </m:rPr>
                      <a:rPr lang="en-US" altLang="zh-CN" b="0" i="0" smtClean="0">
                        <a:latin typeface="Cambria Math" panose="02040503050406030204" pitchFamily="18" charset="0"/>
                        <a:ea typeface="华文新魏" panose="02010800040101010101" pitchFamily="2" charset="-122"/>
                      </a:rPr>
                      <m:t>Ω</m:t>
                    </m:r>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16" name="文本框 15">
                <a:extLst>
                  <a:ext uri="{FF2B5EF4-FFF2-40B4-BE49-F238E27FC236}">
                    <a16:creationId xmlns:a16="http://schemas.microsoft.com/office/drawing/2014/main" id="{2D04148C-E052-47C2-A4B9-1001C4B097D1}"/>
                  </a:ext>
                </a:extLst>
              </p:cNvPr>
              <p:cNvSpPr txBox="1">
                <a:spLocks noRot="1" noChangeAspect="1" noMove="1" noResize="1" noEditPoints="1" noAdjustHandles="1" noChangeArrowheads="1" noChangeShapeType="1" noTextEdit="1"/>
              </p:cNvSpPr>
              <p:nvPr/>
            </p:nvSpPr>
            <p:spPr>
              <a:xfrm>
                <a:off x="1447121" y="2794390"/>
                <a:ext cx="7551024" cy="733214"/>
              </a:xfrm>
              <a:prstGeom prst="rect">
                <a:avLst/>
              </a:prstGeom>
              <a:blipFill>
                <a:blip r:embed="rId10"/>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E54BA06-7A72-4157-ADEB-5A7409298074}"/>
                  </a:ext>
                </a:extLst>
              </p:cNvPr>
              <p:cNvSpPr txBox="1"/>
              <p:nvPr/>
            </p:nvSpPr>
            <p:spPr>
              <a:xfrm>
                <a:off x="7873639" y="4129754"/>
                <a:ext cx="892359" cy="548868"/>
              </a:xfrm>
              <a:prstGeom prst="rect">
                <a:avLst/>
              </a:prstGeom>
              <a:solidFill>
                <a:schemeClr val="accent2">
                  <a:lumMod val="60000"/>
                  <a:lumOff val="4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a:rPr>
                            <m:t>𝑏</m:t>
                          </m:r>
                        </m:num>
                        <m:den>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den>
                      </m:f>
                    </m:oMath>
                  </m:oMathPara>
                </a14:m>
                <a:endParaRPr lang="zh-CN" altLang="en-US" dirty="0"/>
              </a:p>
            </p:txBody>
          </p:sp>
        </mc:Choice>
        <mc:Fallback xmlns="">
          <p:sp>
            <p:nvSpPr>
              <p:cNvPr id="17" name="文本框 16">
                <a:extLst>
                  <a:ext uri="{FF2B5EF4-FFF2-40B4-BE49-F238E27FC236}">
                    <a16:creationId xmlns:a16="http://schemas.microsoft.com/office/drawing/2014/main" id="{2E54BA06-7A72-4157-ADEB-5A7409298074}"/>
                  </a:ext>
                </a:extLst>
              </p:cNvPr>
              <p:cNvSpPr txBox="1">
                <a:spLocks noRot="1" noChangeAspect="1" noMove="1" noResize="1" noEditPoints="1" noAdjustHandles="1" noChangeArrowheads="1" noChangeShapeType="1" noTextEdit="1"/>
              </p:cNvSpPr>
              <p:nvPr/>
            </p:nvSpPr>
            <p:spPr>
              <a:xfrm>
                <a:off x="7873639" y="4129754"/>
                <a:ext cx="892359" cy="548868"/>
              </a:xfrm>
              <a:prstGeom prst="rect">
                <a:avLst/>
              </a:prstGeom>
              <a:blipFill>
                <a:blip r:embed="rId1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37" fill="hold" grpId="0" nodeType="clickEffect">
                                  <p:stCondLst>
                                    <p:cond delay="0"/>
                                  </p:stCondLst>
                                  <p:childTnLst>
                                    <p:set>
                                      <p:cBhvr>
                                        <p:cTn id="56" dur="1" fill="hold">
                                          <p:stCondLst>
                                            <p:cond delay="0"/>
                                          </p:stCondLst>
                                        </p:cTn>
                                        <p:tgtEl>
                                          <p:spTgt spid="390248"/>
                                        </p:tgtEl>
                                        <p:attrNameLst>
                                          <p:attrName>style.visibility</p:attrName>
                                        </p:attrNameLst>
                                      </p:cBhvr>
                                      <p:to>
                                        <p:strVal val="visible"/>
                                      </p:to>
                                    </p:set>
                                    <p:animEffect transition="in" filter="barn(outVertical)">
                                      <p:cBhvr>
                                        <p:cTn id="57" dur="500"/>
                                        <p:tgtEl>
                                          <p:spTgt spid="39024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90248" grpId="0" animBg="1"/>
      <p:bldP spid="3" grpId="0"/>
      <p:bldP spid="4" grpId="0"/>
      <p:bldP spid="29" grpId="0"/>
      <p:bldP spid="30" grpId="0"/>
      <p:bldP spid="5" grpId="0"/>
      <p:bldP spid="6" grpId="0"/>
      <p:bldP spid="7" grpId="0"/>
      <p:bldP spid="34" grpId="0"/>
      <p:bldP spid="8" grpId="0"/>
      <p:bldP spid="14" grpId="0" animBg="1"/>
      <p:bldP spid="16" grpId="0"/>
      <p:bldP spid="16" grpId="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1243" name="Group 75"/>
          <p:cNvGrpSpPr>
            <a:grpSpLocks/>
          </p:cNvGrpSpPr>
          <p:nvPr/>
        </p:nvGrpSpPr>
        <p:grpSpPr bwMode="auto">
          <a:xfrm>
            <a:off x="3677325" y="4692621"/>
            <a:ext cx="4937127" cy="1887538"/>
            <a:chOff x="2556" y="2960"/>
            <a:chExt cx="3110" cy="1189"/>
          </a:xfrm>
        </p:grpSpPr>
        <p:sp>
          <p:nvSpPr>
            <p:cNvPr id="14352" name="Oval 68"/>
            <p:cNvSpPr>
              <a:spLocks noChangeArrowheads="1"/>
            </p:cNvSpPr>
            <p:nvPr/>
          </p:nvSpPr>
          <p:spPr bwMode="auto">
            <a:xfrm>
              <a:off x="2556" y="2960"/>
              <a:ext cx="240" cy="448"/>
            </a:xfrm>
            <a:prstGeom prst="ellipse">
              <a:avLst/>
            </a:prstGeom>
            <a:noFill/>
            <a:ln w="28575" algn="ctr">
              <a:solidFill>
                <a:schemeClr val="accent2"/>
              </a:solidFill>
              <a:round/>
              <a:headEnd/>
              <a:tailEnd/>
            </a:ln>
            <a:effectLst>
              <a:outerShdw dist="53882" dir="2700000" algn="ctr" rotWithShape="0">
                <a:schemeClr val="bg2">
                  <a:alpha val="50000"/>
                </a:schemeClr>
              </a:outerShdw>
            </a:effectLst>
            <a:extLst>
              <a:ext uri="{909E8E84-426E-40DD-AFC4-6F175D3DCCD1}">
                <a14:hiddenFill xmlns:a14="http://schemas.microsoft.com/office/drawing/2010/main">
                  <a:solidFill>
                    <a:schemeClr val="accent2"/>
                  </a:solidFill>
                </a14:hiddenFill>
              </a:ext>
            </a:extLst>
          </p:spPr>
          <p:txBody>
            <a:bodyPr wrap="none" anchor="ctr"/>
            <a:lstStyle/>
            <a:p>
              <a:endParaRPr lang="zh-CN" altLang="en-US"/>
            </a:p>
          </p:txBody>
        </p:sp>
        <p:sp>
          <p:nvSpPr>
            <p:cNvPr id="14353" name="Oval 69"/>
            <p:cNvSpPr>
              <a:spLocks noChangeArrowheads="1"/>
            </p:cNvSpPr>
            <p:nvPr/>
          </p:nvSpPr>
          <p:spPr bwMode="auto">
            <a:xfrm>
              <a:off x="3089" y="2963"/>
              <a:ext cx="240" cy="448"/>
            </a:xfrm>
            <a:prstGeom prst="ellipse">
              <a:avLst/>
            </a:prstGeom>
            <a:noFill/>
            <a:ln w="28575" algn="ctr">
              <a:solidFill>
                <a:schemeClr val="accent2"/>
              </a:solidFill>
              <a:round/>
              <a:headEnd/>
              <a:tailEnd/>
            </a:ln>
            <a:effectLst>
              <a:outerShdw dist="53882" dir="2700000" algn="ctr" rotWithShape="0">
                <a:schemeClr val="bg2">
                  <a:alpha val="50000"/>
                </a:schemeClr>
              </a:outerShdw>
            </a:effectLst>
            <a:extLst>
              <a:ext uri="{909E8E84-426E-40DD-AFC4-6F175D3DCCD1}">
                <a14:hiddenFill xmlns:a14="http://schemas.microsoft.com/office/drawing/2010/main">
                  <a:solidFill>
                    <a:schemeClr val="accent2"/>
                  </a:solidFill>
                </a14:hiddenFill>
              </a:ext>
            </a:extLst>
          </p:spPr>
          <p:txBody>
            <a:bodyPr wrap="none" anchor="ctr"/>
            <a:lstStyle/>
            <a:p>
              <a:endParaRPr lang="zh-CN" altLang="en-US"/>
            </a:p>
          </p:txBody>
        </p:sp>
        <p:sp>
          <p:nvSpPr>
            <p:cNvPr id="14354" name="Oval 70"/>
            <p:cNvSpPr>
              <a:spLocks noChangeArrowheads="1"/>
            </p:cNvSpPr>
            <p:nvPr/>
          </p:nvSpPr>
          <p:spPr bwMode="auto">
            <a:xfrm>
              <a:off x="3627" y="3003"/>
              <a:ext cx="240" cy="448"/>
            </a:xfrm>
            <a:prstGeom prst="ellipse">
              <a:avLst/>
            </a:prstGeom>
            <a:noFill/>
            <a:ln w="28575" algn="ctr">
              <a:solidFill>
                <a:schemeClr val="accent2"/>
              </a:solidFill>
              <a:round/>
              <a:headEnd/>
              <a:tailEnd/>
            </a:ln>
            <a:effectLst>
              <a:outerShdw dist="53882" dir="2700000" algn="ctr" rotWithShape="0">
                <a:schemeClr val="bg2">
                  <a:alpha val="50000"/>
                </a:schemeClr>
              </a:outerShdw>
            </a:effectLst>
            <a:extLst>
              <a:ext uri="{909E8E84-426E-40DD-AFC4-6F175D3DCCD1}">
                <a14:hiddenFill xmlns:a14="http://schemas.microsoft.com/office/drawing/2010/main">
                  <a:solidFill>
                    <a:schemeClr val="accent2"/>
                  </a:solidFill>
                </a14:hiddenFill>
              </a:ext>
            </a:extLst>
          </p:spPr>
          <p:txBody>
            <a:bodyPr wrap="none" anchor="ctr"/>
            <a:lstStyle/>
            <a:p>
              <a:endParaRPr lang="zh-CN" altLang="en-US"/>
            </a:p>
          </p:txBody>
        </p:sp>
        <p:sp>
          <p:nvSpPr>
            <p:cNvPr id="14355" name="Line 71"/>
            <p:cNvSpPr>
              <a:spLocks noChangeShapeType="1"/>
            </p:cNvSpPr>
            <p:nvPr/>
          </p:nvSpPr>
          <p:spPr bwMode="auto">
            <a:xfrm flipH="1" flipV="1">
              <a:off x="2728" y="3368"/>
              <a:ext cx="592" cy="264"/>
            </a:xfrm>
            <a:prstGeom prst="line">
              <a:avLst/>
            </a:prstGeom>
            <a:noFill/>
            <a:ln w="28575">
              <a:solidFill>
                <a:schemeClr val="accent2"/>
              </a:solidFill>
              <a:round/>
              <a:headEnd/>
              <a:tailEnd type="stealth" w="lg" len="lg"/>
            </a:ln>
            <a:effectLst>
              <a:outerShdw dist="53882"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4356" name="Line 72"/>
            <p:cNvSpPr>
              <a:spLocks noChangeShapeType="1"/>
            </p:cNvSpPr>
            <p:nvPr/>
          </p:nvSpPr>
          <p:spPr bwMode="auto">
            <a:xfrm flipH="1" flipV="1">
              <a:off x="3255" y="3411"/>
              <a:ext cx="306" cy="206"/>
            </a:xfrm>
            <a:prstGeom prst="line">
              <a:avLst/>
            </a:prstGeom>
            <a:noFill/>
            <a:ln w="28575">
              <a:solidFill>
                <a:schemeClr val="accent2"/>
              </a:solidFill>
              <a:round/>
              <a:headEnd/>
              <a:tailEnd type="stealth" w="lg" len="lg"/>
            </a:ln>
            <a:effectLst>
              <a:outerShdw dist="53882"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4357" name="Line 73"/>
            <p:cNvSpPr>
              <a:spLocks noChangeShapeType="1"/>
            </p:cNvSpPr>
            <p:nvPr/>
          </p:nvSpPr>
          <p:spPr bwMode="auto">
            <a:xfrm flipV="1">
              <a:off x="3738" y="3451"/>
              <a:ext cx="7" cy="199"/>
            </a:xfrm>
            <a:prstGeom prst="line">
              <a:avLst/>
            </a:prstGeom>
            <a:noFill/>
            <a:ln w="28575">
              <a:solidFill>
                <a:schemeClr val="accent2"/>
              </a:solidFill>
              <a:round/>
              <a:headEnd/>
              <a:tailEnd type="stealth" w="lg" len="lg"/>
            </a:ln>
            <a:effectLst>
              <a:outerShdw dist="53882"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91242" name="AutoShape 74"/>
            <p:cNvSpPr>
              <a:spLocks noChangeArrowheads="1"/>
            </p:cNvSpPr>
            <p:nvPr/>
          </p:nvSpPr>
          <p:spPr bwMode="auto">
            <a:xfrm>
              <a:off x="3078" y="3650"/>
              <a:ext cx="2588" cy="499"/>
            </a:xfrm>
            <a:prstGeom prst="wedgeRectCallout">
              <a:avLst>
                <a:gd name="adj1" fmla="val 24815"/>
                <a:gd name="adj2" fmla="val -48102"/>
              </a:avLst>
            </a:prstGeom>
            <a:solidFill>
              <a:schemeClr val="accent2">
                <a:lumMod val="60000"/>
                <a:lumOff val="40000"/>
              </a:schemeClr>
            </a:solidFill>
            <a:ln w="9525" algn="ctr">
              <a:solidFill>
                <a:schemeClr val="tx2"/>
              </a:solidFill>
              <a:miter lim="800000"/>
              <a:headEnd/>
              <a:tailEnd/>
            </a:ln>
            <a:effectLst>
              <a:outerShdw dist="107763" dir="2700000" algn="ctr" rotWithShape="0">
                <a:schemeClr val="bg2">
                  <a:alpha val="50000"/>
                </a:schemeClr>
              </a:outerShdw>
            </a:effectLst>
          </p:spPr>
          <p:txBody>
            <a:bodyPr anchor="ctr"/>
            <a:lstStyle/>
            <a:p>
              <a:pPr eaLnBrk="1" hangingPunct="1">
                <a:spcBef>
                  <a:spcPct val="0"/>
                </a:spcBef>
                <a:buClrTx/>
                <a:buSzTx/>
                <a:buFontTx/>
                <a:buNone/>
                <a:defRPr/>
              </a:pPr>
              <a:r>
                <a:rPr lang="en-US" altLang="zh-CN" dirty="0">
                  <a:solidFill>
                    <a:srgbClr val="0070C0"/>
                  </a:solidFill>
                  <a:latin typeface="华文新魏" pitchFamily="2" charset="-122"/>
                  <a:ea typeface="华文新魏" pitchFamily="2" charset="-122"/>
                </a:rPr>
                <a:t>It is the probability of picking a white ball from the bags </a:t>
              </a:r>
              <a:r>
                <a:rPr lang="en-US" altLang="zh-CN" i="1" dirty="0">
                  <a:solidFill>
                    <a:srgbClr val="0070C0"/>
                  </a:solidFill>
                  <a:latin typeface="华文新魏" pitchFamily="2" charset="-122"/>
                  <a:ea typeface="华文新魏" pitchFamily="2" charset="-122"/>
                </a:rPr>
                <a:t>X,</a:t>
              </a:r>
              <a:r>
                <a:rPr lang="zh-CN" altLang="en-US" i="1" dirty="0">
                  <a:solidFill>
                    <a:srgbClr val="0070C0"/>
                  </a:solidFill>
                  <a:latin typeface="华文新魏" pitchFamily="2" charset="-122"/>
                  <a:ea typeface="华文新魏" pitchFamily="2" charset="-122"/>
                </a:rPr>
                <a:t> </a:t>
              </a:r>
              <a:r>
                <a:rPr lang="en-US" altLang="zh-CN" i="1" dirty="0">
                  <a:solidFill>
                    <a:srgbClr val="0070C0"/>
                  </a:solidFill>
                  <a:latin typeface="华文新魏" pitchFamily="2" charset="-122"/>
                  <a:ea typeface="华文新魏" pitchFamily="2" charset="-122"/>
                </a:rPr>
                <a:t>Y,</a:t>
              </a:r>
              <a:r>
                <a:rPr lang="zh-CN" altLang="en-US" i="1" dirty="0">
                  <a:solidFill>
                    <a:srgbClr val="0070C0"/>
                  </a:solidFill>
                  <a:latin typeface="华文新魏" pitchFamily="2" charset="-122"/>
                  <a:ea typeface="华文新魏" pitchFamily="2" charset="-122"/>
                </a:rPr>
                <a:t> </a:t>
              </a:r>
              <a:r>
                <a:rPr lang="en-US" altLang="zh-CN" i="1" dirty="0">
                  <a:solidFill>
                    <a:srgbClr val="0070C0"/>
                  </a:solidFill>
                  <a:latin typeface="华文新魏" pitchFamily="2" charset="-122"/>
                  <a:ea typeface="华文新魏" pitchFamily="2" charset="-122"/>
                </a:rPr>
                <a:t>Z , </a:t>
              </a:r>
              <a:r>
                <a:rPr lang="en-US" altLang="zh-CN" dirty="0">
                  <a:solidFill>
                    <a:srgbClr val="0070C0"/>
                  </a:solidFill>
                  <a:latin typeface="华文新魏" pitchFamily="2" charset="-122"/>
                  <a:ea typeface="华文新魏" pitchFamily="2" charset="-122"/>
                </a:rPr>
                <a:t>respectively </a:t>
              </a:r>
              <a:endParaRPr lang="zh-CN" altLang="en-US" dirty="0">
                <a:solidFill>
                  <a:srgbClr val="0070C0"/>
                </a:solidFill>
                <a:latin typeface="华文新魏" pitchFamily="2" charset="-122"/>
                <a:ea typeface="华文新魏" pitchFamily="2" charset="-122"/>
              </a:endParaRPr>
            </a:p>
          </p:txBody>
        </p:sp>
      </p:grpSp>
      <p:sp>
        <p:nvSpPr>
          <p:cNvPr id="2" name="文本框 1">
            <a:extLst>
              <a:ext uri="{FF2B5EF4-FFF2-40B4-BE49-F238E27FC236}">
                <a16:creationId xmlns:a16="http://schemas.microsoft.com/office/drawing/2014/main" id="{61049EB7-A9AB-4352-8776-A9D836C0532C}"/>
              </a:ext>
            </a:extLst>
          </p:cNvPr>
          <p:cNvSpPr txBox="1"/>
          <p:nvPr/>
        </p:nvSpPr>
        <p:spPr>
          <a:xfrm>
            <a:off x="176923" y="277841"/>
            <a:ext cx="8693811" cy="1200329"/>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solidFill>
                  <a:schemeClr val="accent1">
                    <a:lumMod val="75000"/>
                  </a:schemeClr>
                </a:solidFill>
                <a:latin typeface="华文新魏" panose="02010800040101010101" pitchFamily="2" charset="-122"/>
                <a:ea typeface="华文新魏" panose="02010800040101010101" pitchFamily="2" charset="-122"/>
              </a:rPr>
              <a:t>There are 10 bags in total, in which for 2 bags (</a:t>
            </a:r>
            <a:r>
              <a:rPr lang="en-US" altLang="zh-CN" i="1" dirty="0">
                <a:solidFill>
                  <a:schemeClr val="accent1">
                    <a:lumMod val="75000"/>
                  </a:schemeClr>
                </a:solidFill>
                <a:latin typeface="华文新魏" panose="02010800040101010101" pitchFamily="2" charset="-122"/>
                <a:ea typeface="华文新魏" panose="02010800040101010101" pitchFamily="2" charset="-122"/>
              </a:rPr>
              <a:t>X </a:t>
            </a:r>
            <a:r>
              <a:rPr lang="en-US" altLang="zh-CN" dirty="0">
                <a:solidFill>
                  <a:schemeClr val="accent1">
                    <a:lumMod val="75000"/>
                  </a:schemeClr>
                </a:solidFill>
                <a:latin typeface="华文新魏" panose="02010800040101010101" pitchFamily="2" charset="-122"/>
                <a:ea typeface="华文新魏" panose="02010800040101010101" pitchFamily="2" charset="-122"/>
              </a:rPr>
              <a:t>) each has 2 red balls and 2 white balls; for 3 bags (</a:t>
            </a:r>
            <a:r>
              <a:rPr lang="en-US" altLang="zh-CN" i="1" dirty="0">
                <a:solidFill>
                  <a:schemeClr val="accent1">
                    <a:lumMod val="75000"/>
                  </a:schemeClr>
                </a:solidFill>
                <a:latin typeface="华文新魏" panose="02010800040101010101" pitchFamily="2" charset="-122"/>
                <a:ea typeface="华文新魏" panose="02010800040101010101" pitchFamily="2" charset="-122"/>
              </a:rPr>
              <a:t>Y </a:t>
            </a:r>
            <a:r>
              <a:rPr lang="en-US" altLang="zh-CN" dirty="0">
                <a:solidFill>
                  <a:schemeClr val="accent1">
                    <a:lumMod val="75000"/>
                  </a:schemeClr>
                </a:solidFill>
                <a:latin typeface="华文新魏" panose="02010800040101010101" pitchFamily="2" charset="-122"/>
                <a:ea typeface="华文新魏" panose="02010800040101010101" pitchFamily="2" charset="-122"/>
              </a:rPr>
              <a:t>) each has 3 red balls and 2 white balls; and for 5 bags (</a:t>
            </a:r>
            <a:r>
              <a:rPr lang="en-US" altLang="zh-CN" i="1" dirty="0">
                <a:solidFill>
                  <a:schemeClr val="accent1">
                    <a:lumMod val="75000"/>
                  </a:schemeClr>
                </a:solidFill>
                <a:latin typeface="华文新魏" panose="02010800040101010101" pitchFamily="2" charset="-122"/>
                <a:ea typeface="华文新魏" panose="02010800040101010101" pitchFamily="2" charset="-122"/>
              </a:rPr>
              <a:t>Z </a:t>
            </a:r>
            <a:r>
              <a:rPr lang="en-US" altLang="zh-CN" dirty="0">
                <a:solidFill>
                  <a:schemeClr val="accent1">
                    <a:lumMod val="75000"/>
                  </a:schemeClr>
                </a:solidFill>
                <a:latin typeface="华文新魏" panose="02010800040101010101" pitchFamily="2" charset="-122"/>
                <a:ea typeface="华文新魏" panose="02010800040101010101" pitchFamily="2" charset="-122"/>
              </a:rPr>
              <a:t>) each has 2 red balls and 3 white balls. Pick a bag from the 10 bags, then pick a ball from the bag, what is the probability of getting a white ball?</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9B7138C4-9454-431F-A05A-E8B567B4AF74}"/>
              </a:ext>
            </a:extLst>
          </p:cNvPr>
          <p:cNvSpPr txBox="1"/>
          <p:nvPr/>
        </p:nvSpPr>
        <p:spPr>
          <a:xfrm>
            <a:off x="223043" y="1758203"/>
            <a:ext cx="964822" cy="369332"/>
          </a:xfrm>
          <a:prstGeom prst="rect">
            <a:avLst/>
          </a:prstGeom>
          <a:noFill/>
        </p:spPr>
        <p:txBody>
          <a:bodyPr wrap="squar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Answer:       </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CB0B9E-5330-4415-905E-5DD1FC32C83D}"/>
                  </a:ext>
                </a:extLst>
              </p:cNvPr>
              <p:cNvSpPr txBox="1"/>
              <p:nvPr/>
            </p:nvSpPr>
            <p:spPr>
              <a:xfrm>
                <a:off x="183716" y="2242079"/>
                <a:ext cx="6181372" cy="646331"/>
              </a:xfrm>
              <a:prstGeom prst="rect">
                <a:avLst/>
              </a:prstGeom>
              <a:noFill/>
            </p:spPr>
            <p:txBody>
              <a:bodyPr wrap="square"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3</m:t>
                        </m:r>
                      </m:sub>
                    </m:sSub>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represent 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event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of</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picking bag X, bag Y, bag Z, respectively. </a:t>
                </a:r>
                <a:r>
                  <a:rPr lang="en-US" altLang="zh-CN" dirty="0">
                    <a:solidFill>
                      <a:schemeClr val="tx1"/>
                    </a:solidFill>
                    <a:latin typeface="华文新魏" panose="02010800040101010101" pitchFamily="2" charset="-122"/>
                    <a:ea typeface="华文新魏" panose="02010800040101010101" pitchFamily="2" charset="-122"/>
                  </a:rPr>
                  <a:t>So</a:t>
                </a:r>
                <a:r>
                  <a:rPr lang="en-US" altLang="zh-CN" dirty="0">
                    <a:solidFill>
                      <a:schemeClr val="tx1"/>
                    </a:solidFill>
                  </a:rPr>
                  <a:t> </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𝐵</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𝐵</m:t>
                        </m:r>
                      </m:e>
                      <m:sub>
                        <m:r>
                          <a:rPr lang="en-US" altLang="zh-CN" i="1">
                            <a:solidFill>
                              <a:schemeClr val="tx1"/>
                            </a:solidFill>
                            <a:latin typeface="Cambria Math" panose="02040503050406030204" pitchFamily="18" charset="0"/>
                          </a:rPr>
                          <m:t>2</m:t>
                        </m:r>
                      </m:sub>
                    </m:sSub>
                  </m:oMath>
                </a14:m>
                <a:r>
                  <a:rPr lang="en-US" altLang="zh-CN"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rPr>
                  <a:t> </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3</m:t>
                        </m:r>
                      </m:sub>
                    </m:sSub>
                  </m:oMath>
                </a14:m>
                <a:r>
                  <a:rPr lang="zh-CN" altLang="en-US"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are Partitions</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of the sample space</a:t>
                </a: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mc:Choice>
        <mc:Fallback xmlns="">
          <p:sp>
            <p:nvSpPr>
              <p:cNvPr id="4" name="文本框 3">
                <a:extLst>
                  <a:ext uri="{FF2B5EF4-FFF2-40B4-BE49-F238E27FC236}">
                    <a16:creationId xmlns:a16="http://schemas.microsoft.com/office/drawing/2014/main" id="{AACB0B9E-5330-4415-905E-5DD1FC32C83D}"/>
                  </a:ext>
                </a:extLst>
              </p:cNvPr>
              <p:cNvSpPr txBox="1">
                <a:spLocks noRot="1" noChangeAspect="1" noMove="1" noResize="1" noEditPoints="1" noAdjustHandles="1" noChangeArrowheads="1" noChangeShapeType="1" noTextEdit="1"/>
              </p:cNvSpPr>
              <p:nvPr/>
            </p:nvSpPr>
            <p:spPr>
              <a:xfrm>
                <a:off x="183716" y="2242079"/>
                <a:ext cx="6181372" cy="646331"/>
              </a:xfrm>
              <a:prstGeom prst="rect">
                <a:avLst/>
              </a:prstGeom>
              <a:blipFill>
                <a:blip r:embed="rId2"/>
                <a:stretch>
                  <a:fillRect l="-789" t="-4717" r="-197"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B8766CF-6D5B-48D9-A150-1BC7037071FF}"/>
                  </a:ext>
                </a:extLst>
              </p:cNvPr>
              <p:cNvSpPr txBox="1"/>
              <p:nvPr/>
            </p:nvSpPr>
            <p:spPr>
              <a:xfrm>
                <a:off x="1518347" y="1805855"/>
                <a:ext cx="25654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getting</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white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ball</m:t>
                      </m:r>
                      <m:r>
                        <a:rPr lang="en-US" altLang="zh-CN" b="0" i="1" smtClean="0">
                          <a:latin typeface="Cambria Math" panose="02040503050406030204" pitchFamily="18" charset="0"/>
                        </a:rPr>
                        <m:t>}</m:t>
                      </m:r>
                    </m:oMath>
                  </m:oMathPara>
                </a14:m>
                <a:endParaRPr lang="zh-CN" altLang="en-US" dirty="0"/>
              </a:p>
            </p:txBody>
          </p:sp>
        </mc:Choice>
        <mc:Fallback xmlns="">
          <p:sp>
            <p:nvSpPr>
              <p:cNvPr id="5" name="文本框 4">
                <a:extLst>
                  <a:ext uri="{FF2B5EF4-FFF2-40B4-BE49-F238E27FC236}">
                    <a16:creationId xmlns:a16="http://schemas.microsoft.com/office/drawing/2014/main" id="{6B8766CF-6D5B-48D9-A150-1BC7037071FF}"/>
                  </a:ext>
                </a:extLst>
              </p:cNvPr>
              <p:cNvSpPr txBox="1">
                <a:spLocks noRot="1" noChangeAspect="1" noMove="1" noResize="1" noEditPoints="1" noAdjustHandles="1" noChangeArrowheads="1" noChangeShapeType="1" noTextEdit="1"/>
              </p:cNvSpPr>
              <p:nvPr/>
            </p:nvSpPr>
            <p:spPr>
              <a:xfrm>
                <a:off x="1518347" y="1805855"/>
                <a:ext cx="2565446" cy="276999"/>
              </a:xfrm>
              <a:prstGeom prst="rect">
                <a:avLst/>
              </a:prstGeom>
              <a:blipFill>
                <a:blip r:embed="rId3"/>
                <a:stretch>
                  <a:fillRect l="-1478" t="-8696" r="-2463" b="-34783"/>
                </a:stretch>
              </a:blipFill>
            </p:spPr>
            <p:txBody>
              <a:bodyPr/>
              <a:lstStyle/>
              <a:p>
                <a:r>
                  <a:rPr lang="en-CN">
                    <a:noFill/>
                  </a:rPr>
                  <a:t> </a:t>
                </a:r>
              </a:p>
            </p:txBody>
          </p:sp>
        </mc:Fallback>
      </mc:AlternateContent>
      <p:sp>
        <p:nvSpPr>
          <p:cNvPr id="6" name="文本框 5">
            <a:extLst>
              <a:ext uri="{FF2B5EF4-FFF2-40B4-BE49-F238E27FC236}">
                <a16:creationId xmlns:a16="http://schemas.microsoft.com/office/drawing/2014/main" id="{52CD8E98-C29C-415E-A4E9-95C4DDF61FEE}"/>
              </a:ext>
            </a:extLst>
          </p:cNvPr>
          <p:cNvSpPr txBox="1"/>
          <p:nvPr/>
        </p:nvSpPr>
        <p:spPr>
          <a:xfrm>
            <a:off x="307136" y="3633725"/>
            <a:ext cx="4312399"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By the Law of Total Probability, we have:</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74A414E-90A7-45B7-AA70-EA645CBA30DB}"/>
                  </a:ext>
                </a:extLst>
              </p:cNvPr>
              <p:cNvSpPr txBox="1"/>
              <p:nvPr/>
            </p:nvSpPr>
            <p:spPr>
              <a:xfrm>
                <a:off x="2511410" y="3947306"/>
                <a:ext cx="2623026" cy="778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3</m:t>
                          </m:r>
                        </m:sup>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e>
                      </m:nary>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𝐴</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𝑖</m:t>
                              </m:r>
                            </m:sub>
                          </m:sSub>
                        </m:e>
                      </m:d>
                    </m:oMath>
                  </m:oMathPara>
                </a14:m>
                <a:endParaRPr lang="zh-CN" altLang="en-US" dirty="0"/>
              </a:p>
            </p:txBody>
          </p:sp>
        </mc:Choice>
        <mc:Fallback xmlns="">
          <p:sp>
            <p:nvSpPr>
              <p:cNvPr id="7" name="文本框 6">
                <a:extLst>
                  <a:ext uri="{FF2B5EF4-FFF2-40B4-BE49-F238E27FC236}">
                    <a16:creationId xmlns:a16="http://schemas.microsoft.com/office/drawing/2014/main" id="{A74A414E-90A7-45B7-AA70-EA645CBA30DB}"/>
                  </a:ext>
                </a:extLst>
              </p:cNvPr>
              <p:cNvSpPr txBox="1">
                <a:spLocks noRot="1" noChangeAspect="1" noMove="1" noResize="1" noEditPoints="1" noAdjustHandles="1" noChangeArrowheads="1" noChangeShapeType="1" noTextEdit="1"/>
              </p:cNvSpPr>
              <p:nvPr/>
            </p:nvSpPr>
            <p:spPr>
              <a:xfrm>
                <a:off x="2511410" y="3947306"/>
                <a:ext cx="2623026" cy="7788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744AF02-D56E-4111-A519-6C3F4E24B5A0}"/>
                  </a:ext>
                </a:extLst>
              </p:cNvPr>
              <p:cNvSpPr txBox="1"/>
              <p:nvPr/>
            </p:nvSpPr>
            <p:spPr>
              <a:xfrm>
                <a:off x="3106802" y="4786139"/>
                <a:ext cx="2510303"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10</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4</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num>
                        <m:den>
                          <m:r>
                            <a:rPr lang="en-US" altLang="zh-CN" b="0" i="1" smtClean="0">
                              <a:latin typeface="Cambria Math" panose="02040503050406030204" pitchFamily="18" charset="0"/>
                            </a:rPr>
                            <m:t>10</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5</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5</m:t>
                          </m:r>
                        </m:num>
                        <m:den>
                          <m:r>
                            <a:rPr lang="en-US" altLang="zh-CN" b="0" i="1" smtClean="0">
                              <a:latin typeface="Cambria Math" panose="02040503050406030204" pitchFamily="18" charset="0"/>
                            </a:rPr>
                            <m:t>10</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num>
                        <m:den>
                          <m:r>
                            <a:rPr lang="en-US" altLang="zh-CN" b="0" i="1" smtClean="0">
                              <a:latin typeface="Cambria Math" panose="02040503050406030204" pitchFamily="18" charset="0"/>
                            </a:rPr>
                            <m:t>5</m:t>
                          </m:r>
                        </m:den>
                      </m:f>
                    </m:oMath>
                  </m:oMathPara>
                </a14:m>
                <a:endParaRPr lang="zh-CN" altLang="en-US" dirty="0"/>
              </a:p>
            </p:txBody>
          </p:sp>
        </mc:Choice>
        <mc:Fallback xmlns="">
          <p:sp>
            <p:nvSpPr>
              <p:cNvPr id="8" name="文本框 7">
                <a:extLst>
                  <a:ext uri="{FF2B5EF4-FFF2-40B4-BE49-F238E27FC236}">
                    <a16:creationId xmlns:a16="http://schemas.microsoft.com/office/drawing/2014/main" id="{D744AF02-D56E-4111-A519-6C3F4E24B5A0}"/>
                  </a:ext>
                </a:extLst>
              </p:cNvPr>
              <p:cNvSpPr txBox="1">
                <a:spLocks noRot="1" noChangeAspect="1" noMove="1" noResize="1" noEditPoints="1" noAdjustHandles="1" noChangeArrowheads="1" noChangeShapeType="1" noTextEdit="1"/>
              </p:cNvSpPr>
              <p:nvPr/>
            </p:nvSpPr>
            <p:spPr>
              <a:xfrm>
                <a:off x="3106802" y="4786139"/>
                <a:ext cx="2510303" cy="52604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38FEEBD-88C8-4AAC-A8B1-7FE9E0ED0497}"/>
                  </a:ext>
                </a:extLst>
              </p:cNvPr>
              <p:cNvSpPr txBox="1"/>
              <p:nvPr/>
            </p:nvSpPr>
            <p:spPr>
              <a:xfrm>
                <a:off x="5889642" y="4791717"/>
                <a:ext cx="556242"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13</m:t>
                          </m:r>
                        </m:num>
                        <m:den>
                          <m:r>
                            <a:rPr lang="en-US" altLang="zh-CN" b="0" i="1" smtClean="0">
                              <a:latin typeface="Cambria Math" panose="02040503050406030204" pitchFamily="18" charset="0"/>
                            </a:rPr>
                            <m:t>25</m:t>
                          </m:r>
                        </m:den>
                      </m:f>
                    </m:oMath>
                  </m:oMathPara>
                </a14:m>
                <a:endParaRPr lang="zh-CN" altLang="en-US" dirty="0"/>
              </a:p>
            </p:txBody>
          </p:sp>
        </mc:Choice>
        <mc:Fallback xmlns="">
          <p:sp>
            <p:nvSpPr>
              <p:cNvPr id="9" name="文本框 8">
                <a:extLst>
                  <a:ext uri="{FF2B5EF4-FFF2-40B4-BE49-F238E27FC236}">
                    <a16:creationId xmlns:a16="http://schemas.microsoft.com/office/drawing/2014/main" id="{838FEEBD-88C8-4AAC-A8B1-7FE9E0ED0497}"/>
                  </a:ext>
                </a:extLst>
              </p:cNvPr>
              <p:cNvSpPr txBox="1">
                <a:spLocks noRot="1" noChangeAspect="1" noMove="1" noResize="1" noEditPoints="1" noAdjustHandles="1" noChangeArrowheads="1" noChangeShapeType="1" noTextEdit="1"/>
              </p:cNvSpPr>
              <p:nvPr/>
            </p:nvSpPr>
            <p:spPr>
              <a:xfrm>
                <a:off x="5889642" y="4791717"/>
                <a:ext cx="556242" cy="520463"/>
              </a:xfrm>
              <a:prstGeom prst="rect">
                <a:avLst/>
              </a:prstGeom>
              <a:blipFill>
                <a:blip r:embed="rId6"/>
                <a:stretch>
                  <a:fillRect/>
                </a:stretch>
              </a:blipFill>
            </p:spPr>
            <p:txBody>
              <a:bodyPr/>
              <a:lstStyle/>
              <a:p>
                <a:r>
                  <a:rPr lang="zh-CN" altLang="en-US">
                    <a:noFill/>
                  </a:rPr>
                  <a:t> </a:t>
                </a:r>
              </a:p>
            </p:txBody>
          </p:sp>
        </mc:Fallback>
      </mc:AlternateContent>
      <p:sp>
        <p:nvSpPr>
          <p:cNvPr id="391244" name="AutoShape 76"/>
          <p:cNvSpPr>
            <a:spLocks noChangeArrowheads="1"/>
          </p:cNvSpPr>
          <p:nvPr/>
        </p:nvSpPr>
        <p:spPr bwMode="auto">
          <a:xfrm>
            <a:off x="307136" y="5388175"/>
            <a:ext cx="2690454" cy="1385463"/>
          </a:xfrm>
          <a:prstGeom prst="wedgeRectCallout">
            <a:avLst>
              <a:gd name="adj1" fmla="val 62115"/>
              <a:gd name="adj2" fmla="val -58922"/>
            </a:avLst>
          </a:prstGeom>
          <a:solidFill>
            <a:schemeClr val="accent2">
              <a:lumMod val="60000"/>
              <a:lumOff val="40000"/>
            </a:schemeClr>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spcBef>
                <a:spcPct val="0"/>
              </a:spcBef>
              <a:buClrTx/>
              <a:buSzTx/>
              <a:buFontTx/>
              <a:buNone/>
              <a:defRPr/>
            </a:pPr>
            <a:r>
              <a:rPr lang="en-US" altLang="zh-CN" dirty="0">
                <a:solidFill>
                  <a:srgbClr val="0070C0"/>
                </a:solidFill>
                <a:latin typeface="华文新魏" panose="02010800040101010101" pitchFamily="2" charset="-122"/>
                <a:ea typeface="华文新魏" panose="02010800040101010101" pitchFamily="2" charset="-122"/>
              </a:rPr>
              <a:t>The Law of Total Probability is the </a:t>
            </a:r>
            <a:r>
              <a:rPr lang="en-US" altLang="zh-CN" b="1" dirty="0">
                <a:solidFill>
                  <a:srgbClr val="C00000"/>
                </a:solidFill>
                <a:latin typeface="华文新魏" panose="02010800040101010101" pitchFamily="2" charset="-122"/>
                <a:ea typeface="华文新魏" panose="02010800040101010101" pitchFamily="2" charset="-122"/>
              </a:rPr>
              <a:t>weighted average (</a:t>
            </a:r>
            <a:r>
              <a:rPr lang="zh-CN" altLang="en-US" b="1" dirty="0">
                <a:solidFill>
                  <a:srgbClr val="C00000"/>
                </a:solidFill>
                <a:latin typeface="华文新魏" panose="02010800040101010101" pitchFamily="2" charset="-122"/>
                <a:ea typeface="华文新魏" panose="02010800040101010101" pitchFamily="2" charset="-122"/>
              </a:rPr>
              <a:t>加权平均</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dirty="0">
                <a:solidFill>
                  <a:srgbClr val="0070C0"/>
                </a:solidFill>
                <a:latin typeface="华文新魏" panose="02010800040101010101" pitchFamily="2" charset="-122"/>
                <a:ea typeface="华文新魏" panose="02010800040101010101" pitchFamily="2" charset="-122"/>
              </a:rPr>
              <a:t>of the probabilities </a:t>
            </a:r>
            <a:endParaRPr lang="zh-CN" altLang="en-US" dirty="0">
              <a:solidFill>
                <a:srgbClr val="0070C0"/>
              </a:solidFill>
              <a:latin typeface="华文新魏" panose="02010800040101010101" pitchFamily="2" charset="-122"/>
              <a:ea typeface="华文新魏" panose="02010800040101010101" pitchFamily="2" charset="-122"/>
            </a:endParaRPr>
          </a:p>
        </p:txBody>
      </p:sp>
      <p:grpSp>
        <p:nvGrpSpPr>
          <p:cNvPr id="19" name="组合 18"/>
          <p:cNvGrpSpPr/>
          <p:nvPr/>
        </p:nvGrpSpPr>
        <p:grpSpPr>
          <a:xfrm>
            <a:off x="6394620" y="1239860"/>
            <a:ext cx="2732130" cy="1548007"/>
            <a:chOff x="6249105" y="1492937"/>
            <a:chExt cx="2905405" cy="1719853"/>
          </a:xfrm>
        </p:grpSpPr>
        <p:sp>
          <p:nvSpPr>
            <p:cNvPr id="20" name="矩形 19"/>
            <p:cNvSpPr/>
            <p:nvPr/>
          </p:nvSpPr>
          <p:spPr>
            <a:xfrm>
              <a:off x="8513380" y="2246296"/>
              <a:ext cx="462454" cy="397455"/>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674069" y="2251139"/>
              <a:ext cx="462454" cy="39745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583214" y="2235786"/>
              <a:ext cx="462454" cy="39745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632026" y="2816740"/>
              <a:ext cx="462455" cy="36076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614743" y="2816740"/>
              <a:ext cx="462455" cy="360762"/>
            </a:xfrm>
            <a:prstGeom prst="ellipse">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523887" y="2816740"/>
              <a:ext cx="462455" cy="360762"/>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6737078" y="2251195"/>
              <a:ext cx="231228" cy="369332"/>
            </a:xfrm>
            <a:prstGeom prst="rect">
              <a:avLst/>
            </a:prstGeom>
            <a:noFill/>
          </p:spPr>
          <p:txBody>
            <a:bodyPr wrap="square" rtlCol="0">
              <a:spAutoFit/>
            </a:bodyPr>
            <a:lstStyle/>
            <a:p>
              <a:r>
                <a:rPr lang="en-US" altLang="zh-CN" dirty="0"/>
                <a:t>2</a:t>
              </a:r>
              <a:endParaRPr lang="zh-CN" altLang="en-US" dirty="0"/>
            </a:p>
          </p:txBody>
        </p:sp>
        <p:sp>
          <p:nvSpPr>
            <p:cNvPr id="27" name="TextBox 26"/>
            <p:cNvSpPr txBox="1"/>
            <p:nvPr/>
          </p:nvSpPr>
          <p:spPr>
            <a:xfrm>
              <a:off x="8635123" y="2265200"/>
              <a:ext cx="231228" cy="369332"/>
            </a:xfrm>
            <a:prstGeom prst="rect">
              <a:avLst/>
            </a:prstGeom>
            <a:noFill/>
          </p:spPr>
          <p:txBody>
            <a:bodyPr wrap="square" rtlCol="0">
              <a:spAutoFit/>
            </a:bodyPr>
            <a:lstStyle/>
            <a:p>
              <a:r>
                <a:rPr lang="en-US" altLang="zh-CN" dirty="0"/>
                <a:t>5</a:t>
              </a:r>
              <a:endParaRPr lang="zh-CN" altLang="en-US" dirty="0"/>
            </a:p>
          </p:txBody>
        </p:sp>
        <p:sp>
          <p:nvSpPr>
            <p:cNvPr id="28" name="TextBox 27"/>
            <p:cNvSpPr txBox="1"/>
            <p:nvPr/>
          </p:nvSpPr>
          <p:spPr>
            <a:xfrm>
              <a:off x="7698827" y="2251195"/>
              <a:ext cx="231228" cy="369332"/>
            </a:xfrm>
            <a:prstGeom prst="rect">
              <a:avLst/>
            </a:prstGeom>
            <a:noFill/>
          </p:spPr>
          <p:txBody>
            <a:bodyPr wrap="square" rtlCol="0">
              <a:spAutoFit/>
            </a:bodyPr>
            <a:lstStyle/>
            <a:p>
              <a:r>
                <a:rPr lang="en-US" altLang="zh-CN" dirty="0"/>
                <a:t>3</a:t>
              </a:r>
              <a:endParaRPr lang="zh-CN" altLang="en-US" dirty="0"/>
            </a:p>
          </p:txBody>
        </p:sp>
        <p:sp>
          <p:nvSpPr>
            <p:cNvPr id="29" name="圆角矩形 28"/>
            <p:cNvSpPr/>
            <p:nvPr/>
          </p:nvSpPr>
          <p:spPr>
            <a:xfrm>
              <a:off x="7278447" y="1555527"/>
              <a:ext cx="993192" cy="346841"/>
            </a:xfrm>
            <a:prstGeom prst="roundRect">
              <a:avLst/>
            </a:prstGeom>
            <a:solidFill>
              <a:srgbClr val="66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29"/>
            <p:cNvSpPr txBox="1"/>
            <p:nvPr/>
          </p:nvSpPr>
          <p:spPr>
            <a:xfrm>
              <a:off x="7262652" y="1526099"/>
              <a:ext cx="1093081" cy="369332"/>
            </a:xfrm>
            <a:prstGeom prst="rect">
              <a:avLst/>
            </a:prstGeom>
            <a:noFill/>
          </p:spPr>
          <p:txBody>
            <a:bodyPr wrap="square" rtlCol="0">
              <a:spAutoFit/>
            </a:bodyPr>
            <a:lstStyle/>
            <a:p>
              <a:r>
                <a:rPr lang="en-US" altLang="zh-CN" dirty="0"/>
                <a:t>10 Bags </a:t>
              </a:r>
              <a:endParaRPr lang="zh-CN" altLang="en-US" dirty="0"/>
            </a:p>
          </p:txBody>
        </p:sp>
        <p:sp>
          <p:nvSpPr>
            <p:cNvPr id="31" name="TextBox 30"/>
            <p:cNvSpPr txBox="1"/>
            <p:nvPr/>
          </p:nvSpPr>
          <p:spPr>
            <a:xfrm>
              <a:off x="6581289" y="2800095"/>
              <a:ext cx="557078" cy="338554"/>
            </a:xfrm>
            <a:prstGeom prst="rect">
              <a:avLst/>
            </a:prstGeom>
            <a:noFill/>
          </p:spPr>
          <p:txBody>
            <a:bodyPr wrap="square" rtlCol="0">
              <a:spAutoFit/>
            </a:bodyPr>
            <a:lstStyle/>
            <a:p>
              <a:r>
                <a:rPr lang="en-US" altLang="zh-CN" sz="1600" dirty="0">
                  <a:solidFill>
                    <a:srgbClr val="FF0000"/>
                  </a:solidFill>
                </a:rPr>
                <a:t>2</a:t>
              </a:r>
              <a:r>
                <a:rPr lang="en-US" altLang="zh-CN" sz="1600" dirty="0"/>
                <a:t>+</a:t>
              </a:r>
              <a:r>
                <a:rPr lang="en-US" altLang="zh-CN" sz="1600" b="1" dirty="0">
                  <a:solidFill>
                    <a:schemeClr val="bg1"/>
                  </a:solidFill>
                </a:rPr>
                <a:t>2</a:t>
              </a:r>
              <a:endParaRPr lang="zh-CN" altLang="en-US" sz="1600" b="1" dirty="0">
                <a:solidFill>
                  <a:schemeClr val="bg1"/>
                </a:solidFill>
              </a:endParaRPr>
            </a:p>
          </p:txBody>
        </p:sp>
        <p:sp>
          <p:nvSpPr>
            <p:cNvPr id="32" name="TextBox 31"/>
            <p:cNvSpPr txBox="1"/>
            <p:nvPr/>
          </p:nvSpPr>
          <p:spPr>
            <a:xfrm>
              <a:off x="8482248" y="2801862"/>
              <a:ext cx="635870" cy="338554"/>
            </a:xfrm>
            <a:prstGeom prst="rect">
              <a:avLst/>
            </a:prstGeom>
            <a:noFill/>
          </p:spPr>
          <p:txBody>
            <a:bodyPr wrap="square" rtlCol="0">
              <a:spAutoFit/>
            </a:bodyPr>
            <a:lstStyle/>
            <a:p>
              <a:r>
                <a:rPr lang="en-US" altLang="zh-CN" sz="1600" dirty="0">
                  <a:solidFill>
                    <a:srgbClr val="FF0000"/>
                  </a:solidFill>
                </a:rPr>
                <a:t>2</a:t>
              </a:r>
              <a:r>
                <a:rPr lang="en-US" altLang="zh-CN" sz="1600" dirty="0"/>
                <a:t>+</a:t>
              </a:r>
              <a:r>
                <a:rPr lang="en-US" altLang="zh-CN" sz="1600" b="1" dirty="0">
                  <a:solidFill>
                    <a:schemeClr val="bg1"/>
                  </a:solidFill>
                </a:rPr>
                <a:t>3</a:t>
              </a:r>
              <a:endParaRPr lang="zh-CN" altLang="en-US" sz="1600" b="1" dirty="0">
                <a:solidFill>
                  <a:schemeClr val="bg1"/>
                </a:solidFill>
              </a:endParaRPr>
            </a:p>
          </p:txBody>
        </p:sp>
        <p:sp>
          <p:nvSpPr>
            <p:cNvPr id="33" name="TextBox 32"/>
            <p:cNvSpPr txBox="1"/>
            <p:nvPr/>
          </p:nvSpPr>
          <p:spPr>
            <a:xfrm>
              <a:off x="7567142" y="2810057"/>
              <a:ext cx="567553" cy="338554"/>
            </a:xfrm>
            <a:prstGeom prst="rect">
              <a:avLst/>
            </a:prstGeom>
            <a:noFill/>
          </p:spPr>
          <p:txBody>
            <a:bodyPr wrap="square" rtlCol="0">
              <a:spAutoFit/>
            </a:bodyPr>
            <a:lstStyle/>
            <a:p>
              <a:r>
                <a:rPr lang="en-US" altLang="zh-CN" sz="1600" dirty="0">
                  <a:solidFill>
                    <a:srgbClr val="FF0000"/>
                  </a:solidFill>
                </a:rPr>
                <a:t>3</a:t>
              </a:r>
              <a:r>
                <a:rPr lang="en-US" altLang="zh-CN" sz="1600" dirty="0"/>
                <a:t>+</a:t>
              </a:r>
              <a:r>
                <a:rPr lang="en-US" altLang="zh-CN" sz="1600" b="1" dirty="0">
                  <a:solidFill>
                    <a:schemeClr val="bg1"/>
                  </a:solidFill>
                </a:rPr>
                <a:t>2</a:t>
              </a:r>
              <a:endParaRPr lang="zh-CN" altLang="en-US" sz="1600" b="1" dirty="0">
                <a:solidFill>
                  <a:schemeClr val="bg1"/>
                </a:solidFill>
              </a:endParaRPr>
            </a:p>
          </p:txBody>
        </p:sp>
        <p:cxnSp>
          <p:nvCxnSpPr>
            <p:cNvPr id="34" name="直接箭头连接符 33"/>
            <p:cNvCxnSpPr/>
            <p:nvPr/>
          </p:nvCxnSpPr>
          <p:spPr>
            <a:xfrm flipH="1">
              <a:off x="6936827" y="1862269"/>
              <a:ext cx="199696" cy="308529"/>
            </a:xfrm>
            <a:prstGeom prst="straightConnector1">
              <a:avLst/>
            </a:prstGeom>
            <a:ln w="28575">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29" idx="2"/>
            </p:cNvCxnSpPr>
            <p:nvPr/>
          </p:nvCxnSpPr>
          <p:spPr>
            <a:xfrm>
              <a:off x="7775043" y="1902368"/>
              <a:ext cx="0" cy="268430"/>
            </a:xfrm>
            <a:prstGeom prst="straightConnector1">
              <a:avLst/>
            </a:prstGeom>
            <a:ln w="28575">
              <a:solidFill>
                <a:srgbClr val="FF66FF"/>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8355733" y="1862269"/>
              <a:ext cx="315301" cy="308529"/>
            </a:xfrm>
            <a:prstGeom prst="straightConnector1">
              <a:avLst/>
            </a:prstGeom>
            <a:ln w="28575">
              <a:solidFill>
                <a:schemeClr val="accent4">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6249105" y="2236273"/>
              <a:ext cx="435461" cy="369332"/>
            </a:xfrm>
            <a:prstGeom prst="rect">
              <a:avLst/>
            </a:prstGeom>
            <a:noFill/>
          </p:spPr>
          <p:txBody>
            <a:bodyPr wrap="square" rtlCol="0">
              <a:spAutoFit/>
            </a:bodyPr>
            <a:lstStyle/>
            <a:p>
              <a:r>
                <a:rPr lang="en-US" altLang="zh-CN" dirty="0"/>
                <a:t>B</a:t>
              </a:r>
              <a:r>
                <a:rPr lang="en-US" altLang="zh-CN" baseline="-25000" dirty="0"/>
                <a:t>i</a:t>
              </a:r>
              <a:endParaRPr lang="zh-CN" altLang="en-US" baseline="-25000" dirty="0"/>
            </a:p>
          </p:txBody>
        </p:sp>
        <p:sp>
          <p:nvSpPr>
            <p:cNvPr id="38" name="TextBox 37"/>
            <p:cNvSpPr txBox="1"/>
            <p:nvPr/>
          </p:nvSpPr>
          <p:spPr>
            <a:xfrm>
              <a:off x="6264156" y="2783016"/>
              <a:ext cx="279229" cy="369332"/>
            </a:xfrm>
            <a:prstGeom prst="rect">
              <a:avLst/>
            </a:prstGeom>
            <a:noFill/>
          </p:spPr>
          <p:txBody>
            <a:bodyPr wrap="square" rtlCol="0">
              <a:spAutoFit/>
            </a:bodyPr>
            <a:lstStyle/>
            <a:p>
              <a:r>
                <a:rPr lang="en-US" altLang="zh-CN" dirty="0"/>
                <a:t>A</a:t>
              </a:r>
              <a:endParaRPr lang="zh-CN" altLang="en-US" dirty="0"/>
            </a:p>
          </p:txBody>
        </p:sp>
        <p:sp>
          <p:nvSpPr>
            <p:cNvPr id="39" name="矩形 38"/>
            <p:cNvSpPr/>
            <p:nvPr/>
          </p:nvSpPr>
          <p:spPr>
            <a:xfrm>
              <a:off x="6249105" y="1492937"/>
              <a:ext cx="2905405" cy="171985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p:nvSpPr>
        <p:spPr>
          <a:xfrm>
            <a:off x="1068221" y="1770256"/>
            <a:ext cx="482824" cy="369332"/>
          </a:xfrm>
          <a:prstGeom prst="rect">
            <a:avLst/>
          </a:prstGeom>
        </p:spPr>
        <p:txBody>
          <a:bodyPr wrap="none">
            <a:spAutoFit/>
          </a:bodyPr>
          <a:lstStyle/>
          <a:p>
            <a:pPr lvl="0"/>
            <a:r>
              <a:rPr lang="en-US" altLang="zh-CN" dirty="0">
                <a:solidFill>
                  <a:prstClr val="black"/>
                </a:solidFill>
                <a:latin typeface="华文新魏" panose="02010800040101010101" pitchFamily="2" charset="-122"/>
                <a:ea typeface="华文新魏" panose="02010800040101010101" pitchFamily="2" charset="-122"/>
              </a:rPr>
              <a:t>Let</a:t>
            </a:r>
            <a:endParaRPr lang="zh-CN" altLang="en-US" dirty="0">
              <a:solidFill>
                <a:prstClr val="black"/>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8B5E2692-F3F4-49FF-A3E8-7CA7F68AD347}"/>
                  </a:ext>
                </a:extLst>
              </p:cNvPr>
              <p:cNvSpPr txBox="1"/>
              <p:nvPr/>
            </p:nvSpPr>
            <p:spPr>
              <a:xfrm>
                <a:off x="154184" y="2828656"/>
                <a:ext cx="7551024" cy="733214"/>
              </a:xfrm>
              <a:prstGeom prst="rect">
                <a:avLst/>
              </a:prstGeom>
              <a:noFill/>
            </p:spPr>
            <p:txBody>
              <a:bodyPr wrap="square">
                <a:spAutoFit/>
              </a:bodyPr>
              <a:lstStyle/>
              <a:p>
                <a:pPr marL="800100" lvl="1" indent="-342900">
                  <a:lnSpc>
                    <a:spcPct val="114000"/>
                  </a:lnSpc>
                  <a:buAutoNum type="arabicPeriod"/>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 </m:t>
                    </m:r>
                    <m:r>
                      <m:rPr>
                        <m:sty m:val="p"/>
                      </m:rPr>
                      <a:rPr lang="en-US" altLang="zh-CN" b="0" i="0" smtClean="0">
                        <a:latin typeface="Cambria Math" panose="02040503050406030204" pitchFamily="18" charset="0"/>
                        <a:ea typeface="华文新魏" panose="02010800040101010101" pitchFamily="2" charset="-122"/>
                      </a:rPr>
                      <m:t>are</m:t>
                    </m:r>
                    <m:r>
                      <a:rPr lang="en-US" altLang="zh-CN" b="0" i="0" smtClean="0">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𝐩𝐚𝐢𝐫𝐰𝐢𝐬𝐞</m:t>
                    </m:r>
                    <m:r>
                      <a:rPr lang="en-US" altLang="zh-CN" b="1" i="0" smtClean="0">
                        <a:solidFill>
                          <a:srgbClr val="C00000"/>
                        </a:solidFill>
                        <a:latin typeface="Cambria Math" panose="02040503050406030204" pitchFamily="18" charset="0"/>
                        <a:ea typeface="华文新魏" panose="02010800040101010101" pitchFamily="2" charset="-122"/>
                      </a:rPr>
                      <m:t> </m:t>
                    </m:r>
                    <m:r>
                      <a:rPr lang="en-US" altLang="zh-CN" b="1" i="0" smtClean="0">
                        <a:solidFill>
                          <a:srgbClr val="C00000"/>
                        </a:solidFill>
                        <a:latin typeface="Cambria Math" panose="02040503050406030204" pitchFamily="18" charset="0"/>
                        <a:ea typeface="华文新魏" panose="02010800040101010101" pitchFamily="2" charset="-122"/>
                      </a:rPr>
                      <m:t>𝐝𝐢𝐬𝐣𝐨𝐢𝐧𝐭</m:t>
                    </m:r>
                    <m:r>
                      <a:rPr lang="en-US" altLang="zh-CN" b="1" i="0" smtClean="0">
                        <a:solidFill>
                          <a:srgbClr val="C00000"/>
                        </a:solidFill>
                        <a:latin typeface="Cambria Math" panose="02040503050406030204" pitchFamily="18" charset="0"/>
                        <a:ea typeface="华文新魏" panose="02010800040101010101" pitchFamily="2" charset="-122"/>
                      </a:rPr>
                      <m:t> </m:t>
                    </m:r>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𝑖</m:t>
                        </m:r>
                      </m:sub>
                    </m:sSub>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𝐵</m:t>
                        </m:r>
                      </m:e>
                      <m:sub>
                        <m:r>
                          <a:rPr lang="en-US" altLang="zh-CN" i="1">
                            <a:latin typeface="Cambria Math" panose="02040503050406030204" pitchFamily="18" charset="0"/>
                            <a:ea typeface="华文新魏" panose="02010800040101010101" pitchFamily="2" charset="-122"/>
                          </a:rPr>
                          <m:t>𝑗</m:t>
                        </m:r>
                      </m:sub>
                    </m:sSub>
                    <m:r>
                      <a:rPr lang="en-US" altLang="zh-CN" i="1">
                        <a:latin typeface="Cambria Math" panose="02040503050406030204" pitchFamily="18" charset="0"/>
                        <a:ea typeface="华文新魏" panose="02010800040101010101" pitchFamily="2" charset="-122"/>
                      </a:rPr>
                      <m:t>=</m:t>
                    </m:r>
                    <m:r>
                      <m:rPr>
                        <m:sty m:val="p"/>
                      </m:rPr>
                      <a:rPr lang="en-US" altLang="zh-CN">
                        <a:latin typeface="Cambria Math" panose="02040503050406030204" pitchFamily="18" charset="0"/>
                        <a:ea typeface="华文新魏" panose="02010800040101010101" pitchFamily="2" charset="-122"/>
                      </a:rPr>
                      <m:t>Φ</m:t>
                    </m:r>
                    <m:r>
                      <a:rPr lang="en-US" altLang="zh-CN" b="0" i="0" smtClean="0">
                        <a:latin typeface="Cambria Math"/>
                        <a:ea typeface="华文新魏" panose="02010800040101010101" pitchFamily="2" charset="-122"/>
                      </a:rPr>
                      <m:t> </m:t>
                    </m:r>
                    <m:d>
                      <m:dPr>
                        <m:ctrlPr>
                          <a:rPr lang="en-US" altLang="zh-CN" b="0" i="1" smtClean="0">
                            <a:latin typeface="Cambria Math" panose="02040503050406030204" pitchFamily="18" charset="0"/>
                            <a:ea typeface="华文新魏" panose="02010800040101010101" pitchFamily="2" charset="-122"/>
                          </a:rPr>
                        </m:ctrlPr>
                      </m:dPr>
                      <m:e>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 </m:t>
                        </m:r>
                        <m:r>
                          <a:rPr lang="en-US" altLang="zh-CN" b="0" i="1" smtClean="0">
                            <a:latin typeface="Cambria Math" panose="02040503050406030204" pitchFamily="18" charset="0"/>
                            <a:ea typeface="华文新魏" panose="02010800040101010101" pitchFamily="2" charset="-122"/>
                          </a:rPr>
                          <m:t>𝑖</m:t>
                        </m:r>
                        <m:r>
                          <a:rPr lang="en-US" altLang="zh-CN" b="0" i="1" smtClean="0">
                            <a:latin typeface="Cambria Math" panose="02040503050406030204" pitchFamily="18" charset="0"/>
                            <a:ea typeface="华文新魏" panose="02010800040101010101" pitchFamily="2" charset="-122"/>
                          </a:rPr>
                          <m:t>,</m:t>
                        </m:r>
                        <m:r>
                          <a:rPr lang="en-US" altLang="zh-CN" b="0" i="1" smtClean="0">
                            <a:latin typeface="Cambria Math" panose="02040503050406030204" pitchFamily="18" charset="0"/>
                            <a:ea typeface="华文新魏" panose="02010800040101010101" pitchFamily="2" charset="-122"/>
                          </a:rPr>
                          <m:t>𝑗</m:t>
                        </m:r>
                        <m:r>
                          <a:rPr lang="en-US" altLang="zh-CN" b="0" i="1" smtClean="0">
                            <a:latin typeface="Cambria Math" panose="02040503050406030204" pitchFamily="18" charset="0"/>
                            <a:ea typeface="华文新魏" panose="02010800040101010101" pitchFamily="2" charset="-122"/>
                          </a:rPr>
                          <m:t>=1,…,</m:t>
                        </m:r>
                        <m:r>
                          <a:rPr lang="en-US" altLang="zh-CN" b="0" i="1" smtClean="0">
                            <a:latin typeface="Cambria Math" panose="02040503050406030204" pitchFamily="18" charset="0"/>
                            <a:ea typeface="华文新魏" panose="02010800040101010101" pitchFamily="2" charset="-122"/>
                          </a:rPr>
                          <m:t>𝑛</m:t>
                        </m:r>
                      </m:e>
                    </m:d>
                    <m:r>
                      <a:rPr lang="en-US" altLang="zh-CN" b="0" i="1" smtClean="0">
                        <a:latin typeface="Cambria Math" panose="02040503050406030204" pitchFamily="18" charset="0"/>
                        <a:ea typeface="华文新魏" panose="02010800040101010101" pitchFamily="2" charset="-122"/>
                      </a:rPr>
                      <m:t>.</m:t>
                    </m:r>
                  </m:oMath>
                </a14:m>
                <a:endParaRPr lang="en-US" altLang="zh-CN" dirty="0">
                  <a:latin typeface="华文新魏" panose="02010800040101010101" pitchFamily="2" charset="-122"/>
                  <a:ea typeface="华文新魏" panose="02010800040101010101" pitchFamily="2" charset="-122"/>
                </a:endParaRPr>
              </a:p>
              <a:p>
                <a:pPr marL="800100" lvl="1" indent="-342900">
                  <a:lnSpc>
                    <a:spcPct val="114000"/>
                  </a:lnSpc>
                  <a:buFont typeface="+mj-lt"/>
                  <a:buAutoNum type="arabicPeriod" startAt="2"/>
                </a:pPr>
                <a14:m>
                  <m:oMath xmlns:m="http://schemas.openxmlformats.org/officeDocument/2006/math">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1</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2</m:t>
                        </m:r>
                      </m:sub>
                    </m:sSub>
                    <m:r>
                      <a:rPr lang="en-US" altLang="zh-CN" b="0" i="1" smtClean="0">
                        <a:latin typeface="Cambria Math" panose="02040503050406030204" pitchFamily="18" charset="0"/>
                        <a:ea typeface="华文新魏" panose="02010800040101010101" pitchFamily="2" charset="-122"/>
                      </a:rPr>
                      <m:t>…⋃</m:t>
                    </m:r>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panose="02040503050406030204" pitchFamily="18" charset="0"/>
                            <a:ea typeface="华文新魏" panose="02010800040101010101" pitchFamily="2" charset="-122"/>
                          </a:rPr>
                          <m:t>𝑛</m:t>
                        </m:r>
                      </m:sub>
                    </m:sSub>
                    <m:r>
                      <a:rPr lang="en-US" altLang="zh-CN" b="0" i="1" smtClean="0">
                        <a:latin typeface="Cambria Math" panose="02040503050406030204" pitchFamily="18" charset="0"/>
                        <a:ea typeface="华文新魏" panose="02010800040101010101" pitchFamily="2" charset="-122"/>
                      </a:rPr>
                      <m:t>=</m:t>
                    </m:r>
                    <m:r>
                      <m:rPr>
                        <m:sty m:val="p"/>
                      </m:rPr>
                      <a:rPr lang="en-US" altLang="zh-CN" b="0" i="0" smtClean="0">
                        <a:latin typeface="Cambria Math" panose="02040503050406030204" pitchFamily="18" charset="0"/>
                        <a:ea typeface="华文新魏" panose="02010800040101010101" pitchFamily="2" charset="-122"/>
                      </a:rPr>
                      <m:t>Ω</m:t>
                    </m:r>
                  </m:oMath>
                </a14:m>
                <a:endParaRPr lang="zh-CN" altLang="en-US" dirty="0">
                  <a:latin typeface="华文新魏" panose="02010800040101010101" pitchFamily="2" charset="-122"/>
                  <a:ea typeface="华文新魏" panose="02010800040101010101" pitchFamily="2" charset="-122"/>
                </a:endParaRPr>
              </a:p>
            </p:txBody>
          </p:sp>
        </mc:Choice>
        <mc:Fallback xmlns="">
          <p:sp>
            <p:nvSpPr>
              <p:cNvPr id="41" name="文本框 40">
                <a:extLst>
                  <a:ext uri="{FF2B5EF4-FFF2-40B4-BE49-F238E27FC236}">
                    <a16:creationId xmlns:a16="http://schemas.microsoft.com/office/drawing/2014/main" id="{8B5E2692-F3F4-49FF-A3E8-7CA7F68AD347}"/>
                  </a:ext>
                </a:extLst>
              </p:cNvPr>
              <p:cNvSpPr txBox="1">
                <a:spLocks noRot="1" noChangeAspect="1" noMove="1" noResize="1" noEditPoints="1" noAdjustHandles="1" noChangeArrowheads="1" noChangeShapeType="1" noTextEdit="1"/>
              </p:cNvSpPr>
              <p:nvPr/>
            </p:nvSpPr>
            <p:spPr>
              <a:xfrm>
                <a:off x="154184" y="2828656"/>
                <a:ext cx="7551024" cy="733214"/>
              </a:xfrm>
              <a:prstGeom prst="rect">
                <a:avLst/>
              </a:prstGeom>
              <a:blipFill>
                <a:blip r:embed="rId7"/>
                <a:stretch>
                  <a:fillRect b="-1000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1A10E098-E52E-483C-817A-838D0ABE5634}"/>
              </a:ext>
            </a:extLst>
          </p:cNvPr>
          <p:cNvSpPr txBox="1"/>
          <p:nvPr/>
        </p:nvSpPr>
        <p:spPr>
          <a:xfrm>
            <a:off x="7248561" y="2353042"/>
            <a:ext cx="246993" cy="461665"/>
          </a:xfrm>
          <a:prstGeom prst="rect">
            <a:avLst/>
          </a:prstGeom>
          <a:noFill/>
        </p:spPr>
        <p:txBody>
          <a:bodyPr wrap="square" rtlCol="0">
            <a:spAutoFit/>
          </a:bodyPr>
          <a:lstStyle/>
          <a:p>
            <a:r>
              <a:rPr lang="en-US" altLang="zh-CN" sz="2400" b="1" dirty="0"/>
              <a:t>+</a:t>
            </a:r>
            <a:endParaRPr lang="zh-CN" altLang="en-US" sz="2400" b="1" dirty="0"/>
          </a:p>
        </p:txBody>
      </p:sp>
      <p:sp>
        <p:nvSpPr>
          <p:cNvPr id="44" name="文本框 43">
            <a:extLst>
              <a:ext uri="{FF2B5EF4-FFF2-40B4-BE49-F238E27FC236}">
                <a16:creationId xmlns:a16="http://schemas.microsoft.com/office/drawing/2014/main" id="{CEABF1C2-E9D1-40B8-AFF6-F5C2F3CD846C}"/>
              </a:ext>
            </a:extLst>
          </p:cNvPr>
          <p:cNvSpPr txBox="1"/>
          <p:nvPr/>
        </p:nvSpPr>
        <p:spPr>
          <a:xfrm>
            <a:off x="8129221" y="2360781"/>
            <a:ext cx="246993" cy="461665"/>
          </a:xfrm>
          <a:prstGeom prst="rect">
            <a:avLst/>
          </a:prstGeom>
          <a:noFill/>
        </p:spPr>
        <p:txBody>
          <a:bodyPr wrap="square" rtlCol="0">
            <a:spAutoFit/>
          </a:bodyPr>
          <a:lstStyle/>
          <a:p>
            <a:r>
              <a:rPr lang="en-US" altLang="zh-CN" sz="2400" b="1" dirty="0"/>
              <a:t>+</a:t>
            </a:r>
            <a:endParaRPr lang="zh-CN" altLang="en-US" sz="2400" b="1" dirty="0"/>
          </a:p>
        </p:txBody>
      </p:sp>
    </p:spTree>
    <p:extLst>
      <p:ext uri="{BB962C8B-B14F-4D97-AF65-F5344CB8AC3E}">
        <p14:creationId xmlns:p14="http://schemas.microsoft.com/office/powerpoint/2010/main" val="332042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32" fill="hold" nodeType="clickEffect">
                                  <p:stCondLst>
                                    <p:cond delay="0"/>
                                  </p:stCondLst>
                                  <p:childTnLst>
                                    <p:set>
                                      <p:cBhvr>
                                        <p:cTn id="43" dur="1" fill="hold">
                                          <p:stCondLst>
                                            <p:cond delay="0"/>
                                          </p:stCondLst>
                                        </p:cTn>
                                        <p:tgtEl>
                                          <p:spTgt spid="391243"/>
                                        </p:tgtEl>
                                        <p:attrNameLst>
                                          <p:attrName>style.visibility</p:attrName>
                                        </p:attrNameLst>
                                      </p:cBhvr>
                                      <p:to>
                                        <p:strVal val="visible"/>
                                      </p:to>
                                    </p:set>
                                    <p:animEffect transition="in" filter="circle(out)">
                                      <p:cBhvr>
                                        <p:cTn id="44" dur="1000"/>
                                        <p:tgtEl>
                                          <p:spTgt spid="391243"/>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391244"/>
                                        </p:tgtEl>
                                        <p:attrNameLst>
                                          <p:attrName>style.visibility</p:attrName>
                                        </p:attrNameLst>
                                      </p:cBhvr>
                                      <p:to>
                                        <p:strVal val="visible"/>
                                      </p:to>
                                    </p:set>
                                    <p:anim calcmode="lin" valueType="num">
                                      <p:cBhvr>
                                        <p:cTn id="49" dur="500" fill="hold"/>
                                        <p:tgtEl>
                                          <p:spTgt spid="391244"/>
                                        </p:tgtEl>
                                        <p:attrNameLst>
                                          <p:attrName>ppt_w</p:attrName>
                                        </p:attrNameLst>
                                      </p:cBhvr>
                                      <p:tavLst>
                                        <p:tav tm="0">
                                          <p:val>
                                            <p:fltVal val="0"/>
                                          </p:val>
                                        </p:tav>
                                        <p:tav tm="100000">
                                          <p:val>
                                            <p:strVal val="#ppt_w"/>
                                          </p:val>
                                        </p:tav>
                                      </p:tavLst>
                                    </p:anim>
                                    <p:anim calcmode="lin" valueType="num">
                                      <p:cBhvr>
                                        <p:cTn id="50" dur="500" fill="hold"/>
                                        <p:tgtEl>
                                          <p:spTgt spid="391244"/>
                                        </p:tgtEl>
                                        <p:attrNameLst>
                                          <p:attrName>ppt_h</p:attrName>
                                        </p:attrNameLst>
                                      </p:cBhvr>
                                      <p:tavLst>
                                        <p:tav tm="0">
                                          <p:val>
                                            <p:fltVal val="0"/>
                                          </p:val>
                                        </p:tav>
                                        <p:tav tm="100000">
                                          <p:val>
                                            <p:strVal val="#ppt_h"/>
                                          </p:val>
                                        </p:tav>
                                      </p:tavLst>
                                    </p:anim>
                                    <p:animEffect transition="in" filter="fade">
                                      <p:cBhvr>
                                        <p:cTn id="51" dur="500"/>
                                        <p:tgtEl>
                                          <p:spTgt spid="39124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8" grpId="0"/>
      <p:bldP spid="9" grpId="0"/>
      <p:bldP spid="391244" grpId="0" animBg="1"/>
      <p:bldP spid="10" grpId="0"/>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4010" name="Rectangle 74"/>
              <p:cNvSpPr>
                <a:spLocks noChangeArrowheads="1"/>
              </p:cNvSpPr>
              <p:nvPr/>
            </p:nvSpPr>
            <p:spPr bwMode="auto">
              <a:xfrm>
                <a:off x="3406117" y="4614367"/>
                <a:ext cx="4811713" cy="1842868"/>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2800" b="0" i="1" smtClean="0">
                          <a:solidFill>
                            <a:srgbClr val="C00000"/>
                          </a:solidFill>
                          <a:latin typeface="Cambria Math" panose="02040503050406030204" pitchFamily="18" charset="0"/>
                        </a:rPr>
                        <m:t>𝑃</m:t>
                      </m:r>
                      <m:d>
                        <m:dPr>
                          <m:ctrlPr>
                            <a:rPr lang="en-US" altLang="zh-CN" sz="2800" b="0" i="1" smtClean="0">
                              <a:solidFill>
                                <a:srgbClr val="C00000"/>
                              </a:solidFill>
                              <a:latin typeface="Cambria Math" panose="02040503050406030204" pitchFamily="18" charset="0"/>
                            </a:rPr>
                          </m:ctrlPr>
                        </m:dPr>
                        <m:e>
                          <m:sSub>
                            <m:sSubPr>
                              <m:ctrlPr>
                                <a:rPr lang="en-US" altLang="zh-CN" sz="2800" b="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𝐵</m:t>
                              </m:r>
                            </m:e>
                            <m:sub>
                              <m:r>
                                <a:rPr lang="en-US" altLang="zh-CN" sz="2800" b="0" i="1" smtClean="0">
                                  <a:solidFill>
                                    <a:srgbClr val="C00000"/>
                                  </a:solidFill>
                                  <a:latin typeface="Cambria Math" panose="02040503050406030204" pitchFamily="18" charset="0"/>
                                </a:rPr>
                                <m:t>𝑖</m:t>
                              </m:r>
                            </m:sub>
                          </m:sSub>
                        </m:e>
                        <m:e>
                          <m:r>
                            <a:rPr lang="en-US" altLang="zh-CN" sz="2800" b="0" i="1" smtClean="0">
                              <a:solidFill>
                                <a:srgbClr val="C00000"/>
                              </a:solidFill>
                              <a:latin typeface="Cambria Math" panose="02040503050406030204" pitchFamily="18" charset="0"/>
                            </a:rPr>
                            <m:t>𝐴</m:t>
                          </m:r>
                        </m:e>
                      </m:d>
                      <m:r>
                        <a:rPr lang="en-US" altLang="zh-CN" sz="2800" b="0" i="1" smtClean="0">
                          <a:solidFill>
                            <a:srgbClr val="C00000"/>
                          </a:solidFill>
                          <a:latin typeface="Cambria Math" panose="02040503050406030204" pitchFamily="18" charset="0"/>
                        </a:rPr>
                        <m:t>=</m:t>
                      </m:r>
                      <m:f>
                        <m:fPr>
                          <m:ctrlPr>
                            <a:rPr lang="en-US" altLang="zh-CN" sz="2800" b="0" i="1" smtClean="0">
                              <a:solidFill>
                                <a:srgbClr val="C00000"/>
                              </a:solidFill>
                              <a:latin typeface="Cambria Math" panose="02040503050406030204" pitchFamily="18" charset="0"/>
                            </a:rPr>
                          </m:ctrlPr>
                        </m:fPr>
                        <m:num>
                          <m:r>
                            <a:rPr lang="en-US" altLang="zh-CN" sz="2800" b="0" i="1" smtClean="0">
                              <a:solidFill>
                                <a:srgbClr val="C00000"/>
                              </a:solidFill>
                              <a:latin typeface="Cambria Math" panose="02040503050406030204" pitchFamily="18" charset="0"/>
                            </a:rPr>
                            <m:t>𝑃</m:t>
                          </m:r>
                          <m:d>
                            <m:dPr>
                              <m:ctrlPr>
                                <a:rPr lang="en-US" altLang="zh-CN" sz="2800" b="0" i="1" smtClean="0">
                                  <a:solidFill>
                                    <a:srgbClr val="C00000"/>
                                  </a:solidFill>
                                  <a:latin typeface="Cambria Math" panose="02040503050406030204" pitchFamily="18" charset="0"/>
                                </a:rPr>
                              </m:ctrlPr>
                            </m:dPr>
                            <m:e>
                              <m:r>
                                <a:rPr lang="en-US" altLang="zh-CN" sz="2800" b="0" i="1" smtClean="0">
                                  <a:solidFill>
                                    <a:srgbClr val="C00000"/>
                                  </a:solidFill>
                                  <a:latin typeface="Cambria Math" panose="02040503050406030204" pitchFamily="18" charset="0"/>
                                </a:rPr>
                                <m:t>𝐴</m:t>
                              </m:r>
                            </m:e>
                            <m:e>
                              <m:sSub>
                                <m:sSubPr>
                                  <m:ctrlPr>
                                    <a:rPr lang="en-US" altLang="zh-CN" sz="2800" b="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𝐵</m:t>
                                  </m:r>
                                </m:e>
                                <m:sub>
                                  <m:r>
                                    <a:rPr lang="en-US" altLang="zh-CN" sz="2800" b="0" i="1" smtClean="0">
                                      <a:solidFill>
                                        <a:srgbClr val="C00000"/>
                                      </a:solidFill>
                                      <a:latin typeface="Cambria Math" panose="02040503050406030204" pitchFamily="18" charset="0"/>
                                    </a:rPr>
                                    <m:t>𝑖</m:t>
                                  </m:r>
                                </m:sub>
                              </m:sSub>
                            </m:e>
                          </m:d>
                          <m:r>
                            <a:rPr lang="en-US" altLang="zh-CN" sz="2800" b="0" i="1" smtClean="0">
                              <a:solidFill>
                                <a:srgbClr val="C00000"/>
                              </a:solidFill>
                              <a:latin typeface="Cambria Math" panose="02040503050406030204" pitchFamily="18" charset="0"/>
                            </a:rPr>
                            <m:t>𝑃</m:t>
                          </m:r>
                          <m:r>
                            <a:rPr lang="en-US" altLang="zh-CN" sz="2800" b="0" i="1" smtClean="0">
                              <a:solidFill>
                                <a:srgbClr val="C00000"/>
                              </a:solidFill>
                              <a:latin typeface="Cambria Math" panose="02040503050406030204" pitchFamily="18" charset="0"/>
                            </a:rPr>
                            <m:t>(</m:t>
                          </m:r>
                          <m:sSub>
                            <m:sSubPr>
                              <m:ctrlPr>
                                <a:rPr lang="en-US" altLang="zh-CN" sz="2800" b="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𝐵</m:t>
                              </m:r>
                            </m:e>
                            <m:sub>
                              <m:r>
                                <a:rPr lang="en-US" altLang="zh-CN" sz="2800" b="0" i="1" smtClean="0">
                                  <a:solidFill>
                                    <a:srgbClr val="C00000"/>
                                  </a:solidFill>
                                  <a:latin typeface="Cambria Math" panose="02040503050406030204" pitchFamily="18" charset="0"/>
                                </a:rPr>
                                <m:t>𝑖</m:t>
                              </m:r>
                            </m:sub>
                          </m:sSub>
                          <m:r>
                            <a:rPr lang="en-US" altLang="zh-CN" sz="2800" b="0" i="1" smtClean="0">
                              <a:solidFill>
                                <a:srgbClr val="C00000"/>
                              </a:solidFill>
                              <a:latin typeface="Cambria Math" panose="02040503050406030204" pitchFamily="18" charset="0"/>
                            </a:rPr>
                            <m:t>)</m:t>
                          </m:r>
                        </m:num>
                        <m:den>
                          <m:nary>
                            <m:naryPr>
                              <m:chr m:val="∑"/>
                              <m:ctrlPr>
                                <a:rPr lang="en-US" altLang="zh-CN" sz="2800" b="0" i="1" smtClean="0">
                                  <a:solidFill>
                                    <a:srgbClr val="C00000"/>
                                  </a:solidFill>
                                  <a:latin typeface="Cambria Math" panose="02040503050406030204" pitchFamily="18" charset="0"/>
                                </a:rPr>
                              </m:ctrlPr>
                            </m:naryPr>
                            <m:sub>
                              <m:r>
                                <m:rPr>
                                  <m:brk m:alnAt="23"/>
                                </m:rPr>
                                <a:rPr lang="en-US" altLang="zh-CN" sz="2800" b="0" i="1" smtClean="0">
                                  <a:solidFill>
                                    <a:srgbClr val="C00000"/>
                                  </a:solidFill>
                                  <a:latin typeface="Cambria Math" panose="02040503050406030204" pitchFamily="18" charset="0"/>
                                </a:rPr>
                                <m:t>𝑗</m:t>
                              </m:r>
                              <m:r>
                                <a:rPr lang="en-US" altLang="zh-CN" sz="2800" b="0" i="1" smtClean="0">
                                  <a:solidFill>
                                    <a:srgbClr val="C00000"/>
                                  </a:solidFill>
                                  <a:latin typeface="Cambria Math" panose="02040503050406030204" pitchFamily="18" charset="0"/>
                                </a:rPr>
                                <m:t>=1</m:t>
                              </m:r>
                            </m:sub>
                            <m:sup>
                              <m:r>
                                <a:rPr lang="en-US" altLang="zh-CN" sz="2800" b="0" i="1" smtClean="0">
                                  <a:solidFill>
                                    <a:srgbClr val="C00000"/>
                                  </a:solidFill>
                                  <a:latin typeface="Cambria Math" panose="02040503050406030204" pitchFamily="18" charset="0"/>
                                </a:rPr>
                                <m:t>𝑛</m:t>
                              </m:r>
                            </m:sup>
                            <m:e>
                              <m:r>
                                <a:rPr lang="en-US" altLang="zh-CN" sz="2800" b="0" i="1" smtClean="0">
                                  <a:solidFill>
                                    <a:srgbClr val="C00000"/>
                                  </a:solidFill>
                                  <a:latin typeface="Cambria Math" panose="02040503050406030204" pitchFamily="18" charset="0"/>
                                </a:rPr>
                                <m:t>𝑃</m:t>
                              </m:r>
                              <m:d>
                                <m:dPr>
                                  <m:ctrlPr>
                                    <a:rPr lang="en-US" altLang="zh-CN" sz="2800" b="0" i="1" smtClean="0">
                                      <a:solidFill>
                                        <a:srgbClr val="C00000"/>
                                      </a:solidFill>
                                      <a:latin typeface="Cambria Math" panose="02040503050406030204" pitchFamily="18" charset="0"/>
                                    </a:rPr>
                                  </m:ctrlPr>
                                </m:dPr>
                                <m:e>
                                  <m:r>
                                    <a:rPr lang="en-US" altLang="zh-CN" sz="2800" b="0" i="1" smtClean="0">
                                      <a:solidFill>
                                        <a:srgbClr val="C00000"/>
                                      </a:solidFill>
                                      <a:latin typeface="Cambria Math" panose="02040503050406030204" pitchFamily="18" charset="0"/>
                                    </a:rPr>
                                    <m:t>𝐴</m:t>
                                  </m:r>
                                </m:e>
                                <m:e>
                                  <m:sSub>
                                    <m:sSubPr>
                                      <m:ctrlPr>
                                        <a:rPr lang="en-US" altLang="zh-CN" sz="2800" b="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𝐵</m:t>
                                      </m:r>
                                    </m:e>
                                    <m:sub>
                                      <m:r>
                                        <a:rPr lang="en-US" altLang="zh-CN" sz="2800" b="0" i="1" smtClean="0">
                                          <a:solidFill>
                                            <a:srgbClr val="C00000"/>
                                          </a:solidFill>
                                          <a:latin typeface="Cambria Math" panose="02040503050406030204" pitchFamily="18" charset="0"/>
                                        </a:rPr>
                                        <m:t>𝑗</m:t>
                                      </m:r>
                                    </m:sub>
                                  </m:sSub>
                                </m:e>
                              </m:d>
                              <m:r>
                                <a:rPr lang="en-US" altLang="zh-CN" sz="2800" b="0" i="1" smtClean="0">
                                  <a:solidFill>
                                    <a:srgbClr val="C00000"/>
                                  </a:solidFill>
                                  <a:latin typeface="Cambria Math" panose="02040503050406030204" pitchFamily="18" charset="0"/>
                                </a:rPr>
                                <m:t>𝑃</m:t>
                              </m:r>
                              <m:r>
                                <a:rPr lang="en-US" altLang="zh-CN" sz="2800" b="0" i="1" smtClean="0">
                                  <a:solidFill>
                                    <a:srgbClr val="C00000"/>
                                  </a:solidFill>
                                  <a:latin typeface="Cambria Math" panose="02040503050406030204" pitchFamily="18" charset="0"/>
                                </a:rPr>
                                <m:t>(</m:t>
                              </m:r>
                              <m:sSub>
                                <m:sSubPr>
                                  <m:ctrlPr>
                                    <a:rPr lang="en-US" altLang="zh-CN" sz="2800" b="0" i="1" smtClean="0">
                                      <a:solidFill>
                                        <a:srgbClr val="C00000"/>
                                      </a:solidFill>
                                      <a:latin typeface="Cambria Math" panose="02040503050406030204" pitchFamily="18" charset="0"/>
                                    </a:rPr>
                                  </m:ctrlPr>
                                </m:sSubPr>
                                <m:e>
                                  <m:r>
                                    <a:rPr lang="en-US" altLang="zh-CN" sz="2800" b="0" i="1" smtClean="0">
                                      <a:solidFill>
                                        <a:srgbClr val="C00000"/>
                                      </a:solidFill>
                                      <a:latin typeface="Cambria Math" panose="02040503050406030204" pitchFamily="18" charset="0"/>
                                    </a:rPr>
                                    <m:t>𝐵</m:t>
                                  </m:r>
                                </m:e>
                                <m:sub>
                                  <m:r>
                                    <a:rPr lang="en-US" altLang="zh-CN" sz="2800" b="0" i="1" smtClean="0">
                                      <a:solidFill>
                                        <a:srgbClr val="C00000"/>
                                      </a:solidFill>
                                      <a:latin typeface="Cambria Math" panose="02040503050406030204" pitchFamily="18" charset="0"/>
                                    </a:rPr>
                                    <m:t>𝑗</m:t>
                                  </m:r>
                                </m:sub>
                              </m:sSub>
                              <m:r>
                                <a:rPr lang="en-US" altLang="zh-CN" sz="2800" b="0" i="1" smtClean="0">
                                  <a:solidFill>
                                    <a:srgbClr val="C00000"/>
                                  </a:solidFill>
                                  <a:latin typeface="Cambria Math" panose="02040503050406030204" pitchFamily="18" charset="0"/>
                                </a:rPr>
                                <m:t>)</m:t>
                              </m:r>
                            </m:e>
                          </m:nary>
                        </m:den>
                      </m:f>
                    </m:oMath>
                  </m:oMathPara>
                </a14:m>
                <a:endParaRPr lang="en-US" altLang="zh-CN" sz="2800" dirty="0">
                  <a:solidFill>
                    <a:srgbClr val="C00000"/>
                  </a:solidFill>
                </a:endParaRPr>
              </a:p>
              <a:p>
                <a:endParaRPr lang="en-US" altLang="zh-CN" sz="2800" dirty="0">
                  <a:solidFill>
                    <a:srgbClr val="C00000"/>
                  </a:solidFill>
                </a:endParaRPr>
              </a:p>
            </p:txBody>
          </p:sp>
        </mc:Choice>
        <mc:Fallback xmlns="">
          <p:sp>
            <p:nvSpPr>
              <p:cNvPr id="424010" name="Rectangle 74"/>
              <p:cNvSpPr>
                <a:spLocks noRot="1" noChangeAspect="1" noMove="1" noResize="1" noEditPoints="1" noAdjustHandles="1" noChangeArrowheads="1" noChangeShapeType="1" noTextEdit="1"/>
              </p:cNvSpPr>
              <p:nvPr/>
            </p:nvSpPr>
            <p:spPr bwMode="auto">
              <a:xfrm>
                <a:off x="3406117" y="4614367"/>
                <a:ext cx="4811713" cy="1842868"/>
              </a:xfrm>
              <a:prstGeom prst="rect">
                <a:avLst/>
              </a:prstGeom>
              <a:blipFill>
                <a:blip r:embed="rId3"/>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en-CN">
                    <a:noFill/>
                  </a:rPr>
                  <a:t> </a:t>
                </a:r>
              </a:p>
            </p:txBody>
          </p:sp>
        </mc:Fallback>
      </mc:AlternateContent>
      <p:grpSp>
        <p:nvGrpSpPr>
          <p:cNvPr id="18" name="组合 17">
            <a:extLst>
              <a:ext uri="{FF2B5EF4-FFF2-40B4-BE49-F238E27FC236}">
                <a16:creationId xmlns:a16="http://schemas.microsoft.com/office/drawing/2014/main" id="{9FBC5294-53A0-43AB-A035-71D2EA7E67CB}"/>
              </a:ext>
            </a:extLst>
          </p:cNvPr>
          <p:cNvGrpSpPr/>
          <p:nvPr/>
        </p:nvGrpSpPr>
        <p:grpSpPr>
          <a:xfrm>
            <a:off x="2594746" y="201145"/>
            <a:ext cx="4137872" cy="551330"/>
            <a:chOff x="2950251" y="517058"/>
            <a:chExt cx="2565486" cy="551330"/>
          </a:xfrm>
        </p:grpSpPr>
        <p:sp>
          <p:nvSpPr>
            <p:cNvPr id="19" name="文本框 18">
              <a:extLst>
                <a:ext uri="{FF2B5EF4-FFF2-40B4-BE49-F238E27FC236}">
                  <a16:creationId xmlns:a16="http://schemas.microsoft.com/office/drawing/2014/main" id="{8BEBD94B-7179-4869-9C3E-A26A2BB595BB}"/>
                </a:ext>
              </a:extLst>
            </p:cNvPr>
            <p:cNvSpPr txBox="1"/>
            <p:nvPr/>
          </p:nvSpPr>
          <p:spPr>
            <a:xfrm>
              <a:off x="2950251" y="517058"/>
              <a:ext cx="2510700" cy="523220"/>
            </a:xfrm>
            <a:prstGeom prst="rect">
              <a:avLst/>
            </a:prstGeom>
            <a:noFill/>
          </p:spPr>
          <p:txBody>
            <a:bodyPr wrap="none" rtlCol="0">
              <a:spAutoFit/>
            </a:bodyPr>
            <a:lstStyle/>
            <a:p>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Bayes' Rule</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b="1" dirty="0">
                  <a:solidFill>
                    <a:schemeClr val="accent1">
                      <a:lumMod val="75000"/>
                    </a:schemeClr>
                  </a:solidFill>
                  <a:latin typeface="华文新魏" panose="02010800040101010101" pitchFamily="2" charset="-122"/>
                  <a:ea typeface="华文新魏" panose="02010800040101010101" pitchFamily="2" charset="-122"/>
                </a:rPr>
                <a:t>贝叶斯公式</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b="1"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20" name="Line 76">
              <a:extLst>
                <a:ext uri="{FF2B5EF4-FFF2-40B4-BE49-F238E27FC236}">
                  <a16:creationId xmlns:a16="http://schemas.microsoft.com/office/drawing/2014/main" id="{416C685B-CA5D-4BC1-8787-C4D52F41E9D5}"/>
                </a:ext>
              </a:extLst>
            </p:cNvPr>
            <p:cNvSpPr>
              <a:spLocks noChangeShapeType="1"/>
            </p:cNvSpPr>
            <p:nvPr/>
          </p:nvSpPr>
          <p:spPr bwMode="auto">
            <a:xfrm flipV="1">
              <a:off x="2994514" y="1049804"/>
              <a:ext cx="2521223" cy="18584"/>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B328F04-1391-44BA-9C33-00B28279823C}"/>
                  </a:ext>
                </a:extLst>
              </p:cNvPr>
              <p:cNvSpPr txBox="1"/>
              <p:nvPr/>
            </p:nvSpPr>
            <p:spPr>
              <a:xfrm>
                <a:off x="294968" y="905256"/>
                <a:ext cx="7630743"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Assume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are </a:t>
                </a:r>
                <a:r>
                  <a:rPr lang="en-US" altLang="zh-CN" b="1" dirty="0">
                    <a:solidFill>
                      <a:srgbClr val="C00000"/>
                    </a:solidFill>
                    <a:latin typeface="华文新魏" panose="02010800040101010101" pitchFamily="2" charset="-122"/>
                    <a:ea typeface="华文新魏" panose="02010800040101010101" pitchFamily="2" charset="-122"/>
                  </a:rPr>
                  <a:t>Partitions</a:t>
                </a:r>
                <a:r>
                  <a:rPr lang="zh-CN" altLang="en-US" b="1" dirty="0">
                    <a:solidFill>
                      <a:srgbClr val="C00000"/>
                    </a:solidFill>
                    <a:latin typeface="华文新魏" panose="02010800040101010101" pitchFamily="2" charset="-122"/>
                    <a:ea typeface="华文新魏" panose="02010800040101010101" pitchFamily="2" charset="-122"/>
                  </a:rPr>
                  <a:t>（划分）</a:t>
                </a:r>
                <a:r>
                  <a:rPr lang="en-US" altLang="zh-CN" dirty="0">
                    <a:latin typeface="华文新魏" panose="02010800040101010101" pitchFamily="2" charset="-122"/>
                    <a:ea typeface="华文新魏" panose="02010800040101010101" pitchFamily="2" charset="-122"/>
                  </a:rPr>
                  <a:t>of the sample space </a:t>
                </a:r>
                <a14:m>
                  <m:oMath xmlns:m="http://schemas.openxmlformats.org/officeDocument/2006/math">
                    <m:r>
                      <m:rPr>
                        <m:sty m:val="p"/>
                      </m:rPr>
                      <a:rPr lang="en-US" altLang="zh-CN" b="0" i="0" smtClean="0">
                        <a:latin typeface="Cambria Math" panose="02040503050406030204" pitchFamily="18" charset="0"/>
                      </a:rPr>
                      <m:t>Ω</m:t>
                    </m:r>
                  </m:oMath>
                </a14:m>
                <a:r>
                  <a:rPr lang="en-US" altLang="zh-CN" dirty="0">
                    <a:latin typeface="华文新魏" panose="02010800040101010101" pitchFamily="2" charset="-122"/>
                    <a:ea typeface="华文新魏" panose="02010800040101010101" pitchFamily="2" charset="-122"/>
                  </a:rPr>
                  <a:t>, and </a:t>
                </a:r>
                <a:endParaRPr lang="zh-CN" altLang="en-US" dirty="0">
                  <a:latin typeface="华文新魏" panose="02010800040101010101" pitchFamily="2" charset="-122"/>
                  <a:ea typeface="华文新魏" panose="02010800040101010101" pitchFamily="2" charset="-122"/>
                </a:endParaRPr>
              </a:p>
            </p:txBody>
          </p:sp>
        </mc:Choice>
        <mc:Fallback xmlns="">
          <p:sp>
            <p:nvSpPr>
              <p:cNvPr id="2" name="文本框 1">
                <a:extLst>
                  <a:ext uri="{FF2B5EF4-FFF2-40B4-BE49-F238E27FC236}">
                    <a16:creationId xmlns:a16="http://schemas.microsoft.com/office/drawing/2014/main" id="{FB328F04-1391-44BA-9C33-00B28279823C}"/>
                  </a:ext>
                </a:extLst>
              </p:cNvPr>
              <p:cNvSpPr txBox="1">
                <a:spLocks noRot="1" noChangeAspect="1" noMove="1" noResize="1" noEditPoints="1" noAdjustHandles="1" noChangeArrowheads="1" noChangeShapeType="1" noTextEdit="1"/>
              </p:cNvSpPr>
              <p:nvPr/>
            </p:nvSpPr>
            <p:spPr>
              <a:xfrm>
                <a:off x="294968" y="905256"/>
                <a:ext cx="7630743" cy="369332"/>
              </a:xfrm>
              <a:prstGeom prst="rect">
                <a:avLst/>
              </a:prstGeom>
              <a:blipFill>
                <a:blip r:embed="rId4"/>
                <a:stretch>
                  <a:fillRect l="-639" t="-8333" r="-8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2F6111D-446B-4C77-AD3F-5AEBD5F02C98}"/>
                  </a:ext>
                </a:extLst>
              </p:cNvPr>
              <p:cNvSpPr txBox="1"/>
              <p:nvPr/>
            </p:nvSpPr>
            <p:spPr>
              <a:xfrm>
                <a:off x="2444750" y="1290739"/>
                <a:ext cx="46996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&gt;0, </m:t>
                      </m:r>
                      <m:r>
                        <a:rPr lang="en-US" altLang="zh-CN" b="0" i="1" smtClean="0">
                          <a:latin typeface="Cambria Math"/>
                        </a:rPr>
                        <m:t>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&gt;0 </m:t>
                      </m:r>
                      <m:r>
                        <a:rPr lang="en-US" altLang="zh-CN" b="0" i="1" smtClean="0">
                          <a:latin typeface="Cambria Math"/>
                        </a:rPr>
                        <m:t>             </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=1,2,…,</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m:oMathPara>
                </a14:m>
                <a:endParaRPr lang="zh-CN" altLang="en-US" dirty="0"/>
              </a:p>
            </p:txBody>
          </p:sp>
        </mc:Choice>
        <mc:Fallback xmlns="">
          <p:sp>
            <p:nvSpPr>
              <p:cNvPr id="3" name="文本框 2">
                <a:extLst>
                  <a:ext uri="{FF2B5EF4-FFF2-40B4-BE49-F238E27FC236}">
                    <a16:creationId xmlns="" xmlns:a16="http://schemas.microsoft.com/office/drawing/2014/main" xmlns:a14="http://schemas.microsoft.com/office/drawing/2010/main" id="{C2F6111D-446B-4C77-AD3F-5AEBD5F02C98}"/>
                  </a:ext>
                </a:extLst>
              </p:cNvPr>
              <p:cNvSpPr txBox="1">
                <a:spLocks noRot="1" noChangeAspect="1" noMove="1" noResize="1" noEditPoints="1" noAdjustHandles="1" noChangeArrowheads="1" noChangeShapeType="1" noTextEdit="1"/>
              </p:cNvSpPr>
              <p:nvPr/>
            </p:nvSpPr>
            <p:spPr>
              <a:xfrm>
                <a:off x="2444750" y="1290739"/>
                <a:ext cx="4699620" cy="276999"/>
              </a:xfrm>
              <a:prstGeom prst="rect">
                <a:avLst/>
              </a:prstGeom>
              <a:blipFill rotWithShape="1">
                <a:blip r:embed="rId5"/>
                <a:stretch>
                  <a:fillRect r="-778" b="-3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50F222C-E59A-4C0C-844D-EA1BCEC2073D}"/>
                  </a:ext>
                </a:extLst>
              </p:cNvPr>
              <p:cNvSpPr txBox="1"/>
              <p:nvPr/>
            </p:nvSpPr>
            <p:spPr>
              <a:xfrm>
                <a:off x="294968" y="1857149"/>
                <a:ext cx="8159715" cy="646331"/>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By the </a:t>
                </a:r>
                <a:r>
                  <a:rPr lang="en-US" altLang="zh-CN" b="1" dirty="0">
                    <a:solidFill>
                      <a:srgbClr val="C00000"/>
                    </a:solidFill>
                    <a:latin typeface="华文新魏" panose="02010800040101010101" pitchFamily="2" charset="-122"/>
                    <a:ea typeface="华文新魏" panose="02010800040101010101" pitchFamily="2" charset="-122"/>
                  </a:rPr>
                  <a:t>Multiplication Law</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b="1" dirty="0">
                    <a:solidFill>
                      <a:srgbClr val="C00000"/>
                    </a:solidFill>
                    <a:latin typeface="华文新魏" panose="02010800040101010101" pitchFamily="2" charset="-122"/>
                    <a:ea typeface="华文新魏" panose="02010800040101010101" pitchFamily="2" charset="-122"/>
                  </a:rPr>
                  <a:t>(</a:t>
                </a:r>
                <a:r>
                  <a:rPr lang="zh-CN" altLang="en-US" b="1" dirty="0">
                    <a:solidFill>
                      <a:srgbClr val="C00000"/>
                    </a:solidFill>
                    <a:latin typeface="华文新魏" panose="02010800040101010101" pitchFamily="2" charset="-122"/>
                    <a:ea typeface="华文新魏" panose="02010800040101010101" pitchFamily="2" charset="-122"/>
                  </a:rPr>
                  <a:t>乘法定律</a:t>
                </a:r>
                <a:r>
                  <a:rPr lang="en-US" altLang="zh-CN" b="1" dirty="0">
                    <a:solidFill>
                      <a:srgbClr val="C00000"/>
                    </a:solidFill>
                    <a:latin typeface="华文新魏" panose="02010800040101010101" pitchFamily="2" charset="-122"/>
                    <a:ea typeface="华文新魏" panose="02010800040101010101" pitchFamily="2" charset="-122"/>
                  </a:rPr>
                  <a:t>)</a:t>
                </a:r>
                <a:r>
                  <a:rPr lang="en-US" altLang="zh-CN" b="1" dirty="0">
                    <a:solidFill>
                      <a:srgbClr val="C00000"/>
                    </a:solidFill>
                  </a:rPr>
                  <a:t> </a:t>
                </a:r>
                <a14:m>
                  <m:oMath xmlns:m="http://schemas.openxmlformats.org/officeDocument/2006/math">
                    <m:r>
                      <a:rPr lang="en-US" altLang="zh-CN" b="0" i="1" smtClean="0">
                        <a:solidFill>
                          <a:schemeClr val="tx1"/>
                        </a:solidFill>
                        <a:latin typeface="Cambria Math" panose="02040503050406030204" pitchFamily="18" charset="0"/>
                      </a:rPr>
                      <m:t>𝑃</m:t>
                    </m:r>
                    <m:d>
                      <m:dPr>
                        <m:ctrlPr>
                          <a:rPr lang="en-US" altLang="zh-CN" i="1">
                            <a:solidFill>
                              <a:schemeClr val="tx1"/>
                            </a:solidFill>
                            <a:latin typeface="Cambria Math" panose="02040503050406030204" pitchFamily="18" charset="0"/>
                          </a:rPr>
                        </m:ctrlPr>
                      </m:dPr>
                      <m:e>
                        <m:r>
                          <a:rPr lang="en-US" altLang="zh-CN" b="0" i="1">
                            <a:solidFill>
                              <a:schemeClr val="tx1"/>
                            </a:solidFill>
                            <a:latin typeface="Cambria Math" panose="02040503050406030204" pitchFamily="18" charset="0"/>
                          </a:rPr>
                          <m:t>𝐴𝐵</m:t>
                        </m:r>
                      </m:e>
                    </m:d>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𝑃</m:t>
                    </m:r>
                    <m:d>
                      <m:dPr>
                        <m:ctrlPr>
                          <a:rPr lang="en-US" altLang="zh-CN" i="1">
                            <a:solidFill>
                              <a:schemeClr val="tx1"/>
                            </a:solidFill>
                            <a:latin typeface="Cambria Math" panose="02040503050406030204" pitchFamily="18" charset="0"/>
                          </a:rPr>
                        </m:ctrlPr>
                      </m:dPr>
                      <m:e>
                        <m:r>
                          <a:rPr lang="en-US" altLang="zh-CN" b="0" i="1">
                            <a:solidFill>
                              <a:schemeClr val="tx1"/>
                            </a:solidFill>
                            <a:latin typeface="Cambria Math" panose="02040503050406030204" pitchFamily="18" charset="0"/>
                          </a:rPr>
                          <m:t>𝐴</m:t>
                        </m:r>
                      </m:e>
                      <m:e>
                        <m:r>
                          <a:rPr lang="en-US" altLang="zh-CN" b="0" i="1">
                            <a:solidFill>
                              <a:schemeClr val="tx1"/>
                            </a:solidFill>
                            <a:latin typeface="Cambria Math" panose="02040503050406030204" pitchFamily="18" charset="0"/>
                          </a:rPr>
                          <m:t>𝐵</m:t>
                        </m:r>
                      </m:e>
                    </m:d>
                    <m:r>
                      <a:rPr lang="en-US" altLang="zh-CN" b="0" i="1">
                        <a:solidFill>
                          <a:schemeClr val="tx1"/>
                        </a:solidFill>
                        <a:latin typeface="Cambria Math" panose="02040503050406030204" pitchFamily="18" charset="0"/>
                      </a:rPr>
                      <m:t>𝑃</m:t>
                    </m:r>
                    <m:d>
                      <m:dPr>
                        <m:ctrlPr>
                          <a:rPr lang="en-US" altLang="zh-CN" i="1">
                            <a:solidFill>
                              <a:schemeClr val="tx1"/>
                            </a:solidFill>
                            <a:latin typeface="Cambria Math" panose="02040503050406030204" pitchFamily="18" charset="0"/>
                          </a:rPr>
                        </m:ctrlPr>
                      </m:dPr>
                      <m:e>
                        <m:r>
                          <a:rPr lang="en-US" altLang="zh-CN" b="0" i="1">
                            <a:solidFill>
                              <a:schemeClr val="tx1"/>
                            </a:solidFill>
                            <a:latin typeface="Cambria Math" panose="02040503050406030204" pitchFamily="18" charset="0"/>
                          </a:rPr>
                          <m:t>𝐵</m:t>
                        </m:r>
                      </m:e>
                    </m:d>
                    <m:r>
                      <a:rPr lang="en-US" altLang="zh-CN" b="0" i="1" smtClean="0">
                        <a:solidFill>
                          <a:schemeClr val="tx1"/>
                        </a:solidFill>
                        <a:latin typeface="Cambria Math"/>
                      </a:rPr>
                      <m:t>=</m:t>
                    </m:r>
                    <m:d>
                      <m:dPr>
                        <m:ctrlPr>
                          <a:rPr lang="en-US" altLang="zh-CN" i="1">
                            <a:solidFill>
                              <a:schemeClr val="tx1"/>
                            </a:solidFill>
                            <a:latin typeface="Cambria Math" panose="02040503050406030204" pitchFamily="18" charset="0"/>
                          </a:rPr>
                        </m:ctrlPr>
                      </m:dPr>
                      <m:e>
                        <m:r>
                          <a:rPr lang="en-US" altLang="zh-CN" b="0" i="1">
                            <a:solidFill>
                              <a:schemeClr val="tx1"/>
                            </a:solidFill>
                            <a:latin typeface="Cambria Math" panose="02040503050406030204" pitchFamily="18" charset="0"/>
                          </a:rPr>
                          <m:t>𝐵</m:t>
                        </m:r>
                      </m:e>
                      <m:e>
                        <m:r>
                          <a:rPr lang="en-US" altLang="zh-CN" b="0" i="1">
                            <a:solidFill>
                              <a:schemeClr val="tx1"/>
                            </a:solidFill>
                            <a:latin typeface="Cambria Math" panose="02040503050406030204" pitchFamily="18" charset="0"/>
                          </a:rPr>
                          <m:t>𝐴</m:t>
                        </m:r>
                      </m:e>
                    </m:d>
                    <m:r>
                      <a:rPr lang="en-US" altLang="zh-CN" b="0" i="1">
                        <a:solidFill>
                          <a:schemeClr val="tx1"/>
                        </a:solidFill>
                        <a:latin typeface="Cambria Math" panose="02040503050406030204" pitchFamily="18" charset="0"/>
                      </a:rPr>
                      <m:t>𝑃</m:t>
                    </m:r>
                    <m:d>
                      <m:dPr>
                        <m:ctrlPr>
                          <a:rPr lang="en-US" altLang="zh-CN" i="1">
                            <a:solidFill>
                              <a:schemeClr val="tx1"/>
                            </a:solidFill>
                            <a:latin typeface="Cambria Math" panose="02040503050406030204" pitchFamily="18" charset="0"/>
                          </a:rPr>
                        </m:ctrlPr>
                      </m:dPr>
                      <m:e>
                        <m:r>
                          <a:rPr lang="en-US" altLang="zh-CN" b="0" i="1">
                            <a:solidFill>
                              <a:schemeClr val="tx1"/>
                            </a:solidFill>
                            <a:latin typeface="Cambria Math" panose="02040503050406030204" pitchFamily="18" charset="0"/>
                          </a:rPr>
                          <m:t>𝐴</m:t>
                        </m:r>
                      </m:e>
                    </m:d>
                  </m:oMath>
                </a14:m>
                <a:r>
                  <a:rPr lang="en-US" altLang="zh-CN" dirty="0">
                    <a:latin typeface="华文新魏" panose="02010800040101010101" pitchFamily="2" charset="-122"/>
                    <a:ea typeface="华文新魏" panose="02010800040101010101" pitchFamily="2" charset="-122"/>
                  </a:rPr>
                  <a:t>, we have </a:t>
                </a:r>
                <a:endParaRPr lang="zh-CN" altLang="en-US" dirty="0">
                  <a:latin typeface="华文新魏" panose="02010800040101010101" pitchFamily="2" charset="-122"/>
                  <a:ea typeface="华文新魏" panose="02010800040101010101" pitchFamily="2" charset="-122"/>
                </a:endParaRPr>
              </a:p>
            </p:txBody>
          </p:sp>
        </mc:Choice>
        <mc:Fallback xmlns="">
          <p:sp>
            <p:nvSpPr>
              <p:cNvPr id="4" name="文本框 3">
                <a:extLst>
                  <a:ext uri="{FF2B5EF4-FFF2-40B4-BE49-F238E27FC236}">
                    <a16:creationId xmlns:a16="http://schemas.microsoft.com/office/drawing/2014/main" id="{A50F222C-E59A-4C0C-844D-EA1BCEC2073D}"/>
                  </a:ext>
                </a:extLst>
              </p:cNvPr>
              <p:cNvSpPr txBox="1">
                <a:spLocks noRot="1" noChangeAspect="1" noMove="1" noResize="1" noEditPoints="1" noAdjustHandles="1" noChangeArrowheads="1" noChangeShapeType="1" noTextEdit="1"/>
              </p:cNvSpPr>
              <p:nvPr/>
            </p:nvSpPr>
            <p:spPr>
              <a:xfrm>
                <a:off x="294968" y="1857149"/>
                <a:ext cx="8159715" cy="646331"/>
              </a:xfrm>
              <a:prstGeom prst="rect">
                <a:avLst/>
              </a:prstGeom>
              <a:blipFill>
                <a:blip r:embed="rId6"/>
                <a:stretch>
                  <a:fillRect l="-597" t="-4717"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433A6BB-2889-4073-89D9-B06B7D85ADD1}"/>
                  </a:ext>
                </a:extLst>
              </p:cNvPr>
              <p:cNvSpPr txBox="1"/>
              <p:nvPr/>
            </p:nvSpPr>
            <p:spPr>
              <a:xfrm>
                <a:off x="2496800" y="2463665"/>
                <a:ext cx="482863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 </m:t>
                      </m:r>
                      <m:r>
                        <a:rPr lang="en-US" altLang="zh-CN" b="0" i="1" smtClean="0">
                          <a:latin typeface="Cambria Math"/>
                        </a:rPr>
                        <m:t>       </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=1,2,…,</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m:oMathPara>
                </a14:m>
                <a:endParaRPr lang="zh-CN" altLang="en-US" dirty="0"/>
              </a:p>
            </p:txBody>
          </p:sp>
        </mc:Choice>
        <mc:Fallback xmlns="">
          <p:sp>
            <p:nvSpPr>
              <p:cNvPr id="5" name="文本框 4">
                <a:extLst>
                  <a:ext uri="{FF2B5EF4-FFF2-40B4-BE49-F238E27FC236}">
                    <a16:creationId xmlns:a16="http://schemas.microsoft.com/office/drawing/2014/main" id="{1433A6BB-2889-4073-89D9-B06B7D85ADD1}"/>
                  </a:ext>
                </a:extLst>
              </p:cNvPr>
              <p:cNvSpPr txBox="1">
                <a:spLocks noRot="1" noChangeAspect="1" noMove="1" noResize="1" noEditPoints="1" noAdjustHandles="1" noChangeArrowheads="1" noChangeShapeType="1" noTextEdit="1"/>
              </p:cNvSpPr>
              <p:nvPr/>
            </p:nvSpPr>
            <p:spPr>
              <a:xfrm>
                <a:off x="2496800" y="2463665"/>
                <a:ext cx="4828630" cy="276999"/>
              </a:xfrm>
              <a:prstGeom prst="rect">
                <a:avLst/>
              </a:prstGeom>
              <a:blipFill>
                <a:blip r:embed="rId7"/>
                <a:stretch>
                  <a:fillRect l="-126" t="-2174" r="-631" b="-32609"/>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5717FD1A-A439-4FA0-87E0-6F46FA93FC74}"/>
              </a:ext>
            </a:extLst>
          </p:cNvPr>
          <p:cNvSpPr txBox="1"/>
          <p:nvPr/>
        </p:nvSpPr>
        <p:spPr>
          <a:xfrm>
            <a:off x="316740" y="3172206"/>
            <a:ext cx="5976316"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By the </a:t>
            </a:r>
            <a:r>
              <a:rPr lang="en-US" altLang="zh-CN" b="1" dirty="0">
                <a:solidFill>
                  <a:srgbClr val="C00000"/>
                </a:solidFill>
                <a:latin typeface="华文新魏" panose="02010800040101010101" pitchFamily="2" charset="-122"/>
                <a:ea typeface="华文新魏" panose="02010800040101010101" pitchFamily="2" charset="-122"/>
              </a:rPr>
              <a:t>Law of Total Probability</a:t>
            </a:r>
            <a:r>
              <a:rPr lang="zh-CN" altLang="en-US" b="1" dirty="0">
                <a:solidFill>
                  <a:srgbClr val="C00000"/>
                </a:solidFill>
                <a:latin typeface="华文新魏" panose="02010800040101010101" pitchFamily="2" charset="-122"/>
                <a:ea typeface="华文新魏" panose="02010800040101010101" pitchFamily="2" charset="-122"/>
              </a:rPr>
              <a:t>（全概率公式）</a:t>
            </a:r>
            <a:r>
              <a:rPr lang="en-US" altLang="zh-CN" dirty="0">
                <a:latin typeface="华文新魏" panose="02010800040101010101" pitchFamily="2" charset="-122"/>
                <a:ea typeface="华文新魏" panose="02010800040101010101" pitchFamily="2" charset="-122"/>
              </a:rPr>
              <a:t>, we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have </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47C5008-BE4E-47E3-ACDE-D49D9BA5CE7F}"/>
                  </a:ext>
                </a:extLst>
              </p:cNvPr>
              <p:cNvSpPr txBox="1"/>
              <p:nvPr/>
            </p:nvSpPr>
            <p:spPr>
              <a:xfrm>
                <a:off x="3494338" y="3595043"/>
                <a:ext cx="2544864" cy="7875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𝑗</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m:oMathPara>
                </a14:m>
                <a:endParaRPr lang="zh-CN" altLang="en-US" dirty="0"/>
              </a:p>
            </p:txBody>
          </p:sp>
        </mc:Choice>
        <mc:Fallback xmlns="">
          <p:sp>
            <p:nvSpPr>
              <p:cNvPr id="6" name="文本框 5">
                <a:extLst>
                  <a:ext uri="{FF2B5EF4-FFF2-40B4-BE49-F238E27FC236}">
                    <a16:creationId xmlns:a16="http://schemas.microsoft.com/office/drawing/2014/main" id="{947C5008-BE4E-47E3-ACDE-D49D9BA5CE7F}"/>
                  </a:ext>
                </a:extLst>
              </p:cNvPr>
              <p:cNvSpPr txBox="1">
                <a:spLocks noRot="1" noChangeAspect="1" noMove="1" noResize="1" noEditPoints="1" noAdjustHandles="1" noChangeArrowheads="1" noChangeShapeType="1" noTextEdit="1"/>
              </p:cNvSpPr>
              <p:nvPr/>
            </p:nvSpPr>
            <p:spPr>
              <a:xfrm>
                <a:off x="3494338" y="3595043"/>
                <a:ext cx="2544864" cy="787523"/>
              </a:xfrm>
              <a:prstGeom prst="rect">
                <a:avLst/>
              </a:prstGeom>
              <a:blipFill>
                <a:blip r:embed="rId8"/>
                <a:stretch>
                  <a:fillRect l="-1990" t="-114286" r="-2488" b="-16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40CA217-3B62-4C72-BA99-9B880DD30726}"/>
                  </a:ext>
                </a:extLst>
              </p:cNvPr>
              <p:cNvSpPr txBox="1"/>
              <p:nvPr/>
            </p:nvSpPr>
            <p:spPr>
              <a:xfrm>
                <a:off x="5113916" y="5979270"/>
                <a:ext cx="15388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endParaRPr>
              </a:p>
            </p:txBody>
          </p:sp>
        </mc:Choice>
        <mc:Fallback xmlns="">
          <p:sp>
            <p:nvSpPr>
              <p:cNvPr id="7" name="文本框 6">
                <a:extLst>
                  <a:ext uri="{FF2B5EF4-FFF2-40B4-BE49-F238E27FC236}">
                    <a16:creationId xmlns:a16="http://schemas.microsoft.com/office/drawing/2014/main" id="{440CA217-3B62-4C72-BA99-9B880DD30726}"/>
                  </a:ext>
                </a:extLst>
              </p:cNvPr>
              <p:cNvSpPr txBox="1">
                <a:spLocks noRot="1" noChangeAspect="1" noMove="1" noResize="1" noEditPoints="1" noAdjustHandles="1" noChangeArrowheads="1" noChangeShapeType="1" noTextEdit="1"/>
              </p:cNvSpPr>
              <p:nvPr/>
            </p:nvSpPr>
            <p:spPr>
              <a:xfrm>
                <a:off x="5113916" y="5979270"/>
                <a:ext cx="1538883" cy="276999"/>
              </a:xfrm>
              <a:prstGeom prst="rect">
                <a:avLst/>
              </a:prstGeom>
              <a:blipFill>
                <a:blip r:embed="rId9"/>
                <a:stretch>
                  <a:fillRect l="-4918" r="-4918" b="-34783"/>
                </a:stretch>
              </a:blipFill>
            </p:spPr>
            <p:txBody>
              <a:bodyPr/>
              <a:lstStyle/>
              <a:p>
                <a:r>
                  <a:rPr lang="en-CN">
                    <a:noFill/>
                  </a:rPr>
                  <a:t> </a:t>
                </a:r>
              </a:p>
            </p:txBody>
          </p:sp>
        </mc:Fallback>
      </mc:AlternateContent>
      <p:sp>
        <p:nvSpPr>
          <p:cNvPr id="8" name="文本框 7">
            <a:extLst>
              <a:ext uri="{FF2B5EF4-FFF2-40B4-BE49-F238E27FC236}">
                <a16:creationId xmlns:a16="http://schemas.microsoft.com/office/drawing/2014/main" id="{7C7EFACB-D134-495F-B6B5-5724CEC2825A}"/>
              </a:ext>
            </a:extLst>
          </p:cNvPr>
          <p:cNvSpPr txBox="1"/>
          <p:nvPr/>
        </p:nvSpPr>
        <p:spPr>
          <a:xfrm>
            <a:off x="797921" y="4562013"/>
            <a:ext cx="2233305" cy="954107"/>
          </a:xfrm>
          <a:prstGeom prst="rect">
            <a:avLst/>
          </a:prstGeom>
          <a:noFill/>
        </p:spPr>
        <p:txBody>
          <a:bodyPr wrap="none" rtlCol="0">
            <a:spAutoFit/>
          </a:bodyPr>
          <a:lstStyle/>
          <a:p>
            <a:pPr algn="ctr"/>
            <a:r>
              <a:rPr lang="en-US" altLang="zh-CN" sz="2800" dirty="0">
                <a:solidFill>
                  <a:srgbClr val="C00000"/>
                </a:solidFill>
                <a:latin typeface="华文新魏" panose="02010800040101010101" pitchFamily="2" charset="-122"/>
                <a:ea typeface="华文新魏" panose="02010800040101010101" pitchFamily="2" charset="-122"/>
              </a:rPr>
              <a:t>Bayes' Rule</a:t>
            </a:r>
          </a:p>
          <a:p>
            <a:pPr algn="ctr"/>
            <a:r>
              <a:rPr lang="en-US" altLang="zh-CN" sz="2800" dirty="0">
                <a:solidFill>
                  <a:srgbClr val="C00000"/>
                </a:solidFill>
                <a:latin typeface="华文新魏" panose="02010800040101010101" pitchFamily="2" charset="-122"/>
                <a:ea typeface="华文新魏" panose="02010800040101010101" pitchFamily="2" charset="-122"/>
              </a:rPr>
              <a:t>(</a:t>
            </a:r>
            <a:r>
              <a:rPr lang="zh-CN" altLang="en-US" sz="2800" dirty="0">
                <a:solidFill>
                  <a:srgbClr val="C00000"/>
                </a:solidFill>
                <a:latin typeface="华文新魏" panose="02010800040101010101" pitchFamily="2" charset="-122"/>
                <a:ea typeface="华文新魏" panose="02010800040101010101" pitchFamily="2" charset="-122"/>
              </a:rPr>
              <a:t>贝叶斯公式</a:t>
            </a:r>
            <a:r>
              <a:rPr lang="en-US" altLang="zh-CN" sz="2800" dirty="0">
                <a:solidFill>
                  <a:srgbClr val="C00000"/>
                </a:solidFill>
                <a:latin typeface="华文新魏" panose="02010800040101010101" pitchFamily="2" charset="-122"/>
                <a:ea typeface="华文新魏" panose="02010800040101010101" pitchFamily="2" charset="-122"/>
              </a:rPr>
              <a:t>)</a:t>
            </a:r>
            <a:endParaRPr lang="zh-CN" altLang="en-US" sz="2800" dirty="0">
              <a:solidFill>
                <a:srgbClr val="C00000"/>
              </a:solidFill>
              <a:latin typeface="华文新魏" panose="02010800040101010101" pitchFamily="2" charset="-122"/>
              <a:ea typeface="华文新魏" panose="02010800040101010101" pitchFamily="2" charset="-122"/>
            </a:endParaRPr>
          </a:p>
        </p:txBody>
      </p:sp>
      <p:sp>
        <p:nvSpPr>
          <p:cNvPr id="9" name="椭圆 8"/>
          <p:cNvSpPr/>
          <p:nvPr/>
        </p:nvSpPr>
        <p:spPr>
          <a:xfrm>
            <a:off x="3312387" y="2420935"/>
            <a:ext cx="549704" cy="37248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par>
                                <p:cTn id="36" presetID="6" presetClass="entr" presetSubtype="32" fill="hold" grpId="0" nodeType="withEffect">
                                  <p:stCondLst>
                                    <p:cond delay="0"/>
                                  </p:stCondLst>
                                  <p:childTnLst>
                                    <p:set>
                                      <p:cBhvr>
                                        <p:cTn id="37" dur="1" fill="hold">
                                          <p:stCondLst>
                                            <p:cond delay="0"/>
                                          </p:stCondLst>
                                        </p:cTn>
                                        <p:tgtEl>
                                          <p:spTgt spid="424010"/>
                                        </p:tgtEl>
                                        <p:attrNameLst>
                                          <p:attrName>style.visibility</p:attrName>
                                        </p:attrNameLst>
                                      </p:cBhvr>
                                      <p:to>
                                        <p:strVal val="visible"/>
                                      </p:to>
                                    </p:set>
                                    <p:animEffect transition="in" filter="circle(out)">
                                      <p:cBhvr>
                                        <p:cTn id="38" dur="500"/>
                                        <p:tgtEl>
                                          <p:spTgt spid="424010"/>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010" grpId="0" animBg="1"/>
      <p:bldP spid="2" grpId="0"/>
      <p:bldP spid="3" grpId="0"/>
      <p:bldP spid="4" grpId="0"/>
      <p:bldP spid="5" grpId="0"/>
      <p:bldP spid="25" grpId="0"/>
      <p:bldP spid="6" grpId="0"/>
      <p:bldP spid="7" grpId="0"/>
      <p:bldP spid="8" grpId="0"/>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798D4AC-1149-4F94-BD1C-3A0BA1BDF3DA}"/>
              </a:ext>
            </a:extLst>
          </p:cNvPr>
          <p:cNvSpPr txBox="1"/>
          <p:nvPr/>
        </p:nvSpPr>
        <p:spPr>
          <a:xfrm>
            <a:off x="420412" y="341965"/>
            <a:ext cx="8492358" cy="523220"/>
          </a:xfrm>
          <a:prstGeom prst="rect">
            <a:avLst/>
          </a:prstGeom>
          <a:noFill/>
        </p:spPr>
        <p:txBody>
          <a:bodyPr wrap="square" rtlCol="0">
            <a:spAutoFit/>
          </a:bodyPr>
          <a:lstStyle/>
          <a:p>
            <a:r>
              <a:rPr lang="en-US" altLang="zh-CN" sz="2800" dirty="0">
                <a:solidFill>
                  <a:schemeClr val="accent1">
                    <a:lumMod val="75000"/>
                  </a:schemeClr>
                </a:solidFill>
                <a:latin typeface="华文新魏" panose="02010800040101010101" pitchFamily="2" charset="-122"/>
                <a:ea typeface="华文新魏" panose="02010800040101010101" pitchFamily="2" charset="-122"/>
              </a:rPr>
              <a:t>The meaning of Bayes</a:t>
            </a:r>
            <a:r>
              <a:rPr lang="en-US" altLang="zh-CN" sz="2800" b="1"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Rule</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贝叶斯公式的实际意义</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CA221E0-56AD-467C-B077-EA4D9A1E47DF}"/>
                  </a:ext>
                </a:extLst>
              </p:cNvPr>
              <p:cNvSpPr txBox="1"/>
              <p:nvPr/>
            </p:nvSpPr>
            <p:spPr>
              <a:xfrm>
                <a:off x="1088136" y="1950661"/>
                <a:ext cx="7940250"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Suppose that </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a14:m>
                <a:r>
                  <a:rPr lang="en-US" altLang="zh-CN" dirty="0">
                    <a:latin typeface="华文新魏" panose="02010800040101010101" pitchFamily="2" charset="-122"/>
                    <a:ea typeface="华文新魏" panose="02010800040101010101" pitchFamily="2" charset="-122"/>
                  </a:rPr>
                  <a:t> are 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possible "causes" of a test result,</a:t>
                </a:r>
                <a:endParaRPr lang="zh-CN" altLang="en-US" dirty="0">
                  <a:latin typeface="华文新魏" panose="02010800040101010101" pitchFamily="2" charset="-122"/>
                  <a:ea typeface="华文新魏" panose="02010800040101010101" pitchFamily="2" charset="-122"/>
                </a:endParaRPr>
              </a:p>
            </p:txBody>
          </p:sp>
        </mc:Choice>
        <mc:Fallback xmlns="">
          <p:sp>
            <p:nvSpPr>
              <p:cNvPr id="3" name="文本框 2">
                <a:extLst>
                  <a:ext uri="{FF2B5EF4-FFF2-40B4-BE49-F238E27FC236}">
                    <a16:creationId xmlns:a16="http://schemas.microsoft.com/office/drawing/2014/main" id="{CCA221E0-56AD-467C-B077-EA4D9A1E47DF}"/>
                  </a:ext>
                </a:extLst>
              </p:cNvPr>
              <p:cNvSpPr txBox="1">
                <a:spLocks noRot="1" noChangeAspect="1" noMove="1" noResize="1" noEditPoints="1" noAdjustHandles="1" noChangeArrowheads="1" noChangeShapeType="1" noTextEdit="1"/>
              </p:cNvSpPr>
              <p:nvPr/>
            </p:nvSpPr>
            <p:spPr>
              <a:xfrm>
                <a:off x="1088136" y="1950661"/>
                <a:ext cx="7940250" cy="369332"/>
              </a:xfrm>
              <a:prstGeom prst="rect">
                <a:avLst/>
              </a:prstGeom>
              <a:blipFill>
                <a:blip r:embed="rId2"/>
                <a:stretch>
                  <a:fillRect l="-639" t="-6667" b="-2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998D67A-83A4-44DA-9007-E026411F3443}"/>
                  </a:ext>
                </a:extLst>
              </p:cNvPr>
              <p:cNvSpPr txBox="1"/>
              <p:nvPr/>
            </p:nvSpPr>
            <p:spPr>
              <a:xfrm>
                <a:off x="1088136" y="2319993"/>
                <a:ext cx="6583680"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We call </a:t>
                </a:r>
                <a14:m>
                  <m:oMath xmlns:m="http://schemas.openxmlformats.org/officeDocument/2006/math">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e>
                    </m:d>
                    <m:r>
                      <a:rPr lang="en-US" altLang="zh-CN" b="1" i="1" smtClean="0">
                        <a:solidFill>
                          <a:srgbClr val="C00000"/>
                        </a:solidFill>
                        <a:latin typeface="Cambria Math"/>
                      </a:rPr>
                      <m:t>  </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a14:m>
                <a:r>
                  <a:rPr lang="zh-CN" altLang="en-US" b="1" dirty="0">
                    <a:solidFill>
                      <a:srgbClr val="C00000"/>
                    </a:solidFill>
                    <a:latin typeface="华文新魏" panose="02010800040101010101" pitchFamily="2" charset="-122"/>
                    <a:ea typeface="华文新魏" panose="02010800040101010101" pitchFamily="2" charset="-122"/>
                  </a:rPr>
                  <a:t> </a:t>
                </a:r>
                <a:r>
                  <a:rPr lang="en-US" altLang="zh-CN" b="1" dirty="0">
                    <a:solidFill>
                      <a:srgbClr val="C00000"/>
                    </a:solidFill>
                    <a:latin typeface="华文新魏" panose="02010800040101010101" pitchFamily="2" charset="-122"/>
                    <a:ea typeface="华文新魏" panose="02010800040101010101" pitchFamily="2" charset="-122"/>
                  </a:rPr>
                  <a:t>as Prior Probabilities</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先验概率</a:t>
                </a:r>
                <a:r>
                  <a:rPr lang="en-US" altLang="zh-CN" dirty="0">
                    <a:solidFill>
                      <a:srgbClr val="C00000"/>
                    </a:solidFill>
                    <a:latin typeface="华文新魏" panose="02010800040101010101" pitchFamily="2" charset="-122"/>
                    <a:ea typeface="华文新魏" panose="02010800040101010101" pitchFamily="2" charset="-122"/>
                  </a:rPr>
                  <a:t>)</a:t>
                </a:r>
                <a:endParaRPr lang="zh-CN" altLang="en-US" dirty="0">
                  <a:solidFill>
                    <a:srgbClr val="C00000"/>
                  </a:solidFill>
                  <a:latin typeface="华文新魏" panose="02010800040101010101" pitchFamily="2" charset="-122"/>
                  <a:ea typeface="华文新魏" panose="02010800040101010101" pitchFamily="2" charset="-122"/>
                </a:endParaRPr>
              </a:p>
            </p:txBody>
          </p:sp>
        </mc:Choice>
        <mc:Fallback xmlns="">
          <p:sp>
            <p:nvSpPr>
              <p:cNvPr id="4" name="文本框 3">
                <a:extLst>
                  <a:ext uri="{FF2B5EF4-FFF2-40B4-BE49-F238E27FC236}">
                    <a16:creationId xmlns:a16="http://schemas.microsoft.com/office/drawing/2014/main" id="{4998D67A-83A4-44DA-9007-E026411F3443}"/>
                  </a:ext>
                </a:extLst>
              </p:cNvPr>
              <p:cNvSpPr txBox="1">
                <a:spLocks noRot="1" noChangeAspect="1" noMove="1" noResize="1" noEditPoints="1" noAdjustHandles="1" noChangeArrowheads="1" noChangeShapeType="1" noTextEdit="1"/>
              </p:cNvSpPr>
              <p:nvPr/>
            </p:nvSpPr>
            <p:spPr>
              <a:xfrm>
                <a:off x="1088136" y="2319993"/>
                <a:ext cx="6583680" cy="369332"/>
              </a:xfrm>
              <a:prstGeom prst="rect">
                <a:avLst/>
              </a:prstGeom>
              <a:blipFill>
                <a:blip r:embed="rId3"/>
                <a:stretch>
                  <a:fillRect l="-833" t="-8333" b="-2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5099BB6-3BD4-469C-A01E-89E15DAD633C}"/>
                  </a:ext>
                </a:extLst>
              </p:cNvPr>
              <p:cNvSpPr txBox="1"/>
              <p:nvPr/>
            </p:nvSpPr>
            <p:spPr>
              <a:xfrm>
                <a:off x="1088136" y="2781792"/>
                <a:ext cx="7566007" cy="923330"/>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If we have an Event A from the test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and would</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like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to find the "cause" of the Event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by</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computing</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华文新魏" panose="02010800040101010101" pitchFamily="2" charset="-122"/>
                        </a:rPr>
                        <m:t>𝑃</m:t>
                      </m:r>
                      <m:d>
                        <m:dPr>
                          <m:ctrlPr>
                            <a:rPr lang="en-US" altLang="zh-CN" b="0" i="1" smtClean="0">
                              <a:latin typeface="Cambria Math" panose="02040503050406030204" pitchFamily="18" charset="0"/>
                              <a:ea typeface="华文新魏" panose="02010800040101010101" pitchFamily="2" charset="-122"/>
                            </a:rPr>
                          </m:ctrlPr>
                        </m:dPr>
                        <m:e>
                          <m:sSub>
                            <m:sSubPr>
                              <m:ctrlPr>
                                <a:rPr lang="en-US" altLang="zh-CN" b="0" i="1" smtClean="0">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𝐵</m:t>
                              </m:r>
                            </m:e>
                            <m:sub>
                              <m:r>
                                <a:rPr lang="en-US" altLang="zh-CN" b="0" i="1" smtClean="0">
                                  <a:latin typeface="Cambria Math"/>
                                  <a:ea typeface="华文新魏" panose="02010800040101010101" pitchFamily="2" charset="-122"/>
                                </a:rPr>
                                <m:t>𝑖</m:t>
                              </m:r>
                            </m:sub>
                          </m:sSub>
                        </m:e>
                        <m:e>
                          <m:r>
                            <a:rPr lang="en-US" altLang="zh-CN" b="0" i="1" smtClean="0">
                              <a:latin typeface="Cambria Math" panose="02040503050406030204" pitchFamily="18" charset="0"/>
                              <a:ea typeface="华文新魏" panose="02010800040101010101" pitchFamily="2" charset="-122"/>
                            </a:rPr>
                            <m:t>𝐴</m:t>
                          </m:r>
                        </m:e>
                      </m:d>
                    </m:oMath>
                  </m:oMathPara>
                </a14:m>
                <a:endParaRPr lang="zh-CN" altLang="en-US" dirty="0">
                  <a:latin typeface="华文新魏" panose="02010800040101010101" pitchFamily="2" charset="-122"/>
                  <a:ea typeface="华文新魏" panose="02010800040101010101" pitchFamily="2" charset="-122"/>
                </a:endParaRPr>
              </a:p>
            </p:txBody>
          </p:sp>
        </mc:Choice>
        <mc:Fallback xmlns="">
          <p:sp>
            <p:nvSpPr>
              <p:cNvPr id="5" name="文本框 4">
                <a:extLst>
                  <a:ext uri="{FF2B5EF4-FFF2-40B4-BE49-F238E27FC236}">
                    <a16:creationId xmlns:a16="http://schemas.microsoft.com/office/drawing/2014/main" id="{15099BB6-3BD4-469C-A01E-89E15DAD633C}"/>
                  </a:ext>
                </a:extLst>
              </p:cNvPr>
              <p:cNvSpPr txBox="1">
                <a:spLocks noRot="1" noChangeAspect="1" noMove="1" noResize="1" noEditPoints="1" noAdjustHandles="1" noChangeArrowheads="1" noChangeShapeType="1" noTextEdit="1"/>
              </p:cNvSpPr>
              <p:nvPr/>
            </p:nvSpPr>
            <p:spPr>
              <a:xfrm>
                <a:off x="1088136" y="2781792"/>
                <a:ext cx="7566007" cy="923330"/>
              </a:xfrm>
              <a:prstGeom prst="rect">
                <a:avLst/>
              </a:prstGeom>
              <a:blipFill>
                <a:blip r:embed="rId4"/>
                <a:stretch>
                  <a:fillRect l="-725" t="-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5532F2C-BF77-478F-8C93-80B9778B53FD}"/>
                  </a:ext>
                </a:extLst>
              </p:cNvPr>
              <p:cNvSpPr txBox="1"/>
              <p:nvPr/>
            </p:nvSpPr>
            <p:spPr>
              <a:xfrm>
                <a:off x="1088136" y="3819484"/>
                <a:ext cx="7740554"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We call </a:t>
                </a:r>
                <a14:m>
                  <m:oMath xmlns:m="http://schemas.openxmlformats.org/officeDocument/2006/math">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a:rPr>
                          <m:t>𝒊</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𝑨</m:t>
                    </m:r>
                    <m:r>
                      <a:rPr lang="en-US" altLang="zh-CN" b="1" i="1" smtClean="0">
                        <a:solidFill>
                          <a:srgbClr val="C00000"/>
                        </a:solidFill>
                        <a:latin typeface="Cambria Math" panose="02040503050406030204" pitchFamily="18" charset="0"/>
                      </a:rPr>
                      <m:t>)</m:t>
                    </m:r>
                  </m:oMath>
                </a14:m>
                <a:r>
                  <a:rPr lang="zh-CN" altLang="en-US" b="1" dirty="0">
                    <a:solidFill>
                      <a:srgbClr val="C00000"/>
                    </a:solidFill>
                    <a:latin typeface="华文新魏" panose="02010800040101010101" pitchFamily="2" charset="-122"/>
                    <a:ea typeface="华文新魏" panose="02010800040101010101" pitchFamily="2" charset="-122"/>
                  </a:rPr>
                  <a:t> </a:t>
                </a:r>
                <a:r>
                  <a:rPr lang="en-US" altLang="zh-CN" b="1" dirty="0">
                    <a:solidFill>
                      <a:srgbClr val="C00000"/>
                    </a:solidFill>
                    <a:latin typeface="华文新魏" panose="02010800040101010101" pitchFamily="2" charset="-122"/>
                    <a:ea typeface="华文新魏" panose="02010800040101010101" pitchFamily="2" charset="-122"/>
                  </a:rPr>
                  <a:t>as Posterior Probabilities</a:t>
                </a:r>
                <a:r>
                  <a:rPr lang="zh-CN" altLang="en-US" b="1" dirty="0">
                    <a:solidFill>
                      <a:srgbClr val="C00000"/>
                    </a:solidFill>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a:t>
                </a:r>
                <a:r>
                  <a:rPr lang="zh-CN" altLang="en-US" dirty="0">
                    <a:solidFill>
                      <a:srgbClr val="C00000"/>
                    </a:solidFill>
                    <a:latin typeface="华文新魏" panose="02010800040101010101" pitchFamily="2" charset="-122"/>
                    <a:ea typeface="华文新魏" panose="02010800040101010101" pitchFamily="2" charset="-122"/>
                  </a:rPr>
                  <a:t>后验概率</a:t>
                </a:r>
                <a:r>
                  <a:rPr lang="en-US" altLang="zh-CN" dirty="0">
                    <a:solidFill>
                      <a:srgbClr val="C00000"/>
                    </a:solidFill>
                    <a:latin typeface="华文新魏" panose="02010800040101010101" pitchFamily="2" charset="-122"/>
                    <a:ea typeface="华文新魏" panose="02010800040101010101" pitchFamily="2" charset="-122"/>
                  </a:rPr>
                  <a:t>)</a:t>
                </a:r>
                <a:r>
                  <a:rPr lang="en-US" altLang="zh-CN" dirty="0">
                    <a:solidFill>
                      <a:schemeClr val="tx2">
                        <a:lumMod val="75000"/>
                      </a:schemeClr>
                    </a:solidFill>
                    <a:latin typeface="华文新魏" panose="02010800040101010101" pitchFamily="2" charset="-122"/>
                    <a:ea typeface="华文新魏" panose="02010800040101010101" pitchFamily="2" charset="-122"/>
                  </a:rPr>
                  <a:t>. </a:t>
                </a:r>
              </a:p>
            </p:txBody>
          </p:sp>
        </mc:Choice>
        <mc:Fallback xmlns="">
          <p:sp>
            <p:nvSpPr>
              <p:cNvPr id="6" name="文本框 5">
                <a:extLst>
                  <a:ext uri="{FF2B5EF4-FFF2-40B4-BE49-F238E27FC236}">
                    <a16:creationId xmlns:a16="http://schemas.microsoft.com/office/drawing/2014/main" id="{15532F2C-BF77-478F-8C93-80B9778B53FD}"/>
                  </a:ext>
                </a:extLst>
              </p:cNvPr>
              <p:cNvSpPr txBox="1">
                <a:spLocks noRot="1" noChangeAspect="1" noMove="1" noResize="1" noEditPoints="1" noAdjustHandles="1" noChangeArrowheads="1" noChangeShapeType="1" noTextEdit="1"/>
              </p:cNvSpPr>
              <p:nvPr/>
            </p:nvSpPr>
            <p:spPr>
              <a:xfrm>
                <a:off x="1088136" y="3819484"/>
                <a:ext cx="7740554" cy="369332"/>
              </a:xfrm>
              <a:prstGeom prst="rect">
                <a:avLst/>
              </a:prstGeom>
              <a:blipFill>
                <a:blip r:embed="rId5"/>
                <a:stretch>
                  <a:fillRect l="-709" t="-8333" b="-28333"/>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574D2E4C-3DFC-4966-AF95-6FE36DEB3B6C}"/>
              </a:ext>
            </a:extLst>
          </p:cNvPr>
          <p:cNvSpPr txBox="1"/>
          <p:nvPr/>
        </p:nvSpPr>
        <p:spPr>
          <a:xfrm>
            <a:off x="1114663" y="4689547"/>
            <a:ext cx="6535381" cy="369332"/>
          </a:xfrm>
          <a:prstGeom prst="rect">
            <a:avLst/>
          </a:prstGeom>
          <a:noFill/>
        </p:spPr>
        <p:txBody>
          <a:bodyPr wrap="square" rtlCol="0">
            <a:spAutoFit/>
          </a:bodyPr>
          <a:lstStyle/>
          <a:p>
            <a:r>
              <a:rPr lang="en-US" altLang="zh-CN" b="1" dirty="0">
                <a:solidFill>
                  <a:srgbClr val="C00000"/>
                </a:solidFill>
                <a:latin typeface="华文新魏" panose="02010800040101010101" pitchFamily="2" charset="-122"/>
                <a:ea typeface="华文新魏" panose="02010800040101010101" pitchFamily="2" charset="-122"/>
              </a:rPr>
              <a:t>Posterior Probability </a:t>
            </a:r>
            <a:r>
              <a:rPr lang="en-US" altLang="zh-CN" dirty="0">
                <a:latin typeface="华文新魏" panose="02010800040101010101" pitchFamily="2" charset="-122"/>
                <a:ea typeface="华文新魏" panose="02010800040101010101" pitchFamily="2" charset="-122"/>
              </a:rPr>
              <a:t>can be calculated by using the</a:t>
            </a:r>
            <a:r>
              <a:rPr lang="zh-CN" altLang="en-US" dirty="0">
                <a:latin typeface="华文新魏" panose="02010800040101010101" pitchFamily="2" charset="-122"/>
                <a:ea typeface="华文新魏" panose="02010800040101010101" pitchFamily="2" charset="-122"/>
              </a:rPr>
              <a:t> </a:t>
            </a:r>
            <a:r>
              <a:rPr lang="en-US" altLang="zh-CN" dirty="0">
                <a:solidFill>
                  <a:srgbClr val="C00000"/>
                </a:solidFill>
                <a:latin typeface="华文新魏" panose="02010800040101010101" pitchFamily="2" charset="-122"/>
                <a:ea typeface="华文新魏" panose="02010800040101010101" pitchFamily="2" charset="-122"/>
              </a:rPr>
              <a:t>Bayes' rule</a:t>
            </a:r>
          </a:p>
        </p:txBody>
      </p:sp>
      <p:sp>
        <p:nvSpPr>
          <p:cNvPr id="9" name="文本框 8">
            <a:extLst>
              <a:ext uri="{FF2B5EF4-FFF2-40B4-BE49-F238E27FC236}">
                <a16:creationId xmlns:a16="http://schemas.microsoft.com/office/drawing/2014/main" id="{10E4A80D-AF21-4A56-8E0E-1C0A8436016D}"/>
              </a:ext>
            </a:extLst>
          </p:cNvPr>
          <p:cNvSpPr txBox="1"/>
          <p:nvPr/>
        </p:nvSpPr>
        <p:spPr>
          <a:xfrm>
            <a:off x="794758" y="6072760"/>
            <a:ext cx="7742490" cy="646331"/>
          </a:xfrm>
          <a:prstGeom prst="rect">
            <a:avLst/>
          </a:prstGeom>
          <a:noFill/>
        </p:spPr>
        <p:txBody>
          <a:bodyPr wrap="square" rtlCol="0">
            <a:spAutoFit/>
          </a:bodyPr>
          <a:lstStyle/>
          <a:p>
            <a:r>
              <a:rPr lang="en-US" altLang="zh-CN" dirty="0">
                <a:solidFill>
                  <a:srgbClr val="002060"/>
                </a:solidFill>
                <a:latin typeface="华文新魏" panose="02010800040101010101" pitchFamily="2" charset="-122"/>
                <a:ea typeface="华文新魏" panose="02010800040101010101" pitchFamily="2" charset="-122"/>
              </a:rPr>
              <a:t>Bayes' Rule has been used in networks, classification, diagnosis, estimation, proving, differentiate, inference, etc.</a:t>
            </a:r>
            <a:endParaRPr lang="zh-CN" altLang="en-US" dirty="0">
              <a:solidFill>
                <a:srgbClr val="002060"/>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7C3334E-18DC-4BC1-87CD-150F99372AE1}"/>
                  </a:ext>
                </a:extLst>
              </p:cNvPr>
              <p:cNvSpPr txBox="1"/>
              <p:nvPr/>
            </p:nvSpPr>
            <p:spPr>
              <a:xfrm>
                <a:off x="1847178" y="5137696"/>
                <a:ext cx="4762714" cy="9350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a:rPr>
                                <m:t>𝒊</m:t>
                              </m:r>
                            </m:sub>
                          </m:sSub>
                        </m:e>
                        <m:e>
                          <m:r>
                            <a:rPr lang="en-US" altLang="zh-CN" b="1" i="1" smtClean="0">
                              <a:solidFill>
                                <a:srgbClr val="C00000"/>
                              </a:solidFill>
                              <a:latin typeface="Cambria Math" panose="02040503050406030204" pitchFamily="18" charset="0"/>
                            </a:rPr>
                            <m:t>𝑨</m:t>
                          </m:r>
                        </m:e>
                      </m:d>
                      <m:r>
                        <a:rPr lang="en-US" altLang="zh-CN" b="1" i="1" smtClean="0">
                          <a:solidFill>
                            <a:srgbClr val="C00000"/>
                          </a:solidFill>
                          <a:latin typeface="Cambria Math" panose="02040503050406030204" pitchFamily="18" charset="0"/>
                        </a:rPr>
                        <m:t>=</m:t>
                      </m:r>
                      <m:f>
                        <m:fPr>
                          <m:ctrlPr>
                            <a:rPr lang="en-US" altLang="zh-CN" b="1" i="1" smtClean="0">
                              <a:solidFill>
                                <a:srgbClr val="C00000"/>
                              </a:solidFill>
                              <a:latin typeface="Cambria Math" panose="02040503050406030204" pitchFamily="18" charset="0"/>
                            </a:rPr>
                          </m:ctrlPr>
                        </m:fPr>
                        <m:num>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m:t>
                              </m:r>
                            </m:e>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e>
                          </m:d>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e>
                          </m:d>
                        </m:num>
                        <m:den>
                          <m:nary>
                            <m:naryPr>
                              <m:chr m:val="∑"/>
                              <m:ctrlPr>
                                <a:rPr lang="en-US" altLang="zh-CN" b="1" i="1" smtClean="0">
                                  <a:solidFill>
                                    <a:srgbClr val="C00000"/>
                                  </a:solidFill>
                                  <a:latin typeface="Cambria Math" panose="02040503050406030204" pitchFamily="18" charset="0"/>
                                </a:rPr>
                              </m:ctrlPr>
                            </m:naryPr>
                            <m:sub>
                              <m:r>
                                <m:rPr>
                                  <m:brk m:alnAt="23"/>
                                </m:rPr>
                                <a:rPr lang="en-US" altLang="zh-CN" b="1" i="1" smtClean="0">
                                  <a:solidFill>
                                    <a:srgbClr val="C00000"/>
                                  </a:solidFill>
                                  <a:latin typeface="Cambria Math" panose="02040503050406030204" pitchFamily="18" charset="0"/>
                                </a:rPr>
                                <m:t>𝒋</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up>
                              <m:r>
                                <a:rPr lang="en-US" altLang="zh-CN" b="1" i="1" smtClean="0">
                                  <a:solidFill>
                                    <a:srgbClr val="C00000"/>
                                  </a:solidFill>
                                  <a:latin typeface="Cambria Math" panose="02040503050406030204" pitchFamily="18" charset="0"/>
                                </a:rPr>
                                <m:t>𝒏</m:t>
                              </m:r>
                            </m:sup>
                            <m:e>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𝑨</m:t>
                                  </m:r>
                                </m:e>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𝒋</m:t>
                                      </m:r>
                                    </m:sub>
                                  </m:sSub>
                                </m:e>
                              </m:d>
                              <m:r>
                                <a:rPr lang="en-US" altLang="zh-CN" b="1" i="1" smtClean="0">
                                  <a:solidFill>
                                    <a:srgbClr val="C00000"/>
                                  </a:solidFill>
                                  <a:latin typeface="Cambria Math" panose="02040503050406030204" pitchFamily="18" charset="0"/>
                                </a:rPr>
                                <m:t>𝑷</m:t>
                              </m:r>
                              <m:d>
                                <m:dPr>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𝒋</m:t>
                                      </m:r>
                                    </m:sub>
                                  </m:sSub>
                                </m:e>
                              </m:d>
                            </m:e>
                          </m:nary>
                        </m:den>
                      </m:f>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latin typeface="华文新魏" panose="02010800040101010101" pitchFamily="2" charset="-122"/>
                  <a:ea typeface="华文新魏" panose="02010800040101010101" pitchFamily="2" charset="-122"/>
                </a:endParaRPr>
              </a:p>
              <a:p>
                <a:endParaRPr lang="zh-CN" altLang="en-US" b="1" dirty="0">
                  <a:solidFill>
                    <a:srgbClr val="C00000"/>
                  </a:solidFill>
                </a:endParaRPr>
              </a:p>
            </p:txBody>
          </p:sp>
        </mc:Choice>
        <mc:Fallback xmlns="">
          <p:sp>
            <p:nvSpPr>
              <p:cNvPr id="10" name="文本框 9">
                <a:extLst>
                  <a:ext uri="{FF2B5EF4-FFF2-40B4-BE49-F238E27FC236}">
                    <a16:creationId xmlns:a16="http://schemas.microsoft.com/office/drawing/2014/main" id="{07C3334E-18DC-4BC1-87CD-150F99372AE1}"/>
                  </a:ext>
                </a:extLst>
              </p:cNvPr>
              <p:cNvSpPr txBox="1">
                <a:spLocks noRot="1" noChangeAspect="1" noMove="1" noResize="1" noEditPoints="1" noAdjustHandles="1" noChangeArrowheads="1" noChangeShapeType="1" noTextEdit="1"/>
              </p:cNvSpPr>
              <p:nvPr/>
            </p:nvSpPr>
            <p:spPr>
              <a:xfrm>
                <a:off x="1847178" y="5137696"/>
                <a:ext cx="4762714" cy="93506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74">
                <a:extLst>
                  <a:ext uri="{FF2B5EF4-FFF2-40B4-BE49-F238E27FC236}">
                    <a16:creationId xmlns:a16="http://schemas.microsoft.com/office/drawing/2014/main" id="{59C037F2-2DDA-4D31-8902-14D381B651C5}"/>
                  </a:ext>
                </a:extLst>
              </p:cNvPr>
              <p:cNvSpPr>
                <a:spLocks noChangeArrowheads="1"/>
              </p:cNvSpPr>
              <p:nvPr/>
            </p:nvSpPr>
            <p:spPr bwMode="auto">
              <a:xfrm>
                <a:off x="3274861" y="999887"/>
                <a:ext cx="2782285" cy="665478"/>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e>
                          <m:r>
                            <a:rPr lang="en-US" altLang="zh-CN" sz="1600" b="1" i="1" smtClean="0">
                              <a:solidFill>
                                <a:srgbClr val="C00000"/>
                              </a:solidFill>
                              <a:latin typeface="Cambria Math" panose="02040503050406030204" pitchFamily="18" charset="0"/>
                            </a:rPr>
                            <m:t>𝑨</m:t>
                          </m:r>
                        </m:e>
                      </m:d>
                      <m:r>
                        <a:rPr lang="en-US" altLang="zh-CN" sz="1600" b="1" i="1" smtClean="0">
                          <a:solidFill>
                            <a:srgbClr val="C00000"/>
                          </a:solidFill>
                          <a:latin typeface="Cambria Math" panose="02040503050406030204" pitchFamily="18" charset="0"/>
                        </a:rPr>
                        <m:t>=</m:t>
                      </m:r>
                      <m:f>
                        <m:fPr>
                          <m:ctrlPr>
                            <a:rPr lang="en-US" altLang="zh-CN" sz="1600" b="1" i="1" smtClean="0">
                              <a:solidFill>
                                <a:srgbClr val="C00000"/>
                              </a:solidFill>
                              <a:latin typeface="Cambria Math" panose="02040503050406030204" pitchFamily="18" charset="0"/>
                            </a:rPr>
                          </m:ctrlPr>
                        </m:fPr>
                        <m:num>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r>
                            <a:rPr lang="en-US" altLang="zh-CN" sz="1600" b="1" i="1" smtClean="0">
                              <a:solidFill>
                                <a:srgbClr val="C00000"/>
                              </a:solidFill>
                              <a:latin typeface="Cambria Math" panose="02040503050406030204" pitchFamily="18" charset="0"/>
                            </a:rPr>
                            <m:t>)</m:t>
                          </m:r>
                        </m:num>
                        <m:den>
                          <m:nary>
                            <m:naryPr>
                              <m:chr m:val="∑"/>
                              <m:ctrlPr>
                                <a:rPr lang="en-US" altLang="zh-CN" sz="1600" b="1" i="1" smtClean="0">
                                  <a:solidFill>
                                    <a:srgbClr val="C00000"/>
                                  </a:solidFill>
                                  <a:latin typeface="Cambria Math" panose="02040503050406030204" pitchFamily="18" charset="0"/>
                                </a:rPr>
                              </m:ctrlPr>
                            </m:naryPr>
                            <m:sub>
                              <m:r>
                                <m:rPr>
                                  <m:brk m:alnAt="23"/>
                                </m:rPr>
                                <a:rPr lang="en-US" altLang="zh-CN" sz="1600" b="1" i="1" smtClean="0">
                                  <a:solidFill>
                                    <a:srgbClr val="C00000"/>
                                  </a:solidFill>
                                  <a:latin typeface="Cambria Math" panose="02040503050406030204" pitchFamily="18" charset="0"/>
                                </a:rPr>
                                <m:t>𝒋</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sub>
                            <m:sup>
                              <m:r>
                                <a:rPr lang="en-US" altLang="zh-CN" sz="1600" b="1" i="1" smtClean="0">
                                  <a:solidFill>
                                    <a:srgbClr val="C00000"/>
                                  </a:solidFill>
                                  <a:latin typeface="Cambria Math" panose="02040503050406030204" pitchFamily="18" charset="0"/>
                                </a:rPr>
                                <m:t>𝒏</m:t>
                              </m:r>
                            </m:sup>
                            <m:e>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r>
                                <a:rPr lang="en-US" altLang="zh-CN" sz="1600" b="1" i="1" smtClean="0">
                                  <a:solidFill>
                                    <a:srgbClr val="C00000"/>
                                  </a:solidFill>
                                  <a:latin typeface="Cambria Math" panose="02040503050406030204" pitchFamily="18" charset="0"/>
                                </a:rPr>
                                <m:t>)</m:t>
                              </m:r>
                            </m:e>
                          </m:nary>
                        </m:den>
                      </m:f>
                    </m:oMath>
                  </m:oMathPara>
                </a14:m>
                <a:endParaRPr lang="en-US" altLang="zh-CN" sz="1600" b="1" dirty="0">
                  <a:solidFill>
                    <a:srgbClr val="C00000"/>
                  </a:solidFill>
                </a:endParaRPr>
              </a:p>
            </p:txBody>
          </p:sp>
        </mc:Choice>
        <mc:Fallback xmlns="">
          <p:sp>
            <p:nvSpPr>
              <p:cNvPr id="11" name="Rectangle 74">
                <a:extLst>
                  <a:ext uri="{FF2B5EF4-FFF2-40B4-BE49-F238E27FC236}">
                    <a16:creationId xmlns:a16="http://schemas.microsoft.com/office/drawing/2014/main" id="{59C037F2-2DDA-4D31-8902-14D381B651C5}"/>
                  </a:ext>
                </a:extLst>
              </p:cNvPr>
              <p:cNvSpPr>
                <a:spLocks noRot="1" noChangeAspect="1" noMove="1" noResize="1" noEditPoints="1" noAdjustHandles="1" noChangeArrowheads="1" noChangeShapeType="1" noTextEdit="1"/>
              </p:cNvSpPr>
              <p:nvPr/>
            </p:nvSpPr>
            <p:spPr bwMode="auto">
              <a:xfrm>
                <a:off x="3274861" y="999887"/>
                <a:ext cx="2782285" cy="665478"/>
              </a:xfrm>
              <a:prstGeom prst="rect">
                <a:avLst/>
              </a:prstGeom>
              <a:blipFill>
                <a:blip r:embed="rId7"/>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283232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798D4AC-1149-4F94-BD1C-3A0BA1BDF3DA}"/>
              </a:ext>
            </a:extLst>
          </p:cNvPr>
          <p:cNvSpPr txBox="1"/>
          <p:nvPr/>
        </p:nvSpPr>
        <p:spPr>
          <a:xfrm>
            <a:off x="879273" y="286823"/>
            <a:ext cx="7439074" cy="523220"/>
          </a:xfrm>
          <a:prstGeom prst="rect">
            <a:avLst/>
          </a:prstGeom>
          <a:noFill/>
        </p:spPr>
        <p:txBody>
          <a:bodyPr wrap="square" rtlCol="0">
            <a:spAutoFit/>
          </a:bodyPr>
          <a:lstStyle/>
          <a:p>
            <a:r>
              <a:rPr lang="en-US" altLang="zh-CN" sz="2800" dirty="0">
                <a:solidFill>
                  <a:schemeClr val="accent1">
                    <a:lumMod val="75000"/>
                  </a:schemeClr>
                </a:solidFill>
                <a:latin typeface="华文新魏" panose="02010800040101010101" pitchFamily="2" charset="-122"/>
                <a:ea typeface="华文新魏" panose="02010800040101010101" pitchFamily="2" charset="-122"/>
              </a:rPr>
              <a:t>Application of Bayes' Rule</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贝叶斯公式的应用</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1" name="Rectangle 74">
                <a:extLst>
                  <a:ext uri="{FF2B5EF4-FFF2-40B4-BE49-F238E27FC236}">
                    <a16:creationId xmlns:a16="http://schemas.microsoft.com/office/drawing/2014/main" id="{59C037F2-2DDA-4D31-8902-14D381B651C5}"/>
                  </a:ext>
                </a:extLst>
              </p:cNvPr>
              <p:cNvSpPr>
                <a:spLocks noChangeArrowheads="1"/>
              </p:cNvSpPr>
              <p:nvPr/>
            </p:nvSpPr>
            <p:spPr bwMode="auto">
              <a:xfrm>
                <a:off x="3038008" y="941059"/>
                <a:ext cx="2782285" cy="665478"/>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e>
                          <m:r>
                            <a:rPr lang="en-US" altLang="zh-CN" sz="1600" b="1" i="1" smtClean="0">
                              <a:solidFill>
                                <a:srgbClr val="C00000"/>
                              </a:solidFill>
                              <a:latin typeface="Cambria Math" panose="02040503050406030204" pitchFamily="18" charset="0"/>
                            </a:rPr>
                            <m:t>𝑨</m:t>
                          </m:r>
                        </m:e>
                      </m:d>
                      <m:r>
                        <a:rPr lang="en-US" altLang="zh-CN" sz="1600" b="1" i="1" smtClean="0">
                          <a:solidFill>
                            <a:srgbClr val="C00000"/>
                          </a:solidFill>
                          <a:latin typeface="Cambria Math" panose="02040503050406030204" pitchFamily="18" charset="0"/>
                        </a:rPr>
                        <m:t>=</m:t>
                      </m:r>
                      <m:f>
                        <m:fPr>
                          <m:ctrlPr>
                            <a:rPr lang="en-US" altLang="zh-CN" sz="1600" b="1" i="1" smtClean="0">
                              <a:solidFill>
                                <a:srgbClr val="C00000"/>
                              </a:solidFill>
                              <a:latin typeface="Cambria Math" panose="02040503050406030204" pitchFamily="18" charset="0"/>
                            </a:rPr>
                          </m:ctrlPr>
                        </m:fPr>
                        <m:num>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r>
                            <a:rPr lang="en-US" altLang="zh-CN" sz="1600" b="1" i="1" smtClean="0">
                              <a:solidFill>
                                <a:srgbClr val="C00000"/>
                              </a:solidFill>
                              <a:latin typeface="Cambria Math" panose="02040503050406030204" pitchFamily="18" charset="0"/>
                            </a:rPr>
                            <m:t>)</m:t>
                          </m:r>
                        </m:num>
                        <m:den>
                          <m:nary>
                            <m:naryPr>
                              <m:chr m:val="∑"/>
                              <m:ctrlPr>
                                <a:rPr lang="en-US" altLang="zh-CN" sz="1600" b="1" i="1" smtClean="0">
                                  <a:solidFill>
                                    <a:srgbClr val="C00000"/>
                                  </a:solidFill>
                                  <a:latin typeface="Cambria Math" panose="02040503050406030204" pitchFamily="18" charset="0"/>
                                </a:rPr>
                              </m:ctrlPr>
                            </m:naryPr>
                            <m:sub>
                              <m:r>
                                <m:rPr>
                                  <m:brk m:alnAt="23"/>
                                </m:rPr>
                                <a:rPr lang="en-US" altLang="zh-CN" sz="1600" b="1" i="1" smtClean="0">
                                  <a:solidFill>
                                    <a:srgbClr val="C00000"/>
                                  </a:solidFill>
                                  <a:latin typeface="Cambria Math" panose="02040503050406030204" pitchFamily="18" charset="0"/>
                                </a:rPr>
                                <m:t>𝒋</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sub>
                            <m:sup>
                              <m:r>
                                <a:rPr lang="en-US" altLang="zh-CN" sz="1600" b="1" i="1" smtClean="0">
                                  <a:solidFill>
                                    <a:srgbClr val="C00000"/>
                                  </a:solidFill>
                                  <a:latin typeface="Cambria Math" panose="02040503050406030204" pitchFamily="18" charset="0"/>
                                </a:rPr>
                                <m:t>𝒏</m:t>
                              </m:r>
                            </m:sup>
                            <m:e>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r>
                                <a:rPr lang="en-US" altLang="zh-CN" sz="1600" b="1" i="1" smtClean="0">
                                  <a:solidFill>
                                    <a:srgbClr val="C00000"/>
                                  </a:solidFill>
                                  <a:latin typeface="Cambria Math" panose="02040503050406030204" pitchFamily="18" charset="0"/>
                                </a:rPr>
                                <m:t>)</m:t>
                              </m:r>
                            </m:e>
                          </m:nary>
                        </m:den>
                      </m:f>
                    </m:oMath>
                  </m:oMathPara>
                </a14:m>
                <a:endParaRPr lang="en-US" altLang="zh-CN" sz="1600" b="1" dirty="0">
                  <a:solidFill>
                    <a:srgbClr val="C00000"/>
                  </a:solidFill>
                </a:endParaRPr>
              </a:p>
            </p:txBody>
          </p:sp>
        </mc:Choice>
        <mc:Fallback xmlns="">
          <p:sp>
            <p:nvSpPr>
              <p:cNvPr id="11" name="Rectangle 74">
                <a:extLst>
                  <a:ext uri="{FF2B5EF4-FFF2-40B4-BE49-F238E27FC236}">
                    <a16:creationId xmlns:a16="http://schemas.microsoft.com/office/drawing/2014/main" id="{59C037F2-2DDA-4D31-8902-14D381B651C5}"/>
                  </a:ext>
                </a:extLst>
              </p:cNvPr>
              <p:cNvSpPr>
                <a:spLocks noRot="1" noChangeAspect="1" noMove="1" noResize="1" noEditPoints="1" noAdjustHandles="1" noChangeArrowheads="1" noChangeShapeType="1" noTextEdit="1"/>
              </p:cNvSpPr>
              <p:nvPr/>
            </p:nvSpPr>
            <p:spPr bwMode="auto">
              <a:xfrm>
                <a:off x="3038008" y="941059"/>
                <a:ext cx="2782285" cy="665478"/>
              </a:xfrm>
              <a:prstGeom prst="rect">
                <a:avLst/>
              </a:prstGeom>
              <a:blipFill>
                <a:blip r:embed="rId2"/>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zh-CN" altLang="en-US">
                    <a:noFill/>
                  </a:rPr>
                  <a:t> </a:t>
                </a:r>
              </a:p>
            </p:txBody>
          </p:sp>
        </mc:Fallback>
      </mc:AlternateContent>
      <p:sp>
        <p:nvSpPr>
          <p:cNvPr id="12" name="文本框 1">
            <a:extLst>
              <a:ext uri="{FF2B5EF4-FFF2-40B4-BE49-F238E27FC236}">
                <a16:creationId xmlns:a16="http://schemas.microsoft.com/office/drawing/2014/main" id="{7069A67F-3357-4A60-A5DF-1ACBA877739A}"/>
              </a:ext>
            </a:extLst>
          </p:cNvPr>
          <p:cNvSpPr txBox="1"/>
          <p:nvPr/>
        </p:nvSpPr>
        <p:spPr>
          <a:xfrm>
            <a:off x="251838" y="1902448"/>
            <a:ext cx="8569111" cy="369332"/>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solidFill>
                  <a:schemeClr val="accent2">
                    <a:lumMod val="75000"/>
                  </a:schemeClr>
                </a:solidFill>
                <a:latin typeface="华文新魏" panose="02010800040101010101" pitchFamily="2" charset="-122"/>
                <a:ea typeface="华文新魏" panose="02010800040101010101" pitchFamily="2" charset="-122"/>
              </a:rPr>
              <a:t>Automatic computer aided diagnosis system</a:t>
            </a:r>
            <a:r>
              <a:rPr lang="zh-CN" altLang="en-US" dirty="0">
                <a:solidFill>
                  <a:schemeClr val="accent2">
                    <a:lumMod val="75000"/>
                  </a:schemeClr>
                </a:solidFill>
                <a:latin typeface="华文新魏" panose="02010800040101010101" pitchFamily="2" charset="-122"/>
                <a:ea typeface="华文新魏" panose="02010800040101010101" pitchFamily="2" charset="-122"/>
              </a:rPr>
              <a:t> </a:t>
            </a:r>
            <a:r>
              <a:rPr lang="en-US" altLang="zh-CN" dirty="0">
                <a:solidFill>
                  <a:schemeClr val="accent2">
                    <a:lumMod val="75000"/>
                  </a:schemeClr>
                </a:solidFill>
                <a:latin typeface="华文新魏" panose="02010800040101010101" pitchFamily="2" charset="-122"/>
                <a:ea typeface="华文新魏" panose="02010800040101010101" pitchFamily="2" charset="-122"/>
              </a:rPr>
              <a:t>(</a:t>
            </a:r>
            <a:r>
              <a:rPr lang="zh-CN" altLang="en-US" dirty="0">
                <a:solidFill>
                  <a:schemeClr val="accent2">
                    <a:lumMod val="75000"/>
                  </a:schemeClr>
                </a:solidFill>
                <a:latin typeface="华文新魏" panose="02010800040101010101" pitchFamily="2" charset="-122"/>
                <a:ea typeface="华文新魏" panose="02010800040101010101" pitchFamily="2" charset="-122"/>
              </a:rPr>
              <a:t>计算机自动辅助诊断系统</a:t>
            </a:r>
            <a:r>
              <a:rPr lang="en-US" altLang="zh-CN" dirty="0">
                <a:solidFill>
                  <a:schemeClr val="accent2">
                    <a:lumMod val="75000"/>
                  </a:schemeClr>
                </a:solidFill>
                <a:latin typeface="华文新魏" panose="02010800040101010101" pitchFamily="2" charset="-122"/>
                <a:ea typeface="华文新魏" panose="02010800040101010101" pitchFamily="2" charset="-122"/>
              </a:rPr>
              <a:t>)</a:t>
            </a:r>
            <a:endParaRPr lang="zh-CN" altLang="en-US" dirty="0">
              <a:solidFill>
                <a:schemeClr val="accent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3" name="文本框 2">
                <a:extLst>
                  <a:ext uri="{FF2B5EF4-FFF2-40B4-BE49-F238E27FC236}">
                    <a16:creationId xmlns:a16="http://schemas.microsoft.com/office/drawing/2014/main" id="{D3779771-322F-41D4-8AAA-85D19B4060B8}"/>
                  </a:ext>
                </a:extLst>
              </p:cNvPr>
              <p:cNvSpPr txBox="1"/>
              <p:nvPr/>
            </p:nvSpPr>
            <p:spPr>
              <a:xfrm>
                <a:off x="995391" y="2372832"/>
                <a:ext cx="6853286"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Assume that </a:t>
                </a:r>
                <a14:m>
                  <m:oMath xmlns:m="http://schemas.openxmlformats.org/officeDocument/2006/math">
                    <m:r>
                      <a:rPr lang="en-US" altLang="zh-CN" b="0" i="1" smtClean="0">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𝑛</m:t>
                        </m:r>
                      </m:sub>
                    </m:sSub>
                    <m:r>
                      <a:rPr lang="en-US" altLang="zh-CN" b="0" i="1" smtClean="0">
                        <a:latin typeface="Cambria Math" panose="02040503050406030204" pitchFamily="18" charset="0"/>
                      </a:rPr>
                      <m:t>}</m:t>
                    </m:r>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are different kinds of “</a:t>
                </a:r>
                <a:r>
                  <a:rPr lang="en-US" altLang="zh-CN" b="1" dirty="0">
                    <a:solidFill>
                      <a:srgbClr val="C00000"/>
                    </a:solidFill>
                    <a:latin typeface="华文新魏" panose="02010800040101010101" pitchFamily="2" charset="-122"/>
                    <a:ea typeface="华文新魏" panose="02010800040101010101" pitchFamily="2" charset="-122"/>
                  </a:rPr>
                  <a:t>disease</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疾病</a:t>
                </a: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mc:Choice>
        <mc:Fallback xmlns="">
          <p:sp>
            <p:nvSpPr>
              <p:cNvPr id="13" name="文本框 2">
                <a:extLst>
                  <a:ext uri="{FF2B5EF4-FFF2-40B4-BE49-F238E27FC236}">
                    <a16:creationId xmlns:a16="http://schemas.microsoft.com/office/drawing/2014/main" id="{D3779771-322F-41D4-8AAA-85D19B4060B8}"/>
                  </a:ext>
                </a:extLst>
              </p:cNvPr>
              <p:cNvSpPr txBox="1">
                <a:spLocks noRot="1" noChangeAspect="1" noMove="1" noResize="1" noEditPoints="1" noAdjustHandles="1" noChangeArrowheads="1" noChangeShapeType="1" noTextEdit="1"/>
              </p:cNvSpPr>
              <p:nvPr/>
            </p:nvSpPr>
            <p:spPr>
              <a:xfrm>
                <a:off x="995391" y="2372832"/>
                <a:ext cx="6853286" cy="369332"/>
              </a:xfrm>
              <a:prstGeom prst="rect">
                <a:avLst/>
              </a:prstGeom>
              <a:blipFill>
                <a:blip r:embed="rId3"/>
                <a:stretch>
                  <a:fillRect l="-711" t="-6557" r="-89" b="-26230"/>
                </a:stretch>
              </a:blipFill>
            </p:spPr>
            <p:txBody>
              <a:bodyPr/>
              <a:lstStyle/>
              <a:p>
                <a:r>
                  <a:rPr lang="zh-CN" altLang="en-US">
                    <a:noFill/>
                  </a:rPr>
                  <a:t> </a:t>
                </a:r>
              </a:p>
            </p:txBody>
          </p:sp>
        </mc:Fallback>
      </mc:AlternateContent>
      <p:sp>
        <p:nvSpPr>
          <p:cNvPr id="14" name="文本框 3">
            <a:extLst>
              <a:ext uri="{FF2B5EF4-FFF2-40B4-BE49-F238E27FC236}">
                <a16:creationId xmlns:a16="http://schemas.microsoft.com/office/drawing/2014/main" id="{ED0E6003-BC4A-4512-B744-124DDF02329F}"/>
              </a:ext>
            </a:extLst>
          </p:cNvPr>
          <p:cNvSpPr txBox="1"/>
          <p:nvPr/>
        </p:nvSpPr>
        <p:spPr>
          <a:xfrm>
            <a:off x="995390" y="2785708"/>
            <a:ext cx="7070924"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Using statistical</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methods to confirm the </a:t>
            </a:r>
            <a:r>
              <a:rPr lang="en-US" altLang="zh-CN" dirty="0">
                <a:solidFill>
                  <a:srgbClr val="FF0000"/>
                </a:solidFill>
                <a:latin typeface="华文新魏" panose="02010800040101010101" pitchFamily="2" charset="-122"/>
                <a:ea typeface="华文新魏" panose="02010800040101010101" pitchFamily="2" charset="-122"/>
              </a:rPr>
              <a:t>prior probabilities (</a:t>
            </a:r>
            <a:r>
              <a:rPr lang="zh-CN" altLang="en-US" dirty="0">
                <a:solidFill>
                  <a:srgbClr val="FF0000"/>
                </a:solidFill>
                <a:latin typeface="华文新魏" panose="02010800040101010101" pitchFamily="2" charset="-122"/>
                <a:ea typeface="华文新魏" panose="02010800040101010101" pitchFamily="2" charset="-122"/>
              </a:rPr>
              <a:t>先验概率</a:t>
            </a:r>
            <a:r>
              <a:rPr lang="en-US" altLang="zh-CN" dirty="0">
                <a:solidFill>
                  <a:srgbClr val="FF0000"/>
                </a:solidFill>
                <a:latin typeface="华文新魏" panose="02010800040101010101" pitchFamily="2" charset="-122"/>
                <a:ea typeface="华文新魏" panose="02010800040101010101" pitchFamily="2" charset="-122"/>
              </a:rPr>
              <a:t>):</a:t>
            </a:r>
            <a:endParaRPr lang="zh-CN" altLang="en-US" dirty="0">
              <a:solidFill>
                <a:srgbClr val="FF0000"/>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5" name="文本框 4">
                <a:extLst>
                  <a:ext uri="{FF2B5EF4-FFF2-40B4-BE49-F238E27FC236}">
                    <a16:creationId xmlns:a16="http://schemas.microsoft.com/office/drawing/2014/main" id="{F672066A-3BB9-4885-9D78-EEEF29A07F82}"/>
                  </a:ext>
                </a:extLst>
              </p:cNvPr>
              <p:cNvSpPr txBox="1"/>
              <p:nvPr/>
            </p:nvSpPr>
            <p:spPr>
              <a:xfrm>
                <a:off x="3368797" y="3155040"/>
                <a:ext cx="21207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latin typeface="华文新魏" panose="02010800040101010101" pitchFamily="2" charset="-122"/>
                  <a:ea typeface="华文新魏" panose="02010800040101010101" pitchFamily="2" charset="-122"/>
                </a:endParaRPr>
              </a:p>
            </p:txBody>
          </p:sp>
        </mc:Choice>
        <mc:Fallback xmlns="">
          <p:sp>
            <p:nvSpPr>
              <p:cNvPr id="15" name="文本框 4">
                <a:extLst>
                  <a:ext uri="{FF2B5EF4-FFF2-40B4-BE49-F238E27FC236}">
                    <a16:creationId xmlns:a16="http://schemas.microsoft.com/office/drawing/2014/main" id="{F672066A-3BB9-4885-9D78-EEEF29A07F82}"/>
                  </a:ext>
                </a:extLst>
              </p:cNvPr>
              <p:cNvSpPr txBox="1">
                <a:spLocks noRot="1" noChangeAspect="1" noMove="1" noResize="1" noEditPoints="1" noAdjustHandles="1" noChangeArrowheads="1" noChangeShapeType="1" noTextEdit="1"/>
              </p:cNvSpPr>
              <p:nvPr/>
            </p:nvSpPr>
            <p:spPr>
              <a:xfrm>
                <a:off x="3368797" y="3155040"/>
                <a:ext cx="2120709" cy="276999"/>
              </a:xfrm>
              <a:prstGeom prst="rect">
                <a:avLst/>
              </a:prstGeom>
              <a:blipFill>
                <a:blip r:embed="rId4"/>
                <a:stretch>
                  <a:fillRect l="-2299" t="-4444" r="-3736" b="-35556"/>
                </a:stretch>
              </a:blipFill>
            </p:spPr>
            <p:txBody>
              <a:bodyPr/>
              <a:lstStyle/>
              <a:p>
                <a:r>
                  <a:rPr lang="zh-CN" altLang="en-US">
                    <a:noFill/>
                  </a:rPr>
                  <a:t> </a:t>
                </a:r>
              </a:p>
            </p:txBody>
          </p:sp>
        </mc:Fallback>
      </mc:AlternateContent>
      <p:sp>
        <p:nvSpPr>
          <p:cNvPr id="16" name="文本框 24">
            <a:extLst>
              <a:ext uri="{FF2B5EF4-FFF2-40B4-BE49-F238E27FC236}">
                <a16:creationId xmlns:a16="http://schemas.microsoft.com/office/drawing/2014/main" id="{FB8DD3DD-B6E3-47E5-99EF-6CE187A01C13}"/>
              </a:ext>
            </a:extLst>
          </p:cNvPr>
          <p:cNvSpPr txBox="1"/>
          <p:nvPr/>
        </p:nvSpPr>
        <p:spPr>
          <a:xfrm>
            <a:off x="995391" y="3493611"/>
            <a:ext cx="6173485"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Using medical knowledge to find out the </a:t>
            </a:r>
            <a:r>
              <a:rPr lang="en-US" altLang="zh-CN" b="1" dirty="0">
                <a:solidFill>
                  <a:srgbClr val="C00000"/>
                </a:solidFill>
                <a:latin typeface="华文新魏" panose="02010800040101010101" pitchFamily="2" charset="-122"/>
                <a:ea typeface="华文新魏" panose="02010800040101010101" pitchFamily="2" charset="-122"/>
              </a:rPr>
              <a:t>cause</a:t>
            </a:r>
            <a:r>
              <a:rPr lang="en-US" altLang="zh-CN" b="1"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probabilities:</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7" name="文本框 5">
                <a:extLst>
                  <a:ext uri="{FF2B5EF4-FFF2-40B4-BE49-F238E27FC236}">
                    <a16:creationId xmlns:a16="http://schemas.microsoft.com/office/drawing/2014/main" id="{476BCEB5-9CEE-4797-BB21-5FD9693431F2}"/>
                  </a:ext>
                </a:extLst>
              </p:cNvPr>
              <p:cNvSpPr txBox="1"/>
              <p:nvPr/>
            </p:nvSpPr>
            <p:spPr>
              <a:xfrm>
                <a:off x="3323112" y="3903470"/>
                <a:ext cx="23467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𝑨</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latin typeface="华文新魏" panose="02010800040101010101" pitchFamily="2" charset="-122"/>
                  <a:ea typeface="华文新魏" panose="02010800040101010101" pitchFamily="2" charset="-122"/>
                </a:endParaRPr>
              </a:p>
            </p:txBody>
          </p:sp>
        </mc:Choice>
        <mc:Fallback xmlns="">
          <p:sp>
            <p:nvSpPr>
              <p:cNvPr id="17" name="文本框 5">
                <a:extLst>
                  <a:ext uri="{FF2B5EF4-FFF2-40B4-BE49-F238E27FC236}">
                    <a16:creationId xmlns:a16="http://schemas.microsoft.com/office/drawing/2014/main" id="{476BCEB5-9CEE-4797-BB21-5FD9693431F2}"/>
                  </a:ext>
                </a:extLst>
              </p:cNvPr>
              <p:cNvSpPr txBox="1">
                <a:spLocks noRot="1" noChangeAspect="1" noMove="1" noResize="1" noEditPoints="1" noAdjustHandles="1" noChangeArrowheads="1" noChangeShapeType="1" noTextEdit="1"/>
              </p:cNvSpPr>
              <p:nvPr/>
            </p:nvSpPr>
            <p:spPr>
              <a:xfrm>
                <a:off x="3323112" y="3903470"/>
                <a:ext cx="2346733" cy="276999"/>
              </a:xfrm>
              <a:prstGeom prst="rect">
                <a:avLst/>
              </a:prstGeom>
              <a:blipFill>
                <a:blip r:embed="rId5"/>
                <a:stretch>
                  <a:fillRect l="-1818" t="-2174" r="-3377" b="-32609"/>
                </a:stretch>
              </a:blipFill>
            </p:spPr>
            <p:txBody>
              <a:bodyPr/>
              <a:lstStyle/>
              <a:p>
                <a:r>
                  <a:rPr lang="zh-CN" altLang="en-US">
                    <a:noFill/>
                  </a:rPr>
                  <a:t> </a:t>
                </a:r>
              </a:p>
            </p:txBody>
          </p:sp>
        </mc:Fallback>
      </mc:AlternateContent>
      <p:sp>
        <p:nvSpPr>
          <p:cNvPr id="18" name="文本框 6">
            <a:extLst>
              <a:ext uri="{FF2B5EF4-FFF2-40B4-BE49-F238E27FC236}">
                <a16:creationId xmlns:a16="http://schemas.microsoft.com/office/drawing/2014/main" id="{38E7A658-CDF1-4585-972B-3E01CF3399F0}"/>
              </a:ext>
            </a:extLst>
          </p:cNvPr>
          <p:cNvSpPr txBox="1"/>
          <p:nvPr/>
        </p:nvSpPr>
        <p:spPr>
          <a:xfrm>
            <a:off x="995390" y="4318968"/>
            <a:ext cx="7206840"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Identify some symptom A</a:t>
            </a:r>
            <a:r>
              <a:rPr lang="zh-CN" altLang="en-US" dirty="0">
                <a:solidFill>
                  <a:schemeClr val="accent1">
                    <a:lumMod val="75000"/>
                  </a:schemeClr>
                </a:solidFill>
                <a:latin typeface="华文新魏" panose="02010800040101010101" pitchFamily="2" charset="-122"/>
                <a:ea typeface="华文新魏" panose="02010800040101010101" pitchFamily="2" charset="-122"/>
              </a:rPr>
              <a:t>（症状</a:t>
            </a:r>
            <a:r>
              <a:rPr lang="en-US" altLang="zh-CN" dirty="0">
                <a:solidFill>
                  <a:schemeClr val="accent1">
                    <a:lumMod val="75000"/>
                  </a:schemeClr>
                </a:solidFill>
                <a:latin typeface="华文新魏" panose="02010800040101010101" pitchFamily="2" charset="-122"/>
                <a:ea typeface="华文新魏" panose="02010800040101010101" pitchFamily="2" charset="-122"/>
              </a:rPr>
              <a:t>A </a:t>
            </a:r>
            <a:r>
              <a:rPr lang="zh-CN" altLang="en-US" dirty="0">
                <a:solidFill>
                  <a:schemeClr val="accent1">
                    <a:lumMod val="75000"/>
                  </a:schemeClr>
                </a:solidFill>
                <a:latin typeface="华文新魏" panose="02010800040101010101" pitchFamily="2" charset="-122"/>
                <a:ea typeface="华文新魏" panose="02010800040101010101" pitchFamily="2" charset="-122"/>
              </a:rPr>
              <a:t>）</a:t>
            </a:r>
            <a:r>
              <a:rPr lang="en-US" altLang="zh-CN" dirty="0">
                <a:solidFill>
                  <a:schemeClr val="accent1">
                    <a:lumMod val="75000"/>
                  </a:schemeClr>
                </a:solidFill>
                <a:latin typeface="华文新魏" panose="02010800040101010101" pitchFamily="2" charset="-122"/>
                <a:ea typeface="华文新魏" panose="02010800040101010101" pitchFamily="2" charset="-122"/>
              </a:rPr>
              <a:t>, such as body temperature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温度</a:t>
            </a:r>
            <a:r>
              <a:rPr lang="en-US" altLang="zh-CN" dirty="0">
                <a:solidFill>
                  <a:schemeClr val="accent1">
                    <a:lumMod val="75000"/>
                  </a:schemeClr>
                </a:solidFill>
                <a:latin typeface="华文新魏" panose="02010800040101010101" pitchFamily="2" charset="-122"/>
                <a:ea typeface="华文新魏" panose="02010800040101010101" pitchFamily="2" charset="-122"/>
              </a:rPr>
              <a:t>), pulse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脉搏</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etc., by taking</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observation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from the patient.</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9" name="文本框 7">
                <a:extLst>
                  <a:ext uri="{FF2B5EF4-FFF2-40B4-BE49-F238E27FC236}">
                    <a16:creationId xmlns:a16="http://schemas.microsoft.com/office/drawing/2014/main" id="{2B23839F-997E-46B9-985E-8F589FAC6F34}"/>
                  </a:ext>
                </a:extLst>
              </p:cNvPr>
              <p:cNvSpPr txBox="1"/>
              <p:nvPr/>
            </p:nvSpPr>
            <p:spPr>
              <a:xfrm>
                <a:off x="995390" y="5103798"/>
                <a:ext cx="7627317"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By Bayes' rule, the </a:t>
                </a:r>
                <a:r>
                  <a:rPr lang="en-US" altLang="zh-CN" dirty="0">
                    <a:solidFill>
                      <a:srgbClr val="FF0000"/>
                    </a:solidFill>
                    <a:latin typeface="华文新魏" panose="02010800040101010101" pitchFamily="2" charset="-122"/>
                    <a:ea typeface="华文新魏" panose="02010800040101010101" pitchFamily="2" charset="-122"/>
                  </a:rPr>
                  <a:t>Posterior probability</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后验概率</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can be calculated </a:t>
                </a:r>
              </a:p>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𝑷</m:t>
                      </m:r>
                      <m:r>
                        <a:rPr lang="en-US" altLang="zh-CN" b="1" i="1" smtClean="0">
                          <a:solidFill>
                            <a:srgbClr val="FF0000"/>
                          </a:solidFill>
                          <a:latin typeface="Cambria Math" panose="02040503050406030204" pitchFamily="18" charset="0"/>
                        </a:rPr>
                        <m:t>(</m:t>
                      </m:r>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𝑩</m:t>
                          </m:r>
                        </m:e>
                        <m:sub>
                          <m:r>
                            <a:rPr lang="en-US" altLang="zh-CN" b="1" i="1" smtClean="0">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𝑨</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𝒏</m:t>
                      </m:r>
                      <m:r>
                        <a:rPr lang="en-US" altLang="zh-CN" b="1" i="1" smtClean="0">
                          <a:solidFill>
                            <a:srgbClr val="FF0000"/>
                          </a:solidFill>
                          <a:latin typeface="Cambria Math" panose="02040503050406030204" pitchFamily="18" charset="0"/>
                        </a:rPr>
                        <m:t>)</m:t>
                      </m:r>
                    </m:oMath>
                  </m:oMathPara>
                </a14:m>
                <a:endParaRPr lang="zh-CN" altLang="en-US" b="1" dirty="0">
                  <a:solidFill>
                    <a:srgbClr val="FF0000"/>
                  </a:solidFill>
                  <a:latin typeface="华文新魏" panose="02010800040101010101" pitchFamily="2" charset="-122"/>
                  <a:ea typeface="华文新魏" panose="02010800040101010101" pitchFamily="2" charset="-122"/>
                </a:endParaRPr>
              </a:p>
            </p:txBody>
          </p:sp>
        </mc:Choice>
        <mc:Fallback xmlns="">
          <p:sp>
            <p:nvSpPr>
              <p:cNvPr id="19" name="文本框 7">
                <a:extLst>
                  <a:ext uri="{FF2B5EF4-FFF2-40B4-BE49-F238E27FC236}">
                    <a16:creationId xmlns:a16="http://schemas.microsoft.com/office/drawing/2014/main" id="{2B23839F-997E-46B9-985E-8F589FAC6F34}"/>
                  </a:ext>
                </a:extLst>
              </p:cNvPr>
              <p:cNvSpPr txBox="1">
                <a:spLocks noRot="1" noChangeAspect="1" noMove="1" noResize="1" noEditPoints="1" noAdjustHandles="1" noChangeArrowheads="1" noChangeShapeType="1" noTextEdit="1"/>
              </p:cNvSpPr>
              <p:nvPr/>
            </p:nvSpPr>
            <p:spPr>
              <a:xfrm>
                <a:off x="995390" y="5103798"/>
                <a:ext cx="7627317" cy="646331"/>
              </a:xfrm>
              <a:prstGeom prst="rect">
                <a:avLst/>
              </a:prstGeom>
              <a:blipFill>
                <a:blip r:embed="rId11"/>
                <a:stretch>
                  <a:fillRect l="-639" t="-3774" b="-7547"/>
                </a:stretch>
              </a:blipFill>
            </p:spPr>
            <p:txBody>
              <a:bodyPr/>
              <a:lstStyle/>
              <a:p>
                <a:r>
                  <a:rPr lang="zh-CN" altLang="en-US">
                    <a:noFill/>
                  </a:rPr>
                  <a:t> </a:t>
                </a:r>
              </a:p>
            </p:txBody>
          </p:sp>
        </mc:Fallback>
      </mc:AlternateContent>
      <p:sp>
        <p:nvSpPr>
          <p:cNvPr id="20" name="文本框 8">
            <a:extLst>
              <a:ext uri="{FF2B5EF4-FFF2-40B4-BE49-F238E27FC236}">
                <a16:creationId xmlns:a16="http://schemas.microsoft.com/office/drawing/2014/main" id="{5BAB7FF9-2FF8-466E-95E6-25B47EA2F23B}"/>
              </a:ext>
            </a:extLst>
          </p:cNvPr>
          <p:cNvSpPr txBox="1"/>
          <p:nvPr/>
        </p:nvSpPr>
        <p:spPr>
          <a:xfrm>
            <a:off x="995390" y="5924846"/>
            <a:ext cx="7436163"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For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diseases</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with</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higher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posterior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probabilities,</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doctors can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provide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further diagnosis.</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504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798D4AC-1149-4F94-BD1C-3A0BA1BDF3DA}"/>
              </a:ext>
            </a:extLst>
          </p:cNvPr>
          <p:cNvSpPr txBox="1"/>
          <p:nvPr/>
        </p:nvSpPr>
        <p:spPr>
          <a:xfrm>
            <a:off x="879273" y="286823"/>
            <a:ext cx="7439074" cy="523220"/>
          </a:xfrm>
          <a:prstGeom prst="rect">
            <a:avLst/>
          </a:prstGeom>
          <a:noFill/>
        </p:spPr>
        <p:txBody>
          <a:bodyPr wrap="square" rtlCol="0">
            <a:spAutoFit/>
          </a:bodyPr>
          <a:lstStyle/>
          <a:p>
            <a:r>
              <a:rPr lang="en-US" altLang="zh-CN" sz="2800" dirty="0">
                <a:solidFill>
                  <a:schemeClr val="accent1">
                    <a:lumMod val="75000"/>
                  </a:schemeClr>
                </a:solidFill>
                <a:latin typeface="华文新魏" panose="02010800040101010101" pitchFamily="2" charset="-122"/>
                <a:ea typeface="华文新魏" panose="02010800040101010101" pitchFamily="2" charset="-122"/>
              </a:rPr>
              <a:t>Application of Bayes' Rule</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 </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r>
              <a:rPr lang="zh-CN" altLang="en-US" sz="2800" dirty="0">
                <a:solidFill>
                  <a:schemeClr val="accent1">
                    <a:lumMod val="75000"/>
                  </a:schemeClr>
                </a:solidFill>
                <a:latin typeface="华文新魏" panose="02010800040101010101" pitchFamily="2" charset="-122"/>
                <a:ea typeface="华文新魏" panose="02010800040101010101" pitchFamily="2" charset="-122"/>
              </a:rPr>
              <a:t>贝叶斯公式的应用</a:t>
            </a:r>
            <a:r>
              <a:rPr lang="en-US" altLang="zh-CN" sz="2800" dirty="0">
                <a:solidFill>
                  <a:schemeClr val="accent1">
                    <a:lumMod val="75000"/>
                  </a:schemeClr>
                </a:solidFill>
                <a:latin typeface="华文新魏" panose="02010800040101010101" pitchFamily="2" charset="-122"/>
                <a:ea typeface="华文新魏" panose="02010800040101010101" pitchFamily="2" charset="-122"/>
              </a:rPr>
              <a:t>)</a:t>
            </a:r>
            <a:endParaRPr lang="zh-CN" altLang="en-US" sz="2800"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1" name="Rectangle 74">
                <a:extLst>
                  <a:ext uri="{FF2B5EF4-FFF2-40B4-BE49-F238E27FC236}">
                    <a16:creationId xmlns:a16="http://schemas.microsoft.com/office/drawing/2014/main" id="{59C037F2-2DDA-4D31-8902-14D381B651C5}"/>
                  </a:ext>
                </a:extLst>
              </p:cNvPr>
              <p:cNvSpPr>
                <a:spLocks noChangeArrowheads="1"/>
              </p:cNvSpPr>
              <p:nvPr/>
            </p:nvSpPr>
            <p:spPr bwMode="auto">
              <a:xfrm>
                <a:off x="3038008" y="941059"/>
                <a:ext cx="2782285" cy="665478"/>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e>
                          <m:r>
                            <a:rPr lang="en-US" altLang="zh-CN" sz="1600" b="1" i="1" smtClean="0">
                              <a:solidFill>
                                <a:srgbClr val="C00000"/>
                              </a:solidFill>
                              <a:latin typeface="Cambria Math" panose="02040503050406030204" pitchFamily="18" charset="0"/>
                            </a:rPr>
                            <m:t>𝑨</m:t>
                          </m:r>
                        </m:e>
                      </m:d>
                      <m:r>
                        <a:rPr lang="en-US" altLang="zh-CN" sz="1600" b="1" i="1" smtClean="0">
                          <a:solidFill>
                            <a:srgbClr val="C00000"/>
                          </a:solidFill>
                          <a:latin typeface="Cambria Math" panose="02040503050406030204" pitchFamily="18" charset="0"/>
                        </a:rPr>
                        <m:t>=</m:t>
                      </m:r>
                      <m:f>
                        <m:fPr>
                          <m:ctrlPr>
                            <a:rPr lang="en-US" altLang="zh-CN" sz="1600" b="1" i="1" smtClean="0">
                              <a:solidFill>
                                <a:srgbClr val="C00000"/>
                              </a:solidFill>
                              <a:latin typeface="Cambria Math" panose="02040503050406030204" pitchFamily="18" charset="0"/>
                            </a:rPr>
                          </m:ctrlPr>
                        </m:fPr>
                        <m:num>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𝒊</m:t>
                              </m:r>
                            </m:sub>
                          </m:sSub>
                          <m:r>
                            <a:rPr lang="en-US" altLang="zh-CN" sz="1600" b="1" i="1" smtClean="0">
                              <a:solidFill>
                                <a:srgbClr val="C00000"/>
                              </a:solidFill>
                              <a:latin typeface="Cambria Math" panose="02040503050406030204" pitchFamily="18" charset="0"/>
                            </a:rPr>
                            <m:t>)</m:t>
                          </m:r>
                        </m:num>
                        <m:den>
                          <m:nary>
                            <m:naryPr>
                              <m:chr m:val="∑"/>
                              <m:ctrlPr>
                                <a:rPr lang="en-US" altLang="zh-CN" sz="1600" b="1" i="1" smtClean="0">
                                  <a:solidFill>
                                    <a:srgbClr val="C00000"/>
                                  </a:solidFill>
                                  <a:latin typeface="Cambria Math" panose="02040503050406030204" pitchFamily="18" charset="0"/>
                                </a:rPr>
                              </m:ctrlPr>
                            </m:naryPr>
                            <m:sub>
                              <m:r>
                                <m:rPr>
                                  <m:brk m:alnAt="23"/>
                                </m:rPr>
                                <a:rPr lang="en-US" altLang="zh-CN" sz="1600" b="1" i="1" smtClean="0">
                                  <a:solidFill>
                                    <a:srgbClr val="C00000"/>
                                  </a:solidFill>
                                  <a:latin typeface="Cambria Math" panose="02040503050406030204" pitchFamily="18" charset="0"/>
                                </a:rPr>
                                <m:t>𝒋</m:t>
                              </m:r>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𝟏</m:t>
                              </m:r>
                            </m:sub>
                            <m:sup>
                              <m:r>
                                <a:rPr lang="en-US" altLang="zh-CN" sz="1600" b="1" i="1" smtClean="0">
                                  <a:solidFill>
                                    <a:srgbClr val="C00000"/>
                                  </a:solidFill>
                                  <a:latin typeface="Cambria Math" panose="02040503050406030204" pitchFamily="18" charset="0"/>
                                </a:rPr>
                                <m:t>𝒏</m:t>
                              </m:r>
                            </m:sup>
                            <m:e>
                              <m:r>
                                <a:rPr lang="en-US" altLang="zh-CN" sz="1600" b="1" i="1" smtClean="0">
                                  <a:solidFill>
                                    <a:srgbClr val="C00000"/>
                                  </a:solidFill>
                                  <a:latin typeface="Cambria Math" panose="02040503050406030204" pitchFamily="18" charset="0"/>
                                </a:rPr>
                                <m:t>𝑷</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𝑨</m:t>
                                  </m:r>
                                </m:e>
                                <m:e>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e>
                              </m:d>
                              <m:r>
                                <a:rPr lang="en-US" altLang="zh-CN" sz="1600" b="1" i="1" smtClean="0">
                                  <a:solidFill>
                                    <a:srgbClr val="C00000"/>
                                  </a:solidFill>
                                  <a:latin typeface="Cambria Math" panose="02040503050406030204" pitchFamily="18" charset="0"/>
                                </a:rPr>
                                <m:t>𝑷</m:t>
                              </m:r>
                              <m:r>
                                <a:rPr lang="en-US" altLang="zh-CN" sz="1600" b="1" i="1" smtClean="0">
                                  <a:solidFill>
                                    <a:srgbClr val="C00000"/>
                                  </a:solidFill>
                                  <a:latin typeface="Cambria Math" panose="02040503050406030204" pitchFamily="18" charset="0"/>
                                </a:rPr>
                                <m:t>(</m:t>
                              </m:r>
                              <m:sSub>
                                <m:sSubPr>
                                  <m:ctrlPr>
                                    <a:rPr lang="en-US" altLang="zh-CN" sz="1600" b="1" i="1" smtClean="0">
                                      <a:solidFill>
                                        <a:srgbClr val="C00000"/>
                                      </a:solidFill>
                                      <a:latin typeface="Cambria Math" panose="02040503050406030204" pitchFamily="18" charset="0"/>
                                    </a:rPr>
                                  </m:ctrlPr>
                                </m:sSubPr>
                                <m:e>
                                  <m:r>
                                    <a:rPr lang="en-US" altLang="zh-CN" sz="1600" b="1" i="1" smtClean="0">
                                      <a:solidFill>
                                        <a:srgbClr val="C00000"/>
                                      </a:solidFill>
                                      <a:latin typeface="Cambria Math" panose="02040503050406030204" pitchFamily="18" charset="0"/>
                                    </a:rPr>
                                    <m:t>𝑩</m:t>
                                  </m:r>
                                </m:e>
                                <m:sub>
                                  <m:r>
                                    <a:rPr lang="en-US" altLang="zh-CN" sz="1600" b="1" i="1" smtClean="0">
                                      <a:solidFill>
                                        <a:srgbClr val="C00000"/>
                                      </a:solidFill>
                                      <a:latin typeface="Cambria Math" panose="02040503050406030204" pitchFamily="18" charset="0"/>
                                    </a:rPr>
                                    <m:t>𝒋</m:t>
                                  </m:r>
                                </m:sub>
                              </m:sSub>
                              <m:r>
                                <a:rPr lang="en-US" altLang="zh-CN" sz="1600" b="1" i="1" smtClean="0">
                                  <a:solidFill>
                                    <a:srgbClr val="C00000"/>
                                  </a:solidFill>
                                  <a:latin typeface="Cambria Math" panose="02040503050406030204" pitchFamily="18" charset="0"/>
                                </a:rPr>
                                <m:t>)</m:t>
                              </m:r>
                            </m:e>
                          </m:nary>
                        </m:den>
                      </m:f>
                    </m:oMath>
                  </m:oMathPara>
                </a14:m>
                <a:endParaRPr lang="en-US" altLang="zh-CN" sz="1600" b="1" dirty="0">
                  <a:solidFill>
                    <a:srgbClr val="C00000"/>
                  </a:solidFill>
                </a:endParaRPr>
              </a:p>
            </p:txBody>
          </p:sp>
        </mc:Choice>
        <mc:Fallback xmlns="">
          <p:sp>
            <p:nvSpPr>
              <p:cNvPr id="11" name="Rectangle 74">
                <a:extLst>
                  <a:ext uri="{FF2B5EF4-FFF2-40B4-BE49-F238E27FC236}">
                    <a16:creationId xmlns:a16="http://schemas.microsoft.com/office/drawing/2014/main" id="{59C037F2-2DDA-4D31-8902-14D381B651C5}"/>
                  </a:ext>
                </a:extLst>
              </p:cNvPr>
              <p:cNvSpPr>
                <a:spLocks noRot="1" noChangeAspect="1" noMove="1" noResize="1" noEditPoints="1" noAdjustHandles="1" noChangeArrowheads="1" noChangeShapeType="1" noTextEdit="1"/>
              </p:cNvSpPr>
              <p:nvPr/>
            </p:nvSpPr>
            <p:spPr bwMode="auto">
              <a:xfrm>
                <a:off x="3038008" y="941059"/>
                <a:ext cx="2782285" cy="665478"/>
              </a:xfrm>
              <a:prstGeom prst="rect">
                <a:avLst/>
              </a:prstGeom>
              <a:blipFill>
                <a:blip r:embed="rId2"/>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zh-CN" altLang="en-US">
                    <a:noFill/>
                  </a:rPr>
                  <a:t> </a:t>
                </a:r>
              </a:p>
            </p:txBody>
          </p:sp>
        </mc:Fallback>
      </mc:AlternateContent>
      <p:sp>
        <p:nvSpPr>
          <p:cNvPr id="12" name="文本框 1">
            <a:extLst>
              <a:ext uri="{FF2B5EF4-FFF2-40B4-BE49-F238E27FC236}">
                <a16:creationId xmlns:a16="http://schemas.microsoft.com/office/drawing/2014/main" id="{7069A67F-3357-4A60-A5DF-1ACBA877739A}"/>
              </a:ext>
            </a:extLst>
          </p:cNvPr>
          <p:cNvSpPr txBox="1"/>
          <p:nvPr/>
        </p:nvSpPr>
        <p:spPr>
          <a:xfrm>
            <a:off x="251838" y="1902448"/>
            <a:ext cx="8569111" cy="369332"/>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solidFill>
                  <a:schemeClr val="accent2">
                    <a:lumMod val="75000"/>
                  </a:schemeClr>
                </a:solidFill>
                <a:latin typeface="华文新魏" panose="02010800040101010101" pitchFamily="2" charset="-122"/>
                <a:ea typeface="华文新魏" panose="02010800040101010101" pitchFamily="2" charset="-122"/>
              </a:rPr>
              <a:t>Automatic computer aided diagnosis system</a:t>
            </a:r>
            <a:r>
              <a:rPr lang="zh-CN" altLang="en-US" dirty="0">
                <a:solidFill>
                  <a:schemeClr val="accent2">
                    <a:lumMod val="75000"/>
                  </a:schemeClr>
                </a:solidFill>
                <a:latin typeface="华文新魏" panose="02010800040101010101" pitchFamily="2" charset="-122"/>
                <a:ea typeface="华文新魏" panose="02010800040101010101" pitchFamily="2" charset="-122"/>
              </a:rPr>
              <a:t> </a:t>
            </a:r>
            <a:r>
              <a:rPr lang="en-US" altLang="zh-CN" dirty="0">
                <a:solidFill>
                  <a:schemeClr val="accent2">
                    <a:lumMod val="75000"/>
                  </a:schemeClr>
                </a:solidFill>
                <a:latin typeface="华文新魏" panose="02010800040101010101" pitchFamily="2" charset="-122"/>
                <a:ea typeface="华文新魏" panose="02010800040101010101" pitchFamily="2" charset="-122"/>
              </a:rPr>
              <a:t>(</a:t>
            </a:r>
            <a:r>
              <a:rPr lang="zh-CN" altLang="en-US" dirty="0">
                <a:solidFill>
                  <a:schemeClr val="accent2">
                    <a:lumMod val="75000"/>
                  </a:schemeClr>
                </a:solidFill>
                <a:latin typeface="华文新魏" panose="02010800040101010101" pitchFamily="2" charset="-122"/>
                <a:ea typeface="华文新魏" panose="02010800040101010101" pitchFamily="2" charset="-122"/>
              </a:rPr>
              <a:t>计算机自动辅助诊断系统</a:t>
            </a:r>
            <a:r>
              <a:rPr lang="en-US" altLang="zh-CN" dirty="0">
                <a:solidFill>
                  <a:schemeClr val="accent2">
                    <a:lumMod val="75000"/>
                  </a:schemeClr>
                </a:solidFill>
                <a:latin typeface="华文新魏" panose="02010800040101010101" pitchFamily="2" charset="-122"/>
                <a:ea typeface="华文新魏" panose="02010800040101010101" pitchFamily="2" charset="-122"/>
              </a:rPr>
              <a:t>)</a:t>
            </a:r>
            <a:endParaRPr lang="zh-CN" altLang="en-US" dirty="0">
              <a:solidFill>
                <a:schemeClr val="accent2">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3" name="文本框 2">
                <a:extLst>
                  <a:ext uri="{FF2B5EF4-FFF2-40B4-BE49-F238E27FC236}">
                    <a16:creationId xmlns:a16="http://schemas.microsoft.com/office/drawing/2014/main" id="{D3779771-322F-41D4-8AAA-85D19B4060B8}"/>
                  </a:ext>
                </a:extLst>
              </p:cNvPr>
              <p:cNvSpPr txBox="1"/>
              <p:nvPr/>
            </p:nvSpPr>
            <p:spPr>
              <a:xfrm>
                <a:off x="995391" y="2372832"/>
                <a:ext cx="6853286"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Assume that </a:t>
                </a:r>
                <a14:m>
                  <m:oMath xmlns:m="http://schemas.openxmlformats.org/officeDocument/2006/math">
                    <m:r>
                      <a:rPr lang="en-US" altLang="zh-CN" b="0" i="1" smtClean="0">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𝐵</m:t>
                        </m:r>
                      </m:e>
                      <m:sub>
                        <m:r>
                          <a:rPr lang="en-US" altLang="zh-CN" b="0" i="1" smtClean="0">
                            <a:solidFill>
                              <a:schemeClr val="tx1"/>
                            </a:solidFill>
                            <a:latin typeface="Cambria Math" panose="02040503050406030204" pitchFamily="18" charset="0"/>
                          </a:rPr>
                          <m:t>𝑛</m:t>
                        </m:r>
                      </m:sub>
                    </m:sSub>
                    <m:r>
                      <a:rPr lang="en-US" altLang="zh-CN" b="0" i="1" smtClean="0">
                        <a:latin typeface="Cambria Math" panose="02040503050406030204" pitchFamily="18" charset="0"/>
                      </a:rPr>
                      <m:t>}</m:t>
                    </m:r>
                  </m:oMath>
                </a14:m>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are different kinds of “</a:t>
                </a:r>
                <a:r>
                  <a:rPr lang="en-US" altLang="zh-CN" b="1" dirty="0">
                    <a:solidFill>
                      <a:srgbClr val="C00000"/>
                    </a:solidFill>
                    <a:latin typeface="华文新魏" panose="02010800040101010101" pitchFamily="2" charset="-122"/>
                    <a:ea typeface="华文新魏" panose="02010800040101010101" pitchFamily="2" charset="-122"/>
                  </a:rPr>
                  <a:t>disease</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疾病</a:t>
                </a:r>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mc:Choice>
        <mc:Fallback xmlns="">
          <p:sp>
            <p:nvSpPr>
              <p:cNvPr id="13" name="文本框 2">
                <a:extLst>
                  <a:ext uri="{FF2B5EF4-FFF2-40B4-BE49-F238E27FC236}">
                    <a16:creationId xmlns:a16="http://schemas.microsoft.com/office/drawing/2014/main" id="{D3779771-322F-41D4-8AAA-85D19B4060B8}"/>
                  </a:ext>
                </a:extLst>
              </p:cNvPr>
              <p:cNvSpPr txBox="1">
                <a:spLocks noRot="1" noChangeAspect="1" noMove="1" noResize="1" noEditPoints="1" noAdjustHandles="1" noChangeArrowheads="1" noChangeShapeType="1" noTextEdit="1"/>
              </p:cNvSpPr>
              <p:nvPr/>
            </p:nvSpPr>
            <p:spPr>
              <a:xfrm>
                <a:off x="995391" y="2372832"/>
                <a:ext cx="6853286" cy="369332"/>
              </a:xfrm>
              <a:prstGeom prst="rect">
                <a:avLst/>
              </a:prstGeom>
              <a:blipFill>
                <a:blip r:embed="rId3"/>
                <a:stretch>
                  <a:fillRect l="-711" t="-6557" r="-89" b="-26230"/>
                </a:stretch>
              </a:blipFill>
            </p:spPr>
            <p:txBody>
              <a:bodyPr/>
              <a:lstStyle/>
              <a:p>
                <a:r>
                  <a:rPr lang="zh-CN" altLang="en-US">
                    <a:noFill/>
                  </a:rPr>
                  <a:t> </a:t>
                </a:r>
              </a:p>
            </p:txBody>
          </p:sp>
        </mc:Fallback>
      </mc:AlternateContent>
      <p:sp>
        <p:nvSpPr>
          <p:cNvPr id="14" name="文本框 3">
            <a:extLst>
              <a:ext uri="{FF2B5EF4-FFF2-40B4-BE49-F238E27FC236}">
                <a16:creationId xmlns:a16="http://schemas.microsoft.com/office/drawing/2014/main" id="{ED0E6003-BC4A-4512-B744-124DDF02329F}"/>
              </a:ext>
            </a:extLst>
          </p:cNvPr>
          <p:cNvSpPr txBox="1"/>
          <p:nvPr/>
        </p:nvSpPr>
        <p:spPr>
          <a:xfrm>
            <a:off x="995390" y="2785708"/>
            <a:ext cx="7070924"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Using statistical</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methods to confirm the </a:t>
            </a:r>
            <a:r>
              <a:rPr lang="en-US" altLang="zh-CN" dirty="0">
                <a:solidFill>
                  <a:srgbClr val="FF0000"/>
                </a:solidFill>
                <a:latin typeface="华文新魏" panose="02010800040101010101" pitchFamily="2" charset="-122"/>
                <a:ea typeface="华文新魏" panose="02010800040101010101" pitchFamily="2" charset="-122"/>
              </a:rPr>
              <a:t>prior probabilities (</a:t>
            </a:r>
            <a:r>
              <a:rPr lang="zh-CN" altLang="en-US" dirty="0">
                <a:solidFill>
                  <a:srgbClr val="FF0000"/>
                </a:solidFill>
                <a:latin typeface="华文新魏" panose="02010800040101010101" pitchFamily="2" charset="-122"/>
                <a:ea typeface="华文新魏" panose="02010800040101010101" pitchFamily="2" charset="-122"/>
              </a:rPr>
              <a:t>先验概率</a:t>
            </a:r>
            <a:r>
              <a:rPr lang="en-US" altLang="zh-CN" dirty="0">
                <a:solidFill>
                  <a:srgbClr val="FF0000"/>
                </a:solidFill>
                <a:latin typeface="华文新魏" panose="02010800040101010101" pitchFamily="2" charset="-122"/>
                <a:ea typeface="华文新魏" panose="02010800040101010101" pitchFamily="2" charset="-122"/>
              </a:rPr>
              <a:t>):</a:t>
            </a:r>
            <a:endParaRPr lang="zh-CN" altLang="en-US" dirty="0">
              <a:solidFill>
                <a:srgbClr val="FF0000"/>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5" name="文本框 4">
                <a:extLst>
                  <a:ext uri="{FF2B5EF4-FFF2-40B4-BE49-F238E27FC236}">
                    <a16:creationId xmlns:a16="http://schemas.microsoft.com/office/drawing/2014/main" id="{F672066A-3BB9-4885-9D78-EEEF29A07F82}"/>
                  </a:ext>
                </a:extLst>
              </p:cNvPr>
              <p:cNvSpPr txBox="1"/>
              <p:nvPr/>
            </p:nvSpPr>
            <p:spPr>
              <a:xfrm>
                <a:off x="3368797" y="3155040"/>
                <a:ext cx="21207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latin typeface="华文新魏" panose="02010800040101010101" pitchFamily="2" charset="-122"/>
                  <a:ea typeface="华文新魏" panose="02010800040101010101" pitchFamily="2" charset="-122"/>
                </a:endParaRPr>
              </a:p>
            </p:txBody>
          </p:sp>
        </mc:Choice>
        <mc:Fallback xmlns="">
          <p:sp>
            <p:nvSpPr>
              <p:cNvPr id="15" name="文本框 4">
                <a:extLst>
                  <a:ext uri="{FF2B5EF4-FFF2-40B4-BE49-F238E27FC236}">
                    <a16:creationId xmlns:a16="http://schemas.microsoft.com/office/drawing/2014/main" id="{F672066A-3BB9-4885-9D78-EEEF29A07F82}"/>
                  </a:ext>
                </a:extLst>
              </p:cNvPr>
              <p:cNvSpPr txBox="1">
                <a:spLocks noRot="1" noChangeAspect="1" noMove="1" noResize="1" noEditPoints="1" noAdjustHandles="1" noChangeArrowheads="1" noChangeShapeType="1" noTextEdit="1"/>
              </p:cNvSpPr>
              <p:nvPr/>
            </p:nvSpPr>
            <p:spPr>
              <a:xfrm>
                <a:off x="3368797" y="3155040"/>
                <a:ext cx="2120709" cy="276999"/>
              </a:xfrm>
              <a:prstGeom prst="rect">
                <a:avLst/>
              </a:prstGeom>
              <a:blipFill>
                <a:blip r:embed="rId4"/>
                <a:stretch>
                  <a:fillRect l="-2299" t="-4444" r="-3736" b="-35556"/>
                </a:stretch>
              </a:blipFill>
            </p:spPr>
            <p:txBody>
              <a:bodyPr/>
              <a:lstStyle/>
              <a:p>
                <a:r>
                  <a:rPr lang="zh-CN" altLang="en-US">
                    <a:noFill/>
                  </a:rPr>
                  <a:t> </a:t>
                </a:r>
              </a:p>
            </p:txBody>
          </p:sp>
        </mc:Fallback>
      </mc:AlternateContent>
      <p:sp>
        <p:nvSpPr>
          <p:cNvPr id="16" name="文本框 24">
            <a:extLst>
              <a:ext uri="{FF2B5EF4-FFF2-40B4-BE49-F238E27FC236}">
                <a16:creationId xmlns:a16="http://schemas.microsoft.com/office/drawing/2014/main" id="{FB8DD3DD-B6E3-47E5-99EF-6CE187A01C13}"/>
              </a:ext>
            </a:extLst>
          </p:cNvPr>
          <p:cNvSpPr txBox="1"/>
          <p:nvPr/>
        </p:nvSpPr>
        <p:spPr>
          <a:xfrm>
            <a:off x="995391" y="3493611"/>
            <a:ext cx="6173485" cy="369332"/>
          </a:xfrm>
          <a:prstGeom prst="rect">
            <a:avLst/>
          </a:prstGeom>
          <a:noFill/>
        </p:spPr>
        <p:txBody>
          <a:bodyPr wrap="none" rtlCol="0">
            <a:spAutoFit/>
          </a:bodyPr>
          <a:lstStyle/>
          <a:p>
            <a:r>
              <a:rPr lang="en-US" altLang="zh-CN" dirty="0">
                <a:latin typeface="华文新魏" panose="02010800040101010101" pitchFamily="2" charset="-122"/>
                <a:ea typeface="华文新魏" panose="02010800040101010101" pitchFamily="2" charset="-122"/>
              </a:rPr>
              <a:t>Using medical knowledge to find out the </a:t>
            </a:r>
            <a:r>
              <a:rPr lang="en-US" altLang="zh-CN" b="1" dirty="0">
                <a:solidFill>
                  <a:srgbClr val="C00000"/>
                </a:solidFill>
                <a:latin typeface="华文新魏" panose="02010800040101010101" pitchFamily="2" charset="-122"/>
                <a:ea typeface="华文新魏" panose="02010800040101010101" pitchFamily="2" charset="-122"/>
              </a:rPr>
              <a:t>cause</a:t>
            </a:r>
            <a:r>
              <a:rPr lang="en-US" altLang="zh-CN" b="1"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probabilities:</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7" name="文本框 5">
                <a:extLst>
                  <a:ext uri="{FF2B5EF4-FFF2-40B4-BE49-F238E27FC236}">
                    <a16:creationId xmlns:a16="http://schemas.microsoft.com/office/drawing/2014/main" id="{476BCEB5-9CEE-4797-BB21-5FD9693431F2}"/>
                  </a:ext>
                </a:extLst>
              </p:cNvPr>
              <p:cNvSpPr txBox="1"/>
              <p:nvPr/>
            </p:nvSpPr>
            <p:spPr>
              <a:xfrm>
                <a:off x="3323112" y="3903470"/>
                <a:ext cx="23467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𝑷</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𝑨</m:t>
                      </m:r>
                      <m:r>
                        <a:rPr lang="en-US" altLang="zh-CN" b="1" i="1" smtClean="0">
                          <a:solidFill>
                            <a:srgbClr val="C00000"/>
                          </a:solidFill>
                          <a:latin typeface="Cambria Math" panose="02040503050406030204" pitchFamily="18" charset="0"/>
                        </a:rPr>
                        <m:t>|</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𝑩</m:t>
                          </m:r>
                        </m:e>
                        <m:sub>
                          <m:r>
                            <a:rPr lang="en-US" altLang="zh-CN" b="1" i="1" smtClean="0">
                              <a:solidFill>
                                <a:srgbClr val="C00000"/>
                              </a:solidFill>
                              <a:latin typeface="Cambria Math" panose="02040503050406030204" pitchFamily="18" charset="0"/>
                            </a:rPr>
                            <m:t>𝒊</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𝟐</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oMath>
                  </m:oMathPara>
                </a14:m>
                <a:endParaRPr lang="zh-CN" altLang="en-US" b="1" dirty="0">
                  <a:solidFill>
                    <a:srgbClr val="C00000"/>
                  </a:solidFill>
                  <a:latin typeface="华文新魏" panose="02010800040101010101" pitchFamily="2" charset="-122"/>
                  <a:ea typeface="华文新魏" panose="02010800040101010101" pitchFamily="2" charset="-122"/>
                </a:endParaRPr>
              </a:p>
            </p:txBody>
          </p:sp>
        </mc:Choice>
        <mc:Fallback xmlns="">
          <p:sp>
            <p:nvSpPr>
              <p:cNvPr id="17" name="文本框 5">
                <a:extLst>
                  <a:ext uri="{FF2B5EF4-FFF2-40B4-BE49-F238E27FC236}">
                    <a16:creationId xmlns:a16="http://schemas.microsoft.com/office/drawing/2014/main" id="{476BCEB5-9CEE-4797-BB21-5FD9693431F2}"/>
                  </a:ext>
                </a:extLst>
              </p:cNvPr>
              <p:cNvSpPr txBox="1">
                <a:spLocks noRot="1" noChangeAspect="1" noMove="1" noResize="1" noEditPoints="1" noAdjustHandles="1" noChangeArrowheads="1" noChangeShapeType="1" noTextEdit="1"/>
              </p:cNvSpPr>
              <p:nvPr/>
            </p:nvSpPr>
            <p:spPr>
              <a:xfrm>
                <a:off x="3323112" y="3903470"/>
                <a:ext cx="2346733" cy="276999"/>
              </a:xfrm>
              <a:prstGeom prst="rect">
                <a:avLst/>
              </a:prstGeom>
              <a:blipFill>
                <a:blip r:embed="rId5"/>
                <a:stretch>
                  <a:fillRect l="-1818" t="-2174" r="-3377" b="-32609"/>
                </a:stretch>
              </a:blipFill>
            </p:spPr>
            <p:txBody>
              <a:bodyPr/>
              <a:lstStyle/>
              <a:p>
                <a:r>
                  <a:rPr lang="zh-CN" altLang="en-US">
                    <a:noFill/>
                  </a:rPr>
                  <a:t> </a:t>
                </a:r>
              </a:p>
            </p:txBody>
          </p:sp>
        </mc:Fallback>
      </mc:AlternateContent>
      <p:sp>
        <p:nvSpPr>
          <p:cNvPr id="18" name="文本框 6">
            <a:extLst>
              <a:ext uri="{FF2B5EF4-FFF2-40B4-BE49-F238E27FC236}">
                <a16:creationId xmlns:a16="http://schemas.microsoft.com/office/drawing/2014/main" id="{38E7A658-CDF1-4585-972B-3E01CF3399F0}"/>
              </a:ext>
            </a:extLst>
          </p:cNvPr>
          <p:cNvSpPr txBox="1"/>
          <p:nvPr/>
        </p:nvSpPr>
        <p:spPr>
          <a:xfrm>
            <a:off x="995390" y="4318968"/>
            <a:ext cx="7206840"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Identify some symptom A</a:t>
            </a:r>
            <a:r>
              <a:rPr lang="zh-CN" altLang="en-US" dirty="0">
                <a:solidFill>
                  <a:schemeClr val="accent1">
                    <a:lumMod val="75000"/>
                  </a:schemeClr>
                </a:solidFill>
                <a:latin typeface="华文新魏" panose="02010800040101010101" pitchFamily="2" charset="-122"/>
                <a:ea typeface="华文新魏" panose="02010800040101010101" pitchFamily="2" charset="-122"/>
              </a:rPr>
              <a:t>（症状</a:t>
            </a:r>
            <a:r>
              <a:rPr lang="en-US" altLang="zh-CN" dirty="0">
                <a:solidFill>
                  <a:schemeClr val="accent1">
                    <a:lumMod val="75000"/>
                  </a:schemeClr>
                </a:solidFill>
                <a:latin typeface="华文新魏" panose="02010800040101010101" pitchFamily="2" charset="-122"/>
                <a:ea typeface="华文新魏" panose="02010800040101010101" pitchFamily="2" charset="-122"/>
              </a:rPr>
              <a:t>A </a:t>
            </a:r>
            <a:r>
              <a:rPr lang="zh-CN" altLang="en-US" dirty="0">
                <a:solidFill>
                  <a:schemeClr val="accent1">
                    <a:lumMod val="75000"/>
                  </a:schemeClr>
                </a:solidFill>
                <a:latin typeface="华文新魏" panose="02010800040101010101" pitchFamily="2" charset="-122"/>
                <a:ea typeface="华文新魏" panose="02010800040101010101" pitchFamily="2" charset="-122"/>
              </a:rPr>
              <a:t>）</a:t>
            </a:r>
            <a:r>
              <a:rPr lang="en-US" altLang="zh-CN" dirty="0">
                <a:solidFill>
                  <a:schemeClr val="accent1">
                    <a:lumMod val="75000"/>
                  </a:schemeClr>
                </a:solidFill>
                <a:latin typeface="华文新魏" panose="02010800040101010101" pitchFamily="2" charset="-122"/>
                <a:ea typeface="华文新魏" panose="02010800040101010101" pitchFamily="2" charset="-122"/>
              </a:rPr>
              <a:t>, such as body temperature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温度</a:t>
            </a:r>
            <a:r>
              <a:rPr lang="en-US" altLang="zh-CN" dirty="0">
                <a:solidFill>
                  <a:schemeClr val="accent1">
                    <a:lumMod val="75000"/>
                  </a:schemeClr>
                </a:solidFill>
                <a:latin typeface="华文新魏" panose="02010800040101010101" pitchFamily="2" charset="-122"/>
                <a:ea typeface="华文新魏" panose="02010800040101010101" pitchFamily="2" charset="-122"/>
              </a:rPr>
              <a:t>), pulse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脉搏</a:t>
            </a:r>
            <a:r>
              <a:rPr lang="en-US" altLang="zh-CN" dirty="0">
                <a:solidFill>
                  <a:schemeClr val="accent1">
                    <a:lumMod val="75000"/>
                  </a:schemeClr>
                </a:solidFill>
                <a:latin typeface="华文新魏" panose="02010800040101010101" pitchFamily="2" charset="-122"/>
                <a:ea typeface="华文新魏" panose="02010800040101010101" pitchFamily="2" charset="-122"/>
              </a:rPr>
              <a:t>)</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etc., by taking</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observation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from the patient.</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9" name="文本框 7">
                <a:extLst>
                  <a:ext uri="{FF2B5EF4-FFF2-40B4-BE49-F238E27FC236}">
                    <a16:creationId xmlns:a16="http://schemas.microsoft.com/office/drawing/2014/main" id="{2B23839F-997E-46B9-985E-8F589FAC6F34}"/>
                  </a:ext>
                </a:extLst>
              </p:cNvPr>
              <p:cNvSpPr txBox="1"/>
              <p:nvPr/>
            </p:nvSpPr>
            <p:spPr>
              <a:xfrm>
                <a:off x="995390" y="5103798"/>
                <a:ext cx="7627317"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By Bayes' rule, the </a:t>
                </a:r>
                <a:r>
                  <a:rPr lang="en-US" altLang="zh-CN" dirty="0">
                    <a:solidFill>
                      <a:srgbClr val="FF0000"/>
                    </a:solidFill>
                    <a:latin typeface="华文新魏" panose="02010800040101010101" pitchFamily="2" charset="-122"/>
                    <a:ea typeface="华文新魏" panose="02010800040101010101" pitchFamily="2" charset="-122"/>
                  </a:rPr>
                  <a:t>Posterior probability</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后验概率</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can be calculated </a:t>
                </a:r>
              </a:p>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𝑷</m:t>
                      </m:r>
                      <m:r>
                        <a:rPr lang="en-US" altLang="zh-CN" b="1" i="1" smtClean="0">
                          <a:solidFill>
                            <a:srgbClr val="FF0000"/>
                          </a:solidFill>
                          <a:latin typeface="Cambria Math" panose="02040503050406030204" pitchFamily="18" charset="0"/>
                        </a:rPr>
                        <m:t>(</m:t>
                      </m:r>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𝑩</m:t>
                          </m:r>
                        </m:e>
                        <m:sub>
                          <m:r>
                            <a:rPr lang="en-US" altLang="zh-CN" b="1" i="1" smtClean="0">
                              <a:solidFill>
                                <a:srgbClr val="FF0000"/>
                              </a:solidFill>
                              <a:latin typeface="Cambria Math" panose="02040503050406030204" pitchFamily="18" charset="0"/>
                            </a:rPr>
                            <m:t>𝒊</m:t>
                          </m:r>
                        </m:sub>
                      </m:sSub>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𝑨</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𝟐</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𝒏</m:t>
                      </m:r>
                      <m:r>
                        <a:rPr lang="en-US" altLang="zh-CN" b="1" i="1" smtClean="0">
                          <a:solidFill>
                            <a:srgbClr val="FF0000"/>
                          </a:solidFill>
                          <a:latin typeface="Cambria Math" panose="02040503050406030204" pitchFamily="18" charset="0"/>
                        </a:rPr>
                        <m:t>)</m:t>
                      </m:r>
                    </m:oMath>
                  </m:oMathPara>
                </a14:m>
                <a:endParaRPr lang="zh-CN" altLang="en-US" b="1" dirty="0">
                  <a:solidFill>
                    <a:srgbClr val="FF0000"/>
                  </a:solidFill>
                  <a:latin typeface="华文新魏" panose="02010800040101010101" pitchFamily="2" charset="-122"/>
                  <a:ea typeface="华文新魏" panose="02010800040101010101" pitchFamily="2" charset="-122"/>
                </a:endParaRPr>
              </a:p>
            </p:txBody>
          </p:sp>
        </mc:Choice>
        <mc:Fallback xmlns="">
          <p:sp>
            <p:nvSpPr>
              <p:cNvPr id="19" name="文本框 7">
                <a:extLst>
                  <a:ext uri="{FF2B5EF4-FFF2-40B4-BE49-F238E27FC236}">
                    <a16:creationId xmlns:a16="http://schemas.microsoft.com/office/drawing/2014/main" id="{2B23839F-997E-46B9-985E-8F589FAC6F34}"/>
                  </a:ext>
                </a:extLst>
              </p:cNvPr>
              <p:cNvSpPr txBox="1">
                <a:spLocks noRot="1" noChangeAspect="1" noMove="1" noResize="1" noEditPoints="1" noAdjustHandles="1" noChangeArrowheads="1" noChangeShapeType="1" noTextEdit="1"/>
              </p:cNvSpPr>
              <p:nvPr/>
            </p:nvSpPr>
            <p:spPr>
              <a:xfrm>
                <a:off x="995390" y="5103798"/>
                <a:ext cx="7627317" cy="646331"/>
              </a:xfrm>
              <a:prstGeom prst="rect">
                <a:avLst/>
              </a:prstGeom>
              <a:blipFill>
                <a:blip r:embed="rId6"/>
                <a:stretch>
                  <a:fillRect l="-639" t="-3774" b="-7547"/>
                </a:stretch>
              </a:blipFill>
            </p:spPr>
            <p:txBody>
              <a:bodyPr/>
              <a:lstStyle/>
              <a:p>
                <a:r>
                  <a:rPr lang="zh-CN" altLang="en-US">
                    <a:noFill/>
                  </a:rPr>
                  <a:t> </a:t>
                </a:r>
              </a:p>
            </p:txBody>
          </p:sp>
        </mc:Fallback>
      </mc:AlternateContent>
      <p:sp>
        <p:nvSpPr>
          <p:cNvPr id="20" name="文本框 8">
            <a:extLst>
              <a:ext uri="{FF2B5EF4-FFF2-40B4-BE49-F238E27FC236}">
                <a16:creationId xmlns:a16="http://schemas.microsoft.com/office/drawing/2014/main" id="{5BAB7FF9-2FF8-466E-95E6-25B47EA2F23B}"/>
              </a:ext>
            </a:extLst>
          </p:cNvPr>
          <p:cNvSpPr txBox="1"/>
          <p:nvPr/>
        </p:nvSpPr>
        <p:spPr>
          <a:xfrm>
            <a:off x="995390" y="5924846"/>
            <a:ext cx="7436163" cy="646331"/>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For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diseases</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with</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higher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posterior</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probabilities,</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doctors can</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provide</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further diagnosis.</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21" name="文本框 20">
            <a:extLst>
              <a:ext uri="{FF2B5EF4-FFF2-40B4-BE49-F238E27FC236}">
                <a16:creationId xmlns:a16="http://schemas.microsoft.com/office/drawing/2014/main" id="{F089CE74-C35C-4B80-9E12-580DECAED6AD}"/>
              </a:ext>
            </a:extLst>
          </p:cNvPr>
          <p:cNvSpPr txBox="1"/>
          <p:nvPr/>
        </p:nvSpPr>
        <p:spPr>
          <a:xfrm>
            <a:off x="6052657" y="5421324"/>
            <a:ext cx="2504113" cy="369332"/>
          </a:xfrm>
          <a:prstGeom prst="rect">
            <a:avLst/>
          </a:prstGeom>
          <a:noFill/>
        </p:spPr>
        <p:txBody>
          <a:bodyPr wrap="square">
            <a:spAutoFit/>
          </a:bodyPr>
          <a:lstStyle/>
          <a:p>
            <a:r>
              <a:rPr lang="zh-CN" altLang="en-US" dirty="0">
                <a:solidFill>
                  <a:schemeClr val="accent1">
                    <a:lumMod val="75000"/>
                  </a:schemeClr>
                </a:solidFill>
                <a:latin typeface="华文新魏" panose="02010800040101010101" pitchFamily="2" charset="-122"/>
                <a:ea typeface="华文新魏" panose="02010800040101010101" pitchFamily="2" charset="-122"/>
              </a:rPr>
              <a:t>（有症状，是什么病？）</a:t>
            </a:r>
            <a:endParaRPr lang="zh-CN" altLang="en-US" dirty="0"/>
          </a:p>
        </p:txBody>
      </p:sp>
      <p:sp>
        <p:nvSpPr>
          <p:cNvPr id="22" name="文本框 21">
            <a:extLst>
              <a:ext uri="{FF2B5EF4-FFF2-40B4-BE49-F238E27FC236}">
                <a16:creationId xmlns:a16="http://schemas.microsoft.com/office/drawing/2014/main" id="{46ACFEB6-B3F6-4F98-A39F-7DF8FD18C0EE}"/>
              </a:ext>
            </a:extLst>
          </p:cNvPr>
          <p:cNvSpPr txBox="1"/>
          <p:nvPr/>
        </p:nvSpPr>
        <p:spPr>
          <a:xfrm>
            <a:off x="6052657" y="3135622"/>
            <a:ext cx="2504113" cy="369332"/>
          </a:xfrm>
          <a:prstGeom prst="rect">
            <a:avLst/>
          </a:prstGeom>
          <a:noFill/>
        </p:spPr>
        <p:txBody>
          <a:bodyPr wrap="square">
            <a:spAutoFit/>
          </a:bodyPr>
          <a:lstStyle/>
          <a:p>
            <a:r>
              <a:rPr lang="zh-CN" altLang="en-US" dirty="0">
                <a:solidFill>
                  <a:schemeClr val="accent1">
                    <a:lumMod val="75000"/>
                  </a:schemeClr>
                </a:solidFill>
                <a:latin typeface="华文新魏" panose="02010800040101010101" pitchFamily="2" charset="-122"/>
                <a:ea typeface="华文新魏" panose="02010800040101010101" pitchFamily="2" charset="-122"/>
              </a:rPr>
              <a:t>（得这种病的概率？）</a:t>
            </a:r>
            <a:endParaRPr lang="zh-CN" altLang="en-US" dirty="0"/>
          </a:p>
        </p:txBody>
      </p:sp>
      <p:sp>
        <p:nvSpPr>
          <p:cNvPr id="23" name="文本框 22">
            <a:extLst>
              <a:ext uri="{FF2B5EF4-FFF2-40B4-BE49-F238E27FC236}">
                <a16:creationId xmlns:a16="http://schemas.microsoft.com/office/drawing/2014/main" id="{C06EFE20-66EF-4093-A387-6ED9D35AC963}"/>
              </a:ext>
            </a:extLst>
          </p:cNvPr>
          <p:cNvSpPr txBox="1"/>
          <p:nvPr/>
        </p:nvSpPr>
        <p:spPr>
          <a:xfrm>
            <a:off x="6052656" y="3862943"/>
            <a:ext cx="2730617" cy="369332"/>
          </a:xfrm>
          <a:prstGeom prst="rect">
            <a:avLst/>
          </a:prstGeom>
          <a:noFill/>
        </p:spPr>
        <p:txBody>
          <a:bodyPr wrap="square">
            <a:spAutoFit/>
          </a:bodyPr>
          <a:lstStyle/>
          <a:p>
            <a:r>
              <a:rPr lang="zh-CN" altLang="en-US" dirty="0">
                <a:solidFill>
                  <a:schemeClr val="accent1">
                    <a:lumMod val="75000"/>
                  </a:schemeClr>
                </a:solidFill>
                <a:latin typeface="华文新魏" panose="02010800040101010101" pitchFamily="2" charset="-122"/>
                <a:ea typeface="华文新魏" panose="02010800040101010101" pitchFamily="2" charset="-122"/>
              </a:rPr>
              <a:t>（什么原因引起这种病？）</a:t>
            </a:r>
            <a:endParaRPr lang="zh-CN" altLang="en-US" dirty="0"/>
          </a:p>
        </p:txBody>
      </p:sp>
    </p:spTree>
    <p:extLst>
      <p:ext uri="{BB962C8B-B14F-4D97-AF65-F5344CB8AC3E}">
        <p14:creationId xmlns:p14="http://schemas.microsoft.com/office/powerpoint/2010/main" val="4160944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par>
                          <p:cTn id="46" fill="hold">
                            <p:stCondLst>
                              <p:cond delay="500"/>
                            </p:stCondLst>
                            <p:childTnLst>
                              <p:par>
                                <p:cTn id="47" presetID="1" presetClass="entr" presetSubtype="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452" name="AutoShape 68"/>
          <p:cNvSpPr>
            <a:spLocks noChangeArrowheads="1"/>
          </p:cNvSpPr>
          <p:nvPr/>
        </p:nvSpPr>
        <p:spPr bwMode="auto">
          <a:xfrm>
            <a:off x="5495898" y="6358191"/>
            <a:ext cx="3430559" cy="324740"/>
          </a:xfrm>
          <a:prstGeom prst="wedgeRectCallout">
            <a:avLst>
              <a:gd name="adj1" fmla="val -38409"/>
              <a:gd name="adj2" fmla="val -115135"/>
            </a:avLst>
          </a:prstGeom>
          <a:solidFill>
            <a:schemeClr val="bg1"/>
          </a:solidFill>
          <a:ln w="9525" algn="ctr">
            <a:solidFill>
              <a:schemeClr val="tx2"/>
            </a:solidFill>
            <a:miter lim="800000"/>
            <a:headEnd/>
            <a:tailEnd/>
          </a:ln>
          <a:effectLst>
            <a:outerShdw dist="107763" dir="2700000" algn="ctr" rotWithShape="0">
              <a:schemeClr val="bg2">
                <a:alpha val="50000"/>
              </a:schemeClr>
            </a:outerShdw>
          </a:effectLst>
        </p:spPr>
        <p:txBody>
          <a:bodyPr anchor="ctr"/>
          <a:lstStyle/>
          <a:p>
            <a:pPr algn="ctr" eaLnBrk="1" hangingPunct="1">
              <a:spcBef>
                <a:spcPct val="0"/>
              </a:spcBef>
              <a:buClrTx/>
              <a:buSzTx/>
              <a:buFontTx/>
              <a:buNone/>
              <a:defRPr/>
            </a:pPr>
            <a:r>
              <a:rPr lang="en-US" altLang="zh-CN" b="1" dirty="0">
                <a:solidFill>
                  <a:srgbClr val="C00000"/>
                </a:solidFill>
              </a:rPr>
              <a:t>Bayesian inference</a:t>
            </a:r>
            <a:r>
              <a:rPr lang="zh-CN" altLang="en-US" b="1" dirty="0">
                <a:solidFill>
                  <a:srgbClr val="C00000"/>
                </a:solidFill>
              </a:rPr>
              <a:t> </a:t>
            </a:r>
            <a:r>
              <a:rPr lang="en-US" altLang="zh-CN" b="1" dirty="0">
                <a:solidFill>
                  <a:srgbClr val="C00000"/>
                </a:solidFill>
                <a:ea typeface="华文新魏" pitchFamily="2" charset="-122"/>
              </a:rPr>
              <a:t>(</a:t>
            </a:r>
            <a:r>
              <a:rPr lang="zh-CN" altLang="en-US" b="1" dirty="0">
                <a:solidFill>
                  <a:srgbClr val="C00000"/>
                </a:solidFill>
                <a:ea typeface="华文新魏" pitchFamily="2" charset="-122"/>
              </a:rPr>
              <a:t>贝叶斯推断</a:t>
            </a:r>
            <a:r>
              <a:rPr lang="en-US" altLang="zh-CN" b="1" dirty="0">
                <a:solidFill>
                  <a:srgbClr val="C00000"/>
                </a:solidFill>
                <a:ea typeface="华文新魏" pitchFamily="2" charset="-122"/>
              </a:rPr>
              <a:t>)</a:t>
            </a:r>
            <a:endParaRPr lang="zh-CN" altLang="en-US" b="1" dirty="0">
              <a:solidFill>
                <a:srgbClr val="C00000"/>
              </a:solidFill>
              <a:ea typeface="华文新魏" pitchFamily="2" charset="-122"/>
            </a:endParaRPr>
          </a:p>
        </p:txBody>
      </p:sp>
      <p:sp>
        <p:nvSpPr>
          <p:cNvPr id="2" name="文本框 1">
            <a:extLst>
              <a:ext uri="{FF2B5EF4-FFF2-40B4-BE49-F238E27FC236}">
                <a16:creationId xmlns:a16="http://schemas.microsoft.com/office/drawing/2014/main" id="{98F7D1D9-7BF5-425B-8257-D08A4D3DCF1F}"/>
              </a:ext>
            </a:extLst>
          </p:cNvPr>
          <p:cNvSpPr txBox="1"/>
          <p:nvPr/>
        </p:nvSpPr>
        <p:spPr>
          <a:xfrm>
            <a:off x="252063" y="254000"/>
            <a:ext cx="8366824" cy="1477328"/>
          </a:xfrm>
          <a:prstGeom prst="rect">
            <a:avLst/>
          </a:prstGeom>
          <a:noFill/>
        </p:spPr>
        <p:txBody>
          <a:bodyPr wrap="square" rtlCol="0">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dirty="0">
                <a:solidFill>
                  <a:schemeClr val="accent1">
                    <a:lumMod val="75000"/>
                  </a:schemeClr>
                </a:solidFill>
                <a:latin typeface="华文新魏" panose="02010800040101010101" pitchFamily="2" charset="-122"/>
                <a:ea typeface="华文新魏" panose="02010800040101010101" pitchFamily="2" charset="-122"/>
              </a:rPr>
              <a:t>A factory has three workshops which are X, Y and Z. All workshops are producing the same product. Each of the workshops produces 15%, 80% and 5% of the total products, respectively, and their corresponding</a:t>
            </a:r>
            <a:r>
              <a:rPr lang="zh-CN" altLang="en-US" dirty="0">
                <a:solidFill>
                  <a:schemeClr val="accent1">
                    <a:lumMod val="75000"/>
                  </a:schemeClr>
                </a:solidFill>
                <a:latin typeface="华文新魏" panose="02010800040101010101" pitchFamily="2" charset="-122"/>
                <a:ea typeface="华文新魏" panose="02010800040101010101" pitchFamily="2" charset="-122"/>
              </a:rPr>
              <a:t> </a:t>
            </a:r>
            <a:r>
              <a:rPr lang="en-US" altLang="zh-CN" dirty="0">
                <a:solidFill>
                  <a:schemeClr val="accent1">
                    <a:lumMod val="75000"/>
                  </a:schemeClr>
                </a:solidFill>
                <a:latin typeface="华文新魏" panose="02010800040101010101" pitchFamily="2" charset="-122"/>
                <a:ea typeface="华文新魏" panose="02010800040101010101" pitchFamily="2" charset="-122"/>
              </a:rPr>
              <a:t>defective rates are 2%, 1% and 3%. If there is a defective product, which workshop has the highest possibility of having produced it?</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7916CE57-721D-4764-AB17-D0529EC4552F}"/>
              </a:ext>
            </a:extLst>
          </p:cNvPr>
          <p:cNvSpPr txBox="1"/>
          <p:nvPr/>
        </p:nvSpPr>
        <p:spPr>
          <a:xfrm>
            <a:off x="333603" y="1734440"/>
            <a:ext cx="1641796"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Answer:      </a:t>
            </a:r>
            <a:r>
              <a:rPr lang="en-US" altLang="zh-CN" dirty="0">
                <a:latin typeface="华文新魏" panose="02010800040101010101" pitchFamily="2" charset="-122"/>
                <a:ea typeface="华文新魏" panose="02010800040101010101" pitchFamily="2" charset="-122"/>
              </a:rPr>
              <a:t>Let</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2F20F75-2C10-40A0-8EFA-6E6A8B683B9B}"/>
                  </a:ext>
                </a:extLst>
              </p:cNvPr>
              <p:cNvSpPr txBox="1"/>
              <p:nvPr/>
            </p:nvSpPr>
            <p:spPr>
              <a:xfrm>
                <a:off x="1955593" y="1780606"/>
                <a:ext cx="33012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getting</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defective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product</m:t>
                      </m:r>
                      <m:r>
                        <a:rPr lang="en-US" altLang="zh-CN" b="0" i="1" smtClean="0">
                          <a:latin typeface="Cambria Math" panose="02040503050406030204" pitchFamily="18" charset="0"/>
                        </a:rPr>
                        <m:t>}</m:t>
                      </m:r>
                    </m:oMath>
                  </m:oMathPara>
                </a14:m>
                <a:endParaRPr lang="zh-CN" altLang="en-US" dirty="0">
                  <a:latin typeface="华文新魏" panose="02010800040101010101" pitchFamily="2" charset="-122"/>
                  <a:ea typeface="华文新魏" panose="02010800040101010101" pitchFamily="2" charset="-122"/>
                </a:endParaRPr>
              </a:p>
            </p:txBody>
          </p:sp>
        </mc:Choice>
        <mc:Fallback xmlns="">
          <p:sp>
            <p:nvSpPr>
              <p:cNvPr id="4" name="文本框 3">
                <a:extLst>
                  <a:ext uri="{FF2B5EF4-FFF2-40B4-BE49-F238E27FC236}">
                    <a16:creationId xmlns:a16="http://schemas.microsoft.com/office/drawing/2014/main" id="{12F20F75-2C10-40A0-8EFA-6E6A8B683B9B}"/>
                  </a:ext>
                </a:extLst>
              </p:cNvPr>
              <p:cNvSpPr txBox="1">
                <a:spLocks noRot="1" noChangeAspect="1" noMove="1" noResize="1" noEditPoints="1" noAdjustHandles="1" noChangeArrowheads="1" noChangeShapeType="1" noTextEdit="1"/>
              </p:cNvSpPr>
              <p:nvPr/>
            </p:nvSpPr>
            <p:spPr>
              <a:xfrm>
                <a:off x="1955593" y="1780606"/>
                <a:ext cx="3301224" cy="276999"/>
              </a:xfrm>
              <a:prstGeom prst="rect">
                <a:avLst/>
              </a:prstGeom>
              <a:blipFill>
                <a:blip r:embed="rId2"/>
                <a:stretch>
                  <a:fillRect l="-766" t="-4348" r="-1916" b="-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1D3A21F-F68C-455A-81C5-AF8074F65AD6}"/>
                  </a:ext>
                </a:extLst>
              </p:cNvPr>
              <p:cNvSpPr txBox="1"/>
              <p:nvPr/>
            </p:nvSpPr>
            <p:spPr>
              <a:xfrm>
                <a:off x="1857522" y="2144124"/>
                <a:ext cx="55998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the</m:t>
                          </m:r>
                          <m:r>
                            <a:rPr lang="zh-CN" altLang="en-US" b="0" i="0" smtClean="0">
                              <a:latin typeface="Cambria Math" panose="02040503050406030204" pitchFamily="18" charset="0"/>
                            </a:rPr>
                            <m:t> </m:t>
                          </m:r>
                          <m:r>
                            <m:rPr>
                              <m:sty m:val="p"/>
                            </m:rPr>
                            <a:rPr lang="en-US" altLang="zh-CN" b="0" i="0" smtClean="0">
                              <a:latin typeface="Cambria Math"/>
                            </a:rPr>
                            <m:t>i</m:t>
                          </m:r>
                          <m:r>
                            <m:rPr>
                              <m:sty m:val="p"/>
                            </m:rPr>
                            <a:rPr lang="en-US" altLang="zh-CN" b="0" i="0" baseline="30000" smtClean="0">
                              <a:latin typeface="Cambria Math"/>
                            </a:rPr>
                            <m:t>th</m:t>
                          </m:r>
                          <m:r>
                            <a:rPr lang="en-US" altLang="zh-CN" b="0" i="0" smtClean="0">
                              <a:latin typeface="Cambria Math"/>
                            </a:rPr>
                            <m:t> </m:t>
                          </m:r>
                          <m:r>
                            <m:rPr>
                              <m:sty m:val="p"/>
                            </m:rPr>
                            <a:rPr lang="en-US" altLang="zh-CN" b="0" i="0" smtClean="0">
                              <a:latin typeface="Cambria Math" panose="02040503050406030204" pitchFamily="18" charset="0"/>
                            </a:rPr>
                            <m:t>workshop</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produced</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the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product</m:t>
                          </m:r>
                        </m:e>
                      </m:d>
                      <m:r>
                        <a:rPr lang="en-US" altLang="zh-CN" b="0" i="1" smtClean="0">
                          <a:latin typeface="Cambria Math" panose="02040503050406030204" pitchFamily="18" charset="0"/>
                        </a:rPr>
                        <m:t>,</m:t>
                      </m:r>
                      <m:r>
                        <a:rPr lang="en-US" altLang="zh-CN" b="0" i="1" smtClean="0">
                          <a:latin typeface="Cambria Math"/>
                        </a:rPr>
                        <m:t> </m:t>
                      </m:r>
                      <m:r>
                        <a:rPr lang="en-US" altLang="zh-CN" b="0" i="1" smtClean="0">
                          <a:latin typeface="Cambria Math" panose="02040503050406030204" pitchFamily="18" charset="0"/>
                        </a:rPr>
                        <m:t>𝑖</m:t>
                      </m:r>
                      <m:r>
                        <a:rPr lang="en-US" altLang="zh-CN" b="0" i="1" smtClean="0">
                          <a:latin typeface="Cambria Math" panose="02040503050406030204" pitchFamily="18" charset="0"/>
                        </a:rPr>
                        <m:t>=1, 2, 3</m:t>
                      </m:r>
                    </m:oMath>
                  </m:oMathPara>
                </a14:m>
                <a:endParaRPr lang="zh-CN" altLang="en-US" dirty="0"/>
              </a:p>
            </p:txBody>
          </p:sp>
        </mc:Choice>
        <mc:Fallback xmlns="">
          <p:sp>
            <p:nvSpPr>
              <p:cNvPr id="37" name="文本框 36">
                <a:extLst>
                  <a:ext uri="{FF2B5EF4-FFF2-40B4-BE49-F238E27FC236}">
                    <a16:creationId xmlns:a16="http://schemas.microsoft.com/office/drawing/2014/main" id="{B1D3A21F-F68C-455A-81C5-AF8074F65AD6}"/>
                  </a:ext>
                </a:extLst>
              </p:cNvPr>
              <p:cNvSpPr txBox="1">
                <a:spLocks noRot="1" noChangeAspect="1" noMove="1" noResize="1" noEditPoints="1" noAdjustHandles="1" noChangeArrowheads="1" noChangeShapeType="1" noTextEdit="1"/>
              </p:cNvSpPr>
              <p:nvPr/>
            </p:nvSpPr>
            <p:spPr>
              <a:xfrm>
                <a:off x="1857522" y="2144124"/>
                <a:ext cx="5599803" cy="276999"/>
              </a:xfrm>
              <a:prstGeom prst="rect">
                <a:avLst/>
              </a:prstGeom>
              <a:blipFill>
                <a:blip r:embed="rId3"/>
                <a:stretch>
                  <a:fillRect l="-545" t="-4444" r="-436" b="-3555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3F2E48B-3898-4B42-81B7-D9649D5922E1}"/>
              </a:ext>
            </a:extLst>
          </p:cNvPr>
          <p:cNvSpPr txBox="1"/>
          <p:nvPr/>
        </p:nvSpPr>
        <p:spPr>
          <a:xfrm>
            <a:off x="756753" y="3073422"/>
            <a:ext cx="4241867"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By the </a:t>
            </a:r>
            <a:r>
              <a:rPr lang="en-US" altLang="zh-CN" b="1" dirty="0">
                <a:solidFill>
                  <a:srgbClr val="C00000"/>
                </a:solidFill>
                <a:latin typeface="华文新魏" panose="02010800040101010101" pitchFamily="2" charset="-122"/>
                <a:ea typeface="华文新魏" panose="02010800040101010101" pitchFamily="2" charset="-122"/>
              </a:rPr>
              <a:t>Law of Total Probability</a:t>
            </a:r>
            <a:r>
              <a:rPr lang="en-US" altLang="zh-CN" b="1" dirty="0">
                <a:latin typeface="华文新魏" panose="02010800040101010101" pitchFamily="2" charset="-122"/>
                <a:ea typeface="华文新魏" panose="02010800040101010101" pitchFamily="2" charset="-122"/>
              </a:rPr>
              <a:t>, we have</a:t>
            </a:r>
            <a:endParaRPr lang="zh-CN" altLang="en-US" b="1"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DCA220C-68B5-4BA7-96C2-61476AEC65A8}"/>
                  </a:ext>
                </a:extLst>
              </p:cNvPr>
              <p:cNvSpPr txBox="1"/>
              <p:nvPr/>
            </p:nvSpPr>
            <p:spPr>
              <a:xfrm>
                <a:off x="979467" y="3409960"/>
                <a:ext cx="2559868" cy="8100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3</m:t>
                          </m:r>
                        </m:sup>
                        <m:e>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𝑗</m:t>
                                  </m:r>
                                </m:sub>
                              </m:sSub>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𝑗</m:t>
                                  </m:r>
                                </m:sub>
                              </m:sSub>
                            </m:e>
                          </m:d>
                        </m:e>
                      </m:nary>
                    </m:oMath>
                  </m:oMathPara>
                </a14:m>
                <a:endParaRPr lang="zh-CN" altLang="en-US" dirty="0"/>
              </a:p>
            </p:txBody>
          </p:sp>
        </mc:Choice>
        <mc:Fallback xmlns="">
          <p:sp>
            <p:nvSpPr>
              <p:cNvPr id="6" name="文本框 5">
                <a:extLst>
                  <a:ext uri="{FF2B5EF4-FFF2-40B4-BE49-F238E27FC236}">
                    <a16:creationId xmlns:a16="http://schemas.microsoft.com/office/drawing/2014/main" id="{0DCA220C-68B5-4BA7-96C2-61476AEC65A8}"/>
                  </a:ext>
                </a:extLst>
              </p:cNvPr>
              <p:cNvSpPr txBox="1">
                <a:spLocks noRot="1" noChangeAspect="1" noMove="1" noResize="1" noEditPoints="1" noAdjustHandles="1" noChangeArrowheads="1" noChangeShapeType="1" noTextEdit="1"/>
              </p:cNvSpPr>
              <p:nvPr/>
            </p:nvSpPr>
            <p:spPr>
              <a:xfrm>
                <a:off x="979467" y="3409960"/>
                <a:ext cx="2559868" cy="810094"/>
              </a:xfrm>
              <a:prstGeom prst="rect">
                <a:avLst/>
              </a:prstGeom>
              <a:blipFill>
                <a:blip r:embed="rId4"/>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9003017B-7FDC-496A-B0F4-21929E21303F}"/>
              </a:ext>
            </a:extLst>
          </p:cNvPr>
          <p:cNvSpPr txBox="1"/>
          <p:nvPr/>
        </p:nvSpPr>
        <p:spPr>
          <a:xfrm>
            <a:off x="742749" y="4198889"/>
            <a:ext cx="2948243"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By the </a:t>
            </a:r>
            <a:r>
              <a:rPr lang="en-US" altLang="zh-CN" b="1" dirty="0">
                <a:solidFill>
                  <a:srgbClr val="C00000"/>
                </a:solidFill>
                <a:latin typeface="华文新魏" panose="02010800040101010101" pitchFamily="2" charset="-122"/>
                <a:ea typeface="华文新魏" panose="02010800040101010101" pitchFamily="2" charset="-122"/>
              </a:rPr>
              <a:t>Bayes' rule</a:t>
            </a:r>
            <a:r>
              <a:rPr lang="en-US" altLang="zh-CN" b="1" dirty="0">
                <a:latin typeface="华文新魏" panose="02010800040101010101" pitchFamily="2" charset="-122"/>
                <a:ea typeface="华文新魏" panose="02010800040101010101" pitchFamily="2" charset="-122"/>
              </a:rPr>
              <a:t>, we have:</a:t>
            </a:r>
            <a:endParaRPr lang="zh-CN" altLang="en-US" b="1"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4B932E5-9AD9-4037-9B56-F57088B92C35}"/>
                  </a:ext>
                </a:extLst>
              </p:cNvPr>
              <p:cNvSpPr txBox="1"/>
              <p:nvPr/>
            </p:nvSpPr>
            <p:spPr>
              <a:xfrm>
                <a:off x="1043130" y="4683269"/>
                <a:ext cx="255916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den>
                      </m:f>
                    </m:oMath>
                  </m:oMathPara>
                </a14:m>
                <a:endParaRPr lang="zh-CN" altLang="en-US" dirty="0"/>
              </a:p>
            </p:txBody>
          </p:sp>
        </mc:Choice>
        <mc:Fallback xmlns="">
          <p:sp>
            <p:nvSpPr>
              <p:cNvPr id="9" name="文本框 8">
                <a:extLst>
                  <a:ext uri="{FF2B5EF4-FFF2-40B4-BE49-F238E27FC236}">
                    <a16:creationId xmlns:a16="http://schemas.microsoft.com/office/drawing/2014/main" id="{94B932E5-9AD9-4037-9B56-F57088B92C35}"/>
                  </a:ext>
                </a:extLst>
              </p:cNvPr>
              <p:cNvSpPr txBox="1">
                <a:spLocks noRot="1" noChangeAspect="1" noMove="1" noResize="1" noEditPoints="1" noAdjustHandles="1" noChangeArrowheads="1" noChangeShapeType="1" noTextEdit="1"/>
              </p:cNvSpPr>
              <p:nvPr/>
            </p:nvSpPr>
            <p:spPr>
              <a:xfrm>
                <a:off x="1043130" y="4683269"/>
                <a:ext cx="2559162" cy="58669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F23550EC-E727-4C52-B90A-F15C3E280964}"/>
                  </a:ext>
                </a:extLst>
              </p:cNvPr>
              <p:cNvSpPr txBox="1"/>
              <p:nvPr/>
            </p:nvSpPr>
            <p:spPr>
              <a:xfrm>
                <a:off x="1043130" y="5400563"/>
                <a:ext cx="2254848"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0.01∗0.80</m:t>
                          </m:r>
                        </m:num>
                        <m:den>
                          <m:r>
                            <a:rPr lang="en-US" altLang="zh-CN" b="0" i="1" smtClean="0">
                              <a:latin typeface="Cambria Math" panose="02040503050406030204" pitchFamily="18" charset="0"/>
                            </a:rPr>
                            <m:t>0.0125</m:t>
                          </m:r>
                        </m:den>
                      </m:f>
                    </m:oMath>
                  </m:oMathPara>
                </a14:m>
                <a:endParaRPr lang="zh-CN" altLang="en-US" dirty="0"/>
              </a:p>
            </p:txBody>
          </p:sp>
        </mc:Choice>
        <mc:Fallback xmlns="">
          <p:sp>
            <p:nvSpPr>
              <p:cNvPr id="43" name="文本框 42">
                <a:extLst>
                  <a:ext uri="{FF2B5EF4-FFF2-40B4-BE49-F238E27FC236}">
                    <a16:creationId xmlns:a16="http://schemas.microsoft.com/office/drawing/2014/main" id="{F23550EC-E727-4C52-B90A-F15C3E280964}"/>
                  </a:ext>
                </a:extLst>
              </p:cNvPr>
              <p:cNvSpPr txBox="1">
                <a:spLocks noRot="1" noChangeAspect="1" noMove="1" noResize="1" noEditPoints="1" noAdjustHandles="1" noChangeArrowheads="1" noChangeShapeType="1" noTextEdit="1"/>
              </p:cNvSpPr>
              <p:nvPr/>
            </p:nvSpPr>
            <p:spPr>
              <a:xfrm>
                <a:off x="1043130" y="5400563"/>
                <a:ext cx="2254848" cy="52046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3263B50C-5FBA-42EA-A55F-DBA45645CAA6}"/>
                  </a:ext>
                </a:extLst>
              </p:cNvPr>
              <p:cNvSpPr txBox="1"/>
              <p:nvPr/>
            </p:nvSpPr>
            <p:spPr>
              <a:xfrm>
                <a:off x="1043130" y="6148861"/>
                <a:ext cx="2254848"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3</m:t>
                              </m:r>
                            </m:sub>
                          </m:sSub>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0.03∗0.05</m:t>
                          </m:r>
                        </m:num>
                        <m:den>
                          <m:r>
                            <a:rPr lang="en-US" altLang="zh-CN" b="0" i="1" smtClean="0">
                              <a:latin typeface="Cambria Math" panose="02040503050406030204" pitchFamily="18" charset="0"/>
                            </a:rPr>
                            <m:t>0.0125</m:t>
                          </m:r>
                        </m:den>
                      </m:f>
                    </m:oMath>
                  </m:oMathPara>
                </a14:m>
                <a:endParaRPr lang="zh-CN" altLang="en-US" dirty="0"/>
              </a:p>
            </p:txBody>
          </p:sp>
        </mc:Choice>
        <mc:Fallback xmlns="">
          <p:sp>
            <p:nvSpPr>
              <p:cNvPr id="44" name="文本框 43">
                <a:extLst>
                  <a:ext uri="{FF2B5EF4-FFF2-40B4-BE49-F238E27FC236}">
                    <a16:creationId xmlns:a16="http://schemas.microsoft.com/office/drawing/2014/main" id="{3263B50C-5FBA-42EA-A55F-DBA45645CAA6}"/>
                  </a:ext>
                </a:extLst>
              </p:cNvPr>
              <p:cNvSpPr txBox="1">
                <a:spLocks noRot="1" noChangeAspect="1" noMove="1" noResize="1" noEditPoints="1" noAdjustHandles="1" noChangeArrowheads="1" noChangeShapeType="1" noTextEdit="1"/>
              </p:cNvSpPr>
              <p:nvPr/>
            </p:nvSpPr>
            <p:spPr>
              <a:xfrm>
                <a:off x="1043130" y="6148861"/>
                <a:ext cx="2254848" cy="526041"/>
              </a:xfrm>
              <a:prstGeom prst="rect">
                <a:avLst/>
              </a:prstGeom>
              <a:blipFill>
                <a:blip r:embed="rId7"/>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EE7C7855-4190-4790-B4A2-9390486D6A98}"/>
              </a:ext>
            </a:extLst>
          </p:cNvPr>
          <p:cNvSpPr txBox="1"/>
          <p:nvPr/>
        </p:nvSpPr>
        <p:spPr>
          <a:xfrm>
            <a:off x="4689864" y="5209823"/>
            <a:ext cx="4457478" cy="923330"/>
          </a:xfrm>
          <a:prstGeom prst="rect">
            <a:avLst/>
          </a:prstGeom>
          <a:noFill/>
        </p:spPr>
        <p:txBody>
          <a:bodyPr wrap="square" rtlCol="0">
            <a:spAutoFit/>
          </a:bodyPr>
          <a:lstStyle/>
          <a:p>
            <a:r>
              <a:rPr lang="en-US" altLang="zh-CN" dirty="0">
                <a:solidFill>
                  <a:schemeClr val="accent1">
                    <a:lumMod val="75000"/>
                  </a:schemeClr>
                </a:solidFill>
                <a:latin typeface="华文新魏" panose="02010800040101010101" pitchFamily="2" charset="-122"/>
                <a:ea typeface="华文新魏" panose="02010800040101010101" pitchFamily="2" charset="-122"/>
              </a:rPr>
              <a:t>According to the results, we can see that </a:t>
            </a:r>
            <a:r>
              <a:rPr lang="en-US" altLang="zh-CN" b="1" dirty="0">
                <a:solidFill>
                  <a:schemeClr val="accent1">
                    <a:lumMod val="75000"/>
                  </a:schemeClr>
                </a:solidFill>
                <a:latin typeface="华文新魏" panose="02010800040101010101" pitchFamily="2" charset="-122"/>
                <a:ea typeface="华文新魏" panose="02010800040101010101" pitchFamily="2" charset="-122"/>
              </a:rPr>
              <a:t>workshop Y</a:t>
            </a:r>
            <a:r>
              <a:rPr lang="en-US" altLang="zh-CN" dirty="0">
                <a:solidFill>
                  <a:schemeClr val="accent1">
                    <a:lumMod val="75000"/>
                  </a:schemeClr>
                </a:solidFill>
                <a:latin typeface="华文新魏" panose="02010800040101010101" pitchFamily="2" charset="-122"/>
                <a:ea typeface="华文新魏" panose="02010800040101010101" pitchFamily="2" charset="-122"/>
              </a:rPr>
              <a:t> has the highest possibility of having produced this defective product.</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CC26E65-6FA1-41B2-AC5A-7801F2280847}"/>
                  </a:ext>
                </a:extLst>
              </p:cNvPr>
              <p:cNvSpPr txBox="1"/>
              <p:nvPr/>
            </p:nvSpPr>
            <p:spPr>
              <a:xfrm>
                <a:off x="7277375" y="3644490"/>
                <a:ext cx="9890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=0.0125</m:t>
                      </m:r>
                    </m:oMath>
                  </m:oMathPara>
                </a14:m>
                <a:endParaRPr lang="zh-CN" altLang="en-US" dirty="0"/>
              </a:p>
            </p:txBody>
          </p:sp>
        </mc:Choice>
        <mc:Fallback xmlns="">
          <p:sp>
            <p:nvSpPr>
              <p:cNvPr id="11" name="文本框 10">
                <a:extLst>
                  <a:ext uri="{FF2B5EF4-FFF2-40B4-BE49-F238E27FC236}">
                    <a16:creationId xmlns:a16="http://schemas.microsoft.com/office/drawing/2014/main" id="{4CC26E65-6FA1-41B2-AC5A-7801F2280847}"/>
                  </a:ext>
                </a:extLst>
              </p:cNvPr>
              <p:cNvSpPr txBox="1">
                <a:spLocks noRot="1" noChangeAspect="1" noMove="1" noResize="1" noEditPoints="1" noAdjustHandles="1" noChangeArrowheads="1" noChangeShapeType="1" noTextEdit="1"/>
              </p:cNvSpPr>
              <p:nvPr/>
            </p:nvSpPr>
            <p:spPr>
              <a:xfrm>
                <a:off x="7277375" y="3644490"/>
                <a:ext cx="989053" cy="276999"/>
              </a:xfrm>
              <a:prstGeom prst="rect">
                <a:avLst/>
              </a:prstGeom>
              <a:blipFill>
                <a:blip r:embed="rId8"/>
                <a:stretch>
                  <a:fillRect l="-1852" r="-5556"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63344E2-62C1-4349-9889-E42FDE280537}"/>
                  </a:ext>
                </a:extLst>
              </p:cNvPr>
              <p:cNvSpPr txBox="1"/>
              <p:nvPr/>
            </p:nvSpPr>
            <p:spPr>
              <a:xfrm>
                <a:off x="3598243" y="4706186"/>
                <a:ext cx="2114361"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0.02∗0.15</m:t>
                          </m:r>
                        </m:num>
                        <m:den>
                          <m:r>
                            <a:rPr lang="en-US" altLang="zh-CN" b="0" i="1" smtClean="0">
                              <a:latin typeface="Cambria Math" panose="02040503050406030204" pitchFamily="18" charset="0"/>
                            </a:rPr>
                            <m:t>0.0125</m:t>
                          </m:r>
                        </m:den>
                      </m:f>
                      <m:r>
                        <a:rPr lang="en-US" altLang="zh-CN" b="0" i="1" smtClean="0">
                          <a:latin typeface="Cambria Math" panose="02040503050406030204" pitchFamily="18" charset="0"/>
                        </a:rPr>
                        <m:t>=0.24</m:t>
                      </m:r>
                    </m:oMath>
                  </m:oMathPara>
                </a14:m>
                <a:endParaRPr lang="zh-CN" altLang="en-US" dirty="0"/>
              </a:p>
            </p:txBody>
          </p:sp>
        </mc:Choice>
        <mc:Fallback xmlns="">
          <p:sp>
            <p:nvSpPr>
              <p:cNvPr id="12" name="文本框 11">
                <a:extLst>
                  <a:ext uri="{FF2B5EF4-FFF2-40B4-BE49-F238E27FC236}">
                    <a16:creationId xmlns:a16="http://schemas.microsoft.com/office/drawing/2014/main" id="{263344E2-62C1-4349-9889-E42FDE280537}"/>
                  </a:ext>
                </a:extLst>
              </p:cNvPr>
              <p:cNvSpPr txBox="1">
                <a:spLocks noRot="1" noChangeAspect="1" noMove="1" noResize="1" noEditPoints="1" noAdjustHandles="1" noChangeArrowheads="1" noChangeShapeType="1" noTextEdit="1"/>
              </p:cNvSpPr>
              <p:nvPr/>
            </p:nvSpPr>
            <p:spPr>
              <a:xfrm>
                <a:off x="3598243" y="4706186"/>
                <a:ext cx="2114361" cy="526041"/>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B02E23C-A256-4AFA-8498-2CD89CD5268D}"/>
                  </a:ext>
                </a:extLst>
              </p:cNvPr>
              <p:cNvSpPr txBox="1"/>
              <p:nvPr/>
            </p:nvSpPr>
            <p:spPr>
              <a:xfrm>
                <a:off x="3429456" y="5523545"/>
                <a:ext cx="7325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=0.64</m:t>
                      </m:r>
                    </m:oMath>
                  </m:oMathPara>
                </a14:m>
                <a:endParaRPr lang="zh-CN" altLang="en-US" dirty="0"/>
              </a:p>
            </p:txBody>
          </p:sp>
        </mc:Choice>
        <mc:Fallback xmlns="">
          <p:sp>
            <p:nvSpPr>
              <p:cNvPr id="13" name="文本框 12">
                <a:extLst>
                  <a:ext uri="{FF2B5EF4-FFF2-40B4-BE49-F238E27FC236}">
                    <a16:creationId xmlns:a16="http://schemas.microsoft.com/office/drawing/2014/main" id="{7B02E23C-A256-4AFA-8498-2CD89CD5268D}"/>
                  </a:ext>
                </a:extLst>
              </p:cNvPr>
              <p:cNvSpPr txBox="1">
                <a:spLocks noRot="1" noChangeAspect="1" noMove="1" noResize="1" noEditPoints="1" noAdjustHandles="1" noChangeArrowheads="1" noChangeShapeType="1" noTextEdit="1"/>
              </p:cNvSpPr>
              <p:nvPr/>
            </p:nvSpPr>
            <p:spPr>
              <a:xfrm>
                <a:off x="3429456" y="5523545"/>
                <a:ext cx="732573" cy="276999"/>
              </a:xfrm>
              <a:prstGeom prst="rect">
                <a:avLst/>
              </a:prstGeom>
              <a:blipFill>
                <a:blip r:embed="rId10"/>
                <a:stretch>
                  <a:fillRect l="-2500" r="-6667"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476D65D-8B90-4AF4-995F-3F545E340B73}"/>
                  </a:ext>
                </a:extLst>
              </p:cNvPr>
              <p:cNvSpPr txBox="1"/>
              <p:nvPr/>
            </p:nvSpPr>
            <p:spPr>
              <a:xfrm>
                <a:off x="3347605" y="6287970"/>
                <a:ext cx="7325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=0.12</m:t>
                      </m:r>
                    </m:oMath>
                  </m:oMathPara>
                </a14:m>
                <a:endParaRPr lang="zh-CN" altLang="en-US" dirty="0"/>
              </a:p>
            </p:txBody>
          </p:sp>
        </mc:Choice>
        <mc:Fallback xmlns="">
          <p:sp>
            <p:nvSpPr>
              <p:cNvPr id="14" name="文本框 13">
                <a:extLst>
                  <a:ext uri="{FF2B5EF4-FFF2-40B4-BE49-F238E27FC236}">
                    <a16:creationId xmlns:a16="http://schemas.microsoft.com/office/drawing/2014/main" id="{4476D65D-8B90-4AF4-995F-3F545E340B73}"/>
                  </a:ext>
                </a:extLst>
              </p:cNvPr>
              <p:cNvSpPr txBox="1">
                <a:spLocks noRot="1" noChangeAspect="1" noMove="1" noResize="1" noEditPoints="1" noAdjustHandles="1" noChangeArrowheads="1" noChangeShapeType="1" noTextEdit="1"/>
              </p:cNvSpPr>
              <p:nvPr/>
            </p:nvSpPr>
            <p:spPr>
              <a:xfrm>
                <a:off x="3347605" y="6287970"/>
                <a:ext cx="732573" cy="276999"/>
              </a:xfrm>
              <a:prstGeom prst="rect">
                <a:avLst/>
              </a:prstGeom>
              <a:blipFill>
                <a:blip r:embed="rId11"/>
                <a:stretch>
                  <a:fillRect l="-1667" r="-7500" b="-6522"/>
                </a:stretch>
              </a:blipFill>
            </p:spPr>
            <p:txBody>
              <a:bodyPr/>
              <a:lstStyle/>
              <a:p>
                <a:r>
                  <a:rPr lang="zh-CN" altLang="en-US">
                    <a:noFill/>
                  </a:rPr>
                  <a:t> </a:t>
                </a:r>
              </a:p>
            </p:txBody>
          </p:sp>
        </mc:Fallback>
      </mc:AlternateContent>
      <p:sp>
        <p:nvSpPr>
          <p:cNvPr id="7" name="椭圆 6"/>
          <p:cNvSpPr/>
          <p:nvPr/>
        </p:nvSpPr>
        <p:spPr>
          <a:xfrm>
            <a:off x="3629811" y="5405958"/>
            <a:ext cx="581845" cy="4958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 name="Rectangle 74"/>
              <p:cNvSpPr>
                <a:spLocks noChangeArrowheads="1"/>
              </p:cNvSpPr>
              <p:nvPr/>
            </p:nvSpPr>
            <p:spPr bwMode="auto">
              <a:xfrm>
                <a:off x="6835727" y="1501353"/>
                <a:ext cx="2252114" cy="543314"/>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e>
                        <m:e>
                          <m:r>
                            <a:rPr lang="en-US" altLang="zh-CN" sz="1200" b="1" i="1" smtClean="0">
                              <a:solidFill>
                                <a:srgbClr val="C00000"/>
                              </a:solidFill>
                              <a:latin typeface="Cambria Math" panose="02040503050406030204" pitchFamily="18" charset="0"/>
                            </a:rPr>
                            <m:t>𝑨</m:t>
                          </m:r>
                        </m:e>
                      </m:d>
                      <m:r>
                        <a:rPr lang="en-US" altLang="zh-CN" sz="1200" b="1" i="1" smtClean="0">
                          <a:solidFill>
                            <a:srgbClr val="C00000"/>
                          </a:solidFill>
                          <a:latin typeface="Cambria Math" panose="02040503050406030204" pitchFamily="18" charset="0"/>
                        </a:rPr>
                        <m:t>=</m:t>
                      </m:r>
                      <m:f>
                        <m:fPr>
                          <m:ctrlPr>
                            <a:rPr lang="en-US" altLang="zh-CN" sz="1200" b="1" i="1" smtClean="0">
                              <a:solidFill>
                                <a:srgbClr val="C00000"/>
                              </a:solidFill>
                              <a:latin typeface="Cambria Math" panose="02040503050406030204" pitchFamily="18" charset="0"/>
                            </a:rPr>
                          </m:ctrlPr>
                        </m:fPr>
                        <m:num>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r>
                                <a:rPr lang="en-US" altLang="zh-CN" sz="1200" b="1" i="1" smtClean="0">
                                  <a:solidFill>
                                    <a:srgbClr val="C00000"/>
                                  </a:solidFill>
                                  <a:latin typeface="Cambria Math" panose="02040503050406030204" pitchFamily="18" charset="0"/>
                                </a:rPr>
                                <m:t>𝑨</m:t>
                              </m:r>
                            </m:e>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e>
                          </m:d>
                          <m:r>
                            <a:rPr lang="en-US" altLang="zh-CN" sz="1200" b="1" i="1" smtClean="0">
                              <a:solidFill>
                                <a:srgbClr val="C00000"/>
                              </a:solidFill>
                              <a:latin typeface="Cambria Math" panose="02040503050406030204" pitchFamily="18" charset="0"/>
                            </a:rPr>
                            <m:t>𝑷</m:t>
                          </m:r>
                          <m:r>
                            <a:rPr lang="en-US" altLang="zh-CN" sz="1200" b="1" i="1" smtClean="0">
                              <a:solidFill>
                                <a:srgbClr val="C00000"/>
                              </a:solidFill>
                              <a:latin typeface="Cambria Math" panose="02040503050406030204" pitchFamily="18" charset="0"/>
                            </a:rPr>
                            <m:t>(</m:t>
                          </m:r>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r>
                            <a:rPr lang="en-US" altLang="zh-CN" sz="1200" b="1" i="1" smtClean="0">
                              <a:solidFill>
                                <a:srgbClr val="C00000"/>
                              </a:solidFill>
                              <a:latin typeface="Cambria Math" panose="02040503050406030204" pitchFamily="18" charset="0"/>
                            </a:rPr>
                            <m:t>)</m:t>
                          </m:r>
                        </m:num>
                        <m:den>
                          <m:nary>
                            <m:naryPr>
                              <m:chr m:val="∑"/>
                              <m:ctrlPr>
                                <a:rPr lang="en-US" altLang="zh-CN" sz="1200" b="1" i="1" smtClean="0">
                                  <a:solidFill>
                                    <a:srgbClr val="C00000"/>
                                  </a:solidFill>
                                  <a:latin typeface="Cambria Math" panose="02040503050406030204" pitchFamily="18" charset="0"/>
                                </a:rPr>
                              </m:ctrlPr>
                            </m:naryPr>
                            <m:sub>
                              <m:r>
                                <m:rPr>
                                  <m:brk m:alnAt="23"/>
                                </m:rPr>
                                <a:rPr lang="en-US" altLang="zh-CN" sz="1200" b="1" i="1" smtClean="0">
                                  <a:solidFill>
                                    <a:srgbClr val="C00000"/>
                                  </a:solidFill>
                                  <a:latin typeface="Cambria Math" panose="02040503050406030204" pitchFamily="18" charset="0"/>
                                </a:rPr>
                                <m:t>𝒋</m:t>
                              </m:r>
                              <m:r>
                                <a:rPr lang="en-US" altLang="zh-CN" sz="1200" b="1" i="1" smtClean="0">
                                  <a:solidFill>
                                    <a:srgbClr val="C00000"/>
                                  </a:solidFill>
                                  <a:latin typeface="Cambria Math" panose="02040503050406030204" pitchFamily="18" charset="0"/>
                                </a:rPr>
                                <m:t>=</m:t>
                              </m:r>
                              <m:r>
                                <a:rPr lang="en-US" altLang="zh-CN" sz="1200" b="1" i="1" smtClean="0">
                                  <a:solidFill>
                                    <a:srgbClr val="C00000"/>
                                  </a:solidFill>
                                  <a:latin typeface="Cambria Math" panose="02040503050406030204" pitchFamily="18" charset="0"/>
                                </a:rPr>
                                <m:t>𝟏</m:t>
                              </m:r>
                            </m:sub>
                            <m:sup>
                              <m:r>
                                <a:rPr lang="en-US" altLang="zh-CN" sz="1200" b="1" i="1" smtClean="0">
                                  <a:solidFill>
                                    <a:srgbClr val="C00000"/>
                                  </a:solidFill>
                                  <a:latin typeface="Cambria Math" panose="02040503050406030204" pitchFamily="18" charset="0"/>
                                </a:rPr>
                                <m:t>𝒏</m:t>
                              </m:r>
                            </m:sup>
                            <m:e>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r>
                                    <a:rPr lang="en-US" altLang="zh-CN" sz="1200" b="1" i="1" smtClean="0">
                                      <a:solidFill>
                                        <a:srgbClr val="C00000"/>
                                      </a:solidFill>
                                      <a:latin typeface="Cambria Math" panose="02040503050406030204" pitchFamily="18" charset="0"/>
                                    </a:rPr>
                                    <m:t>𝑨</m:t>
                                  </m:r>
                                </m:e>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𝒋</m:t>
                                      </m:r>
                                    </m:sub>
                                  </m:sSub>
                                </m:e>
                              </m:d>
                              <m:r>
                                <a:rPr lang="en-US" altLang="zh-CN" sz="1200" b="1" i="1" smtClean="0">
                                  <a:solidFill>
                                    <a:srgbClr val="C00000"/>
                                  </a:solidFill>
                                  <a:latin typeface="Cambria Math" panose="02040503050406030204" pitchFamily="18" charset="0"/>
                                </a:rPr>
                                <m:t>𝑷</m:t>
                              </m:r>
                              <m:r>
                                <a:rPr lang="en-US" altLang="zh-CN" sz="1200" b="1" i="1" smtClean="0">
                                  <a:solidFill>
                                    <a:srgbClr val="C00000"/>
                                  </a:solidFill>
                                  <a:latin typeface="Cambria Math" panose="02040503050406030204" pitchFamily="18" charset="0"/>
                                </a:rPr>
                                <m:t>(</m:t>
                              </m:r>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𝒋</m:t>
                                  </m:r>
                                </m:sub>
                              </m:sSub>
                              <m:r>
                                <a:rPr lang="en-US" altLang="zh-CN" sz="1200" b="1" i="1" smtClean="0">
                                  <a:solidFill>
                                    <a:srgbClr val="C00000"/>
                                  </a:solidFill>
                                  <a:latin typeface="Cambria Math" panose="02040503050406030204" pitchFamily="18" charset="0"/>
                                </a:rPr>
                                <m:t>)</m:t>
                              </m:r>
                            </m:e>
                          </m:nary>
                        </m:den>
                      </m:f>
                    </m:oMath>
                  </m:oMathPara>
                </a14:m>
                <a:endParaRPr lang="en-US" altLang="zh-CN" sz="1200" b="1" dirty="0">
                  <a:solidFill>
                    <a:srgbClr val="C00000"/>
                  </a:solidFill>
                </a:endParaRPr>
              </a:p>
            </p:txBody>
          </p:sp>
        </mc:Choice>
        <mc:Fallback xmlns="">
          <p:sp>
            <p:nvSpPr>
              <p:cNvPr id="19" name="Rectangle 74"/>
              <p:cNvSpPr>
                <a:spLocks noRot="1" noChangeAspect="1" noMove="1" noResize="1" noEditPoints="1" noAdjustHandles="1" noChangeArrowheads="1" noChangeShapeType="1" noTextEdit="1"/>
              </p:cNvSpPr>
              <p:nvPr/>
            </p:nvSpPr>
            <p:spPr bwMode="auto">
              <a:xfrm>
                <a:off x="6835727" y="1501353"/>
                <a:ext cx="2252114" cy="543314"/>
              </a:xfrm>
              <a:prstGeom prst="rect">
                <a:avLst/>
              </a:prstGeom>
              <a:blipFill>
                <a:blip r:embed="rId12"/>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zh-CN" altLang="en-US">
                    <a:noFill/>
                  </a:rPr>
                  <a:t> </a:t>
                </a:r>
              </a:p>
            </p:txBody>
          </p:sp>
        </mc:Fallback>
      </mc:AlternateContent>
      <p:grpSp>
        <p:nvGrpSpPr>
          <p:cNvPr id="18" name="组合 17"/>
          <p:cNvGrpSpPr/>
          <p:nvPr/>
        </p:nvGrpSpPr>
        <p:grpSpPr>
          <a:xfrm>
            <a:off x="3655472" y="1372851"/>
            <a:ext cx="2934279" cy="372444"/>
            <a:chOff x="2753928" y="1361996"/>
            <a:chExt cx="2934279" cy="372444"/>
          </a:xfrm>
        </p:grpSpPr>
        <mc:AlternateContent xmlns:mc="http://schemas.openxmlformats.org/markup-compatibility/2006" xmlns:a14="http://schemas.microsoft.com/office/drawing/2010/main">
          <mc:Choice Requires="a14">
            <p:sp>
              <p:nvSpPr>
                <p:cNvPr id="17" name="矩形 16"/>
                <p:cNvSpPr/>
                <p:nvPr/>
              </p:nvSpPr>
              <p:spPr>
                <a:xfrm>
                  <a:off x="2753928" y="1361996"/>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a:solidFill>
                                      <a:schemeClr val="accent2">
                                        <a:lumMod val="75000"/>
                                      </a:schemeClr>
                                    </a:solidFill>
                                    <a:latin typeface="Cambria Math" panose="02040503050406030204" pitchFamily="18" charset="0"/>
                                  </a:rPr>
                                  <m:t>𝟏</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2753928" y="1361996"/>
                  <a:ext cx="876880" cy="369332"/>
                </a:xfrm>
                <a:prstGeom prst="rect">
                  <a:avLst/>
                </a:prstGeom>
                <a:blipFill rotWithShape="1">
                  <a:blip r:embed="rId13"/>
                  <a:stretch>
                    <a:fillRect r="-48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3778822" y="1365108"/>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smtClean="0">
                                    <a:solidFill>
                                      <a:schemeClr val="accent2">
                                        <a:lumMod val="75000"/>
                                      </a:schemeClr>
                                    </a:solidFill>
                                    <a:latin typeface="Cambria Math"/>
                                  </a:rPr>
                                  <m:t>𝟐</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23" name="矩形 22"/>
                <p:cNvSpPr>
                  <a:spLocks noRot="1" noChangeAspect="1" noMove="1" noResize="1" noEditPoints="1" noAdjustHandles="1" noChangeArrowheads="1" noChangeShapeType="1" noTextEdit="1"/>
                </p:cNvSpPr>
                <p:nvPr/>
              </p:nvSpPr>
              <p:spPr>
                <a:xfrm>
                  <a:off x="3778822" y="1365108"/>
                  <a:ext cx="876880" cy="369332"/>
                </a:xfrm>
                <a:prstGeom prst="rect">
                  <a:avLst/>
                </a:prstGeom>
                <a:blipFill rotWithShape="1">
                  <a:blip r:embed="rId14"/>
                  <a:stretch>
                    <a:fillRect r="-48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4811327" y="1361996"/>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smtClean="0">
                                    <a:solidFill>
                                      <a:schemeClr val="accent2">
                                        <a:lumMod val="75000"/>
                                      </a:schemeClr>
                                    </a:solidFill>
                                    <a:latin typeface="Cambria Math"/>
                                  </a:rPr>
                                  <m:t>𝟑</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24" name="矩形 23"/>
                <p:cNvSpPr>
                  <a:spLocks noRot="1" noChangeAspect="1" noMove="1" noResize="1" noEditPoints="1" noAdjustHandles="1" noChangeArrowheads="1" noChangeShapeType="1" noTextEdit="1"/>
                </p:cNvSpPr>
                <p:nvPr/>
              </p:nvSpPr>
              <p:spPr>
                <a:xfrm>
                  <a:off x="4811327" y="1361996"/>
                  <a:ext cx="876880" cy="369332"/>
                </a:xfrm>
                <a:prstGeom prst="rect">
                  <a:avLst/>
                </a:prstGeom>
                <a:blipFill rotWithShape="1">
                  <a:blip r:embed="rId15"/>
                  <a:stretch>
                    <a:fillRect r="-555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5" name="矩形 14"/>
              <p:cNvSpPr/>
              <p:nvPr/>
            </p:nvSpPr>
            <p:spPr>
              <a:xfrm>
                <a:off x="3419691" y="3603242"/>
                <a:ext cx="3894015" cy="369332"/>
              </a:xfrm>
              <a:prstGeom prst="rect">
                <a:avLst/>
              </a:prstGeom>
            </p:spPr>
            <p:txBody>
              <a:bodyPr wrap="none">
                <a:spAutoFit/>
              </a:bodyPr>
              <a:lstStyle/>
              <a:p>
                <a14:m>
                  <m:oMath xmlns:m="http://schemas.openxmlformats.org/officeDocument/2006/math">
                    <m:r>
                      <a:rPr lang="en-US" altLang="zh-CN" b="0" i="1" smtClean="0">
                        <a:latin typeface="Cambria Math"/>
                      </a:rPr>
                      <m:t>=</m:t>
                    </m:r>
                    <m:r>
                      <a:rPr lang="en-US" altLang="zh-CN" i="1">
                        <a:latin typeface="Cambria Math" panose="02040503050406030204" pitchFamily="18" charset="0"/>
                      </a:rPr>
                      <m:t>0.02∗0.15</m:t>
                    </m:r>
                  </m:oMath>
                </a14:m>
                <a:r>
                  <a:rPr lang="en-US" altLang="zh-CN" dirty="0"/>
                  <a:t>+</a:t>
                </a:r>
                <a14:m>
                  <m:oMath xmlns:m="http://schemas.openxmlformats.org/officeDocument/2006/math">
                    <m:r>
                      <a:rPr lang="en-US" altLang="zh-CN" i="1">
                        <a:latin typeface="Cambria Math" panose="02040503050406030204" pitchFamily="18" charset="0"/>
                      </a:rPr>
                      <m:t>0.0</m:t>
                    </m:r>
                    <m:r>
                      <a:rPr lang="en-US" altLang="zh-CN" b="0" i="1" smtClean="0">
                        <a:latin typeface="Cambria Math"/>
                      </a:rPr>
                      <m:t>1</m:t>
                    </m:r>
                    <m:r>
                      <a:rPr lang="en-US" altLang="zh-CN" i="1">
                        <a:latin typeface="Cambria Math" panose="02040503050406030204" pitchFamily="18" charset="0"/>
                      </a:rPr>
                      <m:t>∗0.</m:t>
                    </m:r>
                    <m:r>
                      <a:rPr lang="en-US" altLang="zh-CN" b="0" i="1" smtClean="0">
                        <a:latin typeface="Cambria Math"/>
                      </a:rPr>
                      <m:t>80</m:t>
                    </m:r>
                  </m:oMath>
                </a14:m>
                <a:r>
                  <a:rPr lang="en-US" altLang="zh-CN" dirty="0"/>
                  <a:t>+</a:t>
                </a:r>
                <a14:m>
                  <m:oMath xmlns:m="http://schemas.openxmlformats.org/officeDocument/2006/math">
                    <m:r>
                      <a:rPr lang="en-US" altLang="zh-CN" i="1">
                        <a:latin typeface="Cambria Math" panose="02040503050406030204" pitchFamily="18" charset="0"/>
                      </a:rPr>
                      <m:t>0.0</m:t>
                    </m:r>
                    <m:r>
                      <a:rPr lang="en-US" altLang="zh-CN" b="0" i="1" smtClean="0">
                        <a:latin typeface="Cambria Math"/>
                      </a:rPr>
                      <m:t>3</m:t>
                    </m:r>
                    <m:r>
                      <a:rPr lang="en-US" altLang="zh-CN" i="1">
                        <a:latin typeface="Cambria Math" panose="02040503050406030204" pitchFamily="18" charset="0"/>
                      </a:rPr>
                      <m:t>∗0.5</m:t>
                    </m:r>
                    <m:r>
                      <a:rPr lang="en-US" altLang="zh-CN" b="0" i="1" smtClean="0">
                        <a:latin typeface="Cambria Math"/>
                      </a:rPr>
                      <m:t>0</m:t>
                    </m:r>
                  </m:oMath>
                </a14:m>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3419691" y="3603242"/>
                <a:ext cx="3894015" cy="369332"/>
              </a:xfrm>
              <a:prstGeom prst="rect">
                <a:avLst/>
              </a:prstGeom>
              <a:blipFill>
                <a:blip r:embed="rId16"/>
                <a:stretch>
                  <a:fillRect t="-8197" r="-782" b="-24590"/>
                </a:stretch>
              </a:blipFill>
            </p:spPr>
            <p:txBody>
              <a:bodyPr/>
              <a:lstStyle/>
              <a:p>
                <a:r>
                  <a:rPr lang="zh-CN" altLang="en-US">
                    <a:noFill/>
                  </a:rPr>
                  <a:t> </a:t>
                </a:r>
              </a:p>
            </p:txBody>
          </p:sp>
        </mc:Fallback>
      </mc:AlternateContent>
      <p:sp>
        <p:nvSpPr>
          <p:cNvPr id="25" name="文本框 4">
            <a:extLst>
              <a:ext uri="{FF2B5EF4-FFF2-40B4-BE49-F238E27FC236}">
                <a16:creationId xmlns:a16="http://schemas.microsoft.com/office/drawing/2014/main" id="{F672066A-3BB9-4885-9D78-EEEF29A07F82}"/>
              </a:ext>
            </a:extLst>
          </p:cNvPr>
          <p:cNvSpPr txBox="1"/>
          <p:nvPr/>
        </p:nvSpPr>
        <p:spPr>
          <a:xfrm>
            <a:off x="821754" y="2601438"/>
            <a:ext cx="561051" cy="276999"/>
          </a:xfrm>
          <a:prstGeom prst="rect">
            <a:avLst/>
          </a:prstGeom>
          <a:noFill/>
        </p:spPr>
        <p:txBody>
          <a:bodyPr wrap="none" lIns="0" tIns="0" rIns="0" bIns="0" rtlCol="0">
            <a:spAutoFit/>
          </a:bodyPr>
          <a:lstStyle/>
          <a:p>
            <a:r>
              <a:rPr lang="en-US" altLang="zh-CN" b="1" dirty="0">
                <a:solidFill>
                  <a:schemeClr val="accent2">
                    <a:lumMod val="75000"/>
                  </a:schemeClr>
                </a:solidFill>
                <a:latin typeface="STXinwei" panose="02010800040101010101" pitchFamily="2" charset="-122"/>
                <a:ea typeface="STXinwei" panose="02010800040101010101" pitchFamily="2" charset="-122"/>
              </a:rPr>
              <a:t>Prior:</a:t>
            </a:r>
            <a:endParaRPr lang="zh-CN" altLang="en-US" b="1" dirty="0">
              <a:solidFill>
                <a:schemeClr val="accent2">
                  <a:lumMod val="75000"/>
                </a:schemeClr>
              </a:solidFill>
              <a:latin typeface="华文新魏" panose="02010800040101010101" pitchFamily="2" charset="-122"/>
              <a:ea typeface="华文新魏" panose="02010800040101010101" pitchFamily="2" charset="-122"/>
            </a:endParaRPr>
          </a:p>
        </p:txBody>
      </p:sp>
      <p:grpSp>
        <p:nvGrpSpPr>
          <p:cNvPr id="27" name="组合 26"/>
          <p:cNvGrpSpPr/>
          <p:nvPr/>
        </p:nvGrpSpPr>
        <p:grpSpPr>
          <a:xfrm>
            <a:off x="5235866" y="2588308"/>
            <a:ext cx="2633188" cy="266981"/>
            <a:chOff x="2753928" y="1361996"/>
            <a:chExt cx="2934279" cy="372444"/>
          </a:xfrm>
        </p:grpSpPr>
        <mc:AlternateContent xmlns:mc="http://schemas.openxmlformats.org/markup-compatibility/2006" xmlns:a14="http://schemas.microsoft.com/office/drawing/2010/main">
          <mc:Choice Requires="a14">
            <p:sp>
              <p:nvSpPr>
                <p:cNvPr id="28" name="矩形 27"/>
                <p:cNvSpPr/>
                <p:nvPr/>
              </p:nvSpPr>
              <p:spPr>
                <a:xfrm>
                  <a:off x="2753928" y="1361996"/>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a:solidFill>
                                      <a:schemeClr val="accent2">
                                        <a:lumMod val="75000"/>
                                      </a:schemeClr>
                                    </a:solidFill>
                                    <a:latin typeface="Cambria Math" panose="02040503050406030204" pitchFamily="18" charset="0"/>
                                  </a:rPr>
                                  <m:t>𝟏</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2753928" y="1361996"/>
                  <a:ext cx="876880" cy="369332"/>
                </a:xfrm>
                <a:prstGeom prst="rect">
                  <a:avLst/>
                </a:prstGeom>
                <a:blipFill rotWithShape="1">
                  <a:blip r:embed="rId13"/>
                  <a:stretch>
                    <a:fillRect r="-48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3778822" y="1365108"/>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smtClean="0">
                                    <a:solidFill>
                                      <a:schemeClr val="accent2">
                                        <a:lumMod val="75000"/>
                                      </a:schemeClr>
                                    </a:solidFill>
                                    <a:latin typeface="Cambria Math"/>
                                  </a:rPr>
                                  <m:t>𝟐</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23" name="矩形 22"/>
                <p:cNvSpPr>
                  <a:spLocks noRot="1" noChangeAspect="1" noMove="1" noResize="1" noEditPoints="1" noAdjustHandles="1" noChangeArrowheads="1" noChangeShapeType="1" noTextEdit="1"/>
                </p:cNvSpPr>
                <p:nvPr/>
              </p:nvSpPr>
              <p:spPr>
                <a:xfrm>
                  <a:off x="3778822" y="1365108"/>
                  <a:ext cx="876880" cy="369332"/>
                </a:xfrm>
                <a:prstGeom prst="rect">
                  <a:avLst/>
                </a:prstGeom>
                <a:blipFill rotWithShape="1">
                  <a:blip r:embed="rId14"/>
                  <a:stretch>
                    <a:fillRect r="-48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4811327" y="1361996"/>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smtClean="0">
                                    <a:solidFill>
                                      <a:schemeClr val="accent2">
                                        <a:lumMod val="75000"/>
                                      </a:schemeClr>
                                    </a:solidFill>
                                    <a:latin typeface="Cambria Math"/>
                                  </a:rPr>
                                  <m:t>𝟑</m:t>
                                </m:r>
                              </m:sub>
                            </m:sSub>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24" name="矩形 23"/>
                <p:cNvSpPr>
                  <a:spLocks noRot="1" noChangeAspect="1" noMove="1" noResize="1" noEditPoints="1" noAdjustHandles="1" noChangeArrowheads="1" noChangeShapeType="1" noTextEdit="1"/>
                </p:cNvSpPr>
                <p:nvPr/>
              </p:nvSpPr>
              <p:spPr>
                <a:xfrm>
                  <a:off x="4811327" y="1361996"/>
                  <a:ext cx="876880" cy="369332"/>
                </a:xfrm>
                <a:prstGeom prst="rect">
                  <a:avLst/>
                </a:prstGeom>
                <a:blipFill rotWithShape="1">
                  <a:blip r:embed="rId15"/>
                  <a:stretch>
                    <a:fillRect r="-555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0" name="矩形 19"/>
              <p:cNvSpPr/>
              <p:nvPr/>
            </p:nvSpPr>
            <p:spPr>
              <a:xfrm>
                <a:off x="1401647" y="2565981"/>
                <a:ext cx="23053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2">
                              <a:lumMod val="75000"/>
                            </a:schemeClr>
                          </a:solidFill>
                          <a:latin typeface="Cambria Math" panose="02040503050406030204" pitchFamily="18" charset="0"/>
                        </a:rPr>
                        <m:t>𝑷</m:t>
                      </m:r>
                      <m:r>
                        <a:rPr lang="en-US" altLang="zh-CN" b="1" i="1">
                          <a:solidFill>
                            <a:schemeClr val="accent2">
                              <a:lumMod val="75000"/>
                            </a:schemeClr>
                          </a:solidFill>
                          <a:latin typeface="Cambria Math" panose="02040503050406030204" pitchFamily="18" charset="0"/>
                        </a:rPr>
                        <m:t>(</m:t>
                      </m:r>
                      <m:sSub>
                        <m:sSubPr>
                          <m:ctrlPr>
                            <a:rPr lang="en-US" altLang="zh-CN" b="1" i="1">
                              <a:solidFill>
                                <a:schemeClr val="accent2">
                                  <a:lumMod val="75000"/>
                                </a:schemeClr>
                              </a:solidFill>
                              <a:latin typeface="Cambria Math" panose="02040503050406030204" pitchFamily="18" charset="0"/>
                            </a:rPr>
                          </m:ctrlPr>
                        </m:sSubPr>
                        <m:e>
                          <m:r>
                            <a:rPr lang="en-US" altLang="zh-CN" b="1" i="1">
                              <a:solidFill>
                                <a:schemeClr val="accent2">
                                  <a:lumMod val="75000"/>
                                </a:schemeClr>
                              </a:solidFill>
                              <a:latin typeface="Cambria Math" panose="02040503050406030204" pitchFamily="18" charset="0"/>
                            </a:rPr>
                            <m:t>𝑩</m:t>
                          </m:r>
                        </m:e>
                        <m:sub>
                          <m:r>
                            <a:rPr lang="en-US" altLang="zh-CN" b="1" i="1">
                              <a:solidFill>
                                <a:schemeClr val="accent2">
                                  <a:lumMod val="75000"/>
                                </a:schemeClr>
                              </a:solidFill>
                              <a:latin typeface="Cambria Math" panose="02040503050406030204" pitchFamily="18" charset="0"/>
                            </a:rPr>
                            <m:t>𝒊</m:t>
                          </m:r>
                        </m:sub>
                      </m:sSub>
                      <m:r>
                        <a:rPr lang="en-US" altLang="zh-CN" b="1" i="1">
                          <a:solidFill>
                            <a:schemeClr val="accent2">
                              <a:lumMod val="75000"/>
                            </a:schemeClr>
                          </a:solidFill>
                          <a:latin typeface="Cambria Math" panose="02040503050406030204" pitchFamily="18" charset="0"/>
                        </a:rPr>
                        <m:t>)(</m:t>
                      </m:r>
                      <m:r>
                        <a:rPr lang="en-US" altLang="zh-CN" b="1" i="1">
                          <a:solidFill>
                            <a:schemeClr val="accent2">
                              <a:lumMod val="75000"/>
                            </a:schemeClr>
                          </a:solidFill>
                          <a:latin typeface="Cambria Math" panose="02040503050406030204" pitchFamily="18" charset="0"/>
                        </a:rPr>
                        <m:t>𝒊</m:t>
                      </m:r>
                      <m:r>
                        <a:rPr lang="en-US" altLang="zh-CN" b="1" i="1">
                          <a:solidFill>
                            <a:schemeClr val="accent2">
                              <a:lumMod val="75000"/>
                            </a:schemeClr>
                          </a:solidFill>
                          <a:latin typeface="Cambria Math" panose="02040503050406030204" pitchFamily="18" charset="0"/>
                        </a:rPr>
                        <m:t>=</m:t>
                      </m:r>
                      <m:r>
                        <a:rPr lang="en-US" altLang="zh-CN" b="1" i="1">
                          <a:solidFill>
                            <a:schemeClr val="accent2">
                              <a:lumMod val="75000"/>
                            </a:schemeClr>
                          </a:solidFill>
                          <a:latin typeface="Cambria Math" panose="02040503050406030204" pitchFamily="18" charset="0"/>
                        </a:rPr>
                        <m:t>𝟏</m:t>
                      </m:r>
                      <m:r>
                        <a:rPr lang="en-US" altLang="zh-CN" b="1" i="1">
                          <a:solidFill>
                            <a:schemeClr val="accent2">
                              <a:lumMod val="75000"/>
                            </a:schemeClr>
                          </a:solidFill>
                          <a:latin typeface="Cambria Math" panose="02040503050406030204" pitchFamily="18" charset="0"/>
                        </a:rPr>
                        <m:t>,</m:t>
                      </m:r>
                      <m:r>
                        <a:rPr lang="en-US" altLang="zh-CN" b="1" i="1">
                          <a:solidFill>
                            <a:schemeClr val="accent2">
                              <a:lumMod val="75000"/>
                            </a:schemeClr>
                          </a:solidFill>
                          <a:latin typeface="Cambria Math" panose="02040503050406030204" pitchFamily="18" charset="0"/>
                        </a:rPr>
                        <m:t>𝟐</m:t>
                      </m:r>
                      <m:r>
                        <a:rPr lang="en-US" altLang="zh-CN" b="1" i="1">
                          <a:solidFill>
                            <a:schemeClr val="accent2">
                              <a:lumMod val="75000"/>
                            </a:schemeClr>
                          </a:solidFill>
                          <a:latin typeface="Cambria Math" panose="02040503050406030204" pitchFamily="18" charset="0"/>
                        </a:rPr>
                        <m:t>,…,</m:t>
                      </m:r>
                      <m:r>
                        <a:rPr lang="en-US" altLang="zh-CN" b="1" i="1">
                          <a:solidFill>
                            <a:schemeClr val="accent2">
                              <a:lumMod val="75000"/>
                            </a:schemeClr>
                          </a:solidFill>
                          <a:latin typeface="Cambria Math" panose="02040503050406030204" pitchFamily="18" charset="0"/>
                        </a:rPr>
                        <m:t>𝒏</m:t>
                      </m:r>
                      <m:r>
                        <a:rPr lang="en-US" altLang="zh-CN" b="1" i="1">
                          <a:solidFill>
                            <a:schemeClr val="accent2">
                              <a:lumMod val="75000"/>
                            </a:schemeClr>
                          </a:solidFill>
                          <a:latin typeface="Cambria Math" panose="02040503050406030204" pitchFamily="18" charset="0"/>
                        </a:rPr>
                        <m:t>)</m:t>
                      </m:r>
                    </m:oMath>
                  </m:oMathPara>
                </a14:m>
                <a:endParaRPr lang="zh-CN" altLang="en-US" b="1" dirty="0">
                  <a:solidFill>
                    <a:schemeClr val="accent2">
                      <a:lumMod val="75000"/>
                    </a:schemeClr>
                  </a:solidFill>
                  <a:latin typeface="华文新魏" panose="02010800040101010101" pitchFamily="2" charset="-122"/>
                  <a:ea typeface="华文新魏" panose="02010800040101010101" pitchFamily="2" charset="-122"/>
                </a:endParaRPr>
              </a:p>
            </p:txBody>
          </p:sp>
        </mc:Choice>
        <mc:Fallback xmlns="">
          <p:sp>
            <p:nvSpPr>
              <p:cNvPr id="20" name="矩形 19"/>
              <p:cNvSpPr>
                <a:spLocks noRot="1" noChangeAspect="1" noMove="1" noResize="1" noEditPoints="1" noAdjustHandles="1" noChangeArrowheads="1" noChangeShapeType="1" noTextEdit="1"/>
              </p:cNvSpPr>
              <p:nvPr/>
            </p:nvSpPr>
            <p:spPr>
              <a:xfrm>
                <a:off x="1401647" y="2565981"/>
                <a:ext cx="2305375" cy="369332"/>
              </a:xfrm>
              <a:prstGeom prst="rect">
                <a:avLst/>
              </a:prstGeom>
              <a:blipFill>
                <a:blip r:embed="rId17"/>
                <a:stretch>
                  <a:fillRect b="-13333"/>
                </a:stretch>
              </a:blipFill>
            </p:spPr>
            <p:txBody>
              <a:bodyPr/>
              <a:lstStyle/>
              <a:p>
                <a:r>
                  <a:rPr lang="en-CN">
                    <a:noFill/>
                  </a:rPr>
                  <a:t> </a:t>
                </a:r>
              </a:p>
            </p:txBody>
          </p:sp>
        </mc:Fallback>
      </mc:AlternateContent>
      <p:sp>
        <p:nvSpPr>
          <p:cNvPr id="32" name="文本框 4">
            <a:extLst>
              <a:ext uri="{FF2B5EF4-FFF2-40B4-BE49-F238E27FC236}">
                <a16:creationId xmlns:a16="http://schemas.microsoft.com/office/drawing/2014/main" id="{35A64763-7CC6-2F4C-8C9D-24DB4D4A58E7}"/>
              </a:ext>
            </a:extLst>
          </p:cNvPr>
          <p:cNvSpPr txBox="1"/>
          <p:nvPr/>
        </p:nvSpPr>
        <p:spPr>
          <a:xfrm>
            <a:off x="4258993" y="2624103"/>
            <a:ext cx="971420" cy="276999"/>
          </a:xfrm>
          <a:prstGeom prst="rect">
            <a:avLst/>
          </a:prstGeom>
          <a:noFill/>
        </p:spPr>
        <p:txBody>
          <a:bodyPr wrap="none" lIns="0" tIns="0" rIns="0" bIns="0" rtlCol="0">
            <a:spAutoFit/>
          </a:bodyPr>
          <a:lstStyle/>
          <a:p>
            <a:r>
              <a:rPr lang="en-US" altLang="zh-CN" b="1" dirty="0">
                <a:solidFill>
                  <a:schemeClr val="accent2">
                    <a:lumMod val="75000"/>
                  </a:schemeClr>
                </a:solidFill>
                <a:latin typeface="STXinwei" panose="02010800040101010101" pitchFamily="2" charset="-122"/>
                <a:ea typeface="STXinwei" panose="02010800040101010101" pitchFamily="2" charset="-122"/>
              </a:rPr>
              <a:t>Posterior:</a:t>
            </a:r>
            <a:endParaRPr lang="zh-CN" altLang="en-US" b="1" dirty="0">
              <a:solidFill>
                <a:schemeClr val="accent2">
                  <a:lumMod val="75000"/>
                </a:schemeClr>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circle(ou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500"/>
                                        <p:tgtEl>
                                          <p:spTgt spid="5"/>
                                        </p:tgtEl>
                                      </p:cBhvr>
                                    </p:animEffect>
                                  </p:childTnLst>
                                </p:cTn>
                              </p:par>
                              <p:par>
                                <p:cTn id="46" presetID="1" presetClass="exit" presetSubtype="0" fill="hold" grpId="1" nodeType="withEffect">
                                  <p:stCondLst>
                                    <p:cond delay="0"/>
                                  </p:stCondLst>
                                  <p:childTnLst>
                                    <p:set>
                                      <p:cBhvr>
                                        <p:cTn id="47" dur="1" fill="hold">
                                          <p:stCondLst>
                                            <p:cond delay="0"/>
                                          </p:stCondLst>
                                        </p:cTn>
                                        <p:tgtEl>
                                          <p:spTgt spid="25"/>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20"/>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32"/>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2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fade">
                                      <p:cBhvr>
                                        <p:cTn id="76" dur="500"/>
                                        <p:tgtEl>
                                          <p:spTgt spid="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500"/>
                                        <p:tgtEl>
                                          <p:spTgt spid="4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3"/>
                                        </p:tgtEl>
                                        <p:attrNameLst>
                                          <p:attrName>style.visibility</p:attrName>
                                        </p:attrNameLst>
                                      </p:cBhvr>
                                      <p:to>
                                        <p:strVal val="visible"/>
                                      </p:to>
                                    </p:set>
                                    <p:animEffect transition="in" filter="fade">
                                      <p:cBhvr>
                                        <p:cTn id="91" dur="500"/>
                                        <p:tgtEl>
                                          <p:spTgt spid="1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fade">
                                      <p:cBhvr>
                                        <p:cTn id="96" dur="500"/>
                                        <p:tgtEl>
                                          <p:spTgt spid="44"/>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fade">
                                      <p:cBhvr>
                                        <p:cTn id="101" dur="500"/>
                                        <p:tgtEl>
                                          <p:spTgt spid="14"/>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7"/>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0"/>
                                        </p:tgtEl>
                                        <p:attrNameLst>
                                          <p:attrName>style.visibility</p:attrName>
                                        </p:attrNameLst>
                                      </p:cBhvr>
                                      <p:to>
                                        <p:strVal val="visible"/>
                                      </p:to>
                                    </p:set>
                                    <p:animEffect transition="in" filter="fade">
                                      <p:cBhvr>
                                        <p:cTn id="110" dur="500"/>
                                        <p:tgtEl>
                                          <p:spTgt spid="10"/>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400452"/>
                                        </p:tgtEl>
                                        <p:attrNameLst>
                                          <p:attrName>style.visibility</p:attrName>
                                        </p:attrNameLst>
                                      </p:cBhvr>
                                      <p:to>
                                        <p:strVal val="visible"/>
                                      </p:to>
                                    </p:set>
                                    <p:anim calcmode="lin" valueType="num">
                                      <p:cBhvr additive="base">
                                        <p:cTn id="115" dur="500" fill="hold"/>
                                        <p:tgtEl>
                                          <p:spTgt spid="400452"/>
                                        </p:tgtEl>
                                        <p:attrNameLst>
                                          <p:attrName>ppt_x</p:attrName>
                                        </p:attrNameLst>
                                      </p:cBhvr>
                                      <p:tavLst>
                                        <p:tav tm="0">
                                          <p:val>
                                            <p:strVal val="1+#ppt_w/2"/>
                                          </p:val>
                                        </p:tav>
                                        <p:tav tm="100000">
                                          <p:val>
                                            <p:strVal val="#ppt_x"/>
                                          </p:val>
                                        </p:tav>
                                      </p:tavLst>
                                    </p:anim>
                                    <p:anim calcmode="lin" valueType="num">
                                      <p:cBhvr additive="base">
                                        <p:cTn id="116" dur="500" fill="hold"/>
                                        <p:tgtEl>
                                          <p:spTgt spid="400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52" grpId="0" animBg="1"/>
      <p:bldP spid="3" grpId="0"/>
      <p:bldP spid="4" grpId="0"/>
      <p:bldP spid="37" grpId="0"/>
      <p:bldP spid="5" grpId="0"/>
      <p:bldP spid="6" grpId="0"/>
      <p:bldP spid="8" grpId="0"/>
      <p:bldP spid="9" grpId="0"/>
      <p:bldP spid="43" grpId="0"/>
      <p:bldP spid="44" grpId="0"/>
      <p:bldP spid="10" grpId="0"/>
      <p:bldP spid="11" grpId="0"/>
      <p:bldP spid="12" grpId="0"/>
      <p:bldP spid="13" grpId="0"/>
      <p:bldP spid="14" grpId="0"/>
      <p:bldP spid="7" grpId="0" animBg="1"/>
      <p:bldP spid="19" grpId="0" animBg="1"/>
      <p:bldP spid="15" grpId="0"/>
      <p:bldP spid="25" grpId="0"/>
      <p:bldP spid="25" grpId="1"/>
      <p:bldP spid="20" grpId="0"/>
      <p:bldP spid="20" grpId="1"/>
      <p:bldP spid="32" grpId="0"/>
      <p:bldP spid="3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F7D1D9-7BF5-425B-8257-D08A4D3DCF1F}"/>
              </a:ext>
            </a:extLst>
          </p:cNvPr>
          <p:cNvSpPr txBox="1"/>
          <p:nvPr/>
        </p:nvSpPr>
        <p:spPr>
          <a:xfrm>
            <a:off x="126031" y="37006"/>
            <a:ext cx="8891937" cy="2545762"/>
          </a:xfrm>
          <a:prstGeom prst="rect">
            <a:avLst/>
          </a:prstGeom>
          <a:noFill/>
        </p:spPr>
        <p:txBody>
          <a:bodyPr wrap="square" rtlCol="0">
            <a:spAutoFit/>
          </a:bodyPr>
          <a:lstStyle/>
          <a:p>
            <a:pPr algn="just">
              <a:lnSpc>
                <a:spcPct val="150000"/>
              </a:lnSpc>
            </a:pPr>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a:t>
            </a:r>
            <a:r>
              <a:rPr lang="en-US" altLang="zh-CN" dirty="0">
                <a:solidFill>
                  <a:schemeClr val="accent2">
                    <a:lumMod val="75000"/>
                  </a:schemeClr>
                </a:solidFill>
                <a:latin typeface="华文新魏" panose="02010800040101010101" pitchFamily="2" charset="-122"/>
                <a:ea typeface="华文新魏" panose="02010800040101010101" pitchFamily="2" charset="-122"/>
              </a:rPr>
              <a:t>:</a:t>
            </a:r>
            <a:r>
              <a:rPr lang="en-US" altLang="zh-CN" b="1" dirty="0">
                <a:solidFill>
                  <a:schemeClr val="accent5">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 </a:t>
            </a:r>
            <a:r>
              <a:rPr lang="en-US" altLang="zh-CN" sz="1800" kern="100" dirty="0">
                <a:solidFill>
                  <a:schemeClr val="accent5">
                    <a:lumMod val="75000"/>
                  </a:schemeClr>
                </a:solidFill>
                <a:effectLst/>
                <a:latin typeface="华文新魏" panose="02010800040101010101" pitchFamily="2" charset="-122"/>
                <a:ea typeface="华文新魏" panose="02010800040101010101" pitchFamily="2" charset="-122"/>
                <a:cs typeface="Times New Roman" panose="02020603050405020304" pitchFamily="18" charset="0"/>
              </a:rPr>
              <a:t>According to the collected data analysis, the passing rate of their products is 0.9 when the machine is well adjusted at the beginning of a day; while the passing rate is 0.6 when the machine is malfunctioned. The machine starts every day in the morning with 0.95 probability that it is well adjusted. </a:t>
            </a:r>
          </a:p>
          <a:p>
            <a:pPr algn="just">
              <a:lnSpc>
                <a:spcPct val="150000"/>
              </a:lnSpc>
            </a:pPr>
            <a:r>
              <a:rPr lang="en-US" altLang="zh-CN" sz="1800" kern="100" dirty="0">
                <a:solidFill>
                  <a:schemeClr val="accent5">
                    <a:lumMod val="75000"/>
                  </a:schemeClr>
                </a:solidFill>
                <a:effectLst/>
                <a:latin typeface="华文新魏" panose="02010800040101010101" pitchFamily="2" charset="-122"/>
                <a:ea typeface="华文新魏" panose="02010800040101010101" pitchFamily="2" charset="-122"/>
                <a:cs typeface="Times New Roman" panose="02020603050405020304" pitchFamily="18" charset="0"/>
              </a:rPr>
              <a:t>Compute the probability that the machine is well adjusted in a day if the first product produced in the morning is qualified?</a:t>
            </a:r>
            <a:endParaRPr lang="zh-CN" altLang="en-US" dirty="0">
              <a:solidFill>
                <a:schemeClr val="accent1">
                  <a:lumMod val="75000"/>
                </a:schemeClr>
              </a:solidFill>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7916CE57-721D-4764-AB17-D0529EC4552F}"/>
              </a:ext>
            </a:extLst>
          </p:cNvPr>
          <p:cNvSpPr txBox="1"/>
          <p:nvPr/>
        </p:nvSpPr>
        <p:spPr>
          <a:xfrm>
            <a:off x="194139" y="2827039"/>
            <a:ext cx="1641796" cy="369332"/>
          </a:xfrm>
          <a:prstGeom prst="rect">
            <a:avLst/>
          </a:prstGeom>
          <a:noFill/>
        </p:spPr>
        <p:txBody>
          <a:bodyPr wrap="none" rtlCol="0">
            <a:spAutoFit/>
          </a:bodyPr>
          <a:lstStyle/>
          <a:p>
            <a:r>
              <a:rPr lang="en-US" altLang="zh-CN" b="1" dirty="0">
                <a:solidFill>
                  <a:schemeClr val="accent2">
                    <a:lumMod val="75000"/>
                  </a:schemeClr>
                </a:solidFill>
                <a:latin typeface="华文新魏" panose="02010800040101010101" pitchFamily="2" charset="-122"/>
                <a:ea typeface="华文新魏" panose="02010800040101010101" pitchFamily="2" charset="-122"/>
              </a:rPr>
              <a:t>Answer:      </a:t>
            </a:r>
            <a:r>
              <a:rPr lang="en-US" altLang="zh-CN" dirty="0">
                <a:latin typeface="华文新魏" panose="02010800040101010101" pitchFamily="2" charset="-122"/>
                <a:ea typeface="华文新魏" panose="02010800040101010101" pitchFamily="2" charset="-122"/>
              </a:rPr>
              <a:t>Let</a:t>
            </a:r>
            <a:endParaRPr lang="zh-CN" altLang="en-US"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9" name="Rectangle 74"/>
              <p:cNvSpPr>
                <a:spLocks noChangeArrowheads="1"/>
              </p:cNvSpPr>
              <p:nvPr/>
            </p:nvSpPr>
            <p:spPr bwMode="auto">
              <a:xfrm>
                <a:off x="6489351" y="2919078"/>
                <a:ext cx="2252114" cy="543314"/>
              </a:xfrm>
              <a:prstGeom prst="rect">
                <a:avLst/>
              </a:prstGeom>
              <a:solidFill>
                <a:schemeClr val="bg1"/>
              </a:solid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wrap="none" anchor="ctr"/>
              <a:lstStyle/>
              <a:p>
                <a:pPr/>
                <a14:m>
                  <m:oMathPara xmlns:m="http://schemas.openxmlformats.org/officeDocument/2006/math">
                    <m:oMathParaPr>
                      <m:jc m:val="centerGroup"/>
                    </m:oMathParaPr>
                    <m:oMath xmlns:m="http://schemas.openxmlformats.org/officeDocument/2006/math">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e>
                        <m:e>
                          <m:r>
                            <a:rPr lang="en-US" altLang="zh-CN" sz="1200" b="1" i="1" smtClean="0">
                              <a:solidFill>
                                <a:srgbClr val="C00000"/>
                              </a:solidFill>
                              <a:latin typeface="Cambria Math" panose="02040503050406030204" pitchFamily="18" charset="0"/>
                            </a:rPr>
                            <m:t>𝑨</m:t>
                          </m:r>
                        </m:e>
                      </m:d>
                      <m:r>
                        <a:rPr lang="en-US" altLang="zh-CN" sz="1200" b="1" i="1" smtClean="0">
                          <a:solidFill>
                            <a:srgbClr val="C00000"/>
                          </a:solidFill>
                          <a:latin typeface="Cambria Math" panose="02040503050406030204" pitchFamily="18" charset="0"/>
                        </a:rPr>
                        <m:t>=</m:t>
                      </m:r>
                      <m:f>
                        <m:fPr>
                          <m:ctrlPr>
                            <a:rPr lang="en-US" altLang="zh-CN" sz="1200" b="1" i="1" smtClean="0">
                              <a:solidFill>
                                <a:srgbClr val="C00000"/>
                              </a:solidFill>
                              <a:latin typeface="Cambria Math" panose="02040503050406030204" pitchFamily="18" charset="0"/>
                            </a:rPr>
                          </m:ctrlPr>
                        </m:fPr>
                        <m:num>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r>
                                <a:rPr lang="en-US" altLang="zh-CN" sz="1200" b="1" i="1" smtClean="0">
                                  <a:solidFill>
                                    <a:srgbClr val="C00000"/>
                                  </a:solidFill>
                                  <a:latin typeface="Cambria Math" panose="02040503050406030204" pitchFamily="18" charset="0"/>
                                </a:rPr>
                                <m:t>𝑨</m:t>
                              </m:r>
                            </m:e>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e>
                          </m:d>
                          <m:r>
                            <a:rPr lang="en-US" altLang="zh-CN" sz="1200" b="1" i="1" smtClean="0">
                              <a:solidFill>
                                <a:srgbClr val="C00000"/>
                              </a:solidFill>
                              <a:latin typeface="Cambria Math" panose="02040503050406030204" pitchFamily="18" charset="0"/>
                            </a:rPr>
                            <m:t>𝑷</m:t>
                          </m:r>
                          <m:r>
                            <a:rPr lang="en-US" altLang="zh-CN" sz="1200" b="1" i="1" smtClean="0">
                              <a:solidFill>
                                <a:srgbClr val="C00000"/>
                              </a:solidFill>
                              <a:latin typeface="Cambria Math" panose="02040503050406030204" pitchFamily="18" charset="0"/>
                            </a:rPr>
                            <m:t>(</m:t>
                          </m:r>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𝒊</m:t>
                              </m:r>
                            </m:sub>
                          </m:sSub>
                          <m:r>
                            <a:rPr lang="en-US" altLang="zh-CN" sz="1200" b="1" i="1" smtClean="0">
                              <a:solidFill>
                                <a:srgbClr val="C00000"/>
                              </a:solidFill>
                              <a:latin typeface="Cambria Math" panose="02040503050406030204" pitchFamily="18" charset="0"/>
                            </a:rPr>
                            <m:t>)</m:t>
                          </m:r>
                        </m:num>
                        <m:den>
                          <m:nary>
                            <m:naryPr>
                              <m:chr m:val="∑"/>
                              <m:ctrlPr>
                                <a:rPr lang="en-US" altLang="zh-CN" sz="1200" b="1" i="1" smtClean="0">
                                  <a:solidFill>
                                    <a:srgbClr val="C00000"/>
                                  </a:solidFill>
                                  <a:latin typeface="Cambria Math" panose="02040503050406030204" pitchFamily="18" charset="0"/>
                                </a:rPr>
                              </m:ctrlPr>
                            </m:naryPr>
                            <m:sub>
                              <m:r>
                                <m:rPr>
                                  <m:brk m:alnAt="23"/>
                                </m:rPr>
                                <a:rPr lang="en-US" altLang="zh-CN" sz="1200" b="1" i="1" smtClean="0">
                                  <a:solidFill>
                                    <a:srgbClr val="C00000"/>
                                  </a:solidFill>
                                  <a:latin typeface="Cambria Math" panose="02040503050406030204" pitchFamily="18" charset="0"/>
                                </a:rPr>
                                <m:t>𝒋</m:t>
                              </m:r>
                              <m:r>
                                <a:rPr lang="en-US" altLang="zh-CN" sz="1200" b="1" i="1" smtClean="0">
                                  <a:solidFill>
                                    <a:srgbClr val="C00000"/>
                                  </a:solidFill>
                                  <a:latin typeface="Cambria Math" panose="02040503050406030204" pitchFamily="18" charset="0"/>
                                </a:rPr>
                                <m:t>=</m:t>
                              </m:r>
                              <m:r>
                                <a:rPr lang="en-US" altLang="zh-CN" sz="1200" b="1" i="1" smtClean="0">
                                  <a:solidFill>
                                    <a:srgbClr val="C00000"/>
                                  </a:solidFill>
                                  <a:latin typeface="Cambria Math" panose="02040503050406030204" pitchFamily="18" charset="0"/>
                                </a:rPr>
                                <m:t>𝟏</m:t>
                              </m:r>
                            </m:sub>
                            <m:sup>
                              <m:r>
                                <a:rPr lang="en-US" altLang="zh-CN" sz="1200" b="1" i="1" smtClean="0">
                                  <a:solidFill>
                                    <a:srgbClr val="C00000"/>
                                  </a:solidFill>
                                  <a:latin typeface="Cambria Math" panose="02040503050406030204" pitchFamily="18" charset="0"/>
                                </a:rPr>
                                <m:t>𝒏</m:t>
                              </m:r>
                            </m:sup>
                            <m:e>
                              <m:r>
                                <a:rPr lang="en-US" altLang="zh-CN" sz="1200" b="1" i="1" smtClean="0">
                                  <a:solidFill>
                                    <a:srgbClr val="C00000"/>
                                  </a:solidFill>
                                  <a:latin typeface="Cambria Math" panose="02040503050406030204" pitchFamily="18" charset="0"/>
                                </a:rPr>
                                <m:t>𝑷</m:t>
                              </m:r>
                              <m:d>
                                <m:dPr>
                                  <m:ctrlPr>
                                    <a:rPr lang="en-US" altLang="zh-CN" sz="1200" b="1" i="1" smtClean="0">
                                      <a:solidFill>
                                        <a:srgbClr val="C00000"/>
                                      </a:solidFill>
                                      <a:latin typeface="Cambria Math" panose="02040503050406030204" pitchFamily="18" charset="0"/>
                                    </a:rPr>
                                  </m:ctrlPr>
                                </m:dPr>
                                <m:e>
                                  <m:r>
                                    <a:rPr lang="en-US" altLang="zh-CN" sz="1200" b="1" i="1" smtClean="0">
                                      <a:solidFill>
                                        <a:srgbClr val="C00000"/>
                                      </a:solidFill>
                                      <a:latin typeface="Cambria Math" panose="02040503050406030204" pitchFamily="18" charset="0"/>
                                    </a:rPr>
                                    <m:t>𝑨</m:t>
                                  </m:r>
                                </m:e>
                                <m:e>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𝒋</m:t>
                                      </m:r>
                                    </m:sub>
                                  </m:sSub>
                                </m:e>
                              </m:d>
                              <m:r>
                                <a:rPr lang="en-US" altLang="zh-CN" sz="1200" b="1" i="1" smtClean="0">
                                  <a:solidFill>
                                    <a:srgbClr val="C00000"/>
                                  </a:solidFill>
                                  <a:latin typeface="Cambria Math" panose="02040503050406030204" pitchFamily="18" charset="0"/>
                                </a:rPr>
                                <m:t>𝑷</m:t>
                              </m:r>
                              <m:r>
                                <a:rPr lang="en-US" altLang="zh-CN" sz="1200" b="1" i="1" smtClean="0">
                                  <a:solidFill>
                                    <a:srgbClr val="C00000"/>
                                  </a:solidFill>
                                  <a:latin typeface="Cambria Math" panose="02040503050406030204" pitchFamily="18" charset="0"/>
                                </a:rPr>
                                <m:t>(</m:t>
                              </m:r>
                              <m:sSub>
                                <m:sSubPr>
                                  <m:ctrlPr>
                                    <a:rPr lang="en-US" altLang="zh-CN" sz="1200" b="1" i="1" smtClean="0">
                                      <a:solidFill>
                                        <a:srgbClr val="C00000"/>
                                      </a:solidFill>
                                      <a:latin typeface="Cambria Math" panose="02040503050406030204" pitchFamily="18" charset="0"/>
                                    </a:rPr>
                                  </m:ctrlPr>
                                </m:sSubPr>
                                <m:e>
                                  <m:r>
                                    <a:rPr lang="en-US" altLang="zh-CN" sz="1200" b="1" i="1" smtClean="0">
                                      <a:solidFill>
                                        <a:srgbClr val="C00000"/>
                                      </a:solidFill>
                                      <a:latin typeface="Cambria Math" panose="02040503050406030204" pitchFamily="18" charset="0"/>
                                    </a:rPr>
                                    <m:t>𝑩</m:t>
                                  </m:r>
                                </m:e>
                                <m:sub>
                                  <m:r>
                                    <a:rPr lang="en-US" altLang="zh-CN" sz="1200" b="1" i="1" smtClean="0">
                                      <a:solidFill>
                                        <a:srgbClr val="C00000"/>
                                      </a:solidFill>
                                      <a:latin typeface="Cambria Math" panose="02040503050406030204" pitchFamily="18" charset="0"/>
                                    </a:rPr>
                                    <m:t>𝒋</m:t>
                                  </m:r>
                                </m:sub>
                              </m:sSub>
                              <m:r>
                                <a:rPr lang="en-US" altLang="zh-CN" sz="1200" b="1" i="1" smtClean="0">
                                  <a:solidFill>
                                    <a:srgbClr val="C00000"/>
                                  </a:solidFill>
                                  <a:latin typeface="Cambria Math" panose="02040503050406030204" pitchFamily="18" charset="0"/>
                                </a:rPr>
                                <m:t>)</m:t>
                              </m:r>
                            </m:e>
                          </m:nary>
                        </m:den>
                      </m:f>
                    </m:oMath>
                  </m:oMathPara>
                </a14:m>
                <a:endParaRPr lang="en-US" altLang="zh-CN" sz="1200" b="1" dirty="0">
                  <a:solidFill>
                    <a:srgbClr val="C00000"/>
                  </a:solidFill>
                </a:endParaRPr>
              </a:p>
            </p:txBody>
          </p:sp>
        </mc:Choice>
        <mc:Fallback xmlns="">
          <p:sp>
            <p:nvSpPr>
              <p:cNvPr id="19" name="Rectangle 74"/>
              <p:cNvSpPr>
                <a:spLocks noRot="1" noChangeAspect="1" noMove="1" noResize="1" noEditPoints="1" noAdjustHandles="1" noChangeArrowheads="1" noChangeShapeType="1" noTextEdit="1"/>
              </p:cNvSpPr>
              <p:nvPr/>
            </p:nvSpPr>
            <p:spPr bwMode="auto">
              <a:xfrm>
                <a:off x="6489351" y="2919078"/>
                <a:ext cx="2252114" cy="543314"/>
              </a:xfrm>
              <a:prstGeom prst="rect">
                <a:avLst/>
              </a:prstGeom>
              <a:blipFill>
                <a:blip r:embed="rId3"/>
                <a:stretch>
                  <a:fillRect/>
                </a:stretch>
              </a:blipFill>
              <a:ln w="19050" algn="ctr">
                <a:solidFill>
                  <a:srgbClr val="FF0000"/>
                </a:solidFill>
                <a:miter lim="800000"/>
                <a:headEnd/>
                <a:tailEnd type="none" w="lg" len="lg"/>
              </a:ln>
              <a:effectLst>
                <a:glow rad="101600">
                  <a:schemeClr val="accent2">
                    <a:satMod val="175000"/>
                    <a:alpha val="40000"/>
                  </a:schemeClr>
                </a:glow>
                <a:outerShdw dist="107763" dir="2700000" algn="ctr" rotWithShape="0">
                  <a:schemeClr val="bg2">
                    <a:alpha val="50000"/>
                  </a:scheme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297658" y="2261154"/>
                <a:ext cx="87688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𝑷</m:t>
                      </m:r>
                      <m:d>
                        <m:dPr>
                          <m:ctrlPr>
                            <a:rPr lang="en-US" altLang="zh-CN" b="1" i="1">
                              <a:solidFill>
                                <a:schemeClr val="accent2">
                                  <a:lumMod val="75000"/>
                                </a:schemeClr>
                              </a:solidFill>
                              <a:latin typeface="Cambria Math" panose="02040503050406030204" pitchFamily="18" charset="0"/>
                            </a:rPr>
                          </m:ctrlPr>
                        </m:dPr>
                        <m:e>
                          <m:r>
                            <a:rPr lang="en-US" altLang="zh-CN" b="1" i="1" smtClean="0">
                              <a:solidFill>
                                <a:schemeClr val="accent2">
                                  <a:lumMod val="75000"/>
                                </a:schemeClr>
                              </a:solidFill>
                              <a:latin typeface="Cambria Math" panose="02040503050406030204" pitchFamily="18" charset="0"/>
                            </a:rPr>
                            <m:t>𝑩</m:t>
                          </m:r>
                        </m:e>
                        <m:e>
                          <m:r>
                            <a:rPr lang="en-US" altLang="zh-CN" b="1" i="1">
                              <a:solidFill>
                                <a:schemeClr val="accent2">
                                  <a:lumMod val="75000"/>
                                </a:schemeClr>
                              </a:solidFill>
                              <a:latin typeface="Cambria Math" panose="02040503050406030204" pitchFamily="18" charset="0"/>
                            </a:rPr>
                            <m:t>𝑨</m:t>
                          </m:r>
                        </m:e>
                      </m:d>
                    </m:oMath>
                  </m:oMathPara>
                </a14:m>
                <a:endParaRPr lang="zh-CN" altLang="en-US" b="1" dirty="0">
                  <a:solidFill>
                    <a:schemeClr val="accent2">
                      <a:lumMod val="75000"/>
                    </a:schemeClr>
                  </a:solidFill>
                  <a:latin typeface="华文新魏" pitchFamily="2" charset="-122"/>
                  <a:ea typeface="华文新魏"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6297658" y="2261154"/>
                <a:ext cx="876880" cy="369332"/>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21" name="对象 20">
            <a:extLst>
              <a:ext uri="{FF2B5EF4-FFF2-40B4-BE49-F238E27FC236}">
                <a16:creationId xmlns:a16="http://schemas.microsoft.com/office/drawing/2014/main" id="{E0FB30D5-45DC-4F25-8B4D-C6918BC22A8F}"/>
              </a:ext>
            </a:extLst>
          </p:cNvPr>
          <p:cNvGraphicFramePr>
            <a:graphicFrameLocks noChangeAspect="1"/>
          </p:cNvGraphicFramePr>
          <p:nvPr>
            <p:extLst>
              <p:ext uri="{D42A27DB-BD31-4B8C-83A1-F6EECF244321}">
                <p14:modId xmlns:p14="http://schemas.microsoft.com/office/powerpoint/2010/main" val="2639773545"/>
              </p:ext>
            </p:extLst>
          </p:nvPr>
        </p:nvGraphicFramePr>
        <p:xfrm>
          <a:off x="1818879" y="3128195"/>
          <a:ext cx="533400" cy="223430"/>
        </p:xfrm>
        <a:graphic>
          <a:graphicData uri="http://schemas.openxmlformats.org/presentationml/2006/ole">
            <mc:AlternateContent xmlns:mc="http://schemas.openxmlformats.org/markup-compatibility/2006">
              <mc:Choice xmlns:v="urn:schemas-microsoft-com:vml" Requires="v">
                <p:oleObj spid="_x0000_s4109" r:id="rId5" imgW="266353" imgH="164885" progId="Equation.3">
                  <p:embed/>
                </p:oleObj>
              </mc:Choice>
              <mc:Fallback>
                <p:oleObj r:id="rId5" imgW="266353" imgH="16488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879" y="3128195"/>
                        <a:ext cx="533400" cy="223430"/>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EC83E82E-921B-41CF-937F-B42F3CD46EF1}"/>
              </a:ext>
            </a:extLst>
          </p:cNvPr>
          <p:cNvGraphicFramePr>
            <a:graphicFrameLocks noChangeAspect="1"/>
          </p:cNvGraphicFramePr>
          <p:nvPr>
            <p:extLst>
              <p:ext uri="{D42A27DB-BD31-4B8C-83A1-F6EECF244321}">
                <p14:modId xmlns:p14="http://schemas.microsoft.com/office/powerpoint/2010/main" val="210914148"/>
              </p:ext>
            </p:extLst>
          </p:nvPr>
        </p:nvGraphicFramePr>
        <p:xfrm>
          <a:off x="4594156" y="4045353"/>
          <a:ext cx="1034789" cy="323372"/>
        </p:xfrm>
        <a:graphic>
          <a:graphicData uri="http://schemas.openxmlformats.org/presentationml/2006/ole">
            <mc:AlternateContent xmlns:mc="http://schemas.openxmlformats.org/markup-compatibility/2006">
              <mc:Choice xmlns:v="urn:schemas-microsoft-com:vml" Requires="v">
                <p:oleObj spid="_x0000_s4110" r:id="rId7" imgW="774364" imgH="203112" progId="Equation.3">
                  <p:embed/>
                </p:oleObj>
              </mc:Choice>
              <mc:Fallback>
                <p:oleObj r:id="rId7" imgW="774364" imgH="203112"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4156" y="4045353"/>
                        <a:ext cx="1034789" cy="323372"/>
                      </a:xfrm>
                      <a:prstGeom prst="rect">
                        <a:avLst/>
                      </a:prstGeom>
                      <a:noFill/>
                    </p:spPr>
                  </p:pic>
                </p:oleObj>
              </mc:Fallback>
            </mc:AlternateContent>
          </a:graphicData>
        </a:graphic>
      </p:graphicFrame>
      <p:graphicFrame>
        <p:nvGraphicFramePr>
          <p:cNvPr id="26" name="对象 25">
            <a:extLst>
              <a:ext uri="{FF2B5EF4-FFF2-40B4-BE49-F238E27FC236}">
                <a16:creationId xmlns:a16="http://schemas.microsoft.com/office/drawing/2014/main" id="{45DAE667-7CBD-4CAD-ADA7-9D2F110615BE}"/>
              </a:ext>
            </a:extLst>
          </p:cNvPr>
          <p:cNvGraphicFramePr>
            <a:graphicFrameLocks noChangeAspect="1"/>
          </p:cNvGraphicFramePr>
          <p:nvPr>
            <p:extLst>
              <p:ext uri="{D42A27DB-BD31-4B8C-83A1-F6EECF244321}">
                <p14:modId xmlns:p14="http://schemas.microsoft.com/office/powerpoint/2010/main" val="3631496685"/>
              </p:ext>
            </p:extLst>
          </p:nvPr>
        </p:nvGraphicFramePr>
        <p:xfrm>
          <a:off x="5917149" y="4022390"/>
          <a:ext cx="1034789" cy="323372"/>
        </p:xfrm>
        <a:graphic>
          <a:graphicData uri="http://schemas.openxmlformats.org/presentationml/2006/ole">
            <mc:AlternateContent xmlns:mc="http://schemas.openxmlformats.org/markup-compatibility/2006">
              <mc:Choice xmlns:v="urn:schemas-microsoft-com:vml" Requires="v">
                <p:oleObj spid="_x0000_s4111" r:id="rId9" imgW="787400" imgH="228600" progId="Equation.3">
                  <p:embed/>
                </p:oleObj>
              </mc:Choice>
              <mc:Fallback>
                <p:oleObj r:id="rId9" imgW="787400" imgH="228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17149" y="4022390"/>
                        <a:ext cx="1034789" cy="323372"/>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DF91E6EA-7CE7-45F2-A089-8929C10CCA0D}"/>
              </a:ext>
            </a:extLst>
          </p:cNvPr>
          <p:cNvGraphicFramePr>
            <a:graphicFrameLocks noChangeAspect="1"/>
          </p:cNvGraphicFramePr>
          <p:nvPr>
            <p:extLst>
              <p:ext uri="{D42A27DB-BD31-4B8C-83A1-F6EECF244321}">
                <p14:modId xmlns:p14="http://schemas.microsoft.com/office/powerpoint/2010/main" val="1284709425"/>
              </p:ext>
            </p:extLst>
          </p:nvPr>
        </p:nvGraphicFramePr>
        <p:xfrm>
          <a:off x="1377950" y="4060825"/>
          <a:ext cx="1243013" cy="322263"/>
        </p:xfrm>
        <a:graphic>
          <a:graphicData uri="http://schemas.openxmlformats.org/presentationml/2006/ole">
            <mc:AlternateContent xmlns:mc="http://schemas.openxmlformats.org/markup-compatibility/2006">
              <mc:Choice xmlns:v="urn:schemas-microsoft-com:vml" Requires="v">
                <p:oleObj spid="_x0000_s4112" r:id="rId11" imgW="901309" imgH="203112" progId="Equation.3">
                  <p:embed/>
                </p:oleObj>
              </mc:Choice>
              <mc:Fallback>
                <p:oleObj r:id="rId11" imgW="901309" imgH="203112"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7950" y="4060825"/>
                        <a:ext cx="1243013" cy="322263"/>
                      </a:xfrm>
                      <a:prstGeom prst="rect">
                        <a:avLst/>
                      </a:prstGeom>
                      <a:noFill/>
                    </p:spPr>
                  </p:pic>
                </p:oleObj>
              </mc:Fallback>
            </mc:AlternateContent>
          </a:graphicData>
        </a:graphic>
      </p:graphicFrame>
      <p:graphicFrame>
        <p:nvGraphicFramePr>
          <p:cNvPr id="33" name="对象 32">
            <a:extLst>
              <a:ext uri="{FF2B5EF4-FFF2-40B4-BE49-F238E27FC236}">
                <a16:creationId xmlns:a16="http://schemas.microsoft.com/office/drawing/2014/main" id="{4B0E8A69-ED3B-457F-9D37-8D28154D4BC3}"/>
              </a:ext>
            </a:extLst>
          </p:cNvPr>
          <p:cNvGraphicFramePr>
            <a:graphicFrameLocks noChangeAspect="1"/>
          </p:cNvGraphicFramePr>
          <p:nvPr>
            <p:extLst>
              <p:ext uri="{D42A27DB-BD31-4B8C-83A1-F6EECF244321}">
                <p14:modId xmlns:p14="http://schemas.microsoft.com/office/powerpoint/2010/main" val="2014666611"/>
              </p:ext>
            </p:extLst>
          </p:nvPr>
        </p:nvGraphicFramePr>
        <p:xfrm>
          <a:off x="2986445" y="4045353"/>
          <a:ext cx="1241747" cy="323372"/>
        </p:xfrm>
        <a:graphic>
          <a:graphicData uri="http://schemas.openxmlformats.org/presentationml/2006/ole">
            <mc:AlternateContent xmlns:mc="http://schemas.openxmlformats.org/markup-compatibility/2006">
              <mc:Choice xmlns:v="urn:schemas-microsoft-com:vml" Requires="v">
                <p:oleObj spid="_x0000_s4113" r:id="rId13" imgW="914400" imgH="228600" progId="Equation.3">
                  <p:embed/>
                </p:oleObj>
              </mc:Choice>
              <mc:Fallback>
                <p:oleObj r:id="rId13" imgW="914400" imgH="2286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6445" y="4045353"/>
                        <a:ext cx="1241747" cy="323372"/>
                      </a:xfrm>
                      <a:prstGeom prst="rect">
                        <a:avLst/>
                      </a:prstGeom>
                      <a:noFill/>
                    </p:spPr>
                  </p:pic>
                </p:oleObj>
              </mc:Fallback>
            </mc:AlternateContent>
          </a:graphicData>
        </a:graphic>
      </p:graphicFrame>
      <p:graphicFrame>
        <p:nvGraphicFramePr>
          <p:cNvPr id="34" name="对象 33">
            <a:extLst>
              <a:ext uri="{FF2B5EF4-FFF2-40B4-BE49-F238E27FC236}">
                <a16:creationId xmlns:a16="http://schemas.microsoft.com/office/drawing/2014/main" id="{EA0034A1-C2E2-45FB-BC45-B511C0739E40}"/>
              </a:ext>
            </a:extLst>
          </p:cNvPr>
          <p:cNvGraphicFramePr>
            <a:graphicFrameLocks noChangeAspect="1"/>
          </p:cNvGraphicFramePr>
          <p:nvPr>
            <p:extLst>
              <p:ext uri="{D42A27DB-BD31-4B8C-83A1-F6EECF244321}">
                <p14:modId xmlns:p14="http://schemas.microsoft.com/office/powerpoint/2010/main" val="3839221394"/>
              </p:ext>
            </p:extLst>
          </p:nvPr>
        </p:nvGraphicFramePr>
        <p:xfrm>
          <a:off x="1468042" y="5226152"/>
          <a:ext cx="533400" cy="238125"/>
        </p:xfrm>
        <a:graphic>
          <a:graphicData uri="http://schemas.openxmlformats.org/presentationml/2006/ole">
            <mc:AlternateContent xmlns:mc="http://schemas.openxmlformats.org/markup-compatibility/2006">
              <mc:Choice xmlns:v="urn:schemas-microsoft-com:vml" Requires="v">
                <p:oleObj spid="_x0000_s4114" r:id="rId15" imgW="545626" imgH="203024" progId="Equation.3">
                  <p:embed/>
                </p:oleObj>
              </mc:Choice>
              <mc:Fallback>
                <p:oleObj r:id="rId15" imgW="545626" imgH="203024"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68042" y="5226152"/>
                        <a:ext cx="533400" cy="238125"/>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3635C920-B7DC-4006-87ED-4BF67C936258}"/>
              </a:ext>
            </a:extLst>
          </p:cNvPr>
          <p:cNvGraphicFramePr>
            <a:graphicFrameLocks noChangeAspect="1"/>
          </p:cNvGraphicFramePr>
          <p:nvPr>
            <p:extLst>
              <p:ext uri="{D42A27DB-BD31-4B8C-83A1-F6EECF244321}">
                <p14:modId xmlns:p14="http://schemas.microsoft.com/office/powerpoint/2010/main" val="1243916736"/>
              </p:ext>
            </p:extLst>
          </p:nvPr>
        </p:nvGraphicFramePr>
        <p:xfrm>
          <a:off x="2227950" y="5148677"/>
          <a:ext cx="457200" cy="381000"/>
        </p:xfrm>
        <a:graphic>
          <a:graphicData uri="http://schemas.openxmlformats.org/presentationml/2006/ole">
            <mc:AlternateContent xmlns:mc="http://schemas.openxmlformats.org/markup-compatibility/2006">
              <mc:Choice xmlns:v="urn:schemas-microsoft-com:vml" Requires="v">
                <p:oleObj spid="_x0000_s4115" r:id="rId17" imgW="482391" imgH="406224" progId="Equation.3">
                  <p:embed/>
                </p:oleObj>
              </mc:Choice>
              <mc:Fallback>
                <p:oleObj r:id="rId17" imgW="482391" imgH="406224" progId="Equation.3">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7950" y="5148677"/>
                        <a:ext cx="457200" cy="381000"/>
                      </a:xfrm>
                      <a:prstGeom prst="rect">
                        <a:avLst/>
                      </a:prstGeom>
                      <a:noFill/>
                    </p:spPr>
                  </p:pic>
                </p:oleObj>
              </mc:Fallback>
            </mc:AlternateContent>
          </a:graphicData>
        </a:graphic>
      </p:graphicFrame>
      <p:graphicFrame>
        <p:nvGraphicFramePr>
          <p:cNvPr id="40" name="对象 39">
            <a:extLst>
              <a:ext uri="{FF2B5EF4-FFF2-40B4-BE49-F238E27FC236}">
                <a16:creationId xmlns:a16="http://schemas.microsoft.com/office/drawing/2014/main" id="{D887D8E5-6A33-4BAC-BA22-87DD7E1FA8D5}"/>
              </a:ext>
            </a:extLst>
          </p:cNvPr>
          <p:cNvGraphicFramePr>
            <a:graphicFrameLocks noChangeAspect="1"/>
          </p:cNvGraphicFramePr>
          <p:nvPr>
            <p:extLst>
              <p:ext uri="{D42A27DB-BD31-4B8C-83A1-F6EECF244321}">
                <p14:modId xmlns:p14="http://schemas.microsoft.com/office/powerpoint/2010/main" val="1185508937"/>
              </p:ext>
            </p:extLst>
          </p:nvPr>
        </p:nvGraphicFramePr>
        <p:xfrm>
          <a:off x="6714414" y="5184357"/>
          <a:ext cx="884509" cy="252716"/>
        </p:xfrm>
        <a:graphic>
          <a:graphicData uri="http://schemas.openxmlformats.org/presentationml/2006/ole">
            <mc:AlternateContent xmlns:mc="http://schemas.openxmlformats.org/markup-compatibility/2006">
              <mc:Choice xmlns:v="urn:schemas-microsoft-com:vml" Requires="v">
                <p:oleObj spid="_x0000_s4116" r:id="rId19" imgW="507780" imgH="177723" progId="Equation.3">
                  <p:embed/>
                </p:oleObj>
              </mc:Choice>
              <mc:Fallback>
                <p:oleObj r:id="rId19" imgW="507780" imgH="177723" progId="Equation.3">
                  <p:embed/>
                  <p:pic>
                    <p:nvPicPr>
                      <p:cNvPr id="0" name="Object 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14414" y="5184357"/>
                        <a:ext cx="884509" cy="252716"/>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B2CB1A4C-DC2C-4410-A94A-DC3272F878BE}"/>
              </a:ext>
            </a:extLst>
          </p:cNvPr>
          <p:cNvGraphicFramePr>
            <a:graphicFrameLocks noChangeAspect="1"/>
          </p:cNvGraphicFramePr>
          <p:nvPr>
            <p:extLst>
              <p:ext uri="{D42A27DB-BD31-4B8C-83A1-F6EECF244321}">
                <p14:modId xmlns:p14="http://schemas.microsoft.com/office/powerpoint/2010/main" val="3173314576"/>
              </p:ext>
            </p:extLst>
          </p:nvPr>
        </p:nvGraphicFramePr>
        <p:xfrm>
          <a:off x="1840101" y="2840530"/>
          <a:ext cx="536460" cy="223431"/>
        </p:xfrm>
        <a:graphic>
          <a:graphicData uri="http://schemas.openxmlformats.org/presentationml/2006/ole">
            <mc:AlternateContent xmlns:mc="http://schemas.openxmlformats.org/markup-compatibility/2006">
              <mc:Choice xmlns:v="urn:schemas-microsoft-com:vml" Requires="v">
                <p:oleObj spid="_x0000_s4117" r:id="rId21" imgW="266353" imgH="164885" progId="Equation.3">
                  <p:embed/>
                </p:oleObj>
              </mc:Choice>
              <mc:Fallback>
                <p:oleObj r:id="rId21" imgW="266353" imgH="164885"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40101" y="2840530"/>
                        <a:ext cx="536460" cy="223431"/>
                      </a:xfrm>
                      <a:prstGeom prst="rect">
                        <a:avLst/>
                      </a:prstGeom>
                      <a:noFill/>
                    </p:spPr>
                  </p:pic>
                </p:oleObj>
              </mc:Fallback>
            </mc:AlternateContent>
          </a:graphicData>
        </a:graphic>
      </p:graphicFrame>
      <p:sp>
        <p:nvSpPr>
          <p:cNvPr id="45" name="Rectangle 15">
            <a:extLst>
              <a:ext uri="{FF2B5EF4-FFF2-40B4-BE49-F238E27FC236}">
                <a16:creationId xmlns:a16="http://schemas.microsoft.com/office/drawing/2014/main" id="{28D9B679-828F-471F-AA91-C30382F3CB45}"/>
              </a:ext>
            </a:extLst>
          </p:cNvPr>
          <p:cNvSpPr>
            <a:spLocks noChangeArrowheads="1"/>
          </p:cNvSpPr>
          <p:nvPr/>
        </p:nvSpPr>
        <p:spPr bwMode="auto">
          <a:xfrm>
            <a:off x="2041402" y="2770314"/>
            <a:ext cx="38631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667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Rounded MT Bold" panose="020F0704030504030204" pitchFamily="34" charset="0"/>
                <a:ea typeface="宋体" panose="02010600030101010101" pitchFamily="2" charset="-122"/>
                <a:cs typeface="Calibri" panose="020F0502020204030204" pitchFamily="34" charset="0"/>
              </a:rPr>
              <a:t> {a product is qualified}</a:t>
            </a:r>
            <a:r>
              <a:rPr kumimoji="0" lang="zh-CN" altLang="en-US" b="0" i="0" u="none" strike="noStrike" cap="none" normalizeH="0" baseline="0" dirty="0">
                <a:ln>
                  <a:noFill/>
                </a:ln>
                <a:solidFill>
                  <a:schemeClr val="tx1"/>
                </a:solidFill>
                <a:effectLst/>
                <a:latin typeface="Arial Rounded MT Bold" panose="020F0704030504030204" pitchFamily="34" charset="0"/>
                <a:ea typeface="宋体" panose="02010600030101010101" pitchFamily="2" charset="-122"/>
                <a:cs typeface="Calibri" panose="020F0502020204030204" pitchFamily="34" charset="0"/>
              </a:rPr>
              <a:t> </a:t>
            </a:r>
            <a:endParaRPr kumimoji="0" lang="zh-CN" altLang="en-US" b="0" i="0" u="none" strike="noStrike" cap="none" normalizeH="0" baseline="0" dirty="0">
              <a:ln>
                <a:noFill/>
              </a:ln>
              <a:solidFill>
                <a:schemeClr val="tx1"/>
              </a:solidFill>
              <a:effectLst/>
              <a:latin typeface="Arial Rounded MT Bold" panose="020F0704030504030204" pitchFamily="34" charset="0"/>
            </a:endParaRPr>
          </a:p>
          <a:p>
            <a:pPr marL="0" marR="0" lvl="0" indent="466725"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Arial Rounded MT Bold" panose="020F0704030504030204" pitchFamily="34" charset="0"/>
                <a:ea typeface="宋体" panose="02010600030101010101" pitchFamily="2" charset="-122"/>
                <a:cs typeface="Calibri" panose="020F0502020204030204" pitchFamily="34" charset="0"/>
              </a:rPr>
              <a:t> </a:t>
            </a:r>
            <a:endParaRPr kumimoji="0" lang="zh-CN" altLang="en-US" b="0" i="0" u="none" strike="noStrike" cap="none" normalizeH="0" baseline="0" dirty="0">
              <a:ln>
                <a:noFill/>
              </a:ln>
              <a:solidFill>
                <a:schemeClr val="tx1"/>
              </a:solidFill>
              <a:effectLst/>
              <a:latin typeface="Arial Rounded MT Bold" panose="020F0704030504030204" pitchFamily="34" charset="0"/>
            </a:endParaRPr>
          </a:p>
        </p:txBody>
      </p:sp>
      <p:sp>
        <p:nvSpPr>
          <p:cNvPr id="47" name="Rectangle 17">
            <a:extLst>
              <a:ext uri="{FF2B5EF4-FFF2-40B4-BE49-F238E27FC236}">
                <a16:creationId xmlns:a16="http://schemas.microsoft.com/office/drawing/2014/main" id="{F99391DC-C9F0-45ED-AFDF-4E40D4E766D7}"/>
              </a:ext>
            </a:extLst>
          </p:cNvPr>
          <p:cNvSpPr>
            <a:spLocks noChangeArrowheads="1"/>
          </p:cNvSpPr>
          <p:nvPr/>
        </p:nvSpPr>
        <p:spPr bwMode="auto">
          <a:xfrm>
            <a:off x="-1619107" y="328193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466725"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54" name="Rectangle 24">
            <a:extLst>
              <a:ext uri="{FF2B5EF4-FFF2-40B4-BE49-F238E27FC236}">
                <a16:creationId xmlns:a16="http://schemas.microsoft.com/office/drawing/2014/main" id="{58C8EADD-3866-44FC-A93B-48F4FD7134F4}"/>
              </a:ext>
            </a:extLst>
          </p:cNvPr>
          <p:cNvSpPr>
            <a:spLocks noChangeArrowheads="1"/>
          </p:cNvSpPr>
          <p:nvPr/>
        </p:nvSpPr>
        <p:spPr bwMode="auto">
          <a:xfrm>
            <a:off x="1140871" y="56917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15">
            <a:extLst>
              <a:ext uri="{FF2B5EF4-FFF2-40B4-BE49-F238E27FC236}">
                <a16:creationId xmlns:a16="http://schemas.microsoft.com/office/drawing/2014/main" id="{B5BCBED3-8DDC-4F4B-9FA7-777047E97AF2}"/>
              </a:ext>
            </a:extLst>
          </p:cNvPr>
          <p:cNvSpPr>
            <a:spLocks noChangeArrowheads="1"/>
          </p:cNvSpPr>
          <p:nvPr/>
        </p:nvSpPr>
        <p:spPr bwMode="auto">
          <a:xfrm>
            <a:off x="2060976" y="3089366"/>
            <a:ext cx="38631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667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3335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 </a:t>
            </a:r>
            <a:r>
              <a:rPr kumimoji="0" lang="en-US" altLang="zh-CN" b="0" i="0" u="none" strike="noStrike" cap="none" normalizeH="0" baseline="0" dirty="0">
                <a:ln>
                  <a:noFill/>
                </a:ln>
                <a:solidFill>
                  <a:schemeClr val="tx1"/>
                </a:solidFill>
                <a:effectLst/>
                <a:latin typeface="Arial Rounded MT Bold" panose="020F0704030504030204" pitchFamily="34" charset="0"/>
                <a:ea typeface="宋体" panose="02010600030101010101" pitchFamily="2" charset="-122"/>
                <a:cs typeface="Calibri" panose="020F0502020204030204" pitchFamily="34" charset="0"/>
              </a:rPr>
              <a:t>{the machine is well adjusted}</a:t>
            </a:r>
            <a:r>
              <a:rPr kumimoji="0" lang="zh-CN" altLang="en-US" b="0" i="0" u="none" strike="noStrike" cap="none" normalizeH="0" baseline="0" dirty="0">
                <a:ln>
                  <a:noFill/>
                </a:ln>
                <a:solidFill>
                  <a:schemeClr val="tx1"/>
                </a:solidFill>
                <a:effectLst/>
                <a:latin typeface="Arial Rounded MT Bold" panose="020F0704030504030204" pitchFamily="34" charset="0"/>
                <a:ea typeface="宋体" panose="02010600030101010101" pitchFamily="2" charset="-122"/>
                <a:cs typeface="Calibri" panose="020F0502020204030204" pitchFamily="34" charset="0"/>
              </a:rPr>
              <a:t> </a:t>
            </a:r>
            <a:endParaRPr kumimoji="0" lang="zh-CN" altLang="en-US" b="0" i="0" u="none" strike="noStrike" cap="none" normalizeH="0" baseline="0" dirty="0">
              <a:ln>
                <a:noFill/>
              </a:ln>
              <a:solidFill>
                <a:schemeClr val="tx1"/>
              </a:solidFill>
              <a:effectLst/>
              <a:latin typeface="Arial Rounded MT Bold" panose="020F0704030504030204" pitchFamily="34" charset="0"/>
            </a:endParaRPr>
          </a:p>
          <a:p>
            <a:pPr marL="0" marR="0" lvl="0" indent="466725"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en-US" b="0" i="0" u="none" strike="noStrike" cap="none" normalizeH="0" baseline="0" dirty="0">
              <a:ln>
                <a:noFill/>
              </a:ln>
              <a:solidFill>
                <a:schemeClr val="tx1"/>
              </a:solidFill>
              <a:effectLst/>
            </a:endParaRPr>
          </a:p>
        </p:txBody>
      </p:sp>
      <p:sp>
        <p:nvSpPr>
          <p:cNvPr id="57" name="文本框 56">
            <a:extLst>
              <a:ext uri="{FF2B5EF4-FFF2-40B4-BE49-F238E27FC236}">
                <a16:creationId xmlns:a16="http://schemas.microsoft.com/office/drawing/2014/main" id="{05B98A70-ECCA-4B8C-85E5-8C96B46D2CBB}"/>
              </a:ext>
            </a:extLst>
          </p:cNvPr>
          <p:cNvSpPr txBox="1"/>
          <p:nvPr/>
        </p:nvSpPr>
        <p:spPr>
          <a:xfrm>
            <a:off x="1943246" y="5146115"/>
            <a:ext cx="266700" cy="400110"/>
          </a:xfrm>
          <a:prstGeom prst="rect">
            <a:avLst/>
          </a:prstGeom>
          <a:noFill/>
        </p:spPr>
        <p:txBody>
          <a:bodyPr wrap="square" rtlCol="0">
            <a:spAutoFit/>
          </a:bodyPr>
          <a:lstStyle/>
          <a:p>
            <a:r>
              <a:rPr lang="en-US" altLang="zh-CN" sz="2000" dirty="0"/>
              <a:t>=</a:t>
            </a:r>
            <a:endParaRPr lang="zh-CN" altLang="en-US" sz="2000" dirty="0"/>
          </a:p>
        </p:txBody>
      </p:sp>
      <p:grpSp>
        <p:nvGrpSpPr>
          <p:cNvPr id="60" name="组合 59">
            <a:extLst>
              <a:ext uri="{FF2B5EF4-FFF2-40B4-BE49-F238E27FC236}">
                <a16:creationId xmlns:a16="http://schemas.microsoft.com/office/drawing/2014/main" id="{E1F22286-EFC1-4CA6-A195-08287BCCAC1E}"/>
              </a:ext>
            </a:extLst>
          </p:cNvPr>
          <p:cNvGrpSpPr/>
          <p:nvPr/>
        </p:nvGrpSpPr>
        <p:grpSpPr>
          <a:xfrm>
            <a:off x="2607375" y="5099843"/>
            <a:ext cx="2283968" cy="457200"/>
            <a:chOff x="2607375" y="5099843"/>
            <a:chExt cx="2283968" cy="457200"/>
          </a:xfrm>
        </p:grpSpPr>
        <p:graphicFrame>
          <p:nvGraphicFramePr>
            <p:cNvPr id="36" name="对象 35">
              <a:extLst>
                <a:ext uri="{FF2B5EF4-FFF2-40B4-BE49-F238E27FC236}">
                  <a16:creationId xmlns:a16="http://schemas.microsoft.com/office/drawing/2014/main" id="{9E11CC5C-615A-490C-A4FF-83D8725DF3C1}"/>
                </a:ext>
              </a:extLst>
            </p:cNvPr>
            <p:cNvGraphicFramePr>
              <a:graphicFrameLocks noChangeAspect="1"/>
            </p:cNvGraphicFramePr>
            <p:nvPr>
              <p:extLst>
                <p:ext uri="{D42A27DB-BD31-4B8C-83A1-F6EECF244321}">
                  <p14:modId xmlns:p14="http://schemas.microsoft.com/office/powerpoint/2010/main" val="2293041733"/>
                </p:ext>
              </p:extLst>
            </p:nvPr>
          </p:nvGraphicFramePr>
          <p:xfrm>
            <a:off x="2910143" y="5099843"/>
            <a:ext cx="1981200" cy="457200"/>
          </p:xfrm>
          <a:graphic>
            <a:graphicData uri="http://schemas.openxmlformats.org/presentationml/2006/ole">
              <mc:AlternateContent xmlns:mc="http://schemas.openxmlformats.org/markup-compatibility/2006">
                <mc:Choice xmlns:v="urn:schemas-microsoft-com:vml" Requires="v">
                  <p:oleObj spid="_x0000_s4118" r:id="rId23" imgW="2006600" imgH="419100" progId="Equation.3">
                    <p:embed/>
                  </p:oleObj>
                </mc:Choice>
                <mc:Fallback>
                  <p:oleObj r:id="rId23" imgW="2006600" imgH="419100" progId="Equation.3">
                    <p:embed/>
                    <p:pic>
                      <p:nvPicPr>
                        <p:cNvPr id="0" name="Object 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10143" y="5099843"/>
                          <a:ext cx="1981200" cy="457200"/>
                        </a:xfrm>
                        <a:prstGeom prst="rect">
                          <a:avLst/>
                        </a:prstGeom>
                        <a:noFill/>
                      </p:spPr>
                    </p:pic>
                  </p:oleObj>
                </mc:Fallback>
              </mc:AlternateContent>
            </a:graphicData>
          </a:graphic>
        </p:graphicFrame>
        <p:sp>
          <p:nvSpPr>
            <p:cNvPr id="61" name="文本框 60">
              <a:extLst>
                <a:ext uri="{FF2B5EF4-FFF2-40B4-BE49-F238E27FC236}">
                  <a16:creationId xmlns:a16="http://schemas.microsoft.com/office/drawing/2014/main" id="{7C26C954-E6CB-4B9B-8C51-2A449952BCC9}"/>
                </a:ext>
              </a:extLst>
            </p:cNvPr>
            <p:cNvSpPr txBox="1"/>
            <p:nvPr/>
          </p:nvSpPr>
          <p:spPr>
            <a:xfrm>
              <a:off x="2607375" y="5155902"/>
              <a:ext cx="266700" cy="400110"/>
            </a:xfrm>
            <a:prstGeom prst="rect">
              <a:avLst/>
            </a:prstGeom>
            <a:noFill/>
          </p:spPr>
          <p:txBody>
            <a:bodyPr wrap="square" rtlCol="0">
              <a:spAutoFit/>
            </a:bodyPr>
            <a:lstStyle/>
            <a:p>
              <a:r>
                <a:rPr lang="en-US" altLang="zh-CN" sz="2000" dirty="0"/>
                <a:t>=</a:t>
              </a:r>
              <a:endParaRPr lang="zh-CN" altLang="en-US" sz="2000" dirty="0"/>
            </a:p>
          </p:txBody>
        </p:sp>
      </p:grpSp>
      <p:grpSp>
        <p:nvGrpSpPr>
          <p:cNvPr id="63" name="组合 62">
            <a:extLst>
              <a:ext uri="{FF2B5EF4-FFF2-40B4-BE49-F238E27FC236}">
                <a16:creationId xmlns:a16="http://schemas.microsoft.com/office/drawing/2014/main" id="{458E84B9-2451-48C2-8BAD-BB16FB778215}"/>
              </a:ext>
            </a:extLst>
          </p:cNvPr>
          <p:cNvGrpSpPr/>
          <p:nvPr/>
        </p:nvGrpSpPr>
        <p:grpSpPr>
          <a:xfrm>
            <a:off x="4849636" y="5094315"/>
            <a:ext cx="1844779" cy="451910"/>
            <a:chOff x="4849636" y="5094315"/>
            <a:chExt cx="1844779" cy="451910"/>
          </a:xfrm>
        </p:grpSpPr>
        <p:graphicFrame>
          <p:nvGraphicFramePr>
            <p:cNvPr id="39" name="对象 38">
              <a:extLst>
                <a:ext uri="{FF2B5EF4-FFF2-40B4-BE49-F238E27FC236}">
                  <a16:creationId xmlns:a16="http://schemas.microsoft.com/office/drawing/2014/main" id="{FA008B9B-77FE-4544-A669-50AAC040C724}"/>
                </a:ext>
              </a:extLst>
            </p:cNvPr>
            <p:cNvGraphicFramePr>
              <a:graphicFrameLocks noChangeAspect="1"/>
            </p:cNvGraphicFramePr>
            <p:nvPr>
              <p:extLst>
                <p:ext uri="{D42A27DB-BD31-4B8C-83A1-F6EECF244321}">
                  <p14:modId xmlns:p14="http://schemas.microsoft.com/office/powerpoint/2010/main" val="3474155081"/>
                </p:ext>
              </p:extLst>
            </p:nvPr>
          </p:nvGraphicFramePr>
          <p:xfrm>
            <a:off x="5136335" y="5094315"/>
            <a:ext cx="1558080" cy="432800"/>
          </p:xfrm>
          <a:graphic>
            <a:graphicData uri="http://schemas.openxmlformats.org/presentationml/2006/ole">
              <mc:AlternateContent xmlns:mc="http://schemas.openxmlformats.org/markup-compatibility/2006">
                <mc:Choice xmlns:v="urn:schemas-microsoft-com:vml" Requires="v">
                  <p:oleObj spid="_x0000_s4119" r:id="rId25" imgW="1371600" imgH="393700" progId="Equation.3">
                    <p:embed/>
                  </p:oleObj>
                </mc:Choice>
                <mc:Fallback>
                  <p:oleObj r:id="rId25" imgW="1371600" imgH="393700" progId="Equation.3">
                    <p:embed/>
                    <p:pic>
                      <p:nvPicPr>
                        <p:cNvPr id="0" name="Object 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36335" y="5094315"/>
                          <a:ext cx="1558080" cy="432800"/>
                        </a:xfrm>
                        <a:prstGeom prst="rect">
                          <a:avLst/>
                        </a:prstGeom>
                        <a:noFill/>
                      </p:spPr>
                    </p:pic>
                  </p:oleObj>
                </mc:Fallback>
              </mc:AlternateContent>
            </a:graphicData>
          </a:graphic>
        </p:graphicFrame>
        <p:sp>
          <p:nvSpPr>
            <p:cNvPr id="62" name="文本框 61">
              <a:extLst>
                <a:ext uri="{FF2B5EF4-FFF2-40B4-BE49-F238E27FC236}">
                  <a16:creationId xmlns:a16="http://schemas.microsoft.com/office/drawing/2014/main" id="{CD4B31EA-EA16-41A6-86B8-4C4915276FC1}"/>
                </a:ext>
              </a:extLst>
            </p:cNvPr>
            <p:cNvSpPr txBox="1"/>
            <p:nvPr/>
          </p:nvSpPr>
          <p:spPr>
            <a:xfrm>
              <a:off x="4849636" y="5146115"/>
              <a:ext cx="266700" cy="400110"/>
            </a:xfrm>
            <a:prstGeom prst="rect">
              <a:avLst/>
            </a:prstGeom>
            <a:noFill/>
          </p:spPr>
          <p:txBody>
            <a:bodyPr wrap="square" rtlCol="0">
              <a:spAutoFit/>
            </a:bodyPr>
            <a:lstStyle/>
            <a:p>
              <a:r>
                <a:rPr lang="en-US" altLang="zh-CN" sz="2000" dirty="0"/>
                <a:t>=</a:t>
              </a:r>
              <a:endParaRPr lang="zh-CN" altLang="en-US" sz="2000" dirty="0"/>
            </a:p>
          </p:txBody>
        </p:sp>
      </p:grpSp>
      <p:sp>
        <p:nvSpPr>
          <p:cNvPr id="400448" name="矩形 400447">
            <a:extLst>
              <a:ext uri="{FF2B5EF4-FFF2-40B4-BE49-F238E27FC236}">
                <a16:creationId xmlns:a16="http://schemas.microsoft.com/office/drawing/2014/main" id="{9A95DCAA-BCAD-4456-96EA-BA7277821FC5}"/>
              </a:ext>
            </a:extLst>
          </p:cNvPr>
          <p:cNvSpPr/>
          <p:nvPr/>
        </p:nvSpPr>
        <p:spPr>
          <a:xfrm>
            <a:off x="2166895" y="3972056"/>
            <a:ext cx="506179" cy="469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CC4F9F01-E2CD-45DD-8FE6-38B1EF1B9D86}"/>
              </a:ext>
            </a:extLst>
          </p:cNvPr>
          <p:cNvSpPr/>
          <p:nvPr/>
        </p:nvSpPr>
        <p:spPr>
          <a:xfrm>
            <a:off x="3770592" y="3990232"/>
            <a:ext cx="506179" cy="469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B2946A84-C0A4-4F28-A3C4-20E7B946C1AE}"/>
              </a:ext>
            </a:extLst>
          </p:cNvPr>
          <p:cNvSpPr/>
          <p:nvPr/>
        </p:nvSpPr>
        <p:spPr>
          <a:xfrm>
            <a:off x="5060918" y="3931046"/>
            <a:ext cx="651953" cy="469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B6722B40-2A13-4D7D-8847-9E7E3C150535}"/>
              </a:ext>
            </a:extLst>
          </p:cNvPr>
          <p:cNvSpPr/>
          <p:nvPr/>
        </p:nvSpPr>
        <p:spPr>
          <a:xfrm>
            <a:off x="6411525" y="3948963"/>
            <a:ext cx="506179" cy="469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239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6" presetClass="entr" presetSubtype="32"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circle(out)">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22"/>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nodeType="after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40044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6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6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6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animBg="1"/>
      <p:bldP spid="17" grpId="0"/>
      <p:bldP spid="45" grpId="0"/>
      <p:bldP spid="59" grpId="0"/>
      <p:bldP spid="57" grpId="0"/>
      <p:bldP spid="400448" grpId="0" animBg="1"/>
      <p:bldP spid="66" grpId="0" animBg="1"/>
      <p:bldP spid="67" grpId="0" animBg="1"/>
      <p:bldP spid="6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0660" name="AutoShape 36"/>
          <p:cNvSpPr>
            <a:spLocks noChangeArrowheads="1"/>
          </p:cNvSpPr>
          <p:nvPr/>
        </p:nvSpPr>
        <p:spPr bwMode="auto">
          <a:xfrm>
            <a:off x="5548109" y="5644318"/>
            <a:ext cx="3323780" cy="1051879"/>
          </a:xfrm>
          <a:prstGeom prst="wedgeRectCallout">
            <a:avLst>
              <a:gd name="adj1" fmla="val -75252"/>
              <a:gd name="adj2" fmla="val -54516"/>
            </a:avLst>
          </a:prstGeom>
          <a:solidFill>
            <a:schemeClr val="bg1"/>
          </a:solidFill>
          <a:ln w="9525" algn="ctr">
            <a:solidFill>
              <a:schemeClr val="accent1">
                <a:lumMod val="75000"/>
              </a:schemeClr>
            </a:solidFill>
            <a:miter lim="800000"/>
            <a:headEnd/>
            <a:tailEnd/>
          </a:ln>
          <a:effectLst>
            <a:outerShdw dist="107763" dir="2700000" algn="ctr" rotWithShape="0">
              <a:schemeClr val="bg2">
                <a:alpha val="50000"/>
              </a:schemeClr>
            </a:outerShdw>
          </a:effectLst>
        </p:spPr>
        <p:txBody>
          <a:bodyPr anchor="ctr"/>
          <a:lstStyle/>
          <a:p>
            <a:pPr eaLnBrk="1" hangingPunct="1">
              <a:lnSpc>
                <a:spcPct val="90000"/>
              </a:lnSpc>
              <a:spcBef>
                <a:spcPct val="0"/>
              </a:spcBef>
              <a:buClrTx/>
              <a:buSzTx/>
              <a:buFontTx/>
              <a:buNone/>
              <a:defRPr/>
            </a:pPr>
            <a:r>
              <a:rPr lang="en-US" altLang="zh-CN" dirty="0">
                <a:solidFill>
                  <a:schemeClr val="accent5">
                    <a:lumMod val="75000"/>
                  </a:schemeClr>
                </a:solidFill>
                <a:latin typeface="华文新魏" panose="02010800040101010101" pitchFamily="2" charset="-122"/>
                <a:ea typeface="华文新魏" panose="02010800040101010101" pitchFamily="2" charset="-122"/>
              </a:rPr>
              <a:t>Based on the calculation, even though the diagnosis device is reliable, the probability of that person has cancer is low.</a:t>
            </a:r>
            <a:endParaRPr lang="zh-CN" altLang="en-US" dirty="0">
              <a:solidFill>
                <a:schemeClr val="accent5">
                  <a:lumMod val="75000"/>
                </a:schemeClr>
              </a:solidFill>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668BC1BC-9BB8-42DA-8D24-5CEB8B432D8A}"/>
              </a:ext>
            </a:extLst>
          </p:cNvPr>
          <p:cNvSpPr txBox="1"/>
          <p:nvPr/>
        </p:nvSpPr>
        <p:spPr>
          <a:xfrm>
            <a:off x="402105" y="341248"/>
            <a:ext cx="4628190" cy="461665"/>
          </a:xfrm>
          <a:prstGeom prst="rect">
            <a:avLst/>
          </a:prstGeom>
          <a:noFill/>
        </p:spPr>
        <p:txBody>
          <a:bodyPr wrap="none" rtlCol="0">
            <a:spAutoFit/>
          </a:bodyPr>
          <a:lstStyle/>
          <a:p>
            <a:r>
              <a:rPr lang="en-US" altLang="zh-CN" sz="2400"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Example: </a:t>
            </a:r>
            <a:r>
              <a:rPr lang="en-US" altLang="zh-CN" sz="2400" dirty="0">
                <a:latin typeface="华文新魏" panose="02010800040101010101" pitchFamily="2" charset="-122"/>
                <a:ea typeface="华文新魏" panose="02010800040101010101" pitchFamily="2" charset="-122"/>
              </a:rPr>
              <a:t>Cancer diagnosis device</a:t>
            </a:r>
            <a:endParaRPr lang="zh-CN" altLang="en-US" sz="2400" dirty="0">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2276579-C2DA-4F26-AAEE-58526E2CE644}"/>
                  </a:ext>
                </a:extLst>
              </p:cNvPr>
              <p:cNvSpPr txBox="1"/>
              <p:nvPr/>
            </p:nvSpPr>
            <p:spPr>
              <a:xfrm>
                <a:off x="1606681" y="1095953"/>
                <a:ext cx="54476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m:rPr>
                          <m:sty m:val="p"/>
                        </m:rPr>
                        <a:rPr lang="en-GB" altLang="zh-CN" b="0" i="0" smtClean="0">
                          <a:latin typeface="Cambria Math" panose="02040503050406030204" pitchFamily="18" charset="0"/>
                        </a:rPr>
                        <m:t>Diagnosis</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device</m:t>
                      </m:r>
                      <m:r>
                        <a:rPr lang="en-US" altLang="zh-CN" b="0" i="0" smtClean="0">
                          <a:latin typeface="Cambria Math" panose="02040503050406030204" pitchFamily="18" charset="0"/>
                        </a:rPr>
                        <m:t> </m:t>
                      </m:r>
                      <m:r>
                        <m:rPr>
                          <m:sty m:val="p"/>
                        </m:rPr>
                        <a:rPr lang="en-GB" altLang="zh-CN" b="0" i="0" smtClean="0">
                          <a:latin typeface="Cambria Math" panose="02040503050406030204" pitchFamily="18" charset="0"/>
                        </a:rPr>
                        <m:t>shows</m:t>
                      </m:r>
                      <m:r>
                        <a:rPr lang="en-GB" altLang="zh-CN" b="0" i="0" smtClean="0">
                          <a:latin typeface="Cambria Math" panose="02040503050406030204" pitchFamily="18" charset="0"/>
                        </a:rPr>
                        <m:t> </m:t>
                      </m:r>
                      <m:r>
                        <m:rPr>
                          <m:sty m:val="p"/>
                        </m:rPr>
                        <a:rPr lang="en-US" altLang="zh-CN" b="0" i="0" smtClean="0">
                          <a:latin typeface="Cambria Math" panose="02040503050406030204" pitchFamily="18" charset="0"/>
                        </a:rPr>
                        <m:t>that</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a</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person</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has</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cancer</m:t>
                      </m:r>
                      <m:r>
                        <a:rPr lang="en-US" altLang="zh-CN" b="0" i="1" smtClean="0">
                          <a:latin typeface="Cambria Math" panose="02040503050406030204" pitchFamily="18" charset="0"/>
                        </a:rPr>
                        <m:t>}</m:t>
                      </m:r>
                    </m:oMath>
                  </m:oMathPara>
                </a14:m>
                <a:endParaRPr lang="zh-CN" altLang="en-US" dirty="0"/>
              </a:p>
            </p:txBody>
          </p:sp>
        </mc:Choice>
        <mc:Fallback xmlns="">
          <p:sp>
            <p:nvSpPr>
              <p:cNvPr id="3" name="文本框 2">
                <a:extLst>
                  <a:ext uri="{FF2B5EF4-FFF2-40B4-BE49-F238E27FC236}">
                    <a16:creationId xmlns:a16="http://schemas.microsoft.com/office/drawing/2014/main" id="{A2276579-C2DA-4F26-AAEE-58526E2CE644}"/>
                  </a:ext>
                </a:extLst>
              </p:cNvPr>
              <p:cNvSpPr txBox="1">
                <a:spLocks noRot="1" noChangeAspect="1" noMove="1" noResize="1" noEditPoints="1" noAdjustHandles="1" noChangeArrowheads="1" noChangeShapeType="1" noTextEdit="1"/>
              </p:cNvSpPr>
              <p:nvPr/>
            </p:nvSpPr>
            <p:spPr>
              <a:xfrm>
                <a:off x="1606681" y="1095953"/>
                <a:ext cx="5447645" cy="276999"/>
              </a:xfrm>
              <a:prstGeom prst="rect">
                <a:avLst/>
              </a:prstGeom>
              <a:blipFill>
                <a:blip r:embed="rId3"/>
                <a:stretch>
                  <a:fillRect l="-465" t="-8696" r="-930" b="-3478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FA6AB1B-98D4-45AF-8CD9-024E038F497B}"/>
                  </a:ext>
                </a:extLst>
              </p:cNvPr>
              <p:cNvSpPr txBox="1"/>
              <p:nvPr/>
            </p:nvSpPr>
            <p:spPr>
              <a:xfrm>
                <a:off x="1606681" y="1417556"/>
                <a:ext cx="35424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𝐵</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The</m:t>
                      </m:r>
                      <m:r>
                        <a:rPr lang="en-US" altLang="zh-CN" b="0" i="0" smtClean="0">
                          <a:latin typeface="Cambria Math" panose="02040503050406030204" pitchFamily="18" charset="0"/>
                        </a:rPr>
                        <m:t> </m:t>
                      </m:r>
                      <m:r>
                        <m:rPr>
                          <m:sty m:val="p"/>
                        </m:rPr>
                        <a:rPr lang="en-US" altLang="zh-CN" b="0" i="0" smtClean="0">
                          <a:latin typeface="Cambria Math" panose="02040503050406030204" pitchFamily="18" charset="0"/>
                        </a:rPr>
                        <m:t>person</m:t>
                      </m:r>
                      <m:r>
                        <a:rPr lang="en-US" altLang="zh-CN" b="0" i="0" smtClean="0">
                          <a:latin typeface="Cambria Math" panose="02040503050406030204" pitchFamily="18" charset="0"/>
                        </a:rPr>
                        <m:t> </m:t>
                      </m:r>
                      <m:r>
                        <m:rPr>
                          <m:sty m:val="p"/>
                        </m:rPr>
                        <a:rPr lang="en-US" altLang="zh-CN" b="0" i="1" smtClean="0">
                          <a:latin typeface="Cambria Math" panose="02040503050406030204" pitchFamily="18" charset="0"/>
                        </a:rPr>
                        <m:t>does</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have</m:t>
                      </m:r>
                      <m:r>
                        <a:rPr lang="zh-CN" altLang="en-US" b="0" i="0" smtClean="0">
                          <a:latin typeface="Cambria Math" panose="02040503050406030204" pitchFamily="18" charset="0"/>
                        </a:rPr>
                        <m:t> </m:t>
                      </m:r>
                      <m:r>
                        <m:rPr>
                          <m:sty m:val="p"/>
                        </m:rPr>
                        <a:rPr lang="en-US" altLang="zh-CN" b="0" i="0" smtClean="0">
                          <a:latin typeface="Cambria Math" panose="02040503050406030204" pitchFamily="18" charset="0"/>
                        </a:rPr>
                        <m:t>cancer</m:t>
                      </m:r>
                      <m:r>
                        <a:rPr lang="en-US" altLang="zh-CN" b="0" i="1" smtClean="0">
                          <a:latin typeface="Cambria Math" panose="02040503050406030204" pitchFamily="18" charset="0"/>
                        </a:rPr>
                        <m:t>}</m:t>
                      </m:r>
                    </m:oMath>
                  </m:oMathPara>
                </a14:m>
                <a:endParaRPr lang="zh-CN" altLang="en-US" dirty="0"/>
              </a:p>
            </p:txBody>
          </p:sp>
        </mc:Choice>
        <mc:Fallback xmlns="">
          <p:sp>
            <p:nvSpPr>
              <p:cNvPr id="4" name="文本框 3">
                <a:extLst>
                  <a:ext uri="{FF2B5EF4-FFF2-40B4-BE49-F238E27FC236}">
                    <a16:creationId xmlns:a16="http://schemas.microsoft.com/office/drawing/2014/main" id="{6FA6AB1B-98D4-45AF-8CD9-024E038F497B}"/>
                  </a:ext>
                </a:extLst>
              </p:cNvPr>
              <p:cNvSpPr txBox="1">
                <a:spLocks noRot="1" noChangeAspect="1" noMove="1" noResize="1" noEditPoints="1" noAdjustHandles="1" noChangeArrowheads="1" noChangeShapeType="1" noTextEdit="1"/>
              </p:cNvSpPr>
              <p:nvPr/>
            </p:nvSpPr>
            <p:spPr>
              <a:xfrm>
                <a:off x="1606681" y="1417556"/>
                <a:ext cx="3542445" cy="276999"/>
              </a:xfrm>
              <a:prstGeom prst="rect">
                <a:avLst/>
              </a:prstGeom>
              <a:blipFill>
                <a:blip r:embed="rId4"/>
                <a:stretch>
                  <a:fillRect l="-1071" t="-8696" r="-1786" b="-391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E2F886B-5214-4797-AFD8-C6BB6E9C4190}"/>
                  </a:ext>
                </a:extLst>
              </p:cNvPr>
              <p:cNvSpPr txBox="1"/>
              <p:nvPr/>
            </p:nvSpPr>
            <p:spPr>
              <a:xfrm>
                <a:off x="3660075" y="4522723"/>
                <a:ext cx="3121047" cy="5305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0.95∗0.0004</m:t>
                          </m:r>
                        </m:num>
                        <m:den>
                          <m:r>
                            <a:rPr lang="en-US" altLang="zh-CN" b="0" i="1" smtClean="0">
                              <a:latin typeface="Cambria Math" panose="02040503050406030204" pitchFamily="18" charset="0"/>
                            </a:rPr>
                            <m:t>0.95∗0.0004+0.1∗0.9996</m:t>
                          </m:r>
                        </m:den>
                      </m:f>
                    </m:oMath>
                  </m:oMathPara>
                </a14:m>
                <a:endParaRPr lang="zh-CN" altLang="en-US" dirty="0"/>
              </a:p>
            </p:txBody>
          </p:sp>
        </mc:Choice>
        <mc:Fallback xmlns="">
          <p:sp>
            <p:nvSpPr>
              <p:cNvPr id="7" name="文本框 6">
                <a:extLst>
                  <a:ext uri="{FF2B5EF4-FFF2-40B4-BE49-F238E27FC236}">
                    <a16:creationId xmlns:a16="http://schemas.microsoft.com/office/drawing/2014/main" id="{6E2F886B-5214-4797-AFD8-C6BB6E9C4190}"/>
                  </a:ext>
                </a:extLst>
              </p:cNvPr>
              <p:cNvSpPr txBox="1">
                <a:spLocks noRot="1" noChangeAspect="1" noMove="1" noResize="1" noEditPoints="1" noAdjustHandles="1" noChangeArrowheads="1" noChangeShapeType="1" noTextEdit="1"/>
              </p:cNvSpPr>
              <p:nvPr/>
            </p:nvSpPr>
            <p:spPr>
              <a:xfrm>
                <a:off x="3660075" y="4522723"/>
                <a:ext cx="3121047" cy="53059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98C1985-9BFB-42FC-A7D2-9F506B40536F}"/>
                  </a:ext>
                </a:extLst>
              </p:cNvPr>
              <p:cNvSpPr txBox="1"/>
              <p:nvPr/>
            </p:nvSpPr>
            <p:spPr>
              <a:xfrm>
                <a:off x="3680139" y="5383727"/>
                <a:ext cx="9890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=0.0038</m:t>
                      </m:r>
                    </m:oMath>
                  </m:oMathPara>
                </a14:m>
                <a:endParaRPr lang="zh-CN" altLang="en-US" dirty="0"/>
              </a:p>
            </p:txBody>
          </p:sp>
        </mc:Choice>
        <mc:Fallback xmlns="">
          <p:sp>
            <p:nvSpPr>
              <p:cNvPr id="8" name="文本框 7">
                <a:extLst>
                  <a:ext uri="{FF2B5EF4-FFF2-40B4-BE49-F238E27FC236}">
                    <a16:creationId xmlns:a16="http://schemas.microsoft.com/office/drawing/2014/main" id="{B98C1985-9BFB-42FC-A7D2-9F506B40536F}"/>
                  </a:ext>
                </a:extLst>
              </p:cNvPr>
              <p:cNvSpPr txBox="1">
                <a:spLocks noRot="1" noChangeAspect="1" noMove="1" noResize="1" noEditPoints="1" noAdjustHandles="1" noChangeArrowheads="1" noChangeShapeType="1" noTextEdit="1"/>
              </p:cNvSpPr>
              <p:nvPr/>
            </p:nvSpPr>
            <p:spPr>
              <a:xfrm>
                <a:off x="3680139" y="5383727"/>
                <a:ext cx="989053" cy="276999"/>
              </a:xfrm>
              <a:prstGeom prst="rect">
                <a:avLst/>
              </a:prstGeom>
              <a:blipFill>
                <a:blip r:embed="rId6"/>
                <a:stretch>
                  <a:fillRect l="-1852" r="-4938" b="-6522"/>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073A5E7C-364F-46C7-B180-CF37D4407D97}"/>
              </a:ext>
            </a:extLst>
          </p:cNvPr>
          <p:cNvSpPr/>
          <p:nvPr/>
        </p:nvSpPr>
        <p:spPr>
          <a:xfrm>
            <a:off x="445376" y="1026819"/>
            <a:ext cx="1530168" cy="369332"/>
          </a:xfrm>
          <a:prstGeom prst="rect">
            <a:avLst/>
          </a:prstGeom>
        </p:spPr>
        <p:txBody>
          <a:bodyPr wrap="square">
            <a:spAutoFit/>
          </a:bodyPr>
          <a:lstStyle/>
          <a:p>
            <a:r>
              <a:rPr lang="en-US" altLang="zh-CN" b="1"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Suppose:</a:t>
            </a:r>
            <a:endParaRPr lang="zh-CN" altLang="en-US" dirty="0"/>
          </a:p>
        </p:txBody>
      </p:sp>
      <p:sp>
        <p:nvSpPr>
          <p:cNvPr id="10" name="矩形 9">
            <a:extLst>
              <a:ext uri="{FF2B5EF4-FFF2-40B4-BE49-F238E27FC236}">
                <a16:creationId xmlns:a16="http://schemas.microsoft.com/office/drawing/2014/main" id="{CC01DECE-B253-40A4-900E-FAF094EB9679}"/>
              </a:ext>
            </a:extLst>
          </p:cNvPr>
          <p:cNvSpPr/>
          <p:nvPr/>
        </p:nvSpPr>
        <p:spPr>
          <a:xfrm>
            <a:off x="1533545" y="2150752"/>
            <a:ext cx="6114591" cy="646331"/>
          </a:xfrm>
          <a:prstGeom prst="rect">
            <a:avLst/>
          </a:prstGeom>
        </p:spPr>
        <p:txBody>
          <a:bodyPr wrap="square">
            <a:spAutoFit/>
          </a:bodyPr>
          <a:lstStyle/>
          <a:p>
            <a:r>
              <a:rPr lang="en-US" altLang="zh-CN" dirty="0">
                <a:latin typeface="华文新魏" panose="02010800040101010101" pitchFamily="2" charset="-122"/>
                <a:ea typeface="华文新魏" panose="02010800040101010101" pitchFamily="2" charset="-122"/>
              </a:rPr>
              <a:t>If 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diagnosis</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device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shows</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that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 person has cancer, what is the probability of that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or</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she</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do</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have cancer?</a:t>
            </a:r>
            <a:endParaRPr lang="zh-CN" altLang="en-US" dirty="0">
              <a:latin typeface="华文新魏" panose="02010800040101010101" pitchFamily="2" charset="-122"/>
              <a:ea typeface="华文新魏" panose="02010800040101010101" pitchFamily="2" charset="-122"/>
            </a:endParaRPr>
          </a:p>
        </p:txBody>
      </p:sp>
      <p:sp>
        <p:nvSpPr>
          <p:cNvPr id="11" name="矩形 10">
            <a:extLst>
              <a:ext uri="{FF2B5EF4-FFF2-40B4-BE49-F238E27FC236}">
                <a16:creationId xmlns:a16="http://schemas.microsoft.com/office/drawing/2014/main" id="{2B8D33E3-A6F9-42F4-90D0-3CC8E0292BB6}"/>
              </a:ext>
            </a:extLst>
          </p:cNvPr>
          <p:cNvSpPr/>
          <p:nvPr/>
        </p:nvSpPr>
        <p:spPr>
          <a:xfrm>
            <a:off x="624835" y="3225851"/>
            <a:ext cx="1059906" cy="369332"/>
          </a:xfrm>
          <a:prstGeom prst="rect">
            <a:avLst/>
          </a:prstGeom>
        </p:spPr>
        <p:txBody>
          <a:bodyPr wrap="none">
            <a:spAutoFit/>
          </a:bodyPr>
          <a:lstStyle/>
          <a:p>
            <a:r>
              <a:rPr lang="en-US" altLang="zh-CN"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Answer: </a:t>
            </a:r>
            <a:endParaRPr lang="zh-CN" altLang="en-US"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74D760B-12DB-45F4-B4DD-D0F1C75BFE62}"/>
                  </a:ext>
                </a:extLst>
              </p:cNvPr>
              <p:cNvSpPr txBox="1"/>
              <p:nvPr/>
            </p:nvSpPr>
            <p:spPr>
              <a:xfrm>
                <a:off x="1533545" y="3316057"/>
                <a:ext cx="6454364" cy="1065805"/>
              </a:xfrm>
              <a:prstGeom prst="rect">
                <a:avLst/>
              </a:prstGeom>
              <a:noFill/>
            </p:spPr>
            <p:txBody>
              <a:bodyPr wrap="square" rtlCol="0">
                <a:spAutoFit/>
              </a:bodyPr>
              <a:lstStyle/>
              <a:p>
                <a:pPr>
                  <a:spcAft>
                    <a:spcPts val="600"/>
                  </a:spcAft>
                </a:pPr>
                <a:r>
                  <a:rPr lang="en-US" altLang="zh-CN" dirty="0">
                    <a:latin typeface="华文新魏" panose="02010800040101010101" pitchFamily="2" charset="-122"/>
                    <a:ea typeface="华文新魏" panose="02010800040101010101" pitchFamily="2" charset="-122"/>
                  </a:rPr>
                  <a:t>By the Bayes' rule, the probability</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that</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the person has cancer is</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a:rPr>
                            <m:t>𝐵</m:t>
                          </m:r>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a:rPr>
                                <m:t>𝐵</m:t>
                              </m:r>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a:rPr>
                            <m:t>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a:rPr>
                                <m:t>𝐵</m:t>
                              </m:r>
                            </m:e>
                          </m:d>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a:rPr>
                                <m:t>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m:t>
                          </m:r>
                        </m:den>
                      </m:f>
                    </m:oMath>
                  </m:oMathPara>
                </a14:m>
                <a:endParaRPr lang="zh-CN" altLang="en-US" dirty="0">
                  <a:latin typeface="华文新魏" panose="02010800040101010101" pitchFamily="2" charset="-122"/>
                  <a:ea typeface="华文新魏" panose="02010800040101010101" pitchFamily="2" charset="-122"/>
                </a:endParaRPr>
              </a:p>
            </p:txBody>
          </p:sp>
        </mc:Choice>
        <mc:Fallback xmlns="">
          <p:sp>
            <p:nvSpPr>
              <p:cNvPr id="14" name="文本框 13">
                <a:extLst>
                  <a:ext uri="{FF2B5EF4-FFF2-40B4-BE49-F238E27FC236}">
                    <a16:creationId xmlns:a16="http://schemas.microsoft.com/office/drawing/2014/main" id="{474D760B-12DB-45F4-B4DD-D0F1C75BFE62}"/>
                  </a:ext>
                </a:extLst>
              </p:cNvPr>
              <p:cNvSpPr txBox="1">
                <a:spLocks noRot="1" noChangeAspect="1" noMove="1" noResize="1" noEditPoints="1" noAdjustHandles="1" noChangeArrowheads="1" noChangeShapeType="1" noTextEdit="1"/>
              </p:cNvSpPr>
              <p:nvPr/>
            </p:nvSpPr>
            <p:spPr>
              <a:xfrm>
                <a:off x="1533545" y="3316057"/>
                <a:ext cx="6454364" cy="1065805"/>
              </a:xfrm>
              <a:prstGeom prst="rect">
                <a:avLst/>
              </a:prstGeom>
              <a:blipFill>
                <a:blip r:embed="rId7"/>
                <a:stretch>
                  <a:fillRect l="-851" t="-2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0AAC92F-385C-4314-AB1F-C2BC2A7B64D9}"/>
                  </a:ext>
                </a:extLst>
              </p:cNvPr>
              <p:cNvSpPr txBox="1"/>
              <p:nvPr/>
            </p:nvSpPr>
            <p:spPr>
              <a:xfrm>
                <a:off x="1533545" y="1721649"/>
                <a:ext cx="6718358" cy="404983"/>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a:rPr>
                          <m:t>𝐵</m:t>
                        </m:r>
                      </m:e>
                    </m:d>
                    <m:r>
                      <a:rPr lang="en-US" altLang="zh-CN" b="0" i="1" smtClean="0">
                        <a:latin typeface="Cambria Math" panose="02040503050406030204" pitchFamily="18" charset="0"/>
                      </a:rPr>
                      <m:t>=0.95, </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d>
                    <m:r>
                      <a:rPr lang="en-US" altLang="zh-CN" b="0" i="1" smtClean="0">
                        <a:latin typeface="Cambria Math" panose="02040503050406030204" pitchFamily="18" charset="0"/>
                      </a:rPr>
                      <m:t>=0.90</m:t>
                    </m:r>
                  </m:oMath>
                </a14:m>
                <a:r>
                  <a:rPr lang="en-US" altLang="zh-CN" dirty="0">
                    <a:latin typeface="华文新魏" panose="02010800040101010101" pitchFamily="2" charset="-122"/>
                    <a:ea typeface="华文新魏" panose="02010800040101010101" pitchFamily="2" charset="-122"/>
                  </a:rPr>
                  <a:t>.  Assume </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a:rPr>
                          <m:t>𝐵</m:t>
                        </m:r>
                      </m:e>
                    </m:d>
                    <m:r>
                      <a:rPr lang="en-US" altLang="zh-CN" b="0" i="1" smtClean="0">
                        <a:latin typeface="Cambria Math" panose="02040503050406030204" pitchFamily="18" charset="0"/>
                      </a:rPr>
                      <m:t>=0.0004</m:t>
                    </m:r>
                  </m:oMath>
                </a14:m>
                <a:endParaRPr lang="en-US" altLang="zh-CN" dirty="0">
                  <a:latin typeface="华文新魏" panose="02010800040101010101" pitchFamily="2" charset="-122"/>
                  <a:ea typeface="华文新魏" panose="02010800040101010101" pitchFamily="2" charset="-122"/>
                </a:endParaRPr>
              </a:p>
            </p:txBody>
          </p:sp>
        </mc:Choice>
        <mc:Fallback xmlns="">
          <p:sp>
            <p:nvSpPr>
              <p:cNvPr id="5" name="文本框 4">
                <a:extLst>
                  <a:ext uri="{FF2B5EF4-FFF2-40B4-BE49-F238E27FC236}">
                    <a16:creationId xmlns:a16="http://schemas.microsoft.com/office/drawing/2014/main" id="{A0AAC92F-385C-4314-AB1F-C2BC2A7B64D9}"/>
                  </a:ext>
                </a:extLst>
              </p:cNvPr>
              <p:cNvSpPr txBox="1">
                <a:spLocks noRot="1" noChangeAspect="1" noMove="1" noResize="1" noEditPoints="1" noAdjustHandles="1" noChangeArrowheads="1" noChangeShapeType="1" noTextEdit="1"/>
              </p:cNvSpPr>
              <p:nvPr/>
            </p:nvSpPr>
            <p:spPr>
              <a:xfrm>
                <a:off x="1533545" y="1721649"/>
                <a:ext cx="6718358" cy="404983"/>
              </a:xfrm>
              <a:prstGeom prst="rect">
                <a:avLst/>
              </a:prstGeom>
              <a:blipFill>
                <a:blip r:embed="rId8"/>
                <a:stretch>
                  <a:fillRect b="-2089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410660"/>
                                        </p:tgtEl>
                                        <p:attrNameLst>
                                          <p:attrName>style.visibility</p:attrName>
                                        </p:attrNameLst>
                                      </p:cBhvr>
                                      <p:to>
                                        <p:strVal val="visible"/>
                                      </p:to>
                                    </p:set>
                                    <p:anim calcmode="lin" valueType="num">
                                      <p:cBhvr additive="base">
                                        <p:cTn id="38" dur="500" fill="hold"/>
                                        <p:tgtEl>
                                          <p:spTgt spid="410660"/>
                                        </p:tgtEl>
                                        <p:attrNameLst>
                                          <p:attrName>ppt_x</p:attrName>
                                        </p:attrNameLst>
                                      </p:cBhvr>
                                      <p:tavLst>
                                        <p:tav tm="0">
                                          <p:val>
                                            <p:strVal val="1+#ppt_w/2"/>
                                          </p:val>
                                        </p:tav>
                                        <p:tav tm="100000">
                                          <p:val>
                                            <p:strVal val="#ppt_x"/>
                                          </p:val>
                                        </p:tav>
                                      </p:tavLst>
                                    </p:anim>
                                    <p:anim calcmode="lin" valueType="num">
                                      <p:cBhvr additive="base">
                                        <p:cTn id="39" dur="500" fill="hold"/>
                                        <p:tgtEl>
                                          <p:spTgt spid="4106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60" grpId="0" animBg="1"/>
      <p:bldP spid="3" grpId="0"/>
      <p:bldP spid="4" grpId="0"/>
      <p:bldP spid="7" grpId="0"/>
      <p:bldP spid="8" grpId="0"/>
      <p:bldP spid="9" grpId="0"/>
      <p:bldP spid="10" grpId="0"/>
      <p:bldP spid="11" grpId="0"/>
      <p:bldP spid="1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81" name="WordArt 13"/>
          <p:cNvSpPr>
            <a:spLocks noChangeArrowheads="1" noChangeShapeType="1" noTextEdit="1"/>
          </p:cNvSpPr>
          <p:nvPr/>
        </p:nvSpPr>
        <p:spPr bwMode="auto">
          <a:xfrm>
            <a:off x="2454520" y="3200399"/>
            <a:ext cx="2574679" cy="485453"/>
          </a:xfrm>
          <a:prstGeom prst="rect">
            <a:avLst/>
          </a:prstGeom>
        </p:spPr>
        <p:txBody>
          <a:bodyPr wrap="none" fromWordArt="1">
            <a:prstTxWarp prst="textPlain">
              <a:avLst>
                <a:gd name="adj" fmla="val 50000"/>
              </a:avLst>
            </a:prstTxWarp>
          </a:bodyPr>
          <a:lstStyle/>
          <a:p>
            <a:pPr>
              <a:defRPr/>
            </a:pPr>
            <a:r>
              <a:rPr lang="en-US" altLang="zh-CN"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rPr>
              <a:t>P30: 46</a:t>
            </a:r>
            <a:endParaRPr lang="zh-CN" altLang="en-US"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endParaRPr>
          </a:p>
        </p:txBody>
      </p:sp>
      <p:grpSp>
        <p:nvGrpSpPr>
          <p:cNvPr id="20487" name="Group 15"/>
          <p:cNvGrpSpPr>
            <a:grpSpLocks/>
          </p:cNvGrpSpPr>
          <p:nvPr/>
        </p:nvGrpSpPr>
        <p:grpSpPr bwMode="auto">
          <a:xfrm>
            <a:off x="1387108" y="1026402"/>
            <a:ext cx="774700" cy="900113"/>
            <a:chOff x="1519" y="1253"/>
            <a:chExt cx="488" cy="567"/>
          </a:xfrm>
        </p:grpSpPr>
        <p:sp>
          <p:nvSpPr>
            <p:cNvPr id="20489" name="Rectangle 16"/>
            <p:cNvSpPr>
              <a:spLocks noChangeArrowheads="1"/>
            </p:cNvSpPr>
            <p:nvPr/>
          </p:nvSpPr>
          <p:spPr bwMode="auto">
            <a:xfrm>
              <a:off x="1519" y="1253"/>
              <a:ext cx="476" cy="567"/>
            </a:xfrm>
            <a:prstGeom prst="rect">
              <a:avLst/>
            </a:prstGeom>
            <a:solidFill>
              <a:srgbClr val="080808"/>
            </a:solidFill>
            <a:ln>
              <a:noFill/>
            </a:ln>
            <a:effectLst>
              <a:outerShdw dist="107763" dir="2700000" algn="ctr" rotWithShape="0">
                <a:schemeClr val="bg2">
                  <a:alpha val="50000"/>
                </a:schemeClr>
              </a:outerShdw>
            </a:effectLst>
            <a:extLst>
              <a:ext uri="{91240B29-F687-4F45-9708-019B960494DF}">
                <a14:hiddenLine xmlns:a14="http://schemas.microsoft.com/office/drawing/2010/main" w="12700" algn="ctr">
                  <a:solidFill>
                    <a:schemeClr val="accent2"/>
                  </a:solidFill>
                  <a:miter lim="800000"/>
                  <a:headEnd/>
                  <a:tailEnd/>
                </a14:hiddenLine>
              </a:ext>
            </a:extLst>
          </p:spPr>
          <p:txBody>
            <a:bodyPr wrap="none" anchor="ctr"/>
            <a:lstStyle/>
            <a:p>
              <a:endParaRPr lang="zh-CN" altLang="en-US"/>
            </a:p>
          </p:txBody>
        </p:sp>
        <p:pic>
          <p:nvPicPr>
            <p:cNvPr id="20490" name="Picture 17" descr="0_4"/>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519" y="1275"/>
              <a:ext cx="48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Rectangle 18"/>
            <p:cNvSpPr>
              <a:spLocks noChangeArrowheads="1"/>
            </p:cNvSpPr>
            <p:nvPr/>
          </p:nvSpPr>
          <p:spPr bwMode="auto">
            <a:xfrm>
              <a:off x="1519" y="1253"/>
              <a:ext cx="476" cy="567"/>
            </a:xfrm>
            <a:prstGeom prst="rect">
              <a:avLst/>
            </a:prstGeom>
            <a:noFill/>
            <a:ln w="12700" algn="ctr">
              <a:solidFill>
                <a:schemeClr val="accent2"/>
              </a:solidFill>
              <a:miter lim="800000"/>
              <a:headEnd/>
              <a:tailEnd/>
            </a:ln>
            <a:effectLst/>
            <a:extLst>
              <a:ext uri="{909E8E84-426E-40DD-AFC4-6F175D3DCCD1}">
                <a14:hiddenFill xmlns:a14="http://schemas.microsoft.com/office/drawing/2010/main">
                  <a:solidFill>
                    <a:srgbClr val="080808"/>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grpSp>
      <p:sp>
        <p:nvSpPr>
          <p:cNvPr id="2" name="文本框 1">
            <a:extLst>
              <a:ext uri="{FF2B5EF4-FFF2-40B4-BE49-F238E27FC236}">
                <a16:creationId xmlns:a16="http://schemas.microsoft.com/office/drawing/2014/main" id="{E184123C-EAB5-4E8C-A400-C2002702977D}"/>
              </a:ext>
            </a:extLst>
          </p:cNvPr>
          <p:cNvSpPr txBox="1"/>
          <p:nvPr/>
        </p:nvSpPr>
        <p:spPr>
          <a:xfrm>
            <a:off x="2241789" y="799716"/>
            <a:ext cx="3023585" cy="769441"/>
          </a:xfrm>
          <a:prstGeom prst="rect">
            <a:avLst/>
          </a:prstGeom>
          <a:noFill/>
        </p:spPr>
        <p:txBody>
          <a:bodyPr wrap="none" rtlCol="0">
            <a:spAutoFit/>
          </a:bodyPr>
          <a:lstStyle/>
          <a:p>
            <a:r>
              <a:rPr lang="en-US" altLang="zh-CN" sz="4400" b="1" dirty="0">
                <a:solidFill>
                  <a:schemeClr val="accent5">
                    <a:lumMod val="75000"/>
                  </a:schemeClr>
                </a:solidFill>
                <a:latin typeface="华文新魏" panose="02010800040101010101" pitchFamily="2" charset="-122"/>
                <a:ea typeface="华文新魏" panose="02010800040101010101" pitchFamily="2" charset="-122"/>
              </a:rPr>
              <a:t>Homework</a:t>
            </a:r>
            <a:endParaRPr lang="zh-CN" altLang="en-US" sz="4400" b="1" dirty="0">
              <a:solidFill>
                <a:schemeClr val="accent5">
                  <a:lumMod val="75000"/>
                </a:schemeClr>
              </a:solidFill>
              <a:latin typeface="华文新魏" panose="02010800040101010101" pitchFamily="2" charset="-122"/>
              <a:ea typeface="华文新魏" panose="02010800040101010101" pitchFamily="2" charset="-122"/>
            </a:endParaRPr>
          </a:p>
        </p:txBody>
      </p:sp>
      <p:pic>
        <p:nvPicPr>
          <p:cNvPr id="8"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5621176" y="519722"/>
            <a:ext cx="2249255" cy="1913472"/>
          </a:xfrm>
          <a:prstGeom prst="rect">
            <a:avLst/>
          </a:prstGeom>
        </p:spPr>
      </p:pic>
      <p:sp>
        <p:nvSpPr>
          <p:cNvPr id="9" name="WordArt 13"/>
          <p:cNvSpPr>
            <a:spLocks noChangeArrowheads="1" noChangeShapeType="1" noTextEdit="1"/>
          </p:cNvSpPr>
          <p:nvPr/>
        </p:nvSpPr>
        <p:spPr bwMode="auto">
          <a:xfrm>
            <a:off x="2431911" y="4328867"/>
            <a:ext cx="3606312" cy="470678"/>
          </a:xfrm>
          <a:prstGeom prst="rect">
            <a:avLst/>
          </a:prstGeom>
        </p:spPr>
        <p:txBody>
          <a:bodyPr wrap="none" fromWordArt="1">
            <a:prstTxWarp prst="textPlain">
              <a:avLst>
                <a:gd name="adj" fmla="val 50000"/>
              </a:avLst>
            </a:prstTxWarp>
          </a:bodyPr>
          <a:lstStyle/>
          <a:p>
            <a:pPr>
              <a:defRPr/>
            </a:pPr>
            <a:r>
              <a:rPr lang="en-US" altLang="zh-CN"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rPr>
              <a:t>P31</a:t>
            </a:r>
            <a:r>
              <a:rPr lang="zh-CN" altLang="en-US"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rPr>
              <a:t>：</a:t>
            </a:r>
            <a:r>
              <a:rPr lang="en-US" altLang="zh-CN"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rPr>
              <a:t>53,54</a:t>
            </a:r>
            <a:endParaRPr lang="zh-CN" altLang="en-US"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endParaRPr>
          </a:p>
        </p:txBody>
      </p:sp>
      <p:sp>
        <p:nvSpPr>
          <p:cNvPr id="10" name="WordArt 13"/>
          <p:cNvSpPr>
            <a:spLocks noChangeArrowheads="1" noChangeShapeType="1" noTextEdit="1"/>
          </p:cNvSpPr>
          <p:nvPr/>
        </p:nvSpPr>
        <p:spPr bwMode="auto">
          <a:xfrm>
            <a:off x="2423535" y="5357445"/>
            <a:ext cx="2551235" cy="462007"/>
          </a:xfrm>
          <a:prstGeom prst="rect">
            <a:avLst/>
          </a:prstGeom>
        </p:spPr>
        <p:txBody>
          <a:bodyPr wrap="none" fromWordArt="1">
            <a:prstTxWarp prst="textPlain">
              <a:avLst>
                <a:gd name="adj" fmla="val 50000"/>
              </a:avLst>
            </a:prstTxWarp>
          </a:bodyPr>
          <a:lstStyle/>
          <a:p>
            <a:pPr>
              <a:defRPr/>
            </a:pPr>
            <a:r>
              <a:rPr lang="en-US" altLang="zh-CN"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rPr>
              <a:t>P32: 63</a:t>
            </a:r>
            <a:endParaRPr lang="zh-CN" altLang="en-US" sz="3600" kern="10" dirty="0">
              <a:ln w="12700">
                <a:solidFill>
                  <a:srgbClr val="FFFF00"/>
                </a:solidFill>
                <a:round/>
                <a:headEnd/>
                <a:tailEnd/>
              </a:ln>
              <a:gradFill rotWithShape="1">
                <a:gsLst>
                  <a:gs pos="0">
                    <a:srgbClr val="FFFFFF"/>
                  </a:gs>
                  <a:gs pos="100000">
                    <a:srgbClr val="FF0000"/>
                  </a:gs>
                </a:gsLst>
                <a:lin ang="5400000" scaled="1"/>
              </a:gradFill>
              <a:effectLst>
                <a:outerShdw dist="35921" dir="2700000" algn="ctr" rotWithShape="0">
                  <a:srgbClr val="990000"/>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nodeType="afterEffect">
                                  <p:stCondLst>
                                    <p:cond delay="0"/>
                                  </p:stCondLst>
                                  <p:childTnLst>
                                    <p:set>
                                      <p:cBhvr>
                                        <p:cTn id="6" dur="1" fill="hold">
                                          <p:stCondLst>
                                            <p:cond delay="0"/>
                                          </p:stCondLst>
                                        </p:cTn>
                                        <p:tgtEl>
                                          <p:spTgt spid="442381"/>
                                        </p:tgtEl>
                                        <p:attrNameLst>
                                          <p:attrName>style.visibility</p:attrName>
                                        </p:attrNameLst>
                                      </p:cBhvr>
                                      <p:to>
                                        <p:strVal val="visible"/>
                                      </p:to>
                                    </p:set>
                                    <p:animEffect transition="in" filter="dissolve">
                                      <p:cBhvr>
                                        <p:cTn id="7" dur="500"/>
                                        <p:tgtEl>
                                          <p:spTgt spid="44238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4572000" cy="6858000"/>
          </a:xfrm>
          <a:prstGeom prst="rect">
            <a:avLst/>
          </a:prstGeom>
          <a:solidFill>
            <a:srgbClr val="FF8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灯片编号占位符 5"/>
          <p:cNvSpPr>
            <a:spLocks noGrp="1"/>
          </p:cNvSpPr>
          <p:nvPr>
            <p:ph type="sldNum" sz="quarter" idx="12"/>
          </p:nvPr>
        </p:nvSpPr>
        <p:spPr/>
        <p:txBody>
          <a:bodyPr/>
          <a:lstStyle/>
          <a:p>
            <a:fld id="{FF89BF86-97AE-4B04-9B06-3C0BD16A1870}" type="slidenum">
              <a:rPr lang="zh-CN" altLang="en-US" smtClean="0">
                <a:solidFill>
                  <a:prstClr val="black">
                    <a:tint val="75000"/>
                  </a:prstClr>
                </a:solidFill>
              </a:rPr>
              <a:pPr/>
              <a:t>24</a:t>
            </a:fld>
            <a:endParaRPr lang="zh-CN" altLang="en-US">
              <a:solidFill>
                <a:prstClr val="black">
                  <a:tint val="75000"/>
                </a:prstClr>
              </a:solidFill>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95" y="0"/>
            <a:ext cx="2570205" cy="1016000"/>
          </a:xfrm>
          <a:prstGeom prst="rect">
            <a:avLst/>
          </a:prstGeom>
        </p:spPr>
      </p:pic>
      <p:sp>
        <p:nvSpPr>
          <p:cNvPr id="7" name="文本框 2">
            <a:extLst>
              <a:ext uri="{FF2B5EF4-FFF2-40B4-BE49-F238E27FC236}">
                <a16:creationId xmlns:a16="http://schemas.microsoft.com/office/drawing/2014/main" id="{E279B846-900C-D242-915F-AC0889836382}"/>
              </a:ext>
            </a:extLst>
          </p:cNvPr>
          <p:cNvSpPr txBox="1"/>
          <p:nvPr/>
        </p:nvSpPr>
        <p:spPr>
          <a:xfrm>
            <a:off x="2271563" y="2967335"/>
            <a:ext cx="2424678" cy="923330"/>
          </a:xfrm>
          <a:prstGeom prst="rect">
            <a:avLst/>
          </a:prstGeom>
          <a:noFill/>
        </p:spPr>
        <p:txBody>
          <a:bodyPr wrap="square" rtlCol="0">
            <a:spAutoFit/>
          </a:bodyPr>
          <a:lstStyle/>
          <a:p>
            <a:r>
              <a:rPr lang="en-GB" altLang="zh-CN" sz="5400" b="1" dirty="0">
                <a:solidFill>
                  <a:prstClr val="white"/>
                </a:solidFill>
                <a:latin typeface="幼圆" panose="02010509060101010101" pitchFamily="49" charset="-122"/>
                <a:ea typeface="幼圆" panose="02010509060101010101" pitchFamily="49" charset="-122"/>
              </a:rPr>
              <a:t>Thank</a:t>
            </a:r>
            <a:endParaRPr lang="zh-CN" altLang="en-US" sz="5400" b="1" dirty="0">
              <a:solidFill>
                <a:prstClr val="white"/>
              </a:solidFill>
              <a:latin typeface="幼圆" panose="02010509060101010101" pitchFamily="49" charset="-122"/>
              <a:ea typeface="幼圆" panose="02010509060101010101" pitchFamily="49" charset="-122"/>
            </a:endParaRPr>
          </a:p>
        </p:txBody>
      </p:sp>
      <p:sp>
        <p:nvSpPr>
          <p:cNvPr id="9" name="文本框 3">
            <a:extLst>
              <a:ext uri="{FF2B5EF4-FFF2-40B4-BE49-F238E27FC236}">
                <a16:creationId xmlns:a16="http://schemas.microsoft.com/office/drawing/2014/main" id="{18E4D6DC-1811-DD40-A853-F981FD4B47C4}"/>
              </a:ext>
            </a:extLst>
          </p:cNvPr>
          <p:cNvSpPr txBox="1"/>
          <p:nvPr/>
        </p:nvSpPr>
        <p:spPr>
          <a:xfrm>
            <a:off x="4527275" y="2967335"/>
            <a:ext cx="1599647" cy="923330"/>
          </a:xfrm>
          <a:prstGeom prst="rect">
            <a:avLst/>
          </a:prstGeom>
          <a:noFill/>
        </p:spPr>
        <p:txBody>
          <a:bodyPr wrap="square" rtlCol="0">
            <a:spAutoFit/>
          </a:bodyPr>
          <a:lstStyle/>
          <a:p>
            <a:r>
              <a:rPr lang="en-GB" altLang="zh-CN" sz="5400" b="1" dirty="0">
                <a:solidFill>
                  <a:srgbClr val="ED6C00"/>
                </a:solidFill>
                <a:latin typeface="幼圆" panose="02010509060101010101" pitchFamily="49" charset="-122"/>
                <a:ea typeface="幼圆" panose="02010509060101010101" pitchFamily="49" charset="-122"/>
              </a:rPr>
              <a:t>You</a:t>
            </a:r>
            <a:endParaRPr lang="zh-CN" altLang="en-US" sz="5400" b="1" dirty="0">
              <a:solidFill>
                <a:srgbClr val="ED6C00"/>
              </a:solidFill>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11101196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lumMod val="95000"/>
            <a:lumOff val="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26163</TotalTime>
  <Words>2433</Words>
  <Application>Microsoft Office PowerPoint</Application>
  <PresentationFormat>全屏显示(4:3)</PresentationFormat>
  <Paragraphs>333</Paragraphs>
  <Slides>24</Slides>
  <Notes>10</Notes>
  <HiddenSlides>2</HiddenSlides>
  <MMClips>0</MMClips>
  <ScaleCrop>false</ScaleCrop>
  <HeadingPairs>
    <vt:vector size="8" baseType="variant">
      <vt:variant>
        <vt:lpstr>已用的字体</vt:lpstr>
      </vt:variant>
      <vt:variant>
        <vt:i4>19</vt:i4>
      </vt:variant>
      <vt:variant>
        <vt:lpstr>主题</vt:lpstr>
      </vt:variant>
      <vt:variant>
        <vt:i4>3</vt:i4>
      </vt:variant>
      <vt:variant>
        <vt:lpstr>嵌入 OLE 服务器</vt:lpstr>
      </vt:variant>
      <vt:variant>
        <vt:i4>4</vt:i4>
      </vt:variant>
      <vt:variant>
        <vt:lpstr>幻灯片标题</vt:lpstr>
      </vt:variant>
      <vt:variant>
        <vt:i4>24</vt:i4>
      </vt:variant>
    </vt:vector>
  </HeadingPairs>
  <TitlesOfParts>
    <vt:vector size="50" baseType="lpstr">
      <vt:lpstr>Amasis MT Pro Light</vt:lpstr>
      <vt:lpstr>Arial Unicode MS</vt:lpstr>
      <vt:lpstr>Microsoft YaHei UI</vt:lpstr>
      <vt:lpstr>Monotype Sorts</vt:lpstr>
      <vt:lpstr>等线</vt:lpstr>
      <vt:lpstr>等线 Light</vt:lpstr>
      <vt:lpstr>黑体</vt:lpstr>
      <vt:lpstr>STXinwei</vt:lpstr>
      <vt:lpstr>STXinwei</vt:lpstr>
      <vt:lpstr>楷体_GB2312</vt:lpstr>
      <vt:lpstr>宋体</vt:lpstr>
      <vt:lpstr>幼圆</vt:lpstr>
      <vt:lpstr>Arial</vt:lpstr>
      <vt:lpstr>Arial Rounded MT Bold</vt:lpstr>
      <vt:lpstr>Calibri</vt:lpstr>
      <vt:lpstr>Calibri Light</vt:lpstr>
      <vt:lpstr>Cambria Math</vt:lpstr>
      <vt:lpstr>Times New Roman</vt:lpstr>
      <vt:lpstr>Wingdings</vt:lpstr>
      <vt:lpstr>Office 主题​​</vt:lpstr>
      <vt:lpstr>1_Office 主题​​</vt:lpstr>
      <vt:lpstr>Office 主题</vt:lpstr>
      <vt:lpstr>剪辑</vt:lpstr>
      <vt:lpstr>公式</vt:lpstr>
      <vt:lpstr>Equation</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MathTech Laboratory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《概率论与数理统计》课件</dc:title>
  <dc:creator>Lili Yang</dc:creator>
  <cp:lastModifiedBy>Lenovo</cp:lastModifiedBy>
  <cp:revision>1727</cp:revision>
  <cp:lastPrinted>2018-09-12T16:24:22Z</cp:lastPrinted>
  <dcterms:created xsi:type="dcterms:W3CDTF">1999-06-22T01:41:39Z</dcterms:created>
  <dcterms:modified xsi:type="dcterms:W3CDTF">2022-09-16T10:08:28Z</dcterms:modified>
</cp:coreProperties>
</file>