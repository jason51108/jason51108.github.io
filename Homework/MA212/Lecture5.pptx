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21"/>
  </p:notesMasterIdLst>
  <p:handoutMasterIdLst>
    <p:handoutMasterId r:id="rId22"/>
  </p:handoutMasterIdLst>
  <p:sldIdLst>
    <p:sldId id="486" r:id="rId3"/>
    <p:sldId id="490" r:id="rId4"/>
    <p:sldId id="398" r:id="rId5"/>
    <p:sldId id="483" r:id="rId6"/>
    <p:sldId id="415" r:id="rId7"/>
    <p:sldId id="464" r:id="rId8"/>
    <p:sldId id="462" r:id="rId9"/>
    <p:sldId id="400" r:id="rId10"/>
    <p:sldId id="445" r:id="rId11"/>
    <p:sldId id="465" r:id="rId12"/>
    <p:sldId id="480" r:id="rId13"/>
    <p:sldId id="455" r:id="rId14"/>
    <p:sldId id="434" r:id="rId15"/>
    <p:sldId id="489" r:id="rId16"/>
    <p:sldId id="451" r:id="rId17"/>
    <p:sldId id="488" r:id="rId18"/>
    <p:sldId id="454" r:id="rId19"/>
    <p:sldId id="487" r:id="rId20"/>
  </p:sldIdLst>
  <p:sldSz cx="9144000" cy="6858000" type="screen4x3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6600"/>
    <a:srgbClr val="FF3300"/>
    <a:srgbClr val="FFFF00"/>
    <a:srgbClr val="FFFF99"/>
    <a:srgbClr val="FFCC00"/>
    <a:srgbClr val="66CCFF"/>
    <a:srgbClr val="3333CC"/>
    <a:srgbClr val="6600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6740" autoAdjust="0"/>
  </p:normalViewPr>
  <p:slideViewPr>
    <p:cSldViewPr snapToGrid="0" showGuides="1">
      <p:cViewPr varScale="1">
        <p:scale>
          <a:sx n="62" d="100"/>
          <a:sy n="62" d="100"/>
        </p:scale>
        <p:origin x="-96" y="-955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158DC-54F9-41CA-A300-D6DF0A79CDBA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98E630-9FF1-4F2D-98ED-9B5D1348B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83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25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25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5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BC31405B-7C42-46F3-A52D-0A97E27C6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0178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770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01978BE-959E-4CE6-BA40-6738072B6363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28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Even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B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independent,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mean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disjoint.</a:t>
            </a:r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dirty="0"/>
              <a:t>Independence and disjoint can not happen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473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condition</a:t>
            </a:r>
            <a:r>
              <a:rPr lang="zh-CN" altLang="en-US" dirty="0"/>
              <a:t> </a:t>
            </a:r>
            <a:r>
              <a:rPr lang="en-US" altLang="zh-CN" dirty="0"/>
              <a:t>P(ABC)=P(A)P(B)P(C),</a:t>
            </a:r>
            <a:r>
              <a:rPr lang="zh-CN" altLang="en-US" dirty="0"/>
              <a:t> </a:t>
            </a:r>
            <a:r>
              <a:rPr lang="en-US" altLang="zh-CN" dirty="0"/>
              <a:t>A,</a:t>
            </a:r>
            <a:r>
              <a:rPr lang="zh-CN" altLang="en-US" dirty="0"/>
              <a:t> </a:t>
            </a:r>
            <a:r>
              <a:rPr lang="en-US" altLang="zh-CN" dirty="0"/>
              <a:t>B,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called</a:t>
            </a:r>
            <a:r>
              <a:rPr lang="zh-CN" altLang="en-US" dirty="0"/>
              <a:t> </a:t>
            </a:r>
            <a:r>
              <a:rPr lang="en-US" altLang="zh-CN" dirty="0"/>
              <a:t>Mutually</a:t>
            </a:r>
            <a:r>
              <a:rPr lang="zh-CN" altLang="en-US" dirty="0"/>
              <a:t> </a:t>
            </a:r>
            <a:r>
              <a:rPr lang="en-US" altLang="zh-CN" dirty="0"/>
              <a:t>Independent.</a:t>
            </a:r>
            <a:r>
              <a:rPr lang="zh-CN" altLang="en-US" dirty="0"/>
              <a:t> </a:t>
            </a:r>
            <a:r>
              <a:rPr lang="en-US" altLang="zh-CN" dirty="0"/>
              <a:t>Otherwise,</a:t>
            </a:r>
            <a:r>
              <a:rPr lang="zh-CN" altLang="en-US" dirty="0"/>
              <a:t> </a:t>
            </a:r>
            <a:r>
              <a:rPr lang="en-US" altLang="zh-CN" dirty="0"/>
              <a:t>they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Pairwise</a:t>
            </a:r>
            <a:r>
              <a:rPr lang="zh-CN" altLang="en-US" dirty="0"/>
              <a:t> </a:t>
            </a:r>
            <a:r>
              <a:rPr lang="en-US" altLang="zh-CN" dirty="0"/>
              <a:t>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7145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Suppose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persons</a:t>
            </a:r>
            <a:r>
              <a:rPr lang="zh-CN" altLang="en-US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hepatitis</a:t>
            </a:r>
            <a:r>
              <a:rPr lang="zh-CN" altLang="en-US" dirty="0"/>
              <a:t> </a:t>
            </a:r>
            <a:r>
              <a:rPr lang="en-US" altLang="zh-CN" dirty="0"/>
              <a:t>virus.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would</a:t>
            </a:r>
            <a:r>
              <a:rPr lang="zh-CN" altLang="en-US" dirty="0"/>
              <a:t> </a:t>
            </a:r>
            <a:r>
              <a:rPr lang="en-US" altLang="zh-CN" dirty="0"/>
              <a:t>like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find</a:t>
            </a:r>
            <a:r>
              <a:rPr lang="zh-CN" altLang="en-US" dirty="0"/>
              <a:t> </a:t>
            </a:r>
            <a:r>
              <a:rPr lang="en-US" altLang="zh-CN" dirty="0"/>
              <a:t>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person,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tests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using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method.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grouping</a:t>
            </a:r>
            <a:r>
              <a:rPr lang="zh-CN" altLang="en-US" dirty="0"/>
              <a:t> </a:t>
            </a:r>
            <a:r>
              <a:rPr lang="en-US" altLang="zh-CN" dirty="0"/>
              <a:t>method,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2…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87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P(A1) = 0.36 </a:t>
            </a:r>
            <a:r>
              <a:rPr lang="zh-CN" altLang="en-US" dirty="0"/>
              <a:t>要用加奇减偶来算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2223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ja-JP" altLang="en-US"/>
              <a:t>串联</a:t>
            </a:r>
            <a:r>
              <a:rPr lang="zh-CN" altLang="en-US" dirty="0"/>
              <a:t>： </a:t>
            </a:r>
            <a:r>
              <a:rPr lang="en-US" altLang="zh-CN" dirty="0"/>
              <a:t>connect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series</a:t>
            </a:r>
          </a:p>
          <a:p>
            <a:pPr marL="171450" indent="-171450">
              <a:buFontTx/>
              <a:buChar char="-"/>
            </a:pPr>
            <a:r>
              <a:rPr lang="ja-JP" altLang="en-US"/>
              <a:t>并联</a:t>
            </a:r>
            <a:r>
              <a:rPr lang="zh-CN" altLang="en-US" dirty="0"/>
              <a:t>： </a:t>
            </a:r>
            <a:r>
              <a:rPr lang="en-US" altLang="zh-CN" dirty="0"/>
              <a:t>connect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parallel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569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31405B-7C42-46F3-A52D-0A97E27C659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150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149984E-9399-4556-B3C0-01A094D84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84480EDD-0671-47FD-9E09-CA73C4C36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9BFCA2F-F946-4B9B-B31A-A7EF8EC7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5B793B0-3DDA-4954-81D5-30A1D3FB9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94CB81E-BC82-4D50-B265-230E0AA3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57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1C67900-B9AD-4E2A-AF00-37C5ACB7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8E0304A-86CC-40CA-A4B7-F7C1824A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CE130D8-8A91-481E-A429-C69E8B37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644492C-2CCD-4FA0-9F26-8D2E75E4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2AF1714-12D7-4B86-963E-D897429A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628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BEC6201-AAA9-41B7-8AB3-5F982A42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08A0EA42-3668-405A-9327-8C32BA3B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F27DB44-2645-414B-8617-A15D9480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71660F7A-7D6C-4333-894B-50DB8821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A7E4935-9B63-45D1-BF44-F9F5EDC4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2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71CDA9C-BC84-48CB-AC72-AD2B636A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C4202F0-29FD-47D7-ADEC-C9EFF686C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6693F894-6230-472E-B3BF-42C548B80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818796B-A65D-4E10-8E7A-15B21231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259621E-1BE6-450C-A26D-DABD3EB8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317144B-F4CA-42E1-9371-0B214AA3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57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EBE9A7F-AD07-409E-A4D3-707076B2D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DC6DA64-444D-4F4D-AC27-446FB29D5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4868E9FB-D483-4825-A790-FE0C69E24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5AB88DA1-BDB9-48AB-8F0D-F976778BE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1EF1957F-327B-4861-A730-03CB4CDE1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24B29750-3C17-4353-90D2-6479EA83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5C255D23-26BB-4C6D-9318-7BE2CF095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13098082-A065-4808-BF18-0A000D91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12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04F5BC2-B87E-4F52-AD3C-B40E7D11D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3076B12B-6501-4B02-B795-0EEC8C67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5F3FEE45-64A3-439F-9C4F-AE8E6428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C58A87FB-917A-433A-B535-807EAD16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9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4397EF90-EC99-473F-A996-CCB060DF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7296E759-6867-49C5-9018-FE1222C8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7554F98-E8F9-4566-9F18-8BD11937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10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D677A86-D7B2-405D-A071-8480D1E7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8EBE087-EFF8-4E00-9363-82F0D87F2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0C6E6694-6C40-4D0C-BF71-50B6B8615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A33D3D6E-77CF-42B1-83CD-90958430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0C18A06-ECF5-48F7-8257-6F72F170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61D1A42F-7D5F-4F8A-B954-CDBE6BA3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1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E3F9DCF-5863-47DD-A48C-3AAE0906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CC127CAD-7370-4D5B-A5D1-2F5E932C1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8C9DE9AB-7CAD-402F-BEC7-81708457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F3436810-1B69-44AD-AF3A-D5D4298F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BC55BEB-CE24-413B-8249-D2829C9C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4BE1EC3-2BA0-4777-8475-75D4C495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10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6FB75D9-510A-414C-988C-AA51ADCCE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6D3DD4AF-DD09-4608-A0D6-0873E7C82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D714F6B-BB53-4E84-8568-610562DA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A813C45-BFCF-42E1-BA97-C35D5869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C412A96-F83C-4DCB-B0CE-ECEF27FF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04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6150EB7C-E492-441A-A36F-0E492E5FF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2917369-A9F8-4F6B-A079-86052C18F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B311EB1-EC65-4F10-BB39-53F836462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BB6139E-1FCC-42D0-9D58-0842727F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1C887194-C491-48E5-BE10-539A7987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922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333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9827B54-9132-466E-B31F-DF58A7837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A9ACE207-F5B1-49B8-B335-F0E5333EC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03D35AA-94B3-4983-8F51-2E350766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5F1AEC3-F872-44DF-B412-E05E03D1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C9190C6-280A-48A5-B9AA-4E2B45A9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569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B33F591-4E8F-44D9-9C4C-459BF1D3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0EAEFFF-04B0-42EB-8816-1FBA287E0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4DC26E5A-EF4E-44BA-B0EA-2110065D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BBDFF35-041B-43FF-84FA-2AA9D10B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919C083-6AEF-457E-A9FA-DA6AF59A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087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C231381-32BB-4220-88FD-43CD61ED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0DE258BC-1DB2-4ABA-80F3-566CA1BC0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CD86FAAC-D304-4914-88FC-9F0DD5447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A7E73CC-425B-41BB-BDDE-F12F4B4A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E4617DD-1B2A-4B14-AA4E-3670BDCC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682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0C6534-77FE-4609-ABB6-768C81EC0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E482455-C464-4020-A129-156621CC1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57C39525-8E09-4E6E-A71A-EF27F897E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8B1045F-4E7A-4FDD-925E-950B82605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34A26ABC-9CBC-46FA-B4CC-44E9F649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8A4232D0-98CA-4F07-8C66-C40BC9BF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001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681AB70-4BD3-4962-832A-D1B0FB7B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6A27CD6-E621-4800-A78E-A3C24E2E5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465AF5CB-0921-4F75-A4C4-ED04BAD82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A8820540-B2C8-4711-BDD9-7D749414B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3F1D63A9-6EF8-4E82-B8D5-FAE41CD3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327977A1-5F8D-4B50-97C7-2A32B4C2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1D6289CE-D640-4B04-B31E-CC9442EC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4F02B124-AFCF-48CC-87C8-E308D663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519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CD43533-0577-44A2-940A-4BA2A1C9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E617D3DD-E0B0-40F7-9616-624A7261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CC4AFF2B-1F2C-42F6-9FCF-A36170C54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762B428E-0487-405C-8612-CBDAE2D3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60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4D401D2-03A9-4012-9E2F-3FE6649E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4C398EC6-DF0B-4EF4-9BBA-E16B4A4D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F654820B-774E-44F7-B7E5-2CF58D7F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4855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31FF357-98AB-463F-AC13-1B17A664A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09E2AD1-CBEB-4B47-B041-C3D8D3E8C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302350F3-C53E-41C9-89CB-435878E72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5CA2B70B-FF0E-4C2A-971E-3966F8B3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5FFC9FB-7AAD-4332-8505-C7E5FA8C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AE7299E-C7B0-4B9E-88D1-82A64157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0976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C1C2925-14FB-4A22-8806-96075977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A879CEFF-7289-450C-A1FA-7C2007E88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E3BCCE62-7167-42AA-A9E7-9BBC493B7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D0093FD2-A443-492F-80AD-C8B8ADA0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B6719813-6F46-4FA5-BC09-0454022E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1436645-54FE-4A27-B89A-380BECBB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25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F3F8762-75DB-4D45-B476-E1E6EB39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66FBC7CB-6C59-4948-8B89-87E011D9E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4E219FE-C93A-46AD-97A9-313989BA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E471F8E-8775-47CE-B515-E9633098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3569A8D-CFA3-4A19-BCDC-62019A7B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532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8502DFCB-D50B-4F38-B9EE-E47FC1043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54D0B79E-6D79-493F-B7D2-A1136BC8B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A8B61E8-178A-4203-84B6-7A1F9025F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F86066A-448C-4E0E-A504-3CF22F1C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B42748D-FEEB-45AE-B2A9-395CA8DE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738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874356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2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vmlDrawing" Target="../drawings/vmlDrawing2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35089114-E389-4BC2-82BD-BBC1EA9A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5185F33-FE17-41A0-9E1A-B7E0687C8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92C5B42-0E50-4D08-9C16-225B6D70A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3E35D-497A-4C82-B20F-480C96EAE615}" type="datetimeFigureOut">
              <a:rPr lang="zh-CN" altLang="en-US" smtClean="0"/>
              <a:t>2021/11/5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75FF12D-70BC-4990-9CD6-584E7CB2A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91A6724-B94D-4D61-82D1-3B066ED5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02F3E-9A0F-49CC-9928-0073CF80819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75">
            <a:extLst>
              <a:ext uri="{FF2B5EF4-FFF2-40B4-BE49-F238E27FC236}">
                <a16:creationId xmlns:a16="http://schemas.microsoft.com/office/drawing/2014/main" xmlns="" id="{32C45B3D-60D2-481F-9D29-9370F5ADC3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86513" y="-17463"/>
            <a:ext cx="290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b="0" dirty="0">
                <a:solidFill>
                  <a:srgbClr val="66CCFF"/>
                </a:solidFill>
                <a:latin typeface="黑体" pitchFamily="2" charset="-122"/>
                <a:ea typeface="黑体" pitchFamily="2" charset="-122"/>
              </a:rPr>
              <a:t>§6 </a:t>
            </a:r>
            <a:r>
              <a:rPr lang="zh-CN" altLang="en-US" b="0" dirty="0">
                <a:solidFill>
                  <a:srgbClr val="66CCFF"/>
                </a:solidFill>
                <a:latin typeface="黑体" pitchFamily="2" charset="-122"/>
                <a:ea typeface="黑体" pitchFamily="2" charset="-122"/>
              </a:rPr>
              <a:t>独立性</a:t>
            </a:r>
          </a:p>
        </p:txBody>
      </p:sp>
      <p:graphicFrame>
        <p:nvGraphicFramePr>
          <p:cNvPr id="8" name="Object 78">
            <a:extLst>
              <a:ext uri="{FF2B5EF4-FFF2-40B4-BE49-F238E27FC236}">
                <a16:creationId xmlns:a16="http://schemas.microsoft.com/office/drawing/2014/main" xmlns="" id="{65994577-1F6E-490B-BA9D-4C1256D5C7E8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8555038" y="5949950"/>
          <a:ext cx="569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剪辑" r:id="rId15" imgW="3154363" imgH="4708525" progId="MS_ClipArt_Gallery.2">
                  <p:embed/>
                </p:oleObj>
              </mc:Choice>
              <mc:Fallback>
                <p:oleObj name="剪辑" r:id="rId15" imgW="3154363" imgH="4708525" progId="MS_ClipArt_Gallery.2">
                  <p:embed/>
                  <p:pic>
                    <p:nvPicPr>
                      <p:cNvPr id="1027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38" y="5949950"/>
                        <a:ext cx="569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1">
            <a:extLst>
              <a:ext uri="{FF2B5EF4-FFF2-40B4-BE49-F238E27FC236}">
                <a16:creationId xmlns:a16="http://schemas.microsoft.com/office/drawing/2014/main" xmlns="" id="{2D07F7DC-8706-44A0-B39F-B62EA71651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Rectangle 116">
            <a:extLst>
              <a:ext uri="{FF2B5EF4-FFF2-40B4-BE49-F238E27FC236}">
                <a16:creationId xmlns:a16="http://schemas.microsoft.com/office/drawing/2014/main" xmlns="" id="{54E2E5FB-6ABF-423C-B7CC-BE4B49D7CF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40375" y="6413500"/>
            <a:ext cx="3130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黑体" pitchFamily="2" charset="-122"/>
                <a:ea typeface="黑体" pitchFamily="2" charset="-122"/>
              </a:rPr>
              <a:t>第一章  概率</a:t>
            </a:r>
            <a:endParaRPr lang="zh-CN" altLang="en-US" sz="2000" b="0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7777FF"/>
                  </a:outerShdw>
                </a:cont>
                <a:cont type="tree" name="">
                  <a:effect ref="fillLine"/>
                  <a:outerShdw dist="38100" dir="2700000" algn="tl">
                    <a:srgbClr val="1E1E99"/>
                  </a:outerShdw>
                </a:cont>
                <a:effect ref="fillLine"/>
              </a:effectDag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" name="Rectangle 132">
            <a:extLst>
              <a:ext uri="{FF2B5EF4-FFF2-40B4-BE49-F238E27FC236}">
                <a16:creationId xmlns:a16="http://schemas.microsoft.com/office/drawing/2014/main" xmlns="" id="{AAFBA85E-64C2-4540-855C-1E04FAC5C1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7900" y="2667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fld id="{C8BD1EB6-2031-45FD-AEDB-D8091264879A}" type="slidenum">
              <a:rPr lang="en-US" altLang="zh-CN" sz="1000" smtClean="0">
                <a:solidFill>
                  <a:schemeClr val="folHlink"/>
                </a:solidFill>
                <a:latin typeface="黑体" pitchFamily="2" charset="-122"/>
                <a:ea typeface="黑体" pitchFamily="2" charset="-122"/>
              </a:rPr>
              <a:pPr algn="l" eaLnBrk="1" hangingPunct="1">
                <a:lnSpc>
                  <a:spcPct val="12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altLang="zh-CN" sz="1000" dirty="0">
              <a:solidFill>
                <a:schemeClr val="folHlink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494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5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ED55E09B-2F52-48C4-83A6-A3828923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9F6F25A3-8DFF-4D45-A8A2-245D5D7C6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3FD9162-5A83-4A39-A4C1-13D80D351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E4B60-023F-4F12-B2F4-B2B5F71CC91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2021/11/5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9781065-C80E-41C0-B067-9FBDB0A8E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67934A7-2AD8-44F3-B1C9-DDCBF1374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04CD5-CC61-4BBF-9241-D1C608151D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Object 67">
            <a:extLst>
              <a:ext uri="{FF2B5EF4-FFF2-40B4-BE49-F238E27FC236}">
                <a16:creationId xmlns:a16="http://schemas.microsoft.com/office/drawing/2014/main" xmlns="" id="{732729EE-5B6E-49A2-9489-94243A6BA395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8555038" y="5949950"/>
          <a:ext cx="56991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剪辑" r:id="rId15" imgW="3154363" imgH="4708525" progId="MS_ClipArt_Gallery.2">
                  <p:embed/>
                </p:oleObj>
              </mc:Choice>
              <mc:Fallback>
                <p:oleObj name="剪辑" r:id="rId15" imgW="3154363" imgH="4708525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038" y="5949950"/>
                        <a:ext cx="56991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4">
            <a:extLst>
              <a:ext uri="{FF2B5EF4-FFF2-40B4-BE49-F238E27FC236}">
                <a16:creationId xmlns:a16="http://schemas.microsoft.com/office/drawing/2014/main" xmlns="" id="{BE461B3F-CA98-4808-9EE6-27E30F6E2E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95" y="-26988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44546A"/>
              </a:buClr>
              <a:buSzPct val="75000"/>
              <a:buFont typeface="Monotype Sorts" pitchFamily="2" charset="2"/>
              <a:buNone/>
              <a:defRPr/>
            </a:pPr>
            <a:r>
              <a:rPr lang="en-US" altLang="zh-CN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§3 </a:t>
            </a:r>
            <a:r>
              <a:rPr lang="zh-CN" altLang="en-US" dirty="0">
                <a:solidFill>
                  <a:srgbClr val="66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概率测度</a:t>
            </a:r>
          </a:p>
        </p:txBody>
      </p:sp>
      <p:sp>
        <p:nvSpPr>
          <p:cNvPr id="9" name="Rectangle 81">
            <a:extLst>
              <a:ext uri="{FF2B5EF4-FFF2-40B4-BE49-F238E27FC236}">
                <a16:creationId xmlns:a16="http://schemas.microsoft.com/office/drawing/2014/main" xmlns="" id="{AB414E0F-3FC4-48B1-8F16-3375D607C5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9">
            <a:extLst>
              <a:ext uri="{FF2B5EF4-FFF2-40B4-BE49-F238E27FC236}">
                <a16:creationId xmlns:a16="http://schemas.microsoft.com/office/drawing/2014/main" xmlns="" id="{3C00AEF0-0948-4691-85EE-A8EA0CFFF8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27900" y="2667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1pPr>
            <a:lvl2pPr marL="742950" indent="-28575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2pPr>
            <a:lvl3pPr marL="11430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3pPr>
            <a:lvl4pPr marL="16002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4pPr>
            <a:lvl5pPr marL="2057400" indent="-228600" eaLnBrk="0" hangingPunct="0"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fld id="{5F205D10-2225-43A4-9F74-9776BABD8920}" type="slidenum">
              <a:rPr lang="en-US" altLang="zh-CN" sz="1000" smtClean="0">
                <a:solidFill>
                  <a:srgbClr val="954F72"/>
                </a:solidFill>
                <a:latin typeface="黑体" pitchFamily="49" charset="-122"/>
                <a:ea typeface="黑体" pitchFamily="49" charset="-122"/>
              </a:rPr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t>‹#›</a:t>
            </a:fld>
            <a:endParaRPr lang="en-US" altLang="zh-CN" sz="1000" dirty="0">
              <a:solidFill>
                <a:srgbClr val="954F7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Rectangle 106">
            <a:extLst>
              <a:ext uri="{FF2B5EF4-FFF2-40B4-BE49-F238E27FC236}">
                <a16:creationId xmlns:a16="http://schemas.microsoft.com/office/drawing/2014/main" xmlns="" id="{F3A4F8AD-665A-40A8-85D1-114948D92F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03550" y="6400800"/>
            <a:ext cx="3219450" cy="41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20000"/>
              </a:lnSpc>
              <a:defRPr/>
            </a:pPr>
            <a:r>
              <a:rPr lang="zh-CN" altLang="en-US" sz="2000" dirty="0">
                <a:solidFill>
                  <a:prstClr val="white"/>
                </a:solidFill>
                <a:effectDag name="">
                  <a:cont type="tree" name="">
                    <a:effect ref="fillLine"/>
                    <a:outerShdw dist="38100" dir="13500000" algn="br">
                      <a:srgbClr val="7777FF"/>
                    </a:outerShdw>
                  </a:cont>
                  <a:cont type="tree" name="">
                    <a:effect ref="fillLine"/>
                    <a:outerShdw dist="38100" dir="2700000" algn="tl">
                      <a:srgbClr val="1E1E99"/>
                    </a:outerShdw>
                  </a:cont>
                  <a:effect ref="fillLine"/>
                </a:effectDag>
                <a:latin typeface="黑体" pitchFamily="2" charset="-122"/>
                <a:ea typeface="黑体" pitchFamily="2" charset="-122"/>
              </a:rPr>
              <a:t>第一章  概率</a:t>
            </a:r>
          </a:p>
        </p:txBody>
      </p:sp>
    </p:spTree>
    <p:extLst>
      <p:ext uri="{BB962C8B-B14F-4D97-AF65-F5344CB8AC3E}">
        <p14:creationId xmlns:p14="http://schemas.microsoft.com/office/powerpoint/2010/main" val="1672774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6.tif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50.png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png"/><Relationship Id="rId5" Type="http://schemas.openxmlformats.org/officeDocument/2006/relationships/image" Target="../media/image4.wmf"/><Relationship Id="rId10" Type="http://schemas.openxmlformats.org/officeDocument/2006/relationships/image" Target="../media/image26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gi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27.gif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0.png"/><Relationship Id="rId7" Type="http://schemas.openxmlformats.org/officeDocument/2006/relationships/image" Target="../media/image42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8.gif"/><Relationship Id="rId7" Type="http://schemas.openxmlformats.org/officeDocument/2006/relationships/image" Target="../media/image49.png"/><Relationship Id="rId12" Type="http://schemas.openxmlformats.org/officeDocument/2006/relationships/image" Target="../media/image52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png"/><Relationship Id="rId11" Type="http://schemas.openxmlformats.org/officeDocument/2006/relationships/image" Target="../media/image51.png"/><Relationship Id="rId5" Type="http://schemas.openxmlformats.org/officeDocument/2006/relationships/image" Target="../media/image27.gif"/><Relationship Id="rId10" Type="http://schemas.openxmlformats.org/officeDocument/2006/relationships/image" Target="../media/image48.png"/><Relationship Id="rId4" Type="http://schemas.openxmlformats.org/officeDocument/2006/relationships/image" Target="../media/image29.gif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38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5.png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0.png"/><Relationship Id="rId13" Type="http://schemas.openxmlformats.org/officeDocument/2006/relationships/image" Target="../media/image74.png"/><Relationship Id="rId18" Type="http://schemas.openxmlformats.org/officeDocument/2006/relationships/image" Target="../media/image66.png"/><Relationship Id="rId3" Type="http://schemas.openxmlformats.org/officeDocument/2006/relationships/image" Target="../media/image68.png"/><Relationship Id="rId7" Type="http://schemas.openxmlformats.org/officeDocument/2006/relationships/image" Target="../media/image680.png"/><Relationship Id="rId12" Type="http://schemas.openxmlformats.org/officeDocument/2006/relationships/image" Target="../media/image73.png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0.png"/><Relationship Id="rId11" Type="http://schemas.openxmlformats.org/officeDocument/2006/relationships/image" Target="../media/image72.png"/><Relationship Id="rId5" Type="http://schemas.openxmlformats.org/officeDocument/2006/relationships/image" Target="../media/image660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9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xmlns="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xmlns="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rgbClr val="4472C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0D573AB-1CCC-49B1-A84B-8A198166BF9D}"/>
              </a:ext>
            </a:extLst>
          </p:cNvPr>
          <p:cNvSpPr txBox="1"/>
          <p:nvPr/>
        </p:nvSpPr>
        <p:spPr>
          <a:xfrm>
            <a:off x="906350" y="2210497"/>
            <a:ext cx="758450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176609"/>
      </p:ext>
    </p:extLst>
  </p:cSld>
  <p:clrMapOvr>
    <a:masterClrMapping/>
  </p:clrMapOvr>
  <p:transition spd="med"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22">
            <a:extLst>
              <a:ext uri="{FF2B5EF4-FFF2-40B4-BE49-F238E27FC236}">
                <a16:creationId xmlns:a16="http://schemas.microsoft.com/office/drawing/2014/main" xmlns="" id="{D5DA6B12-5A40-4286-948E-8E831E43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" y="533401"/>
            <a:ext cx="9142412" cy="76200"/>
          </a:xfrm>
          <a:prstGeom prst="rect">
            <a:avLst/>
          </a:prstGeom>
          <a:gradFill rotWithShape="0">
            <a:gsLst>
              <a:gs pos="0">
                <a:srgbClr val="00CCCC"/>
              </a:gs>
              <a:gs pos="100000">
                <a:srgbClr val="005D5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800" b="1">
              <a:solidFill>
                <a:srgbClr val="FFFF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1" name="WordArt 147">
            <a:extLst>
              <a:ext uri="{FF2B5EF4-FFF2-40B4-BE49-F238E27FC236}">
                <a16:creationId xmlns:a16="http://schemas.microsoft.com/office/drawing/2014/main" xmlns="" id="{FA1D9EC9-917D-4885-BB37-3CF2C16C0B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52583" y="1182688"/>
            <a:ext cx="4669653" cy="52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en-US" altLang="zh-CN" sz="3600" b="1" kern="10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Chapter One  Probability</a:t>
            </a:r>
            <a:endParaRPr lang="zh-CN" altLang="en-US" sz="3600" b="1" kern="10" dirty="0">
              <a:solidFill>
                <a:srgbClr val="4472C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0D573AB-1CCC-49B1-A84B-8A198166BF9D}"/>
              </a:ext>
            </a:extLst>
          </p:cNvPr>
          <p:cNvSpPr txBox="1"/>
          <p:nvPr/>
        </p:nvSpPr>
        <p:spPr>
          <a:xfrm>
            <a:off x="906350" y="2210497"/>
            <a:ext cx="758450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Sample space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（样本空间）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measure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（概率测度）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Probability computation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（概率计算）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Conditional probability</a:t>
            </a:r>
            <a:r>
              <a:rPr lang="zh-CN" altLang="en-US" sz="3200" kern="10" dirty="0">
                <a:ln w="0"/>
                <a:solidFill>
                  <a:schemeClr val="bg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（条件概率）</a:t>
            </a:r>
            <a:endParaRPr lang="en-US" altLang="zh-CN" sz="3200" kern="10" dirty="0">
              <a:ln w="0"/>
              <a:solidFill>
                <a:schemeClr val="bg1">
                  <a:lumMod val="75000"/>
                </a:schemeClr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Independence</a:t>
            </a:r>
            <a:r>
              <a:rPr lang="zh-CN" altLang="en-US" sz="3200" kern="10" dirty="0">
                <a:ln w="0"/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（独立性）</a:t>
            </a:r>
            <a:endParaRPr lang="zh-CN" altLang="en-US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70386"/>
      </p:ext>
    </p:extLst>
  </p:cSld>
  <p:clrMapOvr>
    <a:masterClrMapping/>
  </p:clrMapOvr>
  <p:transition spd="med"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843" name="Picture 67" descr="COSMIC08H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661988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862" name="AutoShape 86"/>
          <p:cNvSpPr>
            <a:spLocks noChangeArrowheads="1"/>
          </p:cNvSpPr>
          <p:nvPr/>
        </p:nvSpPr>
        <p:spPr bwMode="auto">
          <a:xfrm>
            <a:off x="3127375" y="4714875"/>
            <a:ext cx="369888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31870" name="AutoShape 94"/>
          <p:cNvSpPr>
            <a:spLocks noChangeArrowheads="1"/>
          </p:cNvSpPr>
          <p:nvPr/>
        </p:nvSpPr>
        <p:spPr bwMode="auto">
          <a:xfrm>
            <a:off x="3128963" y="5173663"/>
            <a:ext cx="369887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A32B5B3D-2C70-457A-975F-3C4BAC952FF7}"/>
              </a:ext>
            </a:extLst>
          </p:cNvPr>
          <p:cNvSpPr txBox="1"/>
          <p:nvPr/>
        </p:nvSpPr>
        <p:spPr>
          <a:xfrm>
            <a:off x="1453114" y="694926"/>
            <a:ext cx="2044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Background</a:t>
            </a:r>
            <a:endParaRPr lang="zh-CN" altLang="en-US" sz="28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1B22B9D3-ADD8-46AD-81A0-B628B489C823}"/>
                  </a:ext>
                </a:extLst>
              </p:cNvPr>
              <p:cNvSpPr txBox="1"/>
              <p:nvPr/>
            </p:nvSpPr>
            <p:spPr>
              <a:xfrm>
                <a:off x="374308" y="1377968"/>
                <a:ext cx="844814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Toss two coins separately and record the results of Head or Tail. The sample space is</a:t>
                </a:r>
              </a:p>
              <a:p>
                <a:endParaRPr lang="en-US" altLang="zh-CN" b="0" i="0" dirty="0"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={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𝐻𝐻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𝐻𝑇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𝑇𝐻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𝑇𝑇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}</m:t>
                      </m:r>
                    </m:oMath>
                  </m:oMathPara>
                </a14:m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22B9D3-ADD8-46AD-81A0-B628B489C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08" y="1377968"/>
                <a:ext cx="8448147" cy="923330"/>
              </a:xfrm>
              <a:prstGeom prst="rect">
                <a:avLst/>
              </a:prstGeom>
              <a:blipFill>
                <a:blip r:embed="rId3"/>
                <a:stretch>
                  <a:fillRect l="-577" t="-2632" r="-361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id="{91B8D75B-42D5-421A-9920-A5435DE234DD}"/>
                  </a:ext>
                </a:extLst>
              </p:cNvPr>
              <p:cNvSpPr txBox="1"/>
              <p:nvPr/>
            </p:nvSpPr>
            <p:spPr>
              <a:xfrm>
                <a:off x="354116" y="2616353"/>
                <a:ext cx="84858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Let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𝑡h𝑒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𝑓𝑖𝑟𝑠𝑡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𝑐𝑜𝑖𝑛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𝑖𝑠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h𝑒𝑎𝑑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, </m:t>
                    </m:r>
                    <m:r>
                      <a:rPr lang="en-US" altLang="zh-CN" b="0" i="1" smtClean="0">
                        <a:latin typeface="Cambria Math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𝑡h𝑒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𝑠𝑒𝑐𝑜𝑛𝑑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𝑐𝑜𝑖𝑛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𝑖𝑠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h𝑒𝑎𝑑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}</m:t>
                    </m:r>
                  </m:oMath>
                </a14:m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be two events.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1B8D75B-42D5-421A-9920-A5435DE2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16" y="2616353"/>
                <a:ext cx="8485839" cy="369332"/>
              </a:xfrm>
              <a:prstGeom prst="rect">
                <a:avLst/>
              </a:prstGeom>
              <a:blipFill>
                <a:blip r:embed="rId4"/>
                <a:stretch>
                  <a:fillRect l="-575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57BB245C-CC8A-40EB-89A0-A8F34BA216A1}"/>
              </a:ext>
            </a:extLst>
          </p:cNvPr>
          <p:cNvSpPr txBox="1"/>
          <p:nvPr/>
        </p:nvSpPr>
        <p:spPr>
          <a:xfrm>
            <a:off x="304044" y="3250262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Intuitively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44D65993-5C3A-4A0B-BEEF-60CC922F0683}"/>
              </a:ext>
            </a:extLst>
          </p:cNvPr>
          <p:cNvSpPr txBox="1"/>
          <p:nvPr/>
        </p:nvSpPr>
        <p:spPr>
          <a:xfrm>
            <a:off x="311241" y="3624872"/>
            <a:ext cx="823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There is no relationship between A and B. They are independent from each other. 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E1167F5D-7B80-46DE-9CB6-5AD2C68637BF}"/>
              </a:ext>
            </a:extLst>
          </p:cNvPr>
          <p:cNvSpPr txBox="1"/>
          <p:nvPr/>
        </p:nvSpPr>
        <p:spPr>
          <a:xfrm>
            <a:off x="374308" y="4275177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Mathematically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B6C28BED-7AD3-4D2F-9336-3FDF61DED52A}"/>
              </a:ext>
            </a:extLst>
          </p:cNvPr>
          <p:cNvSpPr txBox="1"/>
          <p:nvPr/>
        </p:nvSpPr>
        <p:spPr>
          <a:xfrm>
            <a:off x="1082144" y="4644509"/>
            <a:ext cx="1919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 independent</a:t>
            </a: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独立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xmlns="" id="{752D2EC4-4F62-45AB-AC03-C5C30C548B0F}"/>
                  </a:ext>
                </a:extLst>
              </p:cNvPr>
              <p:cNvSpPr txBox="1"/>
              <p:nvPr/>
            </p:nvSpPr>
            <p:spPr>
              <a:xfrm>
                <a:off x="3497263" y="4644509"/>
                <a:ext cx="3362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52D2EC4-4F62-45AB-AC03-C5C30C548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263" y="4644509"/>
                <a:ext cx="336278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54D6FAEF-AD7E-4D22-9331-3846ED7C0893}"/>
                  </a:ext>
                </a:extLst>
              </p:cNvPr>
              <p:cNvSpPr txBox="1"/>
              <p:nvPr/>
            </p:nvSpPr>
            <p:spPr>
              <a:xfrm>
                <a:off x="3617607" y="5149463"/>
                <a:ext cx="2226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D6FAEF-AD7E-4D22-9331-3846ED7C0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607" y="5149463"/>
                <a:ext cx="2226892" cy="276999"/>
              </a:xfrm>
              <a:prstGeom prst="rect">
                <a:avLst/>
              </a:prstGeom>
              <a:blipFill>
                <a:blip r:embed="rId6"/>
                <a:stretch>
                  <a:fillRect l="-1639" t="-4444" r="-3005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41948E7D-68F2-4772-BF05-0DEB145D7586}"/>
                  </a:ext>
                </a:extLst>
              </p:cNvPr>
              <p:cNvSpPr txBox="1"/>
              <p:nvPr/>
            </p:nvSpPr>
            <p:spPr>
              <a:xfrm>
                <a:off x="4336394" y="5562084"/>
                <a:ext cx="1508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1948E7D-68F2-4772-BF05-0DEB145D7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94" y="5562084"/>
                <a:ext cx="1508105" cy="276999"/>
              </a:xfrm>
              <a:prstGeom prst="rect">
                <a:avLst/>
              </a:prstGeom>
              <a:blipFill>
                <a:blip r:embed="rId7"/>
                <a:stretch>
                  <a:fillRect l="-806" t="-2174" r="-4839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9181ABD7-4FCF-49C1-A252-94D151C01E08}"/>
                  </a:ext>
                </a:extLst>
              </p:cNvPr>
              <p:cNvSpPr txBox="1"/>
              <p:nvPr/>
            </p:nvSpPr>
            <p:spPr>
              <a:xfrm>
                <a:off x="4336394" y="5974705"/>
                <a:ext cx="1286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181ABD7-4FCF-49C1-A252-94D151C01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94" y="5974705"/>
                <a:ext cx="1286955" cy="276999"/>
              </a:xfrm>
              <a:prstGeom prst="rect">
                <a:avLst/>
              </a:prstGeom>
              <a:blipFill>
                <a:blip r:embed="rId8"/>
                <a:stretch>
                  <a:fillRect l="-948" t="-2174" r="-5687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1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1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18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18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31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1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1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31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62" grpId="0" animBg="1"/>
      <p:bldP spid="331870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86">
            <a:extLst>
              <a:ext uri="{FF2B5EF4-FFF2-40B4-BE49-F238E27FC236}">
                <a16:creationId xmlns:a16="http://schemas.microsoft.com/office/drawing/2014/main" xmlns="" id="{D9C4E7F6-BD29-4A26-86A7-64BF47752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650" y="1477383"/>
            <a:ext cx="369888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7" name="AutoShape 94">
            <a:extLst>
              <a:ext uri="{FF2B5EF4-FFF2-40B4-BE49-F238E27FC236}">
                <a16:creationId xmlns:a16="http://schemas.microsoft.com/office/drawing/2014/main" xmlns="" id="{939EB862-9CB8-4ACF-9FFD-A2BEB359D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8238" y="1936171"/>
            <a:ext cx="369887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D5BD88D1-74C0-4CD6-9DAD-2D556483C4E6}"/>
              </a:ext>
            </a:extLst>
          </p:cNvPr>
          <p:cNvSpPr txBox="1"/>
          <p:nvPr/>
        </p:nvSpPr>
        <p:spPr>
          <a:xfrm>
            <a:off x="644701" y="711080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Mathematically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xmlns="" id="{7D20F015-CF19-46AE-96FA-983FB9B86DE2}"/>
              </a:ext>
            </a:extLst>
          </p:cNvPr>
          <p:cNvSpPr txBox="1"/>
          <p:nvPr/>
        </p:nvSpPr>
        <p:spPr>
          <a:xfrm>
            <a:off x="1200688" y="1407017"/>
            <a:ext cx="1863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A,B independent</a:t>
            </a:r>
          </a:p>
          <a:p>
            <a:pPr algn="ctr"/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独立性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xmlns="" id="{888DD7F1-408A-4376-9A36-4DEC8F2D6CF9}"/>
                  </a:ext>
                </a:extLst>
              </p:cNvPr>
              <p:cNvSpPr txBox="1"/>
              <p:nvPr/>
            </p:nvSpPr>
            <p:spPr>
              <a:xfrm>
                <a:off x="3556538" y="1407017"/>
                <a:ext cx="33627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88DD7F1-408A-4376-9A36-4DEC8F2D6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538" y="1407017"/>
                <a:ext cx="3362780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xmlns="" id="{204D4417-0889-4224-8342-26448A7417E6}"/>
                  </a:ext>
                </a:extLst>
              </p:cNvPr>
              <p:cNvSpPr txBox="1"/>
              <p:nvPr/>
            </p:nvSpPr>
            <p:spPr>
              <a:xfrm>
                <a:off x="3676882" y="1911971"/>
                <a:ext cx="22268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04D4417-0889-4224-8342-26448A741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882" y="1911971"/>
                <a:ext cx="2226892" cy="276999"/>
              </a:xfrm>
              <a:prstGeom prst="rect">
                <a:avLst/>
              </a:prstGeom>
              <a:blipFill>
                <a:blip r:embed="rId3"/>
                <a:stretch>
                  <a:fillRect l="-1644" t="-4444" r="-3288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xmlns="" id="{4213F9D1-0CA4-4AC3-B57E-BCFC0DE059AE}"/>
                  </a:ext>
                </a:extLst>
              </p:cNvPr>
              <p:cNvSpPr txBox="1"/>
              <p:nvPr/>
            </p:nvSpPr>
            <p:spPr>
              <a:xfrm>
                <a:off x="4395669" y="2324592"/>
                <a:ext cx="15081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213F9D1-0CA4-4AC3-B57E-BCFC0DE05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669" y="2324592"/>
                <a:ext cx="1508105" cy="276999"/>
              </a:xfrm>
              <a:prstGeom prst="rect">
                <a:avLst/>
              </a:prstGeom>
              <a:blipFill>
                <a:blip r:embed="rId4"/>
                <a:stretch>
                  <a:fillRect l="-810" t="-2174" r="-526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xmlns="" id="{C6AA680D-92BC-4577-B886-4333D192ABA2}"/>
                  </a:ext>
                </a:extLst>
              </p:cNvPr>
              <p:cNvSpPr txBox="1"/>
              <p:nvPr/>
            </p:nvSpPr>
            <p:spPr>
              <a:xfrm>
                <a:off x="4395669" y="2737213"/>
                <a:ext cx="1286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C6AA680D-92BC-4577-B886-4333D192A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669" y="2737213"/>
                <a:ext cx="1286955" cy="276999"/>
              </a:xfrm>
              <a:prstGeom prst="rect">
                <a:avLst/>
              </a:prstGeom>
              <a:blipFill>
                <a:blip r:embed="rId5"/>
                <a:stretch>
                  <a:fillRect l="-948" t="-2222" r="-5687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xmlns="" id="{1EF736A4-46E9-4D77-A9B1-C6FA23C2A746}"/>
                  </a:ext>
                </a:extLst>
              </p:cNvPr>
              <p:cNvSpPr txBox="1"/>
              <p:nvPr/>
            </p:nvSpPr>
            <p:spPr>
              <a:xfrm>
                <a:off x="666149" y="3621203"/>
                <a:ext cx="771164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Definition:</a:t>
                </a:r>
              </a:p>
              <a:p>
                <a:endParaRPr lang="en-US" altLang="zh-CN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	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 and B are two Events, if </a:t>
                </a:r>
              </a:p>
              <a:p>
                <a:endParaRPr lang="en-US" altLang="zh-CN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altLang="zh-CN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endParaRPr lang="en-US" altLang="zh-CN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	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then A and B are said to be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Independent Events (</a:t>
                </a:r>
                <a:r>
                  <a:rPr lang="zh-CN" altLang="en-US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独立事件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.</a:t>
                </a:r>
                <a:endParaRPr lang="zh-CN" altLang="en-US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EF736A4-46E9-4D77-A9B1-C6FA23C2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49" y="3621203"/>
                <a:ext cx="7711647" cy="2123658"/>
              </a:xfrm>
              <a:prstGeom prst="rect">
                <a:avLst/>
              </a:prstGeom>
              <a:blipFill>
                <a:blip r:embed="rId6"/>
                <a:stretch>
                  <a:fillRect l="-1149" t="-2381" b="-2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418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398"/>
          <p:cNvSpPr>
            <a:spLocks noChangeShapeType="1"/>
          </p:cNvSpPr>
          <p:nvPr/>
        </p:nvSpPr>
        <p:spPr bwMode="auto">
          <a:xfrm>
            <a:off x="493800" y="3982683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8" name="Line 1404"/>
          <p:cNvSpPr>
            <a:spLocks noChangeShapeType="1"/>
          </p:cNvSpPr>
          <p:nvPr/>
        </p:nvSpPr>
        <p:spPr bwMode="auto">
          <a:xfrm>
            <a:off x="539750" y="4357763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9" name="Line 1416"/>
          <p:cNvSpPr>
            <a:spLocks noChangeShapeType="1"/>
          </p:cNvSpPr>
          <p:nvPr/>
        </p:nvSpPr>
        <p:spPr bwMode="auto">
          <a:xfrm>
            <a:off x="8604250" y="4357763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0" name="Line 1418"/>
          <p:cNvSpPr>
            <a:spLocks noChangeShapeType="1"/>
          </p:cNvSpPr>
          <p:nvPr/>
        </p:nvSpPr>
        <p:spPr bwMode="auto">
          <a:xfrm>
            <a:off x="539750" y="4875288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1" name="Line 1430"/>
          <p:cNvSpPr>
            <a:spLocks noChangeShapeType="1"/>
          </p:cNvSpPr>
          <p:nvPr/>
        </p:nvSpPr>
        <p:spPr bwMode="auto">
          <a:xfrm>
            <a:off x="8604250" y="4875288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2" name="Line 1432"/>
          <p:cNvSpPr>
            <a:spLocks noChangeShapeType="1"/>
          </p:cNvSpPr>
          <p:nvPr/>
        </p:nvSpPr>
        <p:spPr bwMode="auto">
          <a:xfrm>
            <a:off x="539750" y="5392813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83" name="Line 1444"/>
          <p:cNvSpPr>
            <a:spLocks noChangeShapeType="1"/>
          </p:cNvSpPr>
          <p:nvPr/>
        </p:nvSpPr>
        <p:spPr bwMode="auto">
          <a:xfrm>
            <a:off x="8604250" y="5392813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36" name="Picture 1504" descr="8_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95963">
            <a:off x="108826" y="491233"/>
            <a:ext cx="12842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9674" name="AutoShape 1514"/>
          <p:cNvSpPr>
            <a:spLocks noChangeArrowheads="1"/>
          </p:cNvSpPr>
          <p:nvPr/>
        </p:nvSpPr>
        <p:spPr bwMode="auto">
          <a:xfrm>
            <a:off x="3551658" y="1282131"/>
            <a:ext cx="369888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9680" name="AutoShape 1520"/>
          <p:cNvSpPr>
            <a:spLocks noChangeArrowheads="1"/>
          </p:cNvSpPr>
          <p:nvPr/>
        </p:nvSpPr>
        <p:spPr bwMode="auto">
          <a:xfrm>
            <a:off x="3584820" y="1784576"/>
            <a:ext cx="369887" cy="228600"/>
          </a:xfrm>
          <a:prstGeom prst="leftRightArrow">
            <a:avLst>
              <a:gd name="adj1" fmla="val 50000"/>
              <a:gd name="adj2" fmla="val 3236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9694" name="AutoShape 1534"/>
          <p:cNvSpPr>
            <a:spLocks/>
          </p:cNvSpPr>
          <p:nvPr/>
        </p:nvSpPr>
        <p:spPr bwMode="auto">
          <a:xfrm>
            <a:off x="3993065" y="2761418"/>
            <a:ext cx="110253" cy="547734"/>
          </a:xfrm>
          <a:prstGeom prst="rightBrace">
            <a:avLst>
              <a:gd name="adj1" fmla="val 52778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120" name="Picture 1536" descr="8_2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95963">
            <a:off x="197750" y="3478439"/>
            <a:ext cx="1284288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1E3FBF44-5CD9-4D03-9A67-FFCE3D388A74}"/>
              </a:ext>
            </a:extLst>
          </p:cNvPr>
          <p:cNvSpPr txBox="1"/>
          <p:nvPr/>
        </p:nvSpPr>
        <p:spPr>
          <a:xfrm>
            <a:off x="1274040" y="695919"/>
            <a:ext cx="7859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Question: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What is the difference between disjoint and independence?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84ADE0A7-41FC-4832-82A9-58D57605B588}"/>
              </a:ext>
            </a:extLst>
          </p:cNvPr>
          <p:cNvSpPr txBox="1"/>
          <p:nvPr/>
        </p:nvSpPr>
        <p:spPr>
          <a:xfrm>
            <a:off x="502997" y="1160372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Analysis: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6659CC2C-2D9F-4DAF-923D-5E1FB87545BA}"/>
              </a:ext>
            </a:extLst>
          </p:cNvPr>
          <p:cNvSpPr txBox="1"/>
          <p:nvPr/>
        </p:nvSpPr>
        <p:spPr>
          <a:xfrm>
            <a:off x="1423388" y="1203801"/>
            <a:ext cx="2599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Independent (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独立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id="{333DEB8F-CE1A-427B-9F5F-CF7C318DA4EE}"/>
                  </a:ext>
                </a:extLst>
              </p:cNvPr>
              <p:cNvSpPr txBox="1"/>
              <p:nvPr/>
            </p:nvSpPr>
            <p:spPr>
              <a:xfrm>
                <a:off x="4052393" y="1252705"/>
                <a:ext cx="43159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dirty="0">
                    <a:latin typeface="STXinwei" panose="02010800040101010101" pitchFamily="2" charset="-122"/>
                    <a:ea typeface="STXinwei" panose="02010800040101010101" pitchFamily="2" charset="-122"/>
                  </a:rPr>
                  <a:t>  </a:t>
                </a:r>
                <a:r>
                  <a:rPr lang="en-US" altLang="zh-CN" dirty="0">
                    <a:latin typeface="STXinwei" panose="02010800040101010101" pitchFamily="2" charset="-122"/>
                    <a:ea typeface="STXinwei" panose="02010800040101010101" pitchFamily="2" charset="-122"/>
                  </a:rPr>
                  <a:t>can happen together</a:t>
                </a:r>
                <a:endParaRPr lang="zh-CN" altLang="en-US" dirty="0"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33DEB8F-CE1A-427B-9F5F-CF7C318DA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393" y="1252705"/>
                <a:ext cx="4315934" cy="276999"/>
              </a:xfrm>
              <a:prstGeom prst="rect">
                <a:avLst/>
              </a:prstGeom>
              <a:blipFill>
                <a:blip r:embed="rId3"/>
                <a:stretch>
                  <a:fillRect l="-1977" t="-26087" b="-52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114EB538-9F19-45AE-BD84-633C5768790C}"/>
              </a:ext>
            </a:extLst>
          </p:cNvPr>
          <p:cNvSpPr txBox="1"/>
          <p:nvPr/>
        </p:nvSpPr>
        <p:spPr>
          <a:xfrm>
            <a:off x="1403546" y="1671480"/>
            <a:ext cx="1974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Disjoint (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不相容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id="{16D39F6D-A12F-45F0-B1E2-FA214A801230}"/>
                  </a:ext>
                </a:extLst>
              </p:cNvPr>
              <p:cNvSpPr txBox="1"/>
              <p:nvPr/>
            </p:nvSpPr>
            <p:spPr>
              <a:xfrm>
                <a:off x="4046126" y="1760396"/>
                <a:ext cx="50877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cannot happen together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0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6D39F6D-A12F-45F0-B1E2-FA214A801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126" y="1760396"/>
                <a:ext cx="5087758" cy="276999"/>
              </a:xfrm>
              <a:prstGeom prst="rect">
                <a:avLst/>
              </a:prstGeom>
              <a:blipFill>
                <a:blip r:embed="rId4"/>
                <a:stretch>
                  <a:fillRect l="-1679" t="-26667" b="-5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id="{27AA09DB-27A3-4DD3-B17C-3E65916B92A4}"/>
                  </a:ext>
                </a:extLst>
              </p:cNvPr>
              <p:cNvSpPr txBox="1"/>
              <p:nvPr/>
            </p:nvSpPr>
            <p:spPr>
              <a:xfrm>
                <a:off x="2078468" y="2327810"/>
                <a:ext cx="2678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7AA09DB-27A3-4DD3-B17C-3E65916B9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468" y="2327810"/>
                <a:ext cx="2678113" cy="369332"/>
              </a:xfrm>
              <a:prstGeom prst="rect">
                <a:avLst/>
              </a:prstGeom>
              <a:blipFill>
                <a:blip r:embed="rId5"/>
                <a:stretch>
                  <a:fillRect l="-2050" t="-8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B2BF5119-BC13-4828-8DF4-613C10A4D9A6}"/>
              </a:ext>
            </a:extLst>
          </p:cNvPr>
          <p:cNvSpPr txBox="1"/>
          <p:nvPr/>
        </p:nvSpPr>
        <p:spPr>
          <a:xfrm>
            <a:off x="2092501" y="2689053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 independent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xmlns="" id="{0E8C4576-7658-4CE3-8ED2-DBBE31B5CE28}"/>
              </a:ext>
            </a:extLst>
          </p:cNvPr>
          <p:cNvSpPr txBox="1"/>
          <p:nvPr/>
        </p:nvSpPr>
        <p:spPr>
          <a:xfrm>
            <a:off x="2092501" y="3035285"/>
            <a:ext cx="1385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 disjoint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25AEFE7F-F211-4B3F-BE74-95A31D04C6D1}"/>
              </a:ext>
            </a:extLst>
          </p:cNvPr>
          <p:cNvSpPr txBox="1"/>
          <p:nvPr/>
        </p:nvSpPr>
        <p:spPr>
          <a:xfrm>
            <a:off x="4187071" y="2693934"/>
            <a:ext cx="4715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Independent and disjoint can </a:t>
            </a:r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NOT happen at the same time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78C8DCEA-B66C-4D4C-8FCF-74FA7B7039BC}"/>
                  </a:ext>
                </a:extLst>
              </p:cNvPr>
              <p:cNvSpPr txBox="1"/>
              <p:nvPr/>
            </p:nvSpPr>
            <p:spPr>
              <a:xfrm>
                <a:off x="1301208" y="3722963"/>
                <a:ext cx="5489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TXinwei" panose="02010800040101010101" pitchFamily="2" charset="-122"/>
                    <a:ea typeface="STXinwei" panose="02010800040101010101" pitchFamily="2" charset="-122"/>
                  </a:rPr>
                  <a:t>Question: </a:t>
                </a:r>
                <a:r>
                  <a:rPr lang="en-US" altLang="zh-CN" sz="2000" b="1" dirty="0">
                    <a:solidFill>
                      <a:schemeClr val="accent1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if A,B independent, how about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altLang="zh-CN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CN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sz="2000" b="1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sz="2000" b="1" dirty="0">
                    <a:solidFill>
                      <a:schemeClr val="accent1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?</a:t>
                </a:r>
                <a:endParaRPr lang="zh-CN" altLang="en-US" sz="2000" b="1" dirty="0">
                  <a:solidFill>
                    <a:schemeClr val="accent1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8C8DCEA-B66C-4D4C-8FCF-74FA7B703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208" y="3722963"/>
                <a:ext cx="5489836" cy="400110"/>
              </a:xfrm>
              <a:prstGeom prst="rect">
                <a:avLst/>
              </a:prstGeom>
              <a:blipFill>
                <a:blip r:embed="rId6"/>
                <a:stretch>
                  <a:fillRect l="-1221" t="-9231" r="-2886" b="-3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文本框 75">
            <a:extLst>
              <a:ext uri="{FF2B5EF4-FFF2-40B4-BE49-F238E27FC236}">
                <a16:creationId xmlns:a16="http://schemas.microsoft.com/office/drawing/2014/main" xmlns="" id="{1E706B68-E3DB-4CF7-A429-D7B895B3E899}"/>
              </a:ext>
            </a:extLst>
          </p:cNvPr>
          <p:cNvSpPr txBox="1"/>
          <p:nvPr/>
        </p:nvSpPr>
        <p:spPr>
          <a:xfrm>
            <a:off x="541890" y="4203828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Analysis: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0A4F9E6A-6276-43E4-B6AC-2587B98B14BD}"/>
                  </a:ext>
                </a:extLst>
              </p:cNvPr>
              <p:cNvSpPr txBox="1"/>
              <p:nvPr/>
            </p:nvSpPr>
            <p:spPr>
              <a:xfrm>
                <a:off x="1847938" y="4203828"/>
                <a:ext cx="28645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then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A4F9E6A-6276-43E4-B6AC-2587B98B1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938" y="4203828"/>
                <a:ext cx="2864502" cy="369332"/>
              </a:xfrm>
              <a:prstGeom prst="rect">
                <a:avLst/>
              </a:prstGeom>
              <a:blipFill>
                <a:blip r:embed="rId7"/>
                <a:stretch>
                  <a:fillRect l="-1770" t="-6667" r="-132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62AE1B8E-A5B4-4C2B-A563-00CE174363BB}"/>
                  </a:ext>
                </a:extLst>
              </p:cNvPr>
              <p:cNvSpPr txBox="1"/>
              <p:nvPr/>
            </p:nvSpPr>
            <p:spPr>
              <a:xfrm>
                <a:off x="1893888" y="4550933"/>
                <a:ext cx="4615110" cy="323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2AE1B8E-A5B4-4C2B-A563-00CE17436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888" y="4550933"/>
                <a:ext cx="4615110" cy="323678"/>
              </a:xfrm>
              <a:prstGeom prst="rect">
                <a:avLst/>
              </a:prstGeom>
              <a:blipFill>
                <a:blip r:embed="rId8"/>
                <a:stretch>
                  <a:fillRect l="-822" r="-137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id="{BB7B7146-61F7-487D-87F9-6A799E346932}"/>
                  </a:ext>
                </a:extLst>
              </p:cNvPr>
              <p:cNvSpPr txBox="1"/>
              <p:nvPr/>
            </p:nvSpPr>
            <p:spPr>
              <a:xfrm>
                <a:off x="1896796" y="5012788"/>
                <a:ext cx="29562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B7B7146-61F7-487D-87F9-6A799E346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796" y="5012788"/>
                <a:ext cx="2956259" cy="276999"/>
              </a:xfrm>
              <a:prstGeom prst="rect">
                <a:avLst/>
              </a:prstGeom>
              <a:blipFill>
                <a:blip r:embed="rId9"/>
                <a:stretch>
                  <a:fillRect r="-213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xmlns="" id="{F705140B-7A12-47F8-A052-EBD9DBE50C1F}"/>
                  </a:ext>
                </a:extLst>
              </p:cNvPr>
              <p:cNvSpPr txBox="1"/>
              <p:nvPr/>
            </p:nvSpPr>
            <p:spPr>
              <a:xfrm>
                <a:off x="3096234" y="5427964"/>
                <a:ext cx="23165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705140B-7A12-47F8-A052-EBD9DBE50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234" y="5427964"/>
                <a:ext cx="2316532" cy="276999"/>
              </a:xfrm>
              <a:prstGeom prst="rect">
                <a:avLst/>
              </a:prstGeom>
              <a:blipFill>
                <a:blip r:embed="rId10"/>
                <a:stretch>
                  <a:fillRect l="-546" r="-2732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xmlns="" id="{F728D558-C838-4415-8344-1E5F68FE8A56}"/>
                  </a:ext>
                </a:extLst>
              </p:cNvPr>
              <p:cNvSpPr txBox="1"/>
              <p:nvPr/>
            </p:nvSpPr>
            <p:spPr>
              <a:xfrm>
                <a:off x="750969" y="5818227"/>
                <a:ext cx="7526442" cy="646331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Thus, if A, B are independent, then A</a:t>
                </a:r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zh-CN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independent,</a:t>
                </a:r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zh-CN" alt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𝐚𝐧𝐝</m:t>
                    </m:r>
                    <m:r>
                      <a:rPr lang="zh-CN" alt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independent.</a:t>
                </a:r>
                <a:endParaRPr lang="zh-CN" altLang="en-US" b="1" dirty="0">
                  <a:solidFill>
                    <a:srgbClr val="C00000"/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728D558-C838-4415-8344-1E5F68FE8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69" y="5818227"/>
                <a:ext cx="7526442" cy="646331"/>
              </a:xfrm>
              <a:prstGeom prst="rect">
                <a:avLst/>
              </a:prstGeom>
              <a:blipFill>
                <a:blip r:embed="rId11"/>
                <a:stretch>
                  <a:fillRect l="-484" t="-1802" b="-11712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3A3AE563-0299-4019-B3DA-7D176F80BDCB}"/>
              </a:ext>
            </a:extLst>
          </p:cNvPr>
          <p:cNvSpPr/>
          <p:nvPr/>
        </p:nvSpPr>
        <p:spPr>
          <a:xfrm>
            <a:off x="421664" y="2253713"/>
            <a:ext cx="1415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Therefore, 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9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9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9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9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9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9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49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674" grpId="0" animBg="1"/>
      <p:bldP spid="349680" grpId="0" animBg="1"/>
      <p:bldP spid="349694" grpId="0" animBg="1"/>
      <p:bldP spid="3" grpId="0"/>
      <p:bldP spid="4" grpId="0"/>
      <p:bldP spid="5" grpId="0"/>
      <p:bldP spid="6" grpId="0"/>
      <p:bldP spid="7" grpId="0"/>
      <p:bldP spid="8" grpId="0"/>
      <p:bldP spid="9" grpId="0"/>
      <p:bldP spid="73" grpId="0"/>
      <p:bldP spid="10" grpId="0"/>
      <p:bldP spid="11" grpId="0"/>
      <p:bldP spid="76" grpId="0"/>
      <p:bldP spid="12" grpId="0"/>
      <p:bldP spid="13" grpId="0"/>
      <p:bldP spid="14" grpId="0"/>
      <p:bldP spid="15" grpId="0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1" name="Rectangle 7"/>
          <p:cNvSpPr>
            <a:spLocks noChangeArrowheads="1"/>
          </p:cNvSpPr>
          <p:nvPr/>
        </p:nvSpPr>
        <p:spPr bwMode="auto">
          <a:xfrm>
            <a:off x="537639" y="4568174"/>
            <a:ext cx="7416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a.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)&gt;0                       b.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</a:p>
          <a:p>
            <a:pPr algn="l" eaLnBrk="1" hangingPunct="1"/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c.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)=0                       d.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</a:p>
        </p:txBody>
      </p:sp>
      <p:sp>
        <p:nvSpPr>
          <p:cNvPr id="62473" name="Freeform 9"/>
          <p:cNvSpPr>
            <a:spLocks/>
          </p:cNvSpPr>
          <p:nvPr/>
        </p:nvSpPr>
        <p:spPr bwMode="auto">
          <a:xfrm>
            <a:off x="2407146" y="5008547"/>
            <a:ext cx="574592" cy="271268"/>
          </a:xfrm>
          <a:custGeom>
            <a:avLst/>
            <a:gdLst>
              <a:gd name="T0" fmla="*/ 0 w 432"/>
              <a:gd name="T1" fmla="*/ 48 h 248"/>
              <a:gd name="T2" fmla="*/ 96 w 432"/>
              <a:gd name="T3" fmla="*/ 240 h 248"/>
              <a:gd name="T4" fmla="*/ 336 w 432"/>
              <a:gd name="T5" fmla="*/ 96 h 248"/>
              <a:gd name="T6" fmla="*/ 432 w 432"/>
              <a:gd name="T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48">
                <a:moveTo>
                  <a:pt x="0" y="48"/>
                </a:moveTo>
                <a:cubicBezTo>
                  <a:pt x="20" y="140"/>
                  <a:pt x="40" y="232"/>
                  <a:pt x="96" y="240"/>
                </a:cubicBezTo>
                <a:cubicBezTo>
                  <a:pt x="152" y="248"/>
                  <a:pt x="280" y="136"/>
                  <a:pt x="336" y="96"/>
                </a:cubicBezTo>
                <a:cubicBezTo>
                  <a:pt x="392" y="56"/>
                  <a:pt x="416" y="16"/>
                  <a:pt x="432" y="0"/>
                </a:cubicBezTo>
              </a:path>
            </a:pathLst>
          </a:custGeom>
          <a:noFill/>
          <a:ln w="508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622565" y="2441185"/>
            <a:ext cx="754817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a.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)&gt;0                      b.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</a:p>
          <a:p>
            <a:pPr algn="l" eaLnBrk="1" hangingPunct="1"/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c.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|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)=0                      d. 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)=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A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P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(</a:t>
            </a:r>
            <a:r>
              <a:rPr lang="en-US" altLang="zh-CN" sz="2400" i="1" dirty="0">
                <a:latin typeface="STXinwei" panose="02010800040101010101" pitchFamily="2" charset="-122"/>
                <a:ea typeface="STXinwei" panose="02010800040101010101" pitchFamily="2" charset="-122"/>
              </a:rPr>
              <a:t>B</a:t>
            </a:r>
            <a:r>
              <a:rPr lang="en-US" altLang="zh-CN" sz="2400" dirty="0">
                <a:latin typeface="STXinwei" panose="02010800040101010101" pitchFamily="2" charset="-122"/>
                <a:ea typeface="STXinwei" panose="02010800040101010101" pitchFamily="2" charset="-122"/>
              </a:rPr>
              <a:t>)</a:t>
            </a:r>
          </a:p>
        </p:txBody>
      </p:sp>
      <p:sp>
        <p:nvSpPr>
          <p:cNvPr id="62479" name="Rectangle 15"/>
          <p:cNvSpPr>
            <a:spLocks noChangeArrowheads="1"/>
          </p:cNvSpPr>
          <p:nvPr/>
        </p:nvSpPr>
        <p:spPr bwMode="auto">
          <a:xfrm>
            <a:off x="143529" y="999283"/>
            <a:ext cx="81067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Exercise: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The difference between disjoint and independence</a:t>
            </a:r>
          </a:p>
        </p:txBody>
      </p:sp>
      <p:sp>
        <p:nvSpPr>
          <p:cNvPr id="62484" name="Freeform 20"/>
          <p:cNvSpPr>
            <a:spLocks/>
          </p:cNvSpPr>
          <p:nvPr/>
        </p:nvSpPr>
        <p:spPr bwMode="auto">
          <a:xfrm>
            <a:off x="2544430" y="2470615"/>
            <a:ext cx="507428" cy="279826"/>
          </a:xfrm>
          <a:custGeom>
            <a:avLst/>
            <a:gdLst>
              <a:gd name="T0" fmla="*/ 0 w 432"/>
              <a:gd name="T1" fmla="*/ 48 h 248"/>
              <a:gd name="T2" fmla="*/ 96 w 432"/>
              <a:gd name="T3" fmla="*/ 240 h 248"/>
              <a:gd name="T4" fmla="*/ 336 w 432"/>
              <a:gd name="T5" fmla="*/ 96 h 248"/>
              <a:gd name="T6" fmla="*/ 432 w 432"/>
              <a:gd name="T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48">
                <a:moveTo>
                  <a:pt x="0" y="48"/>
                </a:moveTo>
                <a:cubicBezTo>
                  <a:pt x="20" y="140"/>
                  <a:pt x="40" y="232"/>
                  <a:pt x="96" y="240"/>
                </a:cubicBezTo>
                <a:cubicBezTo>
                  <a:pt x="152" y="248"/>
                  <a:pt x="280" y="136"/>
                  <a:pt x="336" y="96"/>
                </a:cubicBezTo>
                <a:cubicBezTo>
                  <a:pt x="392" y="56"/>
                  <a:pt x="416" y="16"/>
                  <a:pt x="432" y="0"/>
                </a:cubicBezTo>
              </a:path>
            </a:pathLst>
          </a:custGeom>
          <a:noFill/>
          <a:ln w="508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5" name="Freeform 21"/>
          <p:cNvSpPr>
            <a:spLocks/>
          </p:cNvSpPr>
          <p:nvPr/>
        </p:nvSpPr>
        <p:spPr bwMode="auto">
          <a:xfrm>
            <a:off x="6765798" y="2448619"/>
            <a:ext cx="507428" cy="279826"/>
          </a:xfrm>
          <a:custGeom>
            <a:avLst/>
            <a:gdLst>
              <a:gd name="T0" fmla="*/ 0 w 432"/>
              <a:gd name="T1" fmla="*/ 48 h 248"/>
              <a:gd name="T2" fmla="*/ 96 w 432"/>
              <a:gd name="T3" fmla="*/ 240 h 248"/>
              <a:gd name="T4" fmla="*/ 336 w 432"/>
              <a:gd name="T5" fmla="*/ 96 h 248"/>
              <a:gd name="T6" fmla="*/ 432 w 432"/>
              <a:gd name="T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48">
                <a:moveTo>
                  <a:pt x="0" y="48"/>
                </a:moveTo>
                <a:cubicBezTo>
                  <a:pt x="20" y="140"/>
                  <a:pt x="40" y="232"/>
                  <a:pt x="96" y="240"/>
                </a:cubicBezTo>
                <a:cubicBezTo>
                  <a:pt x="152" y="248"/>
                  <a:pt x="280" y="136"/>
                  <a:pt x="336" y="96"/>
                </a:cubicBezTo>
                <a:cubicBezTo>
                  <a:pt x="392" y="56"/>
                  <a:pt x="416" y="16"/>
                  <a:pt x="432" y="0"/>
                </a:cubicBezTo>
              </a:path>
            </a:pathLst>
          </a:custGeom>
          <a:noFill/>
          <a:ln w="508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486" name="Freeform 22"/>
          <p:cNvSpPr>
            <a:spLocks/>
          </p:cNvSpPr>
          <p:nvPr/>
        </p:nvSpPr>
        <p:spPr bwMode="auto">
          <a:xfrm>
            <a:off x="6713802" y="2876449"/>
            <a:ext cx="559424" cy="279826"/>
          </a:xfrm>
          <a:custGeom>
            <a:avLst/>
            <a:gdLst>
              <a:gd name="T0" fmla="*/ 0 w 432"/>
              <a:gd name="T1" fmla="*/ 48 h 248"/>
              <a:gd name="T2" fmla="*/ 96 w 432"/>
              <a:gd name="T3" fmla="*/ 240 h 248"/>
              <a:gd name="T4" fmla="*/ 336 w 432"/>
              <a:gd name="T5" fmla="*/ 96 h 248"/>
              <a:gd name="T6" fmla="*/ 432 w 432"/>
              <a:gd name="T7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2" h="248">
                <a:moveTo>
                  <a:pt x="0" y="48"/>
                </a:moveTo>
                <a:cubicBezTo>
                  <a:pt x="20" y="140"/>
                  <a:pt x="40" y="232"/>
                  <a:pt x="96" y="240"/>
                </a:cubicBezTo>
                <a:cubicBezTo>
                  <a:pt x="152" y="248"/>
                  <a:pt x="280" y="136"/>
                  <a:pt x="336" y="96"/>
                </a:cubicBezTo>
                <a:cubicBezTo>
                  <a:pt x="392" y="56"/>
                  <a:pt x="416" y="16"/>
                  <a:pt x="432" y="0"/>
                </a:cubicBezTo>
              </a:path>
            </a:pathLst>
          </a:custGeom>
          <a:noFill/>
          <a:ln w="50800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xmlns="" id="{0337245D-DCD0-4090-BEF4-2F2947A2B461}"/>
                  </a:ext>
                </a:extLst>
              </p:cNvPr>
              <p:cNvSpPr txBox="1"/>
              <p:nvPr/>
            </p:nvSpPr>
            <p:spPr>
              <a:xfrm>
                <a:off x="367785" y="3817199"/>
                <a:ext cx="83090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2. Assume that A and B are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disjoint</a:t>
                </a:r>
                <a:r>
                  <a:rPr lang="en-US" altLang="zh-CN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which choice(s) is(are) correct?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337245D-DCD0-4090-BEF4-2F2947A2B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85" y="3817199"/>
                <a:ext cx="8309076" cy="646331"/>
              </a:xfrm>
              <a:prstGeom prst="rect">
                <a:avLst/>
              </a:prstGeom>
              <a:blipFill>
                <a:blip r:embed="rId2"/>
                <a:stretch>
                  <a:fillRect l="-611" t="-3922" r="-2137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CD60DC6F-D9A9-43A7-8F2E-43853C4F56DF}"/>
                  </a:ext>
                </a:extLst>
              </p:cNvPr>
              <p:cNvSpPr txBox="1"/>
              <p:nvPr/>
            </p:nvSpPr>
            <p:spPr>
              <a:xfrm>
                <a:off x="452712" y="1685101"/>
                <a:ext cx="81446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1. Assume that A and B are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independent</a:t>
                </a:r>
                <a:r>
                  <a:rPr lang="en-US" altLang="zh-CN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which choice(s) is(are) correct?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D60DC6F-D9A9-43A7-8F2E-43853C4F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12" y="1685101"/>
                <a:ext cx="8144636" cy="646331"/>
              </a:xfrm>
              <a:prstGeom prst="rect">
                <a:avLst/>
              </a:prstGeom>
              <a:blipFill>
                <a:blip r:embed="rId3"/>
                <a:stretch>
                  <a:fillRect l="-780" t="-3846" r="-2184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63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2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" grpId="0" autoUpdateAnimBg="0"/>
      <p:bldP spid="62473" grpId="0" animBg="1"/>
      <p:bldP spid="62475" grpId="0" autoUpdateAnimBg="0"/>
      <p:bldP spid="62479" grpId="0" autoUpdateAnimBg="0"/>
      <p:bldP spid="62484" grpId="0" animBg="1"/>
      <p:bldP spid="62485" grpId="0" animBg="1"/>
      <p:bldP spid="62486" grpId="0" animBg="1"/>
      <p:bldP spid="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918020"/>
              </p:ext>
            </p:extLst>
          </p:nvPr>
        </p:nvGraphicFramePr>
        <p:xfrm>
          <a:off x="4680270" y="2574393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4" imgW="114120" imgH="215640" progId="Equation.3">
                  <p:embed/>
                </p:oleObj>
              </mc:Choice>
              <mc:Fallback>
                <p:oleObj name="公式" r:id="rId4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270" y="2574393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995B2D5A-118A-42E2-A1CB-8868AB84E4CB}"/>
              </a:ext>
            </a:extLst>
          </p:cNvPr>
          <p:cNvSpPr txBox="1"/>
          <p:nvPr/>
        </p:nvSpPr>
        <p:spPr>
          <a:xfrm>
            <a:off x="379834" y="725831"/>
            <a:ext cx="1497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Example: 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22745FEA-6227-46BD-8EFA-7177245791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44" y="1153312"/>
            <a:ext cx="1150947" cy="9548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E56586C6-79D9-4AB4-93AF-36084AA25BCE}"/>
                  </a:ext>
                </a:extLst>
              </p:cNvPr>
              <p:cNvSpPr txBox="1"/>
              <p:nvPr/>
            </p:nvSpPr>
            <p:spPr>
              <a:xfrm>
                <a:off x="1766509" y="760491"/>
                <a:ext cx="7205475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200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Pick a card from a deck of playing cards which has no jokers in it. Let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𝐴</m:t>
                      </m:r>
                      <m:r>
                        <a:rPr lang="en-US" altLang="zh-CN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pick</m:t>
                          </m:r>
                          <m: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a</m:t>
                          </m:r>
                          <m: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200" b="1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𝐊</m:t>
                          </m:r>
                        </m:e>
                      </m:d>
                      <m:r>
                        <a:rPr lang="en-US" altLang="zh-CN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, </m:t>
                      </m:r>
                      <m:r>
                        <a:rPr lang="zh-CN" altLang="en-US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 </m:t>
                      </m:r>
                      <m:r>
                        <a:rPr lang="en-US" altLang="zh-CN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</m:t>
                      </m:r>
                      <m:r>
                        <a:rPr lang="en-US" altLang="zh-CN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pick</m:t>
                          </m:r>
                          <m: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a</m:t>
                          </m:r>
                          <m: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a:rPr lang="en-US" altLang="zh-CN" sz="2200" b="1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  <a:ea typeface="华文新魏" panose="02010800040101010101" pitchFamily="2" charset="-122"/>
                            </a:rPr>
                            <m:t>𝐁</m:t>
                          </m:r>
                          <m:r>
                            <a:rPr lang="en-US" altLang="zh-CN" sz="2200" b="1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𝐥𝐚𝐜𝐤</m:t>
                          </m:r>
                          <m: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card</m:t>
                          </m:r>
                        </m:e>
                      </m:d>
                    </m:oMath>
                  </m:oMathPara>
                </a14:m>
                <a:endParaRPr lang="en-US" altLang="zh-CN" sz="2200" b="0" dirty="0">
                  <a:solidFill>
                    <a:schemeClr val="accent1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200" dirty="0">
                    <a:solidFill>
                      <a:schemeClr val="accent1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Are A and B independent with each other?</a:t>
                </a:r>
                <a:endParaRPr lang="zh-CN" altLang="en-US" sz="2200" dirty="0">
                  <a:solidFill>
                    <a:schemeClr val="accent1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56586C6-79D9-4AB4-93AF-36084AA25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509" y="760491"/>
                <a:ext cx="7205475" cy="1600438"/>
              </a:xfrm>
              <a:prstGeom prst="rect">
                <a:avLst/>
              </a:prstGeom>
              <a:blipFill>
                <a:blip r:embed="rId7"/>
                <a:stretch>
                  <a:fillRect l="-1056" t="-3175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xmlns="" id="{E4DC5AEA-69E7-411B-95C8-1A8508F249C6}"/>
              </a:ext>
            </a:extLst>
          </p:cNvPr>
          <p:cNvGrpSpPr/>
          <p:nvPr/>
        </p:nvGrpSpPr>
        <p:grpSpPr>
          <a:xfrm>
            <a:off x="379684" y="1107145"/>
            <a:ext cx="1204807" cy="1000998"/>
            <a:chOff x="0" y="1083656"/>
            <a:chExt cx="1616089" cy="1392050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xmlns="" id="{A9711D92-6624-4A07-9B6E-834E17E609B3}"/>
                </a:ext>
              </a:extLst>
            </p:cNvPr>
            <p:cNvCxnSpPr/>
            <p:nvPr/>
          </p:nvCxnSpPr>
          <p:spPr>
            <a:xfrm>
              <a:off x="0" y="1083656"/>
              <a:ext cx="1616089" cy="138062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xmlns="" id="{42D5152E-D622-4D7D-BC49-FA099DE5DC0F}"/>
                </a:ext>
              </a:extLst>
            </p:cNvPr>
            <p:cNvCxnSpPr/>
            <p:nvPr/>
          </p:nvCxnSpPr>
          <p:spPr>
            <a:xfrm flipV="1">
              <a:off x="0" y="1083656"/>
              <a:ext cx="1616089" cy="139205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xmlns="" id="{7544AA1E-A01A-40ED-85A7-F71A704DF8E1}"/>
              </a:ext>
            </a:extLst>
          </p:cNvPr>
          <p:cNvSpPr txBox="1"/>
          <p:nvPr/>
        </p:nvSpPr>
        <p:spPr>
          <a:xfrm>
            <a:off x="1136847" y="2635382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Answer: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id="{81344200-AD2F-4829-9246-78CF92790BC0}"/>
                  </a:ext>
                </a:extLst>
              </p:cNvPr>
              <p:cNvSpPr txBox="1"/>
              <p:nvPr/>
            </p:nvSpPr>
            <p:spPr>
              <a:xfrm>
                <a:off x="2075684" y="2526053"/>
                <a:ext cx="2790187" cy="128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81344200-AD2F-4829-9246-78CF92790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84" y="2526053"/>
                <a:ext cx="2790187" cy="12861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xmlns="" id="{AC5F56A7-B3D5-4965-B7C8-9874106CA7ED}"/>
                  </a:ext>
                </a:extLst>
              </p:cNvPr>
              <p:cNvSpPr txBox="1"/>
              <p:nvPr/>
            </p:nvSpPr>
            <p:spPr>
              <a:xfrm>
                <a:off x="2866873" y="3769631"/>
                <a:ext cx="1822487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C5F56A7-B3D5-4965-B7C8-9874106CA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73" y="3769631"/>
                <a:ext cx="1822487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D705B5CB-E599-4EB5-AD5D-E54AC6C00CE0}"/>
              </a:ext>
            </a:extLst>
          </p:cNvPr>
          <p:cNvSpPr txBox="1"/>
          <p:nvPr/>
        </p:nvSpPr>
        <p:spPr>
          <a:xfrm>
            <a:off x="2210155" y="4477352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Then,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xmlns="" id="{A4A540F1-CC9B-4C14-9FEA-C7358A889F07}"/>
                  </a:ext>
                </a:extLst>
              </p:cNvPr>
              <p:cNvSpPr txBox="1"/>
              <p:nvPr/>
            </p:nvSpPr>
            <p:spPr>
              <a:xfrm>
                <a:off x="2789593" y="4793248"/>
                <a:ext cx="2606098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26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4A540F1-CC9B-4C14-9FEA-C7358A889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593" y="4793248"/>
                <a:ext cx="2606098" cy="5203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73C9D084-21F4-43FE-B7C1-ECFE2C9296F2}"/>
              </a:ext>
            </a:extLst>
          </p:cNvPr>
          <p:cNvSpPr txBox="1"/>
          <p:nvPr/>
        </p:nvSpPr>
        <p:spPr>
          <a:xfrm>
            <a:off x="1907165" y="5600708"/>
            <a:ext cx="565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Thus, events A and B are independent from each other.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4">
                <a:extLst>
                  <a:ext uri="{FF2B5EF4-FFF2-40B4-BE49-F238E27FC236}">
                    <a16:creationId xmlns:a16="http://schemas.microsoft.com/office/drawing/2014/main" xmlns="" id="{333DEB8F-CE1A-427B-9F5F-CF7C318DA4EE}"/>
                  </a:ext>
                </a:extLst>
              </p:cNvPr>
              <p:cNvSpPr txBox="1"/>
              <p:nvPr/>
            </p:nvSpPr>
            <p:spPr>
              <a:xfrm>
                <a:off x="6122152" y="2681548"/>
                <a:ext cx="1995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4">
                <a:extLst>
                  <a:ext uri="{FF2B5EF4-FFF2-40B4-BE49-F238E27FC236}">
                    <a16:creationId xmlns:a16="http://schemas.microsoft.com/office/drawing/2014/main" id="{333DEB8F-CE1A-427B-9F5F-CF7C318DA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152" y="2681548"/>
                <a:ext cx="1995354" cy="276999"/>
              </a:xfrm>
              <a:prstGeom prst="rect">
                <a:avLst/>
              </a:prstGeom>
              <a:blipFill>
                <a:blip r:embed="rId12"/>
                <a:stretch>
                  <a:fillRect l="-1829" t="-2222" r="-335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775880" y="2559881"/>
            <a:ext cx="343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?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8C7A2B7B-1AE3-48C9-A657-6C61482DFE11}"/>
              </a:ext>
            </a:extLst>
          </p:cNvPr>
          <p:cNvGrpSpPr/>
          <p:nvPr/>
        </p:nvGrpSpPr>
        <p:grpSpPr>
          <a:xfrm>
            <a:off x="159522" y="3688426"/>
            <a:ext cx="1075876" cy="1660737"/>
            <a:chOff x="6212833" y="3334813"/>
            <a:chExt cx="765726" cy="166073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1E26ECF3-3DDB-4113-81B0-5D91587E5D02}"/>
                </a:ext>
              </a:extLst>
            </p:cNvPr>
            <p:cNvSpPr txBox="1"/>
            <p:nvPr/>
          </p:nvSpPr>
          <p:spPr>
            <a:xfrm>
              <a:off x="6221594" y="4142384"/>
              <a:ext cx="752906" cy="422405"/>
            </a:xfrm>
            <a:prstGeom prst="rect">
              <a:avLst/>
            </a:prstGeom>
            <a:solidFill>
              <a:srgbClr val="FF0000"/>
            </a:solidFill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72000" rIns="0" bIns="72000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Heart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C911344C-C0E4-440B-842A-6D69EAD6346C}"/>
                </a:ext>
              </a:extLst>
            </p:cNvPr>
            <p:cNvSpPr txBox="1"/>
            <p:nvPr/>
          </p:nvSpPr>
          <p:spPr>
            <a:xfrm>
              <a:off x="6221594" y="3334813"/>
              <a:ext cx="752906" cy="422405"/>
            </a:xfrm>
            <a:prstGeom prst="rect">
              <a:avLst/>
            </a:prstGeom>
            <a:solidFill>
              <a:schemeClr val="tx1"/>
            </a:solidFill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72000" rIns="0" bIns="72000" rtlCol="0">
              <a:spAutoFit/>
            </a:bodyPr>
            <a:lstStyle/>
            <a:p>
              <a:pPr algn="ctr"/>
              <a:r>
                <a:rPr lang="en-US" altLang="zh-CN" dirty="0"/>
                <a:t>Spade</a:t>
              </a:r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B9DBDB53-4745-43A7-8CB2-CB2D8FDA640A}"/>
                </a:ext>
              </a:extLst>
            </p:cNvPr>
            <p:cNvSpPr txBox="1"/>
            <p:nvPr/>
          </p:nvSpPr>
          <p:spPr>
            <a:xfrm>
              <a:off x="6225653" y="3745790"/>
              <a:ext cx="752906" cy="391628"/>
            </a:xfrm>
            <a:prstGeom prst="rect">
              <a:avLst/>
            </a:prstGeom>
            <a:pattFill prst="pct40">
              <a:fgClr>
                <a:schemeClr val="tx1"/>
              </a:fgClr>
              <a:bgClr>
                <a:schemeClr val="bg1"/>
              </a:bgClr>
            </a:pattFill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72000" rIns="0" bIns="72000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</a:rPr>
                <a:t>Diamond</a:t>
              </a:r>
              <a:endParaRPr lang="zh-CN" altLang="en-US" sz="1600" b="1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xmlns="" id="{95268929-2504-406D-AFA3-758A5B7DFDBD}"/>
                </a:ext>
              </a:extLst>
            </p:cNvPr>
            <p:cNvSpPr txBox="1"/>
            <p:nvPr/>
          </p:nvSpPr>
          <p:spPr>
            <a:xfrm>
              <a:off x="6212833" y="4573145"/>
              <a:ext cx="752906" cy="422405"/>
            </a:xfrm>
            <a:prstGeom prst="rect">
              <a:avLst/>
            </a:prstGeom>
            <a:pattFill prst="solidDmnd">
              <a:fgClr>
                <a:srgbClr val="FF0000"/>
              </a:fgClr>
              <a:bgClr>
                <a:schemeClr val="bg1"/>
              </a:bgClr>
            </a:pattFill>
            <a:ln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72000" rIns="0" bIns="72000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Club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3756141" y="2527958"/>
            <a:ext cx="980485" cy="56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3708875" y="3173301"/>
            <a:ext cx="980485" cy="56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799191" y="3778775"/>
            <a:ext cx="980485" cy="56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2A86BC3-0809-A440-B029-F08AB16FDDF3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4092" y="2257858"/>
            <a:ext cx="977859" cy="130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3" grpId="0"/>
      <p:bldP spid="25" grpId="0"/>
      <p:bldP spid="16" grpId="0"/>
      <p:bldP spid="3" grpId="0"/>
      <p:bldP spid="7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E42F7A25-7F5D-47CE-80F1-C3F1D6AFBE52}"/>
                  </a:ext>
                </a:extLst>
              </p:cNvPr>
              <p:cNvSpPr txBox="1"/>
              <p:nvPr/>
            </p:nvSpPr>
            <p:spPr>
              <a:xfrm>
                <a:off x="1969483" y="4612065"/>
                <a:ext cx="6267044" cy="1802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If n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≥2)</m:t>
                    </m:r>
                  </m:oMath>
                </a14:m>
                <a:r>
                  <a:rPr lang="zh-CN" altLang="en-US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satisfies</a:t>
                </a:r>
              </a:p>
              <a:p>
                <a:endParaRPr lang="en-US" altLang="zh-CN" b="0" i="1" dirty="0">
                  <a:latin typeface="Cambria Math" panose="02040503050406030204" pitchFamily="18" charset="0"/>
                  <a:ea typeface="华文新魏" panose="020108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</m:t>
                              </m:r>
                            </m:sub>
                          </m:sSub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1≤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&lt;…&lt;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=2,…,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Then,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are independent from each other. 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42F7A25-7F5D-47CE-80F1-C3F1D6AF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483" y="4612065"/>
                <a:ext cx="6267044" cy="1802673"/>
              </a:xfrm>
              <a:prstGeom prst="rect">
                <a:avLst/>
              </a:prstGeom>
              <a:blipFill>
                <a:blip r:embed="rId2"/>
                <a:stretch>
                  <a:fillRect l="-778" t="-1695" b="-5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F9201325-1533-42AD-B51B-0089EB8F28EE}"/>
              </a:ext>
            </a:extLst>
          </p:cNvPr>
          <p:cNvSpPr txBox="1"/>
          <p:nvPr/>
        </p:nvSpPr>
        <p:spPr>
          <a:xfrm>
            <a:off x="757543" y="710415"/>
            <a:ext cx="7628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Independence of Three Events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三个事件的独立性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DA0AA800-3634-42D2-A22C-532B333E0A1C}"/>
              </a:ext>
            </a:extLst>
          </p:cNvPr>
          <p:cNvSpPr txBox="1"/>
          <p:nvPr/>
        </p:nvSpPr>
        <p:spPr>
          <a:xfrm>
            <a:off x="712409" y="1200193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Definition: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id="{DBE07352-1DA8-4CCE-9D83-F405908E0C28}"/>
                  </a:ext>
                </a:extLst>
              </p:cNvPr>
              <p:cNvSpPr txBox="1"/>
              <p:nvPr/>
            </p:nvSpPr>
            <p:spPr>
              <a:xfrm>
                <a:off x="1969484" y="1206382"/>
                <a:ext cx="6462107" cy="229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A,B and C are three events, if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𝐶𝐴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𝐴𝐵𝐶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 algn="ctr">
                  <a:spcBef>
                    <a:spcPts val="1200"/>
                  </a:spcBef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Then, three events A, B and C are </a:t>
                </a:r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independent from each other. </a:t>
                </a:r>
                <a:endParaRPr lang="en-US" altLang="zh-CN" sz="2400" b="1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E07352-1DA8-4CCE-9D83-F405908E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484" y="1206382"/>
                <a:ext cx="6462107" cy="2292935"/>
              </a:xfrm>
              <a:prstGeom prst="rect">
                <a:avLst/>
              </a:prstGeom>
              <a:blipFill>
                <a:blip r:embed="rId3"/>
                <a:stretch>
                  <a:fillRect l="-755" t="-1330" r="-1981" b="-3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16ACAEF-5694-4D16-A043-3858E8F24DFC}"/>
              </a:ext>
            </a:extLst>
          </p:cNvPr>
          <p:cNvSpPr txBox="1"/>
          <p:nvPr/>
        </p:nvSpPr>
        <p:spPr>
          <a:xfrm>
            <a:off x="1442822" y="3973202"/>
            <a:ext cx="6793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independence of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Events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(n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个事件的独立性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xmlns="" id="{38800940-4BF4-4E95-9F55-7B506A9F71A3}"/>
              </a:ext>
            </a:extLst>
          </p:cNvPr>
          <p:cNvSpPr txBox="1"/>
          <p:nvPr/>
        </p:nvSpPr>
        <p:spPr>
          <a:xfrm>
            <a:off x="712408" y="4569335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Definition: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  <p:bldP spid="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563" name="Picture 59" descr="COSMIC08H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24" y="1617991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5565" name="Picture 61" descr="f125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61" y="2421266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5571" name="AutoShape 67"/>
          <p:cNvSpPr>
            <a:spLocks/>
          </p:cNvSpPr>
          <p:nvPr/>
        </p:nvSpPr>
        <p:spPr bwMode="auto">
          <a:xfrm>
            <a:off x="3853273" y="2467303"/>
            <a:ext cx="101600" cy="12192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2" name="AutoShape 68"/>
          <p:cNvSpPr>
            <a:spLocks noChangeArrowheads="1"/>
          </p:cNvSpPr>
          <p:nvPr/>
        </p:nvSpPr>
        <p:spPr bwMode="auto">
          <a:xfrm>
            <a:off x="4076214" y="2949903"/>
            <a:ext cx="369888" cy="228600"/>
          </a:xfrm>
          <a:prstGeom prst="rightArrow">
            <a:avLst>
              <a:gd name="adj1" fmla="val 50000"/>
              <a:gd name="adj2" fmla="val 4045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5575" name="WordArt 71"/>
          <p:cNvSpPr>
            <a:spLocks noChangeArrowheads="1" noChangeShapeType="1" noTextEdit="1"/>
          </p:cNvSpPr>
          <p:nvPr/>
        </p:nvSpPr>
        <p:spPr bwMode="auto">
          <a:xfrm>
            <a:off x="7220361" y="2922916"/>
            <a:ext cx="209550" cy="265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r>
              <a:rPr lang="zh-CN" altLang="en-US" sz="3600" kern="10">
                <a:ln w="1270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？</a:t>
            </a:r>
          </a:p>
        </p:txBody>
      </p:sp>
      <p:sp>
        <p:nvSpPr>
          <p:cNvPr id="405552" name="AutoShape 48"/>
          <p:cNvSpPr>
            <a:spLocks noChangeArrowheads="1"/>
          </p:cNvSpPr>
          <p:nvPr/>
        </p:nvSpPr>
        <p:spPr bwMode="auto">
          <a:xfrm>
            <a:off x="7075898" y="2572078"/>
            <a:ext cx="1347788" cy="903288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NO!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F75DDE0A-5AE7-43CB-86B9-2F3119D3BA09}"/>
              </a:ext>
            </a:extLst>
          </p:cNvPr>
          <p:cNvSpPr txBox="1"/>
          <p:nvPr/>
        </p:nvSpPr>
        <p:spPr>
          <a:xfrm>
            <a:off x="1383765" y="1648701"/>
            <a:ext cx="14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Question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9DEA53CE-32FD-4E25-BCE2-8E578C795FCB}"/>
                  </a:ext>
                </a:extLst>
              </p:cNvPr>
              <p:cNvSpPr txBox="1"/>
              <p:nvPr/>
            </p:nvSpPr>
            <p:spPr>
              <a:xfrm>
                <a:off x="1642121" y="2421266"/>
                <a:ext cx="2099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EA53CE-32FD-4E25-BCE2-8E578C79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21" y="2421266"/>
                <a:ext cx="2099549" cy="276999"/>
              </a:xfrm>
              <a:prstGeom prst="rect">
                <a:avLst/>
              </a:prstGeom>
              <a:blipFill>
                <a:blip r:embed="rId5"/>
                <a:stretch>
                  <a:fillRect t="-2174" r="-2029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="" id="{AE07A93D-50A5-42DA-9394-9D0814698F1E}"/>
                  </a:ext>
                </a:extLst>
              </p:cNvPr>
              <p:cNvSpPr txBox="1"/>
              <p:nvPr/>
            </p:nvSpPr>
            <p:spPr>
              <a:xfrm>
                <a:off x="1642121" y="2927974"/>
                <a:ext cx="20953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E07A93D-50A5-42DA-9394-9D0814698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21" y="2927974"/>
                <a:ext cx="2095317" cy="276999"/>
              </a:xfrm>
              <a:prstGeom prst="rect">
                <a:avLst/>
              </a:prstGeom>
              <a:blipFill>
                <a:blip r:embed="rId6"/>
                <a:stretch>
                  <a:fillRect t="-2174" r="-2035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xmlns="" id="{34559EFA-989B-4EAA-91DB-98B076764CFF}"/>
                  </a:ext>
                </a:extLst>
              </p:cNvPr>
              <p:cNvSpPr txBox="1"/>
              <p:nvPr/>
            </p:nvSpPr>
            <p:spPr>
              <a:xfrm>
                <a:off x="1628796" y="3414804"/>
                <a:ext cx="20706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4559EFA-989B-4EAA-91DB-98B076764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96" y="3414804"/>
                <a:ext cx="2070631" cy="276999"/>
              </a:xfrm>
              <a:prstGeom prst="rect">
                <a:avLst/>
              </a:prstGeom>
              <a:blipFill>
                <a:blip r:embed="rId7"/>
                <a:stretch>
                  <a:fillRect t="-2174" r="-2059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F188F554-BA30-44AD-829F-843049846399}"/>
              </a:ext>
            </a:extLst>
          </p:cNvPr>
          <p:cNvSpPr txBox="1"/>
          <p:nvPr/>
        </p:nvSpPr>
        <p:spPr>
          <a:xfrm>
            <a:off x="4505735" y="2753246"/>
            <a:ext cx="271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A, B, C 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are independent from each other?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2">
                <a:extLst>
                  <a:ext uri="{FF2B5EF4-FFF2-40B4-BE49-F238E27FC236}">
                    <a16:creationId xmlns:a16="http://schemas.microsoft.com/office/drawing/2014/main" xmlns="" id="{9DEA53CE-32FD-4E25-BCE2-8E578C795FCB}"/>
                  </a:ext>
                </a:extLst>
              </p:cNvPr>
              <p:cNvSpPr txBox="1"/>
              <p:nvPr/>
            </p:nvSpPr>
            <p:spPr>
              <a:xfrm>
                <a:off x="2981619" y="5060732"/>
                <a:ext cx="4972623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altLang="zh-CN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endParaRPr lang="en-US" altLang="zh-CN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𝑴𝒖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/>
                      </a:rPr>
                      <m:t>𝒕𝒖𝒂𝒍𝒍𝒚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/>
                      </a:rPr>
                      <m:t>𝑰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/>
                      </a:rPr>
                      <m:t>𝒏𝒅𝒆𝒑𝒆𝒏𝒅𝒆𝒏</m:t>
                    </m:r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</a:rPr>
                  <a:t>（相互独立）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文本框 2">
                <a:extLst>
                  <a:ext uri="{FF2B5EF4-FFF2-40B4-BE49-F238E27FC236}">
                    <a16:creationId xmlns:a16="http://schemas.microsoft.com/office/drawing/2014/main" id="{9DEA53CE-32FD-4E25-BCE2-8E578C795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619" y="5060732"/>
                <a:ext cx="4972623" cy="830997"/>
              </a:xfrm>
              <a:prstGeom prst="rect">
                <a:avLst/>
              </a:prstGeom>
              <a:blipFill>
                <a:blip r:embed="rId8"/>
                <a:stretch>
                  <a:fillRect l="-1593" b="-169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7690339F-B099-D34A-A708-521974649FC2}"/>
                  </a:ext>
                </a:extLst>
              </p:cNvPr>
              <p:cNvSpPr/>
              <p:nvPr/>
            </p:nvSpPr>
            <p:spPr>
              <a:xfrm>
                <a:off x="1642121" y="4072927"/>
                <a:ext cx="610485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Events </a:t>
                </a:r>
                <a:r>
                  <a:rPr lang="en-US" altLang="zh-CN" b="1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A, B, C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  are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𝑷𝒂𝒊𝒓𝒆𝒘𝒊𝒔𝒆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/>
                      </a:rPr>
                      <m:t>𝑰𝒏𝒅𝒆𝒑𝒆𝒏𝒅𝒆𝒏𝒕</m:t>
                    </m:r>
                  </m:oMath>
                </a14:m>
                <a:r>
                  <a:rPr lang="zh-CN" altLang="en-US" b="1" dirty="0">
                    <a:solidFill>
                      <a:srgbClr val="C00000"/>
                    </a:solidFill>
                  </a:rPr>
                  <a:t>（两两独立）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690339F-B099-D34A-A708-521974649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121" y="4072927"/>
                <a:ext cx="6104850" cy="369332"/>
              </a:xfrm>
              <a:prstGeom prst="rect">
                <a:avLst/>
              </a:prstGeom>
              <a:blipFill>
                <a:blip r:embed="rId9"/>
                <a:stretch>
                  <a:fillRect l="-798" t="-8197" r="-4491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E15A1F98-397C-0A43-9FAA-DFFA64D5E703}"/>
              </a:ext>
            </a:extLst>
          </p:cNvPr>
          <p:cNvCxnSpPr>
            <a:cxnSpLocks/>
          </p:cNvCxnSpPr>
          <p:nvPr/>
        </p:nvCxnSpPr>
        <p:spPr>
          <a:xfrm flipV="1">
            <a:off x="2959180" y="3766513"/>
            <a:ext cx="0" cy="34792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8CF00738-4505-1C41-A7CC-59DFA2E3FABF}"/>
              </a:ext>
            </a:extLst>
          </p:cNvPr>
          <p:cNvCxnSpPr>
            <a:cxnSpLocks/>
          </p:cNvCxnSpPr>
          <p:nvPr/>
        </p:nvCxnSpPr>
        <p:spPr>
          <a:xfrm flipV="1">
            <a:off x="2289198" y="5731153"/>
            <a:ext cx="500721" cy="1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us 8">
            <a:extLst>
              <a:ext uri="{FF2B5EF4-FFF2-40B4-BE49-F238E27FC236}">
                <a16:creationId xmlns:a16="http://schemas.microsoft.com/office/drawing/2014/main" xmlns="" id="{7D62E87B-6456-1F43-9A27-92FA575D1E10}"/>
              </a:ext>
            </a:extLst>
          </p:cNvPr>
          <p:cNvSpPr/>
          <p:nvPr/>
        </p:nvSpPr>
        <p:spPr>
          <a:xfrm>
            <a:off x="2360637" y="5044726"/>
            <a:ext cx="285750" cy="273040"/>
          </a:xfrm>
          <a:prstGeom prst="mathPlu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06E079E7-D489-4747-9E33-E06A2313710C}"/>
              </a:ext>
            </a:extLst>
          </p:cNvPr>
          <p:cNvSpPr/>
          <p:nvPr/>
        </p:nvSpPr>
        <p:spPr>
          <a:xfrm>
            <a:off x="434380" y="758261"/>
            <a:ext cx="84032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The relation between pairwise independence and mutually independence</a:t>
            </a:r>
          </a:p>
          <a:p>
            <a:pPr algn="ctr"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两两独立和相互独立的关系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)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5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5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5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71" grpId="0" animBg="1"/>
      <p:bldP spid="405572" grpId="0" animBg="1"/>
      <p:bldP spid="405575" grpId="0" animBg="1"/>
      <p:bldP spid="405552" grpId="0" animBg="1"/>
      <p:bldP spid="2" grpId="0"/>
      <p:bldP spid="3" grpId="0"/>
      <p:bldP spid="17" grpId="0"/>
      <p:bldP spid="18" grpId="0"/>
      <p:bldP spid="5" grpId="0"/>
      <p:bldP spid="4" grpId="0"/>
      <p:bldP spid="9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4380" y="758261"/>
            <a:ext cx="840326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The relation between pairwise independence and mutually independence</a:t>
            </a:r>
          </a:p>
          <a:p>
            <a:pPr algn="ctr">
              <a:defRPr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两两独立和相互独立的关系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)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CA21A468-289A-4EDE-9D2E-71A7605EEB29}"/>
              </a:ext>
            </a:extLst>
          </p:cNvPr>
          <p:cNvSpPr txBox="1"/>
          <p:nvPr/>
        </p:nvSpPr>
        <p:spPr>
          <a:xfrm>
            <a:off x="762000" y="1591196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id="{F0A00B92-FF43-48B0-88A7-54DF87F43F1A}"/>
                  </a:ext>
                </a:extLst>
              </p:cNvPr>
              <p:cNvSpPr txBox="1"/>
              <p:nvPr/>
            </p:nvSpPr>
            <p:spPr>
              <a:xfrm>
                <a:off x="1869163" y="1633730"/>
                <a:ext cx="613905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0A00B92-FF43-48B0-88A7-54DF87F4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163" y="1633730"/>
                <a:ext cx="6139055" cy="276999"/>
              </a:xfrm>
              <a:prstGeom prst="rect">
                <a:avLst/>
              </a:prstGeom>
              <a:blipFill>
                <a:blip r:embed="rId2"/>
                <a:stretch>
                  <a:fillRect l="-139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769A8B3D-EB97-446A-B3C4-C02B61C3D9B9}"/>
                  </a:ext>
                </a:extLst>
              </p:cNvPr>
              <p:cNvSpPr txBox="1"/>
              <p:nvPr/>
            </p:nvSpPr>
            <p:spPr>
              <a:xfrm>
                <a:off x="1861886" y="1985018"/>
                <a:ext cx="68393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i="1">
                          <a:latin typeface="Cambria Math"/>
                        </a:rPr>
                        <m:t> 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0" smtClean="0">
                          <a:latin typeface="Cambria Math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69A8B3D-EB97-446A-B3C4-C02B61C3D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886" y="1985018"/>
                <a:ext cx="6839360" cy="276999"/>
              </a:xfrm>
              <a:prstGeom prst="rect">
                <a:avLst/>
              </a:prstGeom>
              <a:blipFill>
                <a:blip r:embed="rId3"/>
                <a:stretch>
                  <a:fillRect l="-1159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8333494B-0D69-4911-9388-D0670B7D756D}"/>
              </a:ext>
            </a:extLst>
          </p:cNvPr>
          <p:cNvSpPr txBox="1"/>
          <p:nvPr/>
        </p:nvSpPr>
        <p:spPr>
          <a:xfrm>
            <a:off x="1753664" y="2327308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Then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id="{4A5A55A7-7CD8-49DC-AE2F-7638E592B2C2}"/>
                  </a:ext>
                </a:extLst>
              </p:cNvPr>
              <p:cNvSpPr txBox="1"/>
              <p:nvPr/>
            </p:nvSpPr>
            <p:spPr>
              <a:xfrm>
                <a:off x="2561982" y="2504140"/>
                <a:ext cx="256916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A5A55A7-7CD8-49DC-AE2F-7638E592B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82" y="2504140"/>
                <a:ext cx="2569165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31B8C3F1-F83B-46BB-B0BD-80C85E4C439F}"/>
              </a:ext>
            </a:extLst>
          </p:cNvPr>
          <p:cNvSpPr txBox="1"/>
          <p:nvPr/>
        </p:nvSpPr>
        <p:spPr>
          <a:xfrm>
            <a:off x="1869164" y="308049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And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4E524ED3-3A88-4AF7-8B10-6959EF2C878D}"/>
                  </a:ext>
                </a:extLst>
              </p:cNvPr>
              <p:cNvSpPr txBox="1"/>
              <p:nvPr/>
            </p:nvSpPr>
            <p:spPr>
              <a:xfrm>
                <a:off x="2561982" y="3294636"/>
                <a:ext cx="1136401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E524ED3-3A88-4AF7-8B10-6959EF2C8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82" y="3294636"/>
                <a:ext cx="1136401" cy="518604"/>
              </a:xfrm>
              <a:prstGeom prst="rect">
                <a:avLst/>
              </a:prstGeom>
              <a:blipFill>
                <a:blip r:embed="rId5"/>
                <a:stretch>
                  <a:fillRect l="-3333" t="-2381" r="-444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xmlns="" id="{CBB20193-044D-4E61-A351-F072E6981984}"/>
                  </a:ext>
                </a:extLst>
              </p:cNvPr>
              <p:cNvSpPr txBox="1"/>
              <p:nvPr/>
            </p:nvSpPr>
            <p:spPr>
              <a:xfrm>
                <a:off x="2561981" y="3904680"/>
                <a:ext cx="1125886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BB20193-044D-4E61-A351-F072E6981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81" y="3904680"/>
                <a:ext cx="1125886" cy="518604"/>
              </a:xfrm>
              <a:prstGeom prst="rect">
                <a:avLst/>
              </a:prstGeom>
              <a:blipFill>
                <a:blip r:embed="rId6"/>
                <a:stretch>
                  <a:fillRect l="-3371" t="-2381" r="-4494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xmlns="" id="{37A19AAF-584D-408B-8C75-A95B2D52C17E}"/>
                  </a:ext>
                </a:extLst>
              </p:cNvPr>
              <p:cNvSpPr txBox="1"/>
              <p:nvPr/>
            </p:nvSpPr>
            <p:spPr>
              <a:xfrm>
                <a:off x="2561980" y="4491864"/>
                <a:ext cx="113229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A19AAF-584D-408B-8C75-A95B2D52C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80" y="4491864"/>
                <a:ext cx="1132298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E290401C-9FED-484E-B670-BFB33F3B1DF1}"/>
                  </a:ext>
                </a:extLst>
              </p:cNvPr>
              <p:cNvSpPr txBox="1"/>
              <p:nvPr/>
            </p:nvSpPr>
            <p:spPr>
              <a:xfrm>
                <a:off x="3778106" y="3443768"/>
                <a:ext cx="12869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90401C-9FED-484E-B670-BFB33F3B1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106" y="3443768"/>
                <a:ext cx="1286955" cy="276999"/>
              </a:xfrm>
              <a:prstGeom prst="rect">
                <a:avLst/>
              </a:prstGeom>
              <a:blipFill>
                <a:blip r:embed="rId8"/>
                <a:stretch>
                  <a:fillRect r="-485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xmlns="" id="{7C9F82BB-878D-478C-8384-D4DA8C3BF948}"/>
                  </a:ext>
                </a:extLst>
              </p:cNvPr>
              <p:cNvSpPr txBox="1"/>
              <p:nvPr/>
            </p:nvSpPr>
            <p:spPr>
              <a:xfrm>
                <a:off x="3788738" y="4046748"/>
                <a:ext cx="12764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C9F82BB-878D-478C-8384-D4DA8C3BF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738" y="4046748"/>
                <a:ext cx="1276440" cy="276999"/>
              </a:xfrm>
              <a:prstGeom prst="rect">
                <a:avLst/>
              </a:prstGeom>
              <a:blipFill>
                <a:blip r:embed="rId9"/>
                <a:stretch>
                  <a:fillRect r="-4902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xmlns="" id="{2D0F07E2-8E3B-445C-8A49-E64D2F50CB21}"/>
                  </a:ext>
                </a:extLst>
              </p:cNvPr>
              <p:cNvSpPr txBox="1"/>
              <p:nvPr/>
            </p:nvSpPr>
            <p:spPr>
              <a:xfrm>
                <a:off x="3788737" y="4623299"/>
                <a:ext cx="1286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D0F07E2-8E3B-445C-8A49-E64D2F50C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737" y="4623299"/>
                <a:ext cx="1286827" cy="276999"/>
              </a:xfrm>
              <a:prstGeom prst="rect">
                <a:avLst/>
              </a:prstGeom>
              <a:blipFill>
                <a:blip r:embed="rId10"/>
                <a:stretch>
                  <a:fillRect r="-485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02AAF2D4-6448-46DE-9326-AE8FEB88A433}"/>
              </a:ext>
            </a:extLst>
          </p:cNvPr>
          <p:cNvSpPr txBox="1"/>
          <p:nvPr/>
        </p:nvSpPr>
        <p:spPr>
          <a:xfrm>
            <a:off x="787638" y="5155101"/>
            <a:ext cx="664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Thus,  events A, B and C are </a:t>
            </a:r>
            <a:r>
              <a:rPr lang="en-US" altLang="zh-CN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pairwise independent</a:t>
            </a:r>
            <a:r>
              <a:rPr lang="zh-CN" altLang="en-US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两两独立</a:t>
            </a:r>
            <a:r>
              <a:rPr lang="en-US" altLang="zh-CN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id="{A30DEB32-0D7A-43A5-9A89-10BF8756FF56}"/>
                  </a:ext>
                </a:extLst>
              </p:cNvPr>
              <p:cNvSpPr txBox="1"/>
              <p:nvPr/>
            </p:nvSpPr>
            <p:spPr>
              <a:xfrm>
                <a:off x="826880" y="5552922"/>
                <a:ext cx="7693278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But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𝐴𝐵𝐶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, not </a:t>
                </a:r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mutually independent (</a:t>
                </a:r>
                <a:r>
                  <a:rPr lang="zh-CN" altLang="en-US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相互独立</a:t>
                </a:r>
                <a:r>
                  <a:rPr lang="en-US" altLang="zh-CN" dirty="0">
                    <a:solidFill>
                      <a:srgbClr val="C0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endParaRPr lang="zh-CN" altLang="en-US" dirty="0">
                  <a:solidFill>
                    <a:srgbClr val="C0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A30DEB32-0D7A-43A5-9A89-10BF8756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880" y="5552922"/>
                <a:ext cx="7693278" cy="483466"/>
              </a:xfrm>
              <a:prstGeom prst="rect">
                <a:avLst/>
              </a:prstGeom>
              <a:blipFill>
                <a:blip r:embed="rId11"/>
                <a:stretch>
                  <a:fillRect l="-65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75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27" grpId="0"/>
      <p:bldP spid="28" grpId="0"/>
      <p:bldP spid="11" grpId="0"/>
      <p:bldP spid="30" grpId="0"/>
      <p:bldP spid="3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563" name="Picture 59" descr="COSMIC08H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712788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5566" name="Picture 62" descr="f126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3111500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5567" name="Picture 63" descr="f127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5271056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5588" name="Freeform 84"/>
          <p:cNvSpPr>
            <a:spLocks/>
          </p:cNvSpPr>
          <p:nvPr/>
        </p:nvSpPr>
        <p:spPr bwMode="auto">
          <a:xfrm>
            <a:off x="8408193" y="3159061"/>
            <a:ext cx="252412" cy="269875"/>
          </a:xfrm>
          <a:custGeom>
            <a:avLst/>
            <a:gdLst>
              <a:gd name="T0" fmla="*/ 0 w 159"/>
              <a:gd name="T1" fmla="*/ 2147483647 h 170"/>
              <a:gd name="T2" fmla="*/ 2147483647 w 159"/>
              <a:gd name="T3" fmla="*/ 2147483647 h 170"/>
              <a:gd name="T4" fmla="*/ 2147483647 w 159"/>
              <a:gd name="T5" fmla="*/ 0 h 1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5589" name="Freeform 85"/>
          <p:cNvSpPr>
            <a:spLocks/>
          </p:cNvSpPr>
          <p:nvPr/>
        </p:nvSpPr>
        <p:spPr bwMode="auto">
          <a:xfrm>
            <a:off x="8461980" y="4178174"/>
            <a:ext cx="252413" cy="269875"/>
          </a:xfrm>
          <a:custGeom>
            <a:avLst/>
            <a:gdLst>
              <a:gd name="T0" fmla="*/ 0 w 159"/>
              <a:gd name="T1" fmla="*/ 2147483647 h 170"/>
              <a:gd name="T2" fmla="*/ 2147483647 w 159"/>
              <a:gd name="T3" fmla="*/ 2147483647 h 170"/>
              <a:gd name="T4" fmla="*/ 2147483647 w 159"/>
              <a:gd name="T5" fmla="*/ 0 h 17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/>
            <a:tailE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5594" name="AutoShape 90"/>
          <p:cNvSpPr>
            <a:spLocks noChangeArrowheads="1"/>
          </p:cNvSpPr>
          <p:nvPr/>
        </p:nvSpPr>
        <p:spPr bwMode="auto">
          <a:xfrm>
            <a:off x="2071176" y="5856223"/>
            <a:ext cx="5748056" cy="552450"/>
          </a:xfrm>
          <a:prstGeom prst="wedgeRectCallout">
            <a:avLst>
              <a:gd name="adj1" fmla="val -13958"/>
              <a:gd name="adj2" fmla="val -46838"/>
            </a:avLst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Event Independence depends on the context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in practice.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37" name="Picture 61" descr="f125">
            <a:extLst>
              <a:ext uri="{FF2B5EF4-FFF2-40B4-BE49-F238E27FC236}">
                <a16:creationId xmlns:a16="http://schemas.microsoft.com/office/drawing/2014/main" xmlns="" id="{9FD39558-D21E-43B2-87C2-2BAFB5EA632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516063"/>
            <a:ext cx="320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AutoShape 67">
            <a:extLst>
              <a:ext uri="{FF2B5EF4-FFF2-40B4-BE49-F238E27FC236}">
                <a16:creationId xmlns:a16="http://schemas.microsoft.com/office/drawing/2014/main" xmlns="" id="{AF240D37-CCD2-46AB-B57F-7C9667ADEA2C}"/>
              </a:ext>
            </a:extLst>
          </p:cNvPr>
          <p:cNvSpPr>
            <a:spLocks/>
          </p:cNvSpPr>
          <p:nvPr/>
        </p:nvSpPr>
        <p:spPr bwMode="auto">
          <a:xfrm>
            <a:off x="4123690" y="1562100"/>
            <a:ext cx="101600" cy="1219200"/>
          </a:xfrm>
          <a:prstGeom prst="rightBrace">
            <a:avLst>
              <a:gd name="adj1" fmla="val 10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AutoShape 68">
            <a:extLst>
              <a:ext uri="{FF2B5EF4-FFF2-40B4-BE49-F238E27FC236}">
                <a16:creationId xmlns:a16="http://schemas.microsoft.com/office/drawing/2014/main" xmlns="" id="{8DB60D5F-2AED-4A99-90C3-436F5BB34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115" y="2044700"/>
            <a:ext cx="369888" cy="228600"/>
          </a:xfrm>
          <a:prstGeom prst="rightArrow">
            <a:avLst>
              <a:gd name="adj1" fmla="val 50000"/>
              <a:gd name="adj2" fmla="val 40451"/>
            </a:avLst>
          </a:prstGeom>
          <a:solidFill>
            <a:srgbClr val="FFC000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" name="AutoShape 48">
            <a:extLst>
              <a:ext uri="{FF2B5EF4-FFF2-40B4-BE49-F238E27FC236}">
                <a16:creationId xmlns:a16="http://schemas.microsoft.com/office/drawing/2014/main" xmlns="" id="{C01DCD67-60C8-4729-891D-3DC4CC166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6315" y="1666875"/>
            <a:ext cx="1347788" cy="903288"/>
          </a:xfrm>
          <a:prstGeom prst="star16">
            <a:avLst>
              <a:gd name="adj" fmla="val 37500"/>
            </a:avLst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12700" algn="ctr">
            <a:solidFill>
              <a:schemeClr val="accent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NO!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xmlns="" id="{F1431691-111B-4A2F-99EE-BC6C96B47D77}"/>
              </a:ext>
            </a:extLst>
          </p:cNvPr>
          <p:cNvSpPr txBox="1"/>
          <p:nvPr/>
        </p:nvSpPr>
        <p:spPr>
          <a:xfrm>
            <a:off x="1387824" y="789860"/>
            <a:ext cx="14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Question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xmlns="" id="{36E03CBD-28C5-412E-9028-1FA73F29041F}"/>
                  </a:ext>
                </a:extLst>
              </p:cNvPr>
              <p:cNvSpPr txBox="1"/>
              <p:nvPr/>
            </p:nvSpPr>
            <p:spPr>
              <a:xfrm>
                <a:off x="1664560" y="1516063"/>
                <a:ext cx="19953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6E03CBD-28C5-412E-9028-1FA73F29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560" y="1516063"/>
                <a:ext cx="1995354" cy="276999"/>
              </a:xfrm>
              <a:prstGeom prst="rect">
                <a:avLst/>
              </a:prstGeom>
              <a:blipFill>
                <a:blip r:embed="rId6"/>
                <a:stretch>
                  <a:fillRect l="-1835" t="-4444" r="-3670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xmlns="" id="{291FECAE-EA56-496F-9380-C88FA1FBAEBD}"/>
                  </a:ext>
                </a:extLst>
              </p:cNvPr>
              <p:cNvSpPr txBox="1"/>
              <p:nvPr/>
            </p:nvSpPr>
            <p:spPr>
              <a:xfrm>
                <a:off x="1664560" y="2033208"/>
                <a:ext cx="19911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91FECAE-EA56-496F-9380-C88FA1FBA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560" y="2033208"/>
                <a:ext cx="1991123" cy="276999"/>
              </a:xfrm>
              <a:prstGeom prst="rect">
                <a:avLst/>
              </a:prstGeom>
              <a:blipFill>
                <a:blip r:embed="rId7"/>
                <a:stretch>
                  <a:fillRect l="-1266" r="-316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xmlns="" id="{21CA6A16-7E6D-47E2-A0FF-57DD7A1020BA}"/>
                  </a:ext>
                </a:extLst>
              </p:cNvPr>
              <p:cNvSpPr txBox="1"/>
              <p:nvPr/>
            </p:nvSpPr>
            <p:spPr>
              <a:xfrm>
                <a:off x="1631357" y="2550353"/>
                <a:ext cx="19664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1CA6A16-7E6D-47E2-A0FF-57DD7A102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357" y="2550353"/>
                <a:ext cx="1966436" cy="276999"/>
              </a:xfrm>
              <a:prstGeom prst="rect">
                <a:avLst/>
              </a:prstGeom>
              <a:blipFill>
                <a:blip r:embed="rId8"/>
                <a:stretch>
                  <a:fillRect l="-1282" r="-320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D9CAE6D1-58D1-4EAE-A110-DA6931D79ABA}"/>
              </a:ext>
            </a:extLst>
          </p:cNvPr>
          <p:cNvSpPr txBox="1"/>
          <p:nvPr/>
        </p:nvSpPr>
        <p:spPr>
          <a:xfrm>
            <a:off x="4776153" y="1871401"/>
            <a:ext cx="257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A, B, C are independent from each other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xmlns="" id="{1F9E4B35-7710-4AAE-8668-B672C2893B74}"/>
                  </a:ext>
                </a:extLst>
              </p:cNvPr>
              <p:cNvSpPr txBox="1"/>
              <p:nvPr/>
            </p:nvSpPr>
            <p:spPr>
              <a:xfrm>
                <a:off x="965130" y="3087171"/>
                <a:ext cx="74430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Are </a:t>
                </a:r>
                <a:r>
                  <a: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certain event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zh-CN" altLang="en-US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and a random event A </a:t>
                </a:r>
                <a:r>
                  <a:rPr lang="en-US" altLang="zh-CN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independent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from each other?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F9E4B35-7710-4AAE-8668-B672C2893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30" y="3087171"/>
                <a:ext cx="7443063" cy="369332"/>
              </a:xfrm>
              <a:prstGeom prst="rect">
                <a:avLst/>
              </a:prstGeom>
              <a:blipFill>
                <a:blip r:embed="rId9"/>
                <a:stretch>
                  <a:fillRect l="-655" t="-6557" r="-246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C6F100AD-AD92-447D-912A-4491DFDB2BA1}"/>
                  </a:ext>
                </a:extLst>
              </p:cNvPr>
              <p:cNvSpPr txBox="1"/>
              <p:nvPr/>
            </p:nvSpPr>
            <p:spPr>
              <a:xfrm>
                <a:off x="1018918" y="4003288"/>
                <a:ext cx="79159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Are </a:t>
                </a:r>
                <a:r>
                  <a: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impossible event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r>
                  <a:rPr lang="en-US" altLang="zh-CN" b="1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and a random vent A </a:t>
                </a:r>
                <a:r>
                  <a:rPr lang="en-US" altLang="zh-CN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independent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from each other? </a:t>
                </a: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6F100AD-AD92-447D-912A-4491DFDB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18" y="4003288"/>
                <a:ext cx="7915950" cy="369332"/>
              </a:xfrm>
              <a:prstGeom prst="rect">
                <a:avLst/>
              </a:prstGeom>
              <a:blipFill>
                <a:blip r:embed="rId10"/>
                <a:stretch>
                  <a:fillRect l="-616" t="-833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C14D0407-2C10-4949-B650-939E84EEBED9}"/>
              </a:ext>
            </a:extLst>
          </p:cNvPr>
          <p:cNvSpPr txBox="1"/>
          <p:nvPr/>
        </p:nvSpPr>
        <p:spPr>
          <a:xfrm>
            <a:off x="965130" y="5250313"/>
            <a:ext cx="7695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Are events {Person A has cold} and {Person B has cold} independent from each other?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C2CCA76D-515E-44E2-BD9D-896D3199D509}"/>
              </a:ext>
            </a:extLst>
          </p:cNvPr>
          <p:cNvSpPr txBox="1"/>
          <p:nvPr/>
        </p:nvSpPr>
        <p:spPr>
          <a:xfrm>
            <a:off x="1173163" y="5929168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Notice: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xmlns="" id="{FC725804-1890-4E5F-9C5C-013279197E8B}"/>
                  </a:ext>
                </a:extLst>
              </p:cNvPr>
              <p:cNvSpPr txBox="1"/>
              <p:nvPr/>
            </p:nvSpPr>
            <p:spPr>
              <a:xfrm>
                <a:off x="1628347" y="3529448"/>
                <a:ext cx="54477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;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FC725804-1890-4E5F-9C5C-013279197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347" y="3529448"/>
                <a:ext cx="5447794" cy="276999"/>
              </a:xfrm>
              <a:prstGeom prst="rect">
                <a:avLst/>
              </a:prstGeom>
              <a:blipFill>
                <a:blip r:embed="rId11"/>
                <a:stretch>
                  <a:fillRect l="-1454" t="-28889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xmlns="" id="{E606D09A-39D5-452B-BCD6-C3893B14DD8B}"/>
                  </a:ext>
                </a:extLst>
              </p:cNvPr>
              <p:cNvSpPr txBox="1"/>
              <p:nvPr/>
            </p:nvSpPr>
            <p:spPr>
              <a:xfrm>
                <a:off x="1625218" y="4469645"/>
                <a:ext cx="544779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=0;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*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606D09A-39D5-452B-BCD6-C3893B14D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218" y="4469645"/>
                <a:ext cx="5447794" cy="276999"/>
              </a:xfrm>
              <a:prstGeom prst="rect">
                <a:avLst/>
              </a:prstGeom>
              <a:blipFill>
                <a:blip r:embed="rId12"/>
                <a:stretch>
                  <a:fillRect l="-1568" t="-2826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0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5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5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88" grpId="0" animBg="1"/>
      <p:bldP spid="405589" grpId="0" animBg="1"/>
      <p:bldP spid="405594" grpId="0" animBg="1"/>
      <p:bldP spid="2" grpId="0"/>
      <p:bldP spid="3" grpId="0"/>
      <p:bldP spid="4" grpId="0"/>
      <p:bldP spid="5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2914" name="Rectangle 2"/>
              <p:cNvSpPr>
                <a:spLocks noChangeArrowheads="1"/>
              </p:cNvSpPr>
              <p:nvPr/>
            </p:nvSpPr>
            <p:spPr bwMode="auto">
              <a:xfrm>
                <a:off x="191135" y="784225"/>
                <a:ext cx="8840788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Example: </a:t>
                </a:r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The probability that a person has hepatitis virus (</a:t>
                </a:r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肝炎病毒</a:t>
                </a:r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)</a:t>
                </a:r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in their blood is 0.4%. What is the probability that a sample which mixed 100 people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altLang="zh-CN" dirty="0">
                    <a:solidFill>
                      <a:schemeClr val="tx2">
                        <a:lumMod val="75000"/>
                      </a:schemeClr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blood contains hepatitis virus?</a:t>
                </a:r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422914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135" y="784225"/>
                <a:ext cx="8840788" cy="923330"/>
              </a:xfrm>
              <a:prstGeom prst="rect">
                <a:avLst/>
              </a:prstGeom>
              <a:blipFill>
                <a:blip r:embed="rId3"/>
                <a:stretch>
                  <a:fillRect l="-620" t="-3974" b="-105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2929" name="Text Box 17"/>
          <p:cNvSpPr txBox="1">
            <a:spLocks noChangeArrowheads="1"/>
          </p:cNvSpPr>
          <p:nvPr/>
        </p:nvSpPr>
        <p:spPr bwMode="auto">
          <a:xfrm>
            <a:off x="209224" y="6216422"/>
            <a:ext cx="81503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By Grouping method, optimally reduce the number of tests and the risk. 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B43107FE-17A8-4122-9BEF-6169AD480B0D}"/>
              </a:ext>
            </a:extLst>
          </p:cNvPr>
          <p:cNvSpPr txBox="1"/>
          <p:nvPr/>
        </p:nvSpPr>
        <p:spPr>
          <a:xfrm>
            <a:off x="316925" y="1979896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Answer: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AC4D3FF7-8C0E-4778-9BC8-26E99C9B922F}"/>
              </a:ext>
            </a:extLst>
          </p:cNvPr>
          <p:cNvSpPr txBox="1"/>
          <p:nvPr/>
        </p:nvSpPr>
        <p:spPr>
          <a:xfrm>
            <a:off x="1208212" y="1979896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Let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id="{4A967292-E6AB-47B8-9606-53B52E49A788}"/>
                  </a:ext>
                </a:extLst>
              </p:cNvPr>
              <p:cNvSpPr txBox="1"/>
              <p:nvPr/>
            </p:nvSpPr>
            <p:spPr>
              <a:xfrm>
                <a:off x="1692640" y="2015798"/>
                <a:ext cx="64498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ith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perso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blood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contains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hepatitis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virus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=1,2,…,100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A967292-E6AB-47B8-9606-53B52E49A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640" y="2015798"/>
                <a:ext cx="6449843" cy="276999"/>
              </a:xfrm>
              <a:prstGeom prst="rect">
                <a:avLst/>
              </a:prstGeom>
              <a:blipFill>
                <a:blip r:embed="rId4"/>
                <a:stretch>
                  <a:fillRect l="-378" t="-4444" r="-28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D86C06DE-3B98-4569-899C-FB137DA47BC1}"/>
              </a:ext>
            </a:extLst>
          </p:cNvPr>
          <p:cNvSpPr txBox="1"/>
          <p:nvPr/>
        </p:nvSpPr>
        <p:spPr>
          <a:xfrm>
            <a:off x="1211605" y="2446429"/>
            <a:ext cx="5177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Then, 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id="{C80D873A-3045-43D6-BB41-1CA0859C0DAB}"/>
                  </a:ext>
                </a:extLst>
              </p:cNvPr>
              <p:cNvSpPr txBox="1"/>
              <p:nvPr/>
            </p:nvSpPr>
            <p:spPr>
              <a:xfrm>
                <a:off x="1249368" y="2815761"/>
                <a:ext cx="1144352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80D873A-3045-43D6-BB41-1CA0859C0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68" y="2815761"/>
                <a:ext cx="1144352" cy="8917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id="{382B18AD-4A91-4CEC-9116-2CC85100A27F}"/>
                  </a:ext>
                </a:extLst>
              </p:cNvPr>
              <p:cNvSpPr txBox="1"/>
              <p:nvPr/>
            </p:nvSpPr>
            <p:spPr>
              <a:xfrm>
                <a:off x="2362326" y="3819239"/>
                <a:ext cx="1785553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sup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82B18AD-4A91-4CEC-9116-2CC85100A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26" y="3819239"/>
                <a:ext cx="1785553" cy="8917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xmlns="" id="{8BC31ED6-6F3F-4B62-87AA-D1D8DF606694}"/>
                  </a:ext>
                </a:extLst>
              </p:cNvPr>
              <p:cNvSpPr txBox="1"/>
              <p:nvPr/>
            </p:nvSpPr>
            <p:spPr>
              <a:xfrm>
                <a:off x="2362326" y="4823042"/>
                <a:ext cx="15627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0.996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C31ED6-6F3F-4B62-87AA-D1D8DF606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26" y="4823042"/>
                <a:ext cx="1562735" cy="276999"/>
              </a:xfrm>
              <a:prstGeom prst="rect">
                <a:avLst/>
              </a:prstGeom>
              <a:blipFill>
                <a:blip r:embed="rId7"/>
                <a:stretch>
                  <a:fillRect l="-1172" t="-4348" r="-78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xmlns="" id="{D114CF12-627C-4316-9594-7400CBD4B281}"/>
                  </a:ext>
                </a:extLst>
              </p:cNvPr>
              <p:cNvSpPr txBox="1"/>
              <p:nvPr/>
            </p:nvSpPr>
            <p:spPr>
              <a:xfrm>
                <a:off x="2362326" y="5331400"/>
                <a:ext cx="7293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≈0.33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114CF12-627C-4316-9594-7400CBD4B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26" y="5331400"/>
                <a:ext cx="729367" cy="276999"/>
              </a:xfrm>
              <a:prstGeom prst="rect">
                <a:avLst/>
              </a:prstGeom>
              <a:blipFill>
                <a:blip r:embed="rId8"/>
                <a:stretch>
                  <a:fillRect l="-2521" r="-756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BF2442BB-F4DA-4A7E-A484-6FED6FC45442}"/>
                  </a:ext>
                </a:extLst>
              </p:cNvPr>
              <p:cNvSpPr txBox="1"/>
              <p:nvPr/>
            </p:nvSpPr>
            <p:spPr>
              <a:xfrm>
                <a:off x="4894643" y="2559502"/>
                <a:ext cx="3464939" cy="85425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lIns="0" tIns="72000" rIns="0" bIns="72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6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nary>
                            <m:naryPr>
                              <m:chr m:val="⋃"/>
                              <m:ctrlPr>
                                <a:rPr lang="zh-CN" altLang="en-US" sz="16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ctrl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nary>
                            <m:naryPr>
                              <m:chr m:val="⋂"/>
                              <m:ctrlP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16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6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2442BB-F4DA-4A7E-A484-6FED6FC45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643" y="2559502"/>
                <a:ext cx="3464939" cy="8542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xmlns="" id="{55C7126C-4046-4952-8622-8EC32BFA24A5}"/>
                  </a:ext>
                </a:extLst>
              </p:cNvPr>
              <p:cNvSpPr txBox="1"/>
              <p:nvPr/>
            </p:nvSpPr>
            <p:spPr>
              <a:xfrm>
                <a:off x="2362326" y="2776926"/>
                <a:ext cx="1381596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nary>
                                <m:naryPr>
                                  <m:chr m:val="⋂"/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sup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nary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5C7126C-4046-4952-8622-8EC32BFA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326" y="2776926"/>
                <a:ext cx="1381596" cy="8917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052D1EE0-DDC2-41EE-948C-01B7E3884A62}"/>
              </a:ext>
            </a:extLst>
          </p:cNvPr>
          <p:cNvSpPr txBox="1"/>
          <p:nvPr/>
        </p:nvSpPr>
        <p:spPr>
          <a:xfrm>
            <a:off x="3536481" y="1338115"/>
            <a:ext cx="5145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is the probability of at least person has the virus</a:t>
            </a:r>
          </a:p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只要有一个人有病毒，那么整个混合血就有病毒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12F083B0-1FA0-4A20-A81C-C972F537C64E}"/>
              </a:ext>
            </a:extLst>
          </p:cNvPr>
          <p:cNvSpPr txBox="1"/>
          <p:nvPr/>
        </p:nvSpPr>
        <p:spPr>
          <a:xfrm>
            <a:off x="4956298" y="2261445"/>
            <a:ext cx="33391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De Morgan law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摩根律</a:t>
            </a:r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xmlns="" id="{A9418BA5-52DE-42D0-BBA2-E3A1EAAA70BE}"/>
              </a:ext>
            </a:extLst>
          </p:cNvPr>
          <p:cNvGrpSpPr/>
          <p:nvPr/>
        </p:nvGrpSpPr>
        <p:grpSpPr>
          <a:xfrm>
            <a:off x="4618323" y="3668644"/>
            <a:ext cx="4426710" cy="2248949"/>
            <a:chOff x="4637742" y="3742199"/>
            <a:chExt cx="4426710" cy="1637633"/>
          </a:xfrm>
        </p:grpSpPr>
        <p:sp>
          <p:nvSpPr>
            <p:cNvPr id="422928" name="AutoShape 16"/>
            <p:cNvSpPr>
              <a:spLocks noChangeArrowheads="1"/>
            </p:cNvSpPr>
            <p:nvPr/>
          </p:nvSpPr>
          <p:spPr bwMode="auto">
            <a:xfrm>
              <a:off x="4637742" y="3742199"/>
              <a:ext cx="4426710" cy="1637633"/>
            </a:xfrm>
            <a:prstGeom prst="wedgeRectCallout">
              <a:avLst>
                <a:gd name="adj1" fmla="val -58969"/>
                <a:gd name="adj2" fmla="val -21237"/>
              </a:avLst>
            </a:prstGeom>
            <a:solidFill>
              <a:schemeClr val="bg1"/>
            </a:solidFill>
            <a:ln w="9525" algn="ctr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spcBef>
                  <a:spcPts val="1800"/>
                </a:spcBef>
                <a:defRPr/>
              </a:pP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  <a:p>
              <a:pPr>
                <a:spcBef>
                  <a:spcPts val="1800"/>
                </a:spcBef>
                <a:defRPr/>
              </a:pP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Based on the real problem, find out whether the events are independent.</a:t>
              </a:r>
            </a:p>
            <a:p>
              <a:pPr>
                <a:spcBef>
                  <a:spcPts val="1200"/>
                </a:spcBef>
                <a:defRPr/>
              </a:pP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Here we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assume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that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rPr>
                <a:t>they are independent.</a:t>
              </a:r>
            </a:p>
            <a:p>
              <a:pPr>
                <a:spcBef>
                  <a:spcPts val="1200"/>
                </a:spcBef>
                <a:defRPr/>
              </a:pP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  <a:p>
              <a:pPr>
                <a:spcBef>
                  <a:spcPct val="0"/>
                </a:spcBef>
                <a:defRPr/>
              </a:pP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  <a:p>
              <a:pPr>
                <a:spcBef>
                  <a:spcPct val="0"/>
                </a:spcBef>
                <a:defRPr/>
              </a:pP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  <a:p>
              <a:pPr>
                <a:spcBef>
                  <a:spcPct val="0"/>
                </a:spcBef>
                <a:defRPr/>
              </a:pPr>
              <a:endParaRPr lang="en-US" altLang="zh-CN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  <a:p>
              <a:pPr>
                <a:spcBef>
                  <a:spcPct val="0"/>
                </a:spcBef>
                <a:defRPr/>
              </a:pP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STXinwei" panose="02010800040101010101" pitchFamily="2" charset="-122"/>
                <a:ea typeface="STXinwei" panose="02010800040101010101" pitchFamily="2" charset="-122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xmlns="" id="{9001518B-1F96-459B-8BEA-B8E386EDC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69214" y="4456277"/>
              <a:ext cx="4064018" cy="307342"/>
            </a:xfrm>
            <a:prstGeom prst="rect">
              <a:avLst/>
            </a:prstGeom>
          </p:spPr>
        </p:pic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xmlns="" id="{66857331-8AD5-4701-BDAC-70568F0BC1A5}"/>
              </a:ext>
            </a:extLst>
          </p:cNvPr>
          <p:cNvSpPr txBox="1"/>
          <p:nvPr/>
        </p:nvSpPr>
        <p:spPr>
          <a:xfrm>
            <a:off x="191135" y="5878447"/>
            <a:ext cx="4682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Question: How to plan the tests?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xmlns="" id="{6A92CFCC-2791-46D3-A8F5-5B7AA7280717}"/>
                  </a:ext>
                </a:extLst>
              </p:cNvPr>
              <p:cNvSpPr txBox="1"/>
              <p:nvPr/>
            </p:nvSpPr>
            <p:spPr>
              <a:xfrm>
                <a:off x="4603281" y="4985298"/>
                <a:ext cx="4426710" cy="9233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If A, B are independent, then A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zh-CN" alt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zh-CN" altLang="en-US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independent,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zh-CN" altLang="en-US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zh-CN" altLang="en-US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are</a:t>
                </a:r>
                <a:r>
                  <a:rPr lang="zh-CN" altLang="en-US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independent.</a:t>
                </a:r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  <a:latin typeface="STXinwei" panose="02010800040101010101" pitchFamily="2" charset="-122"/>
                  <a:ea typeface="STXinwei" panose="02010800040101010101" pitchFamily="2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A92CFCC-2791-46D3-A8F5-5B7AA7280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281" y="4985298"/>
                <a:ext cx="4426710" cy="923330"/>
              </a:xfrm>
              <a:prstGeom prst="rect">
                <a:avLst/>
              </a:prstGeom>
              <a:blipFill>
                <a:blip r:embed="rId12"/>
                <a:stretch>
                  <a:fillRect l="-1102" t="-3311" b="-1059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9" grpId="0"/>
      <p:bldP spid="3" grpId="0"/>
      <p:bldP spid="4" grpId="0"/>
      <p:bldP spid="5" grpId="0"/>
      <p:bldP spid="6" grpId="0"/>
      <p:bldP spid="7" grpId="0"/>
      <p:bldP spid="8" grpId="0"/>
      <p:bldP spid="9" grpId="0"/>
      <p:bldP spid="26" grpId="0"/>
      <p:bldP spid="10" grpId="0" animBg="1"/>
      <p:bldP spid="11" grpId="0"/>
      <p:bldP spid="16" grpId="0"/>
      <p:bldP spid="17" grpId="0"/>
      <p:bldP spid="25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398"/>
          <p:cNvSpPr>
            <a:spLocks noChangeShapeType="1"/>
          </p:cNvSpPr>
          <p:nvPr/>
        </p:nvSpPr>
        <p:spPr bwMode="auto">
          <a:xfrm>
            <a:off x="612242" y="4984651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Line 399"/>
          <p:cNvSpPr>
            <a:spLocks noChangeShapeType="1"/>
          </p:cNvSpPr>
          <p:nvPr/>
        </p:nvSpPr>
        <p:spPr bwMode="auto">
          <a:xfrm>
            <a:off x="8389404" y="4984651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468"/>
          <p:cNvSpPr>
            <a:spLocks noChangeShapeType="1"/>
          </p:cNvSpPr>
          <p:nvPr/>
        </p:nvSpPr>
        <p:spPr bwMode="auto">
          <a:xfrm>
            <a:off x="612242" y="5502176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Line 470"/>
          <p:cNvSpPr>
            <a:spLocks noChangeShapeType="1"/>
          </p:cNvSpPr>
          <p:nvPr/>
        </p:nvSpPr>
        <p:spPr bwMode="auto">
          <a:xfrm>
            <a:off x="8389404" y="5502176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 cap="sq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xmlns="" id="{0340B0AF-CE5F-4EA9-ADFD-89067472E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776400"/>
            <a:ext cx="88407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Example: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Assume that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probability for a gun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to hit a target is p=0.001, what is the probability of hitting the target if n independent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tx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guns shoot at the same time?</a:t>
            </a: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9E537A5F-E28F-4E8D-BDB4-C429B207631B}"/>
              </a:ext>
            </a:extLst>
          </p:cNvPr>
          <p:cNvSpPr txBox="1"/>
          <p:nvPr/>
        </p:nvSpPr>
        <p:spPr>
          <a:xfrm>
            <a:off x="363042" y="1887510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Answer: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D06F0909-624D-4F4E-94F9-985736C8845E}"/>
                  </a:ext>
                </a:extLst>
              </p:cNvPr>
              <p:cNvSpPr txBox="1"/>
              <p:nvPr/>
            </p:nvSpPr>
            <p:spPr>
              <a:xfrm>
                <a:off x="1376141" y="1890189"/>
                <a:ext cx="4977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ith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gu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hits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the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target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latin typeface="Cambria Math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06F0909-624D-4F4E-94F9-985736C88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141" y="1890189"/>
                <a:ext cx="4977838" cy="369332"/>
              </a:xfrm>
              <a:prstGeom prst="rect">
                <a:avLst/>
              </a:prstGeom>
              <a:blipFill>
                <a:blip r:embed="rId2"/>
                <a:stretch>
                  <a:fillRect l="-1103" t="-655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id="{C77A89E2-262F-438A-8D24-9F02A31C6EFE}"/>
                  </a:ext>
                </a:extLst>
              </p:cNvPr>
              <p:cNvSpPr txBox="1"/>
              <p:nvPr/>
            </p:nvSpPr>
            <p:spPr>
              <a:xfrm>
                <a:off x="1376141" y="2259521"/>
                <a:ext cx="5814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We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are independent from each other.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77A89E2-262F-438A-8D24-9F02A31C6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141" y="2259521"/>
                <a:ext cx="5814990" cy="369332"/>
              </a:xfrm>
              <a:prstGeom prst="rect">
                <a:avLst/>
              </a:prstGeom>
              <a:blipFill>
                <a:blip r:embed="rId3"/>
                <a:stretch>
                  <a:fillRect l="-943" t="-8333" r="-943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6BAC2565-5EE2-41A2-BC98-EED4EF3761D9}"/>
              </a:ext>
            </a:extLst>
          </p:cNvPr>
          <p:cNvSpPr txBox="1"/>
          <p:nvPr/>
        </p:nvSpPr>
        <p:spPr>
          <a:xfrm>
            <a:off x="1376141" y="274435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Thus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id="{E89D531C-87D5-47E1-A52E-B0E6B6B4AD65}"/>
                  </a:ext>
                </a:extLst>
              </p:cNvPr>
              <p:cNvSpPr txBox="1"/>
              <p:nvPr/>
            </p:nvSpPr>
            <p:spPr>
              <a:xfrm>
                <a:off x="3078774" y="3687251"/>
                <a:ext cx="1752211" cy="760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chr m:val="⋂"/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b="0" i="1" smtClean="0">
                                          <a:latin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89D531C-87D5-47E1-A52E-B0E6B6B4A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774" y="3687251"/>
                <a:ext cx="1752211" cy="760657"/>
              </a:xfrm>
              <a:prstGeom prst="rect">
                <a:avLst/>
              </a:prstGeom>
              <a:blipFill>
                <a:blip r:embed="rId4"/>
                <a:stretch>
                  <a:fillRect b="-16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xmlns="" id="{CB2C269A-F761-476C-9B0E-31CC909E8915}"/>
                  </a:ext>
                </a:extLst>
              </p:cNvPr>
              <p:cNvSpPr txBox="1"/>
              <p:nvPr/>
            </p:nvSpPr>
            <p:spPr>
              <a:xfrm>
                <a:off x="5047732" y="4005284"/>
                <a:ext cx="1386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0.999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2C269A-F761-476C-9B0E-31CC909E8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732" y="4005284"/>
                <a:ext cx="1386212" cy="276999"/>
              </a:xfrm>
              <a:prstGeom prst="rect">
                <a:avLst/>
              </a:prstGeom>
              <a:blipFill>
                <a:blip r:embed="rId5"/>
                <a:stretch>
                  <a:fillRect l="-881" r="-441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xmlns="" id="{197F5AFF-7711-4F82-8EE4-E9A323E59E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6793881"/>
                  </p:ext>
                </p:extLst>
              </p:nvPr>
            </p:nvGraphicFramePr>
            <p:xfrm>
              <a:off x="1598873" y="487257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xmlns="" val="273028866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val="2506974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val="375901757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val="356121524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val="73408517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xmlns="" val="7303485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2000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3000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4000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5000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318610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0.632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0.865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0.950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0.982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0.993</a:t>
                          </a:r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567513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197F5AFF-7711-4F82-8EE4-E9A323E59E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6793881"/>
                  </p:ext>
                </p:extLst>
              </p:nvPr>
            </p:nvGraphicFramePr>
            <p:xfrm>
              <a:off x="1598873" y="487257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73028866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506974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75901757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56121524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3408517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7303485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/>
                            <a:t>n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1000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2000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3000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4000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5000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86106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99" t="-104918" r="-501796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0.632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0.865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0.950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0.982</a:t>
                          </a:r>
                          <a:endParaRPr lang="zh-CN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600" dirty="0"/>
                            <a:t>0.993</a:t>
                          </a:r>
                          <a:endParaRPr lang="zh-CN" altLang="en-US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7513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6564" name="AutoShape 516"/>
          <p:cNvSpPr>
            <a:spLocks noChangeArrowheads="1"/>
          </p:cNvSpPr>
          <p:nvPr/>
        </p:nvSpPr>
        <p:spPr bwMode="auto">
          <a:xfrm>
            <a:off x="1264714" y="5902114"/>
            <a:ext cx="7006720" cy="851298"/>
          </a:xfrm>
          <a:prstGeom prst="wedgeRectCallout">
            <a:avLst>
              <a:gd name="adj1" fmla="val -5998"/>
              <a:gd name="adj2" fmla="val -86700"/>
            </a:avLst>
          </a:prstGeom>
          <a:solidFill>
            <a:schemeClr val="bg1"/>
          </a:solidFill>
          <a:ln w="9525" algn="ctr">
            <a:solidFill>
              <a:schemeClr val="folHlink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If we increase the number of experiments (guns), no matter how low the probability of hitting the target is, the event (hitting the target) will happen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with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high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华文新魏" pitchFamily="2" charset="-122"/>
                <a:ea typeface="华文新魏" pitchFamily="2" charset="-122"/>
              </a:rPr>
              <a:t>probability.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华文新魏" pitchFamily="2" charset="-122"/>
              <a:ea typeface="华文新魏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98BE4B87-7D01-44D2-8526-3C35862DEED4}"/>
              </a:ext>
            </a:extLst>
          </p:cNvPr>
          <p:cNvGrpSpPr/>
          <p:nvPr/>
        </p:nvGrpSpPr>
        <p:grpSpPr>
          <a:xfrm>
            <a:off x="2565256" y="2716633"/>
            <a:ext cx="3898736" cy="760657"/>
            <a:chOff x="2565256" y="2229320"/>
            <a:chExt cx="3898736" cy="7606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xmlns="" id="{1C232BD0-EC90-4EFB-8729-F4D42D336DD7}"/>
                    </a:ext>
                  </a:extLst>
                </p:cNvPr>
                <p:cNvSpPr txBox="1"/>
                <p:nvPr/>
              </p:nvSpPr>
              <p:spPr>
                <a:xfrm>
                  <a:off x="2565256" y="2229320"/>
                  <a:ext cx="3898736" cy="76065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⋃"/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=1−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dPr>
                          <m:e>
                            <m:nary>
                              <m:naryPr>
                                <m:chr m:val="⋃"/>
                                <m:ctrlPr>
                                  <a:rPr lang="en-US" altLang="zh-CN" i="1">
                                    <a:latin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C232BD0-EC90-4EFB-8729-F4D42D336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256" y="2229320"/>
                  <a:ext cx="3898736" cy="760657"/>
                </a:xfrm>
                <a:prstGeom prst="rect">
                  <a:avLst/>
                </a:prstGeom>
                <a:blipFill>
                  <a:blip r:embed="rId8"/>
                  <a:stretch>
                    <a:fillRect b="-177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接连接符 10"/>
            <p:cNvCxnSpPr>
              <a:cxnSpLocks/>
            </p:cNvCxnSpPr>
            <p:nvPr/>
          </p:nvCxnSpPr>
          <p:spPr>
            <a:xfrm>
              <a:off x="5431260" y="2231108"/>
              <a:ext cx="619157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xmlns="" id="{B0C8A896-0246-4610-8E0E-B647558B04B7}"/>
              </a:ext>
            </a:extLst>
          </p:cNvPr>
          <p:cNvSpPr txBox="1"/>
          <p:nvPr/>
        </p:nvSpPr>
        <p:spPr>
          <a:xfrm>
            <a:off x="225426" y="1392232"/>
            <a:ext cx="8840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 is the probability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that </a:t>
            </a:r>
            <a:r>
              <a:rPr lang="en-US" altLang="zh-CN" sz="18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at least a gun hits the target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只要有一杆枪射中，那么就打中）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C464F3A-7523-4E34-A1D6-94C8BFB9AEE0}"/>
              </a:ext>
            </a:extLst>
          </p:cNvPr>
          <p:cNvSpPr/>
          <p:nvPr/>
        </p:nvSpPr>
        <p:spPr>
          <a:xfrm>
            <a:off x="4479794" y="2546993"/>
            <a:ext cx="2017259" cy="115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8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9" grpId="0"/>
      <p:bldP spid="386564" grpId="0" animBg="1"/>
      <p:bldP spid="18" grpId="0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203138D5-1196-4664-80CB-DE9B7D902B75}"/>
              </a:ext>
            </a:extLst>
          </p:cNvPr>
          <p:cNvSpPr txBox="1"/>
          <p:nvPr/>
        </p:nvSpPr>
        <p:spPr>
          <a:xfrm>
            <a:off x="39926" y="550627"/>
            <a:ext cx="9104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Exercise: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There are three antiaircraft guns shooting at an aircraft at the same time. The probabilities of the guns hitting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target are 0.4, 0.5, 0.7. The probability that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aircraft gets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shot down after being shot by one gun is 0.2, by two guns 0.6, by three guns 1. What is the probability that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aircraft gets shot down?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EDCA992C-1592-4AD2-A5EE-338C03D3C398}"/>
              </a:ext>
            </a:extLst>
          </p:cNvPr>
          <p:cNvSpPr txBox="1"/>
          <p:nvPr/>
        </p:nvSpPr>
        <p:spPr>
          <a:xfrm>
            <a:off x="390237" y="1960093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Answer: 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68539D9A-B8E3-48EF-9CB7-57622E5D4C24}"/>
              </a:ext>
            </a:extLst>
          </p:cNvPr>
          <p:cNvSpPr txBox="1"/>
          <p:nvPr/>
        </p:nvSpPr>
        <p:spPr>
          <a:xfrm>
            <a:off x="1280688" y="196756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Let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xmlns="" id="{44793315-EAE1-430B-8D7A-44F8D816F5B9}"/>
                  </a:ext>
                </a:extLst>
              </p:cNvPr>
              <p:cNvSpPr txBox="1"/>
              <p:nvPr/>
            </p:nvSpPr>
            <p:spPr>
              <a:xfrm>
                <a:off x="1735236" y="1988044"/>
                <a:ext cx="35160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the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aircraft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being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shot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down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4793315-EAE1-430B-8D7A-44F8D816F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236" y="1988044"/>
                <a:ext cx="3516026" cy="276999"/>
              </a:xfrm>
              <a:prstGeom prst="rect">
                <a:avLst/>
              </a:prstGeom>
              <a:blipFill>
                <a:blip r:embed="rId3"/>
                <a:stretch>
                  <a:fillRect l="-1215" t="-2174" r="-2257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xmlns="" id="{EEE6CA3E-88FE-4F0D-9A65-FE5689DC3733}"/>
                  </a:ext>
                </a:extLst>
              </p:cNvPr>
              <p:cNvSpPr txBox="1"/>
              <p:nvPr/>
            </p:nvSpPr>
            <p:spPr>
              <a:xfrm>
                <a:off x="1384532" y="2330087"/>
                <a:ext cx="72381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aircraft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being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hit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by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guns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=0, 1, 2, 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EE6CA3E-88FE-4F0D-9A65-FE5689DC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532" y="2330087"/>
                <a:ext cx="7238131" cy="276999"/>
              </a:xfrm>
              <a:prstGeom prst="rect">
                <a:avLst/>
              </a:prstGeom>
              <a:blipFill>
                <a:blip r:embed="rId4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id="{F7C04110-F128-4DA7-B8A5-FC68E7B49A08}"/>
                  </a:ext>
                </a:extLst>
              </p:cNvPr>
              <p:cNvSpPr txBox="1"/>
              <p:nvPr/>
            </p:nvSpPr>
            <p:spPr>
              <a:xfrm>
                <a:off x="1645101" y="3797714"/>
                <a:ext cx="340589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7C04110-F128-4DA7-B8A5-FC68E7B49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101" y="3797714"/>
                <a:ext cx="3405893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xmlns="" id="{2871F815-31DA-467C-969C-0AAFE7BCDC2E}"/>
                  </a:ext>
                </a:extLst>
              </p:cNvPr>
              <p:cNvSpPr txBox="1"/>
              <p:nvPr/>
            </p:nvSpPr>
            <p:spPr>
              <a:xfrm>
                <a:off x="5150916" y="3797713"/>
                <a:ext cx="147634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871F815-31DA-467C-969C-0AAFE7BCD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916" y="3797713"/>
                <a:ext cx="1476341" cy="276999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xmlns="" id="{FF28B802-4FCE-4C6A-A42B-F79F62EB25BA}"/>
                  </a:ext>
                </a:extLst>
              </p:cNvPr>
              <p:cNvSpPr txBox="1"/>
              <p:nvPr/>
            </p:nvSpPr>
            <p:spPr>
              <a:xfrm>
                <a:off x="1678970" y="4212383"/>
                <a:ext cx="3324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F28B802-4FCE-4C6A-A42B-F79F62EB2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970" y="4212383"/>
                <a:ext cx="3324628" cy="276999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xmlns="" id="{4FA7AC4F-0BE8-451F-9C28-B4AA1060ED74}"/>
                  </a:ext>
                </a:extLst>
              </p:cNvPr>
              <p:cNvSpPr txBox="1"/>
              <p:nvPr/>
            </p:nvSpPr>
            <p:spPr>
              <a:xfrm>
                <a:off x="5150917" y="4207651"/>
                <a:ext cx="147634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=0.41</m:t>
                      </m:r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4FA7AC4F-0BE8-451F-9C28-B4AA1060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917" y="4207651"/>
                <a:ext cx="1476340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xmlns="" id="{47BD27D4-7613-403B-9F22-7EEDA2C6F7DB}"/>
                  </a:ext>
                </a:extLst>
              </p:cNvPr>
              <p:cNvSpPr txBox="1"/>
              <p:nvPr/>
            </p:nvSpPr>
            <p:spPr>
              <a:xfrm>
                <a:off x="1737649" y="4588031"/>
                <a:ext cx="1360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7BD27D4-7613-403B-9F22-7EEDA2C6F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649" y="4588031"/>
                <a:ext cx="1360244" cy="276999"/>
              </a:xfrm>
              <a:prstGeom prst="rect">
                <a:avLst/>
              </a:prstGeom>
              <a:blipFill>
                <a:blip r:embed="rId9"/>
                <a:stretch>
                  <a:fillRect l="-277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xmlns="" id="{B4CC4D65-9102-4E74-815B-BEC76AD18201}"/>
                  </a:ext>
                </a:extLst>
              </p:cNvPr>
              <p:cNvSpPr txBox="1"/>
              <p:nvPr/>
            </p:nvSpPr>
            <p:spPr>
              <a:xfrm>
                <a:off x="5139486" y="4578567"/>
                <a:ext cx="317688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0.4∗0.5∗0.7= </m:t>
                      </m:r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0.14</m:t>
                      </m:r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B4CC4D65-9102-4E74-815B-BEC76AD18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486" y="4578567"/>
                <a:ext cx="3176881" cy="276999"/>
              </a:xfrm>
              <a:prstGeom prst="rect">
                <a:avLst/>
              </a:prstGeom>
              <a:blipFill>
                <a:blip r:embed="rId10"/>
                <a:stretch>
                  <a:fillRect t="-909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E4345184-BC28-4333-BCAD-7ABAFFD4FA73}"/>
              </a:ext>
            </a:extLst>
          </p:cNvPr>
          <p:cNvSpPr txBox="1"/>
          <p:nvPr/>
        </p:nvSpPr>
        <p:spPr>
          <a:xfrm>
            <a:off x="825674" y="5427584"/>
            <a:ext cx="2962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By Law of Total Probability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500290C7-A3B9-405F-A35D-79D4DB1C3651}"/>
                  </a:ext>
                </a:extLst>
              </p:cNvPr>
              <p:cNvSpPr txBox="1"/>
              <p:nvPr/>
            </p:nvSpPr>
            <p:spPr>
              <a:xfrm>
                <a:off x="4469917" y="5198985"/>
                <a:ext cx="2536527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00290C7-A3B9-405F-A35D-79D4DB1C3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917" y="5198985"/>
                <a:ext cx="2536527" cy="7789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C4DA2268-13E8-49F7-B298-68B1251031D8}"/>
                  </a:ext>
                </a:extLst>
              </p:cNvPr>
              <p:cNvSpPr txBox="1"/>
              <p:nvPr/>
            </p:nvSpPr>
            <p:spPr>
              <a:xfrm>
                <a:off x="583147" y="6542015"/>
                <a:ext cx="54983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1" smtClean="0">
                          <a:latin typeface="Cambria Math"/>
                        </a:rPr>
                        <m:t>∗0.09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+0.2∗0.36+0.6∗0.41+1∗0.14=0.458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4DA2268-13E8-49F7-B298-68B125103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47" y="6542015"/>
                <a:ext cx="5498300" cy="276999"/>
              </a:xfrm>
              <a:prstGeom prst="rect">
                <a:avLst/>
              </a:prstGeom>
              <a:blipFill>
                <a:blip r:embed="rId12"/>
                <a:stretch>
                  <a:fillRect r="-111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6">
                <a:extLst>
                  <a:ext uri="{FF2B5EF4-FFF2-40B4-BE49-F238E27FC236}">
                    <a16:creationId xmlns:a16="http://schemas.microsoft.com/office/drawing/2014/main" xmlns="" id="{F7C04110-F128-4DA7-B8A5-FC68E7B49A08}"/>
                  </a:ext>
                </a:extLst>
              </p:cNvPr>
              <p:cNvSpPr txBox="1"/>
              <p:nvPr/>
            </p:nvSpPr>
            <p:spPr>
              <a:xfrm>
                <a:off x="1797657" y="3401456"/>
                <a:ext cx="268623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文本框 6">
                <a:extLst>
                  <a:ext uri="{FF2B5EF4-FFF2-40B4-BE49-F238E27FC236}">
                    <a16:creationId xmlns:a16="http://schemas.microsoft.com/office/drawing/2014/main" id="{F7C04110-F128-4DA7-B8A5-FC68E7B49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57" y="3401456"/>
                <a:ext cx="2686235" cy="276999"/>
              </a:xfrm>
              <a:prstGeom prst="rect">
                <a:avLst/>
              </a:prstGeom>
              <a:blipFill>
                <a:blip r:embed="rId13"/>
                <a:stretch>
                  <a:fillRect l="-283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7">
                <a:extLst>
                  <a:ext uri="{FF2B5EF4-FFF2-40B4-BE49-F238E27FC236}">
                    <a16:creationId xmlns:a16="http://schemas.microsoft.com/office/drawing/2014/main" xmlns="" id="{2871F815-31DA-467C-969C-0AAFE7BCDC2E}"/>
                  </a:ext>
                </a:extLst>
              </p:cNvPr>
              <p:cNvSpPr txBox="1"/>
              <p:nvPr/>
            </p:nvSpPr>
            <p:spPr>
              <a:xfrm>
                <a:off x="5176733" y="3401455"/>
                <a:ext cx="30914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0.6∗0.5∗0.3=</m:t>
                      </m:r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/>
                        </a:rPr>
                        <m:t>09</m:t>
                      </m:r>
                    </m:oMath>
                  </m:oMathPara>
                </a14:m>
                <a:endParaRPr lang="zh-CN" alt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文本框 7">
                <a:extLst>
                  <a:ext uri="{FF2B5EF4-FFF2-40B4-BE49-F238E27FC236}">
                    <a16:creationId xmlns:a16="http://schemas.microsoft.com/office/drawing/2014/main" id="{2871F815-31DA-467C-969C-0AAFE7BCD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733" y="3401455"/>
                <a:ext cx="3091423" cy="276999"/>
              </a:xfrm>
              <a:prstGeom prst="rect">
                <a:avLst/>
              </a:prstGeom>
              <a:blipFill>
                <a:blip r:embed="rId14"/>
                <a:stretch>
                  <a:fillRect l="-41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xmlns="" id="{A7701ADB-930E-4580-9088-6B4BE55C3532}"/>
                  </a:ext>
                </a:extLst>
              </p:cNvPr>
              <p:cNvSpPr txBox="1"/>
              <p:nvPr/>
            </p:nvSpPr>
            <p:spPr>
              <a:xfrm>
                <a:off x="552360" y="6071660"/>
                <a:ext cx="77055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7701ADB-930E-4580-9088-6B4BE55C3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360" y="6071660"/>
                <a:ext cx="7705571" cy="276999"/>
              </a:xfrm>
              <a:prstGeom prst="rect">
                <a:avLst/>
              </a:prstGeom>
              <a:blipFill>
                <a:blip r:embed="rId15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xmlns="" id="{F26E433E-43DC-43C6-97D7-7DBF889CA028}"/>
                  </a:ext>
                </a:extLst>
              </p:cNvPr>
              <p:cNvSpPr/>
              <p:nvPr/>
            </p:nvSpPr>
            <p:spPr>
              <a:xfrm>
                <a:off x="1659554" y="2944913"/>
                <a:ext cx="538800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US" altLang="zh-CN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;  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;  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.</a:t>
                </a:r>
                <a:endParaRPr lang="zh-CN" alt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26E433E-43DC-43C6-97D7-7DBF889CA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554" y="2944913"/>
                <a:ext cx="5388009" cy="369332"/>
              </a:xfrm>
              <a:prstGeom prst="rect">
                <a:avLst/>
              </a:prstGeom>
              <a:blipFill>
                <a:blip r:embed="rId16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A603E7EF-8E50-42B6-8F56-E223286E5F59}"/>
              </a:ext>
            </a:extLst>
          </p:cNvPr>
          <p:cNvSpPr/>
          <p:nvPr/>
        </p:nvSpPr>
        <p:spPr>
          <a:xfrm>
            <a:off x="3162040" y="3010676"/>
            <a:ext cx="457895" cy="24676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4899620E-D666-4FFC-A137-409D7F4795DE}"/>
              </a:ext>
            </a:extLst>
          </p:cNvPr>
          <p:cNvSpPr/>
          <p:nvPr/>
        </p:nvSpPr>
        <p:spPr>
          <a:xfrm>
            <a:off x="4732872" y="3001655"/>
            <a:ext cx="487896" cy="2430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8730731A-6CBC-460C-B93B-7907FD7A0F19}"/>
              </a:ext>
            </a:extLst>
          </p:cNvPr>
          <p:cNvSpPr/>
          <p:nvPr/>
        </p:nvSpPr>
        <p:spPr>
          <a:xfrm>
            <a:off x="6397981" y="2975161"/>
            <a:ext cx="649582" cy="2870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8730731A-6CBC-460C-B93B-7907FD7A0F19}"/>
              </a:ext>
            </a:extLst>
          </p:cNvPr>
          <p:cNvSpPr/>
          <p:nvPr/>
        </p:nvSpPr>
        <p:spPr>
          <a:xfrm>
            <a:off x="7381479" y="2383051"/>
            <a:ext cx="1473157" cy="2870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31">
                <a:extLst>
                  <a:ext uri="{FF2B5EF4-FFF2-40B4-BE49-F238E27FC236}">
                    <a16:creationId xmlns:a16="http://schemas.microsoft.com/office/drawing/2014/main" xmlns="" id="{D746E1FC-94DA-EA4C-A237-2F6633198FFD}"/>
                  </a:ext>
                </a:extLst>
              </p:cNvPr>
              <p:cNvSpPr txBox="1"/>
              <p:nvPr/>
            </p:nvSpPr>
            <p:spPr>
              <a:xfrm>
                <a:off x="1348090" y="2680199"/>
                <a:ext cx="6447819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aircraft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being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hit</m:t>
                          </m:r>
                          <m:r>
                            <a:rPr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by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gun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=1, 2, 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文本框 31">
                <a:extLst>
                  <a:ext uri="{FF2B5EF4-FFF2-40B4-BE49-F238E27FC236}">
                    <a16:creationId xmlns:a16="http://schemas.microsoft.com/office/drawing/2014/main" id="{D746E1FC-94DA-EA4C-A237-2F6633198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090" y="2680199"/>
                <a:ext cx="6447819" cy="299313"/>
              </a:xfrm>
              <a:prstGeom prst="rect">
                <a:avLst/>
              </a:prstGeom>
              <a:blipFill>
                <a:blip r:embed="rId17"/>
                <a:stretch>
                  <a:fillRect t="-2041" b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F193DA9E-94D0-444D-A8D2-3CA5302092F7}"/>
              </a:ext>
            </a:extLst>
          </p:cNvPr>
          <p:cNvSpPr/>
          <p:nvPr/>
        </p:nvSpPr>
        <p:spPr>
          <a:xfrm>
            <a:off x="6766271" y="2724025"/>
            <a:ext cx="1473157" cy="28707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xmlns="" id="{F1B4BCE0-CBC4-434C-B6E0-6E1967D49531}"/>
                  </a:ext>
                </a:extLst>
              </p:cNvPr>
              <p:cNvSpPr txBox="1"/>
              <p:nvPr/>
            </p:nvSpPr>
            <p:spPr>
              <a:xfrm>
                <a:off x="5446506" y="1956943"/>
                <a:ext cx="374562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1600" b="1" dirty="0">
                    <a:solidFill>
                      <a:schemeClr val="accent2">
                        <a:lumMod val="75000"/>
                      </a:schemeClr>
                    </a:solidFill>
                  </a:rPr>
                  <a:t> are Partitions of the sample space</a:t>
                </a:r>
                <a:endParaRPr lang="zh-CN" altLang="en-US" sz="16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1B4BCE0-CBC4-434C-B6E0-6E1967D49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506" y="1956943"/>
                <a:ext cx="3745620" cy="338554"/>
              </a:xfrm>
              <a:prstGeom prst="rect">
                <a:avLst/>
              </a:prstGeom>
              <a:blipFill>
                <a:blip r:embed="rId18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8169B879-F22F-411C-8B18-40A08CAEC4BE}"/>
              </a:ext>
            </a:extLst>
          </p:cNvPr>
          <p:cNvSpPr txBox="1"/>
          <p:nvPr/>
        </p:nvSpPr>
        <p:spPr>
          <a:xfrm>
            <a:off x="6397981" y="1415877"/>
            <a:ext cx="2545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“Law of Total Probability”</a:t>
            </a:r>
          </a:p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&amp; independence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xmlns="" id="{7078575E-710C-457A-8071-E0E25FFE0EB6}"/>
              </a:ext>
            </a:extLst>
          </p:cNvPr>
          <p:cNvSpPr txBox="1"/>
          <p:nvPr/>
        </p:nvSpPr>
        <p:spPr>
          <a:xfrm>
            <a:off x="0" y="3216600"/>
            <a:ext cx="17976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Each gun shooting the aircraft is independent to each other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832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32" grpId="0"/>
      <p:bldP spid="7" grpId="0"/>
      <p:bldP spid="8" grpId="0"/>
      <p:bldP spid="9" grpId="0"/>
      <p:bldP spid="38" grpId="0"/>
      <p:bldP spid="10" grpId="0"/>
      <p:bldP spid="40" grpId="0"/>
      <p:bldP spid="11" grpId="0"/>
      <p:bldP spid="12" grpId="0"/>
      <p:bldP spid="13" grpId="0"/>
      <p:bldP spid="19" grpId="0"/>
      <p:bldP spid="20" grpId="0"/>
      <p:bldP spid="22" grpId="0"/>
      <p:bldP spid="14" grpId="0"/>
      <p:bldP spid="16" grpId="0" animBg="1"/>
      <p:bldP spid="25" grpId="0" animBg="1"/>
      <p:bldP spid="26" grpId="0" animBg="1"/>
      <p:bldP spid="27" grpId="0" animBg="1"/>
      <p:bldP spid="28" grpId="0"/>
      <p:bldP spid="29" grpId="0" animBg="1"/>
      <p:bldP spid="6" grpId="0"/>
      <p:bldP spid="30" grpId="0"/>
      <p:bldP spid="31" grpId="0"/>
      <p:bldP spid="3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770" name="Group 2"/>
          <p:cNvGrpSpPr>
            <a:grpSpLocks/>
          </p:cNvGrpSpPr>
          <p:nvPr/>
        </p:nvGrpSpPr>
        <p:grpSpPr bwMode="auto">
          <a:xfrm>
            <a:off x="5971944" y="1685996"/>
            <a:ext cx="2665413" cy="1150938"/>
            <a:chOff x="3742" y="1117"/>
            <a:chExt cx="1679" cy="725"/>
          </a:xfrm>
        </p:grpSpPr>
        <p:sp>
          <p:nvSpPr>
            <p:cNvPr id="8243" name="Rectangle 3"/>
            <p:cNvSpPr>
              <a:spLocks noChangeArrowheads="1"/>
            </p:cNvSpPr>
            <p:nvPr/>
          </p:nvSpPr>
          <p:spPr bwMode="auto">
            <a:xfrm>
              <a:off x="4105" y="1117"/>
              <a:ext cx="363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dirty="0"/>
                <a:t>I</a:t>
              </a:r>
              <a:endParaRPr lang="zh-CN" altLang="en-US" dirty="0"/>
            </a:p>
          </p:txBody>
        </p:sp>
        <p:sp>
          <p:nvSpPr>
            <p:cNvPr id="8244" name="Rectangle 4"/>
            <p:cNvSpPr>
              <a:spLocks noChangeArrowheads="1"/>
            </p:cNvSpPr>
            <p:nvPr/>
          </p:nvSpPr>
          <p:spPr bwMode="auto">
            <a:xfrm>
              <a:off x="4694" y="1117"/>
              <a:ext cx="363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dirty="0"/>
                <a:t>II</a:t>
              </a:r>
              <a:endParaRPr lang="zh-CN" altLang="en-US" dirty="0"/>
            </a:p>
          </p:txBody>
        </p:sp>
        <p:sp>
          <p:nvSpPr>
            <p:cNvPr id="8245" name="Rectangle 5"/>
            <p:cNvSpPr>
              <a:spLocks noChangeArrowheads="1"/>
            </p:cNvSpPr>
            <p:nvPr/>
          </p:nvSpPr>
          <p:spPr bwMode="auto">
            <a:xfrm>
              <a:off x="4105" y="1661"/>
              <a:ext cx="363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dirty="0"/>
                <a:t>III</a:t>
              </a:r>
              <a:endParaRPr lang="zh-CN" altLang="en-US" dirty="0"/>
            </a:p>
          </p:txBody>
        </p:sp>
        <p:sp>
          <p:nvSpPr>
            <p:cNvPr id="8246" name="Rectangle 6"/>
            <p:cNvSpPr>
              <a:spLocks noChangeArrowheads="1"/>
            </p:cNvSpPr>
            <p:nvPr/>
          </p:nvSpPr>
          <p:spPr bwMode="auto">
            <a:xfrm>
              <a:off x="4694" y="1661"/>
              <a:ext cx="363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altLang="zh-CN" dirty="0"/>
                <a:t>IV</a:t>
              </a:r>
              <a:endParaRPr lang="zh-CN" altLang="en-US" dirty="0"/>
            </a:p>
          </p:txBody>
        </p:sp>
        <p:sp>
          <p:nvSpPr>
            <p:cNvPr id="8247" name="Line 7"/>
            <p:cNvSpPr>
              <a:spLocks noChangeShapeType="1"/>
            </p:cNvSpPr>
            <p:nvPr/>
          </p:nvSpPr>
          <p:spPr bwMode="auto">
            <a:xfrm flipH="1">
              <a:off x="3923" y="1207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Line 8"/>
            <p:cNvSpPr>
              <a:spLocks noChangeShapeType="1"/>
            </p:cNvSpPr>
            <p:nvPr/>
          </p:nvSpPr>
          <p:spPr bwMode="auto">
            <a:xfrm flipH="1">
              <a:off x="3923" y="175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Line 9"/>
            <p:cNvSpPr>
              <a:spLocks noChangeShapeType="1"/>
            </p:cNvSpPr>
            <p:nvPr/>
          </p:nvSpPr>
          <p:spPr bwMode="auto">
            <a:xfrm flipH="1">
              <a:off x="4468" y="1207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Line 10"/>
            <p:cNvSpPr>
              <a:spLocks noChangeShapeType="1"/>
            </p:cNvSpPr>
            <p:nvPr/>
          </p:nvSpPr>
          <p:spPr bwMode="auto">
            <a:xfrm flipH="1">
              <a:off x="4468" y="1752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Line 11"/>
            <p:cNvSpPr>
              <a:spLocks noChangeShapeType="1"/>
            </p:cNvSpPr>
            <p:nvPr/>
          </p:nvSpPr>
          <p:spPr bwMode="auto">
            <a:xfrm flipH="1">
              <a:off x="5057" y="1207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Line 12"/>
            <p:cNvSpPr>
              <a:spLocks noChangeShapeType="1"/>
            </p:cNvSpPr>
            <p:nvPr/>
          </p:nvSpPr>
          <p:spPr bwMode="auto">
            <a:xfrm flipH="1">
              <a:off x="5057" y="1752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Line 13"/>
            <p:cNvSpPr>
              <a:spLocks noChangeShapeType="1"/>
            </p:cNvSpPr>
            <p:nvPr/>
          </p:nvSpPr>
          <p:spPr bwMode="auto">
            <a:xfrm>
              <a:off x="3923" y="1207"/>
              <a:ext cx="0" cy="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Line 14"/>
            <p:cNvSpPr>
              <a:spLocks noChangeShapeType="1"/>
            </p:cNvSpPr>
            <p:nvPr/>
          </p:nvSpPr>
          <p:spPr bwMode="auto">
            <a:xfrm>
              <a:off x="5239" y="1207"/>
              <a:ext cx="0" cy="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Line 15"/>
            <p:cNvSpPr>
              <a:spLocks noChangeShapeType="1"/>
            </p:cNvSpPr>
            <p:nvPr/>
          </p:nvSpPr>
          <p:spPr bwMode="auto">
            <a:xfrm flipH="1">
              <a:off x="3742" y="148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Line 16"/>
            <p:cNvSpPr>
              <a:spLocks noChangeShapeType="1"/>
            </p:cNvSpPr>
            <p:nvPr/>
          </p:nvSpPr>
          <p:spPr bwMode="auto">
            <a:xfrm flipH="1">
              <a:off x="5239" y="1480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6819" name="Group 51"/>
          <p:cNvGrpSpPr>
            <a:grpSpLocks/>
          </p:cNvGrpSpPr>
          <p:nvPr/>
        </p:nvGrpSpPr>
        <p:grpSpPr bwMode="auto">
          <a:xfrm>
            <a:off x="2728346" y="4887078"/>
            <a:ext cx="4516438" cy="1322388"/>
            <a:chOff x="1690" y="2728"/>
            <a:chExt cx="2845" cy="833"/>
          </a:xfrm>
        </p:grpSpPr>
        <p:sp>
          <p:nvSpPr>
            <p:cNvPr id="8224" name="Line 52"/>
            <p:cNvSpPr>
              <a:spLocks noChangeShapeType="1"/>
            </p:cNvSpPr>
            <p:nvPr/>
          </p:nvSpPr>
          <p:spPr bwMode="auto">
            <a:xfrm flipH="1">
              <a:off x="2152" y="2952"/>
              <a:ext cx="1808" cy="32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5" name="Line 53"/>
            <p:cNvSpPr>
              <a:spLocks noChangeShapeType="1"/>
            </p:cNvSpPr>
            <p:nvPr/>
          </p:nvSpPr>
          <p:spPr bwMode="auto">
            <a:xfrm flipH="1">
              <a:off x="2829" y="2961"/>
              <a:ext cx="1140" cy="33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6" name="Line 54"/>
            <p:cNvSpPr>
              <a:spLocks noChangeShapeType="1"/>
            </p:cNvSpPr>
            <p:nvPr/>
          </p:nvSpPr>
          <p:spPr bwMode="auto">
            <a:xfrm flipH="1">
              <a:off x="3727" y="2946"/>
              <a:ext cx="243" cy="30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823" name="AutoShape 55"/>
            <p:cNvSpPr>
              <a:spLocks noChangeArrowheads="1"/>
            </p:cNvSpPr>
            <p:nvPr/>
          </p:nvSpPr>
          <p:spPr bwMode="auto">
            <a:xfrm>
              <a:off x="3619" y="2728"/>
              <a:ext cx="916" cy="233"/>
            </a:xfrm>
            <a:prstGeom prst="wedgeRectCallout">
              <a:avLst>
                <a:gd name="adj1" fmla="val -24829"/>
                <a:gd name="adj2" fmla="val 45491"/>
              </a:avLst>
            </a:prstGeom>
            <a:solidFill>
              <a:schemeClr val="bg1"/>
            </a:solidFill>
            <a:ln w="28575" algn="ctr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/>
            <a:lstStyle/>
            <a:p>
              <a:pPr>
                <a:spcBef>
                  <a:spcPct val="0"/>
                </a:spcBef>
                <a:defRPr/>
              </a:pPr>
              <a:r>
                <a:rPr lang="en-US" altLang="zh-CN" dirty="0">
                  <a:solidFill>
                    <a:srgbClr val="C00000"/>
                  </a:solidFill>
                  <a:latin typeface="华文新魏" pitchFamily="2" charset="-122"/>
                  <a:ea typeface="华文新魏" pitchFamily="2" charset="-122"/>
                </a:rPr>
                <a:t>Independent</a:t>
              </a:r>
              <a:endParaRPr lang="zh-CN" altLang="en-US" dirty="0">
                <a:solidFill>
                  <a:srgbClr val="C00000"/>
                </a:solidFill>
                <a:latin typeface="华文新魏" pitchFamily="2" charset="-122"/>
                <a:ea typeface="华文新魏" pitchFamily="2" charset="-122"/>
              </a:endParaRPr>
            </a:p>
          </p:txBody>
        </p:sp>
        <p:sp>
          <p:nvSpPr>
            <p:cNvPr id="8228" name="Oval 56"/>
            <p:cNvSpPr>
              <a:spLocks noChangeArrowheads="1"/>
            </p:cNvSpPr>
            <p:nvPr/>
          </p:nvSpPr>
          <p:spPr bwMode="auto">
            <a:xfrm>
              <a:off x="2400" y="3266"/>
              <a:ext cx="496" cy="256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9" name="Oval 57"/>
            <p:cNvSpPr>
              <a:spLocks noChangeArrowheads="1"/>
            </p:cNvSpPr>
            <p:nvPr/>
          </p:nvSpPr>
          <p:spPr bwMode="auto">
            <a:xfrm>
              <a:off x="1690" y="3252"/>
              <a:ext cx="496" cy="280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0" name="Oval 58"/>
            <p:cNvSpPr>
              <a:spLocks noChangeArrowheads="1"/>
            </p:cNvSpPr>
            <p:nvPr/>
          </p:nvSpPr>
          <p:spPr bwMode="auto">
            <a:xfrm>
              <a:off x="3010" y="3241"/>
              <a:ext cx="1164" cy="320"/>
            </a:xfrm>
            <a:prstGeom prst="ellipse">
              <a:avLst/>
            </a:prstGeom>
            <a:noFill/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06F89B84-0490-4F7A-9A3B-8E30F56C406E}"/>
              </a:ext>
            </a:extLst>
          </p:cNvPr>
          <p:cNvSpPr txBox="1"/>
          <p:nvPr/>
        </p:nvSpPr>
        <p:spPr>
          <a:xfrm>
            <a:off x="209431" y="647028"/>
            <a:ext cx="4459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The concept of system reliability</a:t>
            </a:r>
            <a:endParaRPr lang="zh-CN" altLang="en-US" sz="24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xmlns="" id="{E200581B-056D-4909-A539-AE1E00EA3722}"/>
                  </a:ext>
                </a:extLst>
              </p:cNvPr>
              <p:cNvSpPr txBox="1"/>
              <p:nvPr/>
            </p:nvSpPr>
            <p:spPr>
              <a:xfrm>
                <a:off x="1811280" y="1101811"/>
                <a:ext cx="52014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reliability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works</m:t>
                      </m:r>
                      <m: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normally</m:t>
                      </m:r>
                      <m:r>
                        <a:rPr lang="en-US" altLang="zh-CN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200581B-056D-4909-A539-AE1E00EA3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280" y="1101811"/>
                <a:ext cx="5201424" cy="307777"/>
              </a:xfrm>
              <a:prstGeom prst="rect">
                <a:avLst/>
              </a:prstGeom>
              <a:blipFill>
                <a:blip r:embed="rId3"/>
                <a:stretch>
                  <a:fillRect l="-1055" t="-4000" r="-1524" b="-3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0CE9CE1C-06F3-4600-A86C-BD22CAA2A926}"/>
              </a:ext>
            </a:extLst>
          </p:cNvPr>
          <p:cNvSpPr txBox="1"/>
          <p:nvPr/>
        </p:nvSpPr>
        <p:spPr>
          <a:xfrm>
            <a:off x="289503" y="1553376"/>
            <a:ext cx="53935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Example: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 system has 4 components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as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shown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on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the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right. Assume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that the reliability of each component is </a:t>
            </a:r>
            <a:r>
              <a:rPr lang="en-US" altLang="zh-CN" sz="2000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and the components are independent from each other. What is the reliability of the system? 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8586BD08-8F26-4D79-A6B6-ECF43F229312}"/>
              </a:ext>
            </a:extLst>
          </p:cNvPr>
          <p:cNvSpPr txBox="1"/>
          <p:nvPr/>
        </p:nvSpPr>
        <p:spPr>
          <a:xfrm>
            <a:off x="439215" y="3920759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Answer:</a:t>
            </a:r>
            <a:endParaRPr lang="zh-CN" altLang="en-US" b="1" dirty="0">
              <a:solidFill>
                <a:schemeClr val="accent2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F86BE944-38AB-4237-ACC2-D8D72BB30DB8}"/>
              </a:ext>
            </a:extLst>
          </p:cNvPr>
          <p:cNvSpPr txBox="1"/>
          <p:nvPr/>
        </p:nvSpPr>
        <p:spPr>
          <a:xfrm>
            <a:off x="1310495" y="3925215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Let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id="{402F930E-9B4C-4D29-9A01-F23A1D3168DD}"/>
                  </a:ext>
                </a:extLst>
              </p:cNvPr>
              <p:cNvSpPr txBox="1"/>
              <p:nvPr/>
            </p:nvSpPr>
            <p:spPr>
              <a:xfrm>
                <a:off x="1794923" y="3980398"/>
                <a:ext cx="29838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system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works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normally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02F930E-9B4C-4D29-9A01-F23A1D316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923" y="3980398"/>
                <a:ext cx="2983830" cy="276999"/>
              </a:xfrm>
              <a:prstGeom prst="rect">
                <a:avLst/>
              </a:prstGeom>
              <a:blipFill>
                <a:blip r:embed="rId4"/>
                <a:stretch>
                  <a:fillRect l="-1429" t="-4444" r="-2857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xmlns="" id="{9CDCC88E-F9DF-4E27-8609-43336394D047}"/>
                  </a:ext>
                </a:extLst>
              </p:cNvPr>
              <p:cNvSpPr txBox="1"/>
              <p:nvPr/>
            </p:nvSpPr>
            <p:spPr>
              <a:xfrm>
                <a:off x="1778859" y="4337407"/>
                <a:ext cx="54175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a:rPr lang="zh-CN" alt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th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component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works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normally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 2, 3, 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CDCC88E-F9DF-4E27-8609-43336394D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859" y="4337407"/>
                <a:ext cx="5417572" cy="276999"/>
              </a:xfrm>
              <a:prstGeom prst="rect">
                <a:avLst/>
              </a:prstGeom>
              <a:blipFill>
                <a:blip r:embed="rId5"/>
                <a:stretch>
                  <a:fillRect l="-675" t="-4444" r="-450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C8408E1A-5C7A-431B-BEC4-188E540951E5}"/>
              </a:ext>
            </a:extLst>
          </p:cNvPr>
          <p:cNvSpPr txBox="1"/>
          <p:nvPr/>
        </p:nvSpPr>
        <p:spPr>
          <a:xfrm>
            <a:off x="1310495" y="472815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Then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xmlns="" id="{8BFA17C6-7384-4387-B768-D3BD69366C42}"/>
                  </a:ext>
                </a:extLst>
              </p:cNvPr>
              <p:cNvSpPr txBox="1"/>
              <p:nvPr/>
            </p:nvSpPr>
            <p:spPr>
              <a:xfrm>
                <a:off x="2135208" y="4759547"/>
                <a:ext cx="16974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BFA17C6-7384-4387-B768-D3BD69366C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208" y="4759547"/>
                <a:ext cx="1697451" cy="276999"/>
              </a:xfrm>
              <a:prstGeom prst="rect">
                <a:avLst/>
              </a:prstGeom>
              <a:blipFill>
                <a:blip r:embed="rId6"/>
                <a:stretch>
                  <a:fillRect l="-2509" r="-71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E9F9AF85-FFDF-4635-893A-AFC296719F65}"/>
              </a:ext>
            </a:extLst>
          </p:cNvPr>
          <p:cNvSpPr txBox="1"/>
          <p:nvPr/>
        </p:nvSpPr>
        <p:spPr>
          <a:xfrm>
            <a:off x="1336143" y="5129340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The reliability of the system is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C0BA282E-1BAD-4B2B-9584-A97AC4CECAF4}"/>
                  </a:ext>
                </a:extLst>
              </p:cNvPr>
              <p:cNvSpPr txBox="1"/>
              <p:nvPr/>
            </p:nvSpPr>
            <p:spPr>
              <a:xfrm>
                <a:off x="1794923" y="5494939"/>
                <a:ext cx="2378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0BA282E-1BAD-4B2B-9584-A97AC4CEC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923" y="5494939"/>
                <a:ext cx="2378023" cy="276999"/>
              </a:xfrm>
              <a:prstGeom prst="rect">
                <a:avLst/>
              </a:prstGeom>
              <a:blipFill>
                <a:blip r:embed="rId7"/>
                <a:stretch>
                  <a:fillRect l="-1535" t="-2174" r="-281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8720DDA3-2119-475A-9D4B-C5E073CF111F}"/>
                  </a:ext>
                </a:extLst>
              </p:cNvPr>
              <p:cNvSpPr txBox="1"/>
              <p:nvPr/>
            </p:nvSpPr>
            <p:spPr>
              <a:xfrm>
                <a:off x="2364697" y="5780859"/>
                <a:ext cx="4065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⋂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720DDA3-2119-475A-9D4B-C5E073CF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697" y="5780859"/>
                <a:ext cx="4065344" cy="276999"/>
              </a:xfrm>
              <a:prstGeom prst="rect">
                <a:avLst/>
              </a:prstGeom>
              <a:blipFill>
                <a:blip r:embed="rId8"/>
                <a:stretch>
                  <a:fillRect l="-150" t="-2174" r="-1499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xmlns="" id="{DA2CC7A9-C1EC-4FAD-81F5-703C554D6F44}"/>
                  </a:ext>
                </a:extLst>
              </p:cNvPr>
              <p:cNvSpPr txBox="1"/>
              <p:nvPr/>
            </p:nvSpPr>
            <p:spPr>
              <a:xfrm>
                <a:off x="2364697" y="6209484"/>
                <a:ext cx="49071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A2CC7A9-C1EC-4FAD-81F5-703C554D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697" y="6209484"/>
                <a:ext cx="4907113" cy="276999"/>
              </a:xfrm>
              <a:prstGeom prst="rect">
                <a:avLst/>
              </a:prstGeom>
              <a:blipFill>
                <a:blip r:embed="rId9"/>
                <a:stretch>
                  <a:fillRect t="-4444" r="-124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xmlns="" id="{1766FDB1-4DB9-4EB0-BA46-DB6EF8F5B806}"/>
                  </a:ext>
                </a:extLst>
              </p:cNvPr>
              <p:cNvSpPr txBox="1"/>
              <p:nvPr/>
            </p:nvSpPr>
            <p:spPr>
              <a:xfrm>
                <a:off x="2359144" y="6549473"/>
                <a:ext cx="3282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(2−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766FDB1-4DB9-4EB0-BA46-DB6EF8F5B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144" y="6549473"/>
                <a:ext cx="3282758" cy="276999"/>
              </a:xfrm>
              <a:prstGeom prst="rect">
                <a:avLst/>
              </a:prstGeom>
              <a:blipFill>
                <a:blip r:embed="rId10"/>
                <a:stretch>
                  <a:fillRect l="-186" t="-4348" r="-2041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46">
            <a:extLst>
              <a:ext uri="{FF2B5EF4-FFF2-40B4-BE49-F238E27FC236}">
                <a16:creationId xmlns:a16="http://schemas.microsoft.com/office/drawing/2014/main" xmlns="" id="{F3BCB508-C7A5-6C4B-92A5-5CD46B8443BC}"/>
              </a:ext>
            </a:extLst>
          </p:cNvPr>
          <p:cNvGrpSpPr>
            <a:grpSpLocks/>
          </p:cNvGrpSpPr>
          <p:nvPr/>
        </p:nvGrpSpPr>
        <p:grpSpPr bwMode="auto">
          <a:xfrm>
            <a:off x="4396369" y="3004659"/>
            <a:ext cx="4008766" cy="810651"/>
            <a:chOff x="3413" y="1781"/>
            <a:chExt cx="2320" cy="603"/>
          </a:xfrm>
        </p:grpSpPr>
        <p:grpSp>
          <p:nvGrpSpPr>
            <p:cNvPr id="40" name="Group 47">
              <a:extLst>
                <a:ext uri="{FF2B5EF4-FFF2-40B4-BE49-F238E27FC236}">
                  <a16:creationId xmlns:a16="http://schemas.microsoft.com/office/drawing/2014/main" xmlns="" id="{FF707B74-B279-2B49-B02C-0C2FBDF520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3" y="1781"/>
              <a:ext cx="2287" cy="603"/>
              <a:chOff x="3269" y="2061"/>
              <a:chExt cx="2287" cy="603"/>
            </a:xfrm>
          </p:grpSpPr>
          <p:sp>
            <p:nvSpPr>
              <p:cNvPr id="42" name="AutoShape 48">
                <a:extLst>
                  <a:ext uri="{FF2B5EF4-FFF2-40B4-BE49-F238E27FC236}">
                    <a16:creationId xmlns:a16="http://schemas.microsoft.com/office/drawing/2014/main" xmlns="" id="{502F3BFB-1D36-234A-853B-49FEC7DF9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9" y="2061"/>
                <a:ext cx="2287" cy="603"/>
              </a:xfrm>
              <a:prstGeom prst="wedgeRectCallout">
                <a:avLst>
                  <a:gd name="adj1" fmla="val -2928"/>
                  <a:gd name="adj2" fmla="val -73953"/>
                </a:avLst>
              </a:prstGeom>
              <a:noFill/>
              <a:ln w="28575" algn="ctr">
                <a:solidFill>
                  <a:schemeClr val="tx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/>
              <a:lstStyle/>
              <a:p>
                <a:pPr eaLnBrk="0" hangingPunct="0"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en-US" altLang="zh-CN" sz="2000" b="1" dirty="0">
                    <a:solidFill>
                      <a:schemeClr val="accent2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</a:t>
                </a:r>
                <a:r>
                  <a:rPr kumimoji="1" lang="en-US" altLang="zh-CN" sz="2000" dirty="0">
                    <a:solidFill>
                      <a:schemeClr val="accent2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I, II</a:t>
                </a:r>
                <a:r>
                  <a:rPr kumimoji="1" lang="en-US" altLang="zh-CN" sz="2000" b="1" dirty="0">
                    <a:solidFill>
                      <a:schemeClr val="accent2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   are in series</a:t>
                </a:r>
                <a:r>
                  <a:rPr kumimoji="1" lang="zh-CN" altLang="en-US" sz="2000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STXinwei" panose="02010800040101010101" pitchFamily="2" charset="-122"/>
                    <a:ea typeface="STXinwei" panose="02010800040101010101" pitchFamily="2" charset="-122"/>
                  </a:rPr>
                  <a:t>串联</a:t>
                </a:r>
              </a:p>
              <a:p>
                <a:pPr eaLnBrk="0" hangingPunct="0">
                  <a:buClr>
                    <a:schemeClr val="tx2"/>
                  </a:buClr>
                  <a:buSzPct val="75000"/>
                  <a:buFont typeface="Monotype Sorts" pitchFamily="2" charset="2"/>
                  <a:buNone/>
                  <a:defRPr/>
                </a:pPr>
                <a:r>
                  <a:rPr kumimoji="1" lang="zh-CN" altLang="en-US" sz="2800" b="1" dirty="0">
                    <a:solidFill>
                      <a:schemeClr val="accent2">
                        <a:lumMod val="75000"/>
                      </a:schemeClr>
                    </a:solidFill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kumimoji="1" lang="en-US" altLang="zh-CN" sz="2000" dirty="0">
                    <a:solidFill>
                      <a:schemeClr val="accent2">
                        <a:lumMod val="75000"/>
                      </a:schemeClr>
                    </a:solidFill>
                    <a:latin typeface="STXinwei" panose="02010800040101010101" pitchFamily="2" charset="-122"/>
                    <a:ea typeface="STXinwei" panose="02010800040101010101" pitchFamily="2" charset="-122"/>
                  </a:rPr>
                  <a:t>III,IV are in series</a:t>
                </a:r>
                <a:r>
                  <a:rPr kumimoji="1" lang="zh-CN" altLang="en-US" sz="2000" dirty="0">
                    <a:solidFill>
                      <a:schemeClr val="accent2">
                        <a:lumMod val="75000"/>
                      </a:schemeClr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STXinwei" panose="02010800040101010101" pitchFamily="2" charset="-122"/>
                    <a:ea typeface="STXinwei" panose="02010800040101010101" pitchFamily="2" charset="-122"/>
                  </a:rPr>
                  <a:t>串联</a:t>
                </a:r>
              </a:p>
            </p:txBody>
          </p:sp>
          <p:sp>
            <p:nvSpPr>
              <p:cNvPr id="43" name="AutoShape 49">
                <a:extLst>
                  <a:ext uri="{FF2B5EF4-FFF2-40B4-BE49-F238E27FC236}">
                    <a16:creationId xmlns:a16="http://schemas.microsoft.com/office/drawing/2014/main" xmlns="" id="{EC666377-94F8-BE40-83CC-8F4FCB802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0" y="2172"/>
                <a:ext cx="56" cy="384"/>
              </a:xfrm>
              <a:prstGeom prst="rightBrace">
                <a:avLst>
                  <a:gd name="adj1" fmla="val 57143"/>
                  <a:gd name="adj2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Monotype Sorts"/>
                  <a:buNone/>
                </a:pPr>
                <a:endParaRPr kumimoji="1" lang="zh-CN" altLang="en-US" sz="2800" b="1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41" name="Rectangle 50">
              <a:extLst>
                <a:ext uri="{FF2B5EF4-FFF2-40B4-BE49-F238E27FC236}">
                  <a16:creationId xmlns:a16="http://schemas.microsoft.com/office/drawing/2014/main" xmlns="" id="{7B9F92B6-A757-DB44-9066-542B1257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" y="1807"/>
              <a:ext cx="776" cy="57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dirty="0">
                  <a:solidFill>
                    <a:schemeClr val="accent2">
                      <a:lumMod val="75000"/>
                    </a:schemeClr>
                  </a:solidFill>
                  <a:latin typeface="Times New Roman" pitchFamily="18" charset="0"/>
                  <a:ea typeface="华文新魏" pitchFamily="2" charset="-122"/>
                </a:rPr>
                <a:t>In parallel</a:t>
              </a:r>
            </a:p>
            <a:p>
              <a:pPr algn="ctr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zh-CN" altLang="en-US" sz="2000" b="1" dirty="0"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并联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6" dur="1000"/>
                                        <p:tgtEl>
                                          <p:spTgt spid="41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416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64" grpId="0"/>
      <p:bldP spid="8" grpId="0"/>
      <p:bldP spid="9" grpId="0"/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6427" y="3948064"/>
            <a:ext cx="6856673" cy="24270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Assume W = {the circuit works normally}</a:t>
            </a:r>
          </a:p>
          <a:p>
            <a:pPr marL="0" indent="0">
              <a:buNone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P(W)= P(AB)  P(C∪D∪E)  P(F∪G)  P(H)</a:t>
            </a:r>
          </a:p>
          <a:p>
            <a:pPr marL="0" indent="0">
              <a:buNone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P(W)=0.95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*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0.95 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*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0.973 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*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0.9375 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*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0.95 = 0.782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748" y="2036056"/>
            <a:ext cx="5005896" cy="1870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47828" y="624467"/>
            <a:ext cx="1691038" cy="333527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itchFamily="2" charset="-122"/>
                <a:ea typeface="华文新魏" pitchFamily="2" charset="-122"/>
              </a:rPr>
              <a:t>Exercise </a:t>
            </a:r>
            <a:endParaRPr lang="zh-CN" altLang="en-US" sz="24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88471" y="950313"/>
            <a:ext cx="8524792" cy="11955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In the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following cascaded and parallel circuit, A, B, C, D, E, F, G, H are independent components. The numbers labeled under the components are their probabilities of working normally respectively. What is the probability of the circuit to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work normally?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65012" y="5847056"/>
            <a:ext cx="5529129" cy="555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9">
                <a:extLst>
                  <a:ext uri="{FF2B5EF4-FFF2-40B4-BE49-F238E27FC236}">
                    <a16:creationId xmlns:a16="http://schemas.microsoft.com/office/drawing/2014/main" xmlns="" id="{BF2442BB-F4DA-4A7E-A484-6FED6FC45442}"/>
                  </a:ext>
                </a:extLst>
              </p:cNvPr>
              <p:cNvSpPr txBox="1"/>
              <p:nvPr/>
            </p:nvSpPr>
            <p:spPr>
              <a:xfrm>
                <a:off x="5977890" y="3720333"/>
                <a:ext cx="2832503" cy="701287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lIns="0" tIns="72000" rIns="0" bIns="72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1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nary>
                            <m:naryPr>
                              <m:chr m:val="⋃"/>
                              <m:ctrlPr>
                                <a:rPr lang="zh-CN" altLang="en-US" sz="120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1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⋂"/>
                          <m:ctrlP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1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nary>
                            <m:naryPr>
                              <m:chr m:val="⋂"/>
                              <m:ctrlP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1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2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2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12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9">
                <a:extLst>
                  <a:ext uri="{FF2B5EF4-FFF2-40B4-BE49-F238E27FC236}">
                    <a16:creationId xmlns:a16="http://schemas.microsoft.com/office/drawing/2014/main" id="{BF2442BB-F4DA-4A7E-A484-6FED6FC45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890" y="3720333"/>
                <a:ext cx="2832503" cy="701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DDB57F21-6DD3-5941-8DF3-94065BCB57D4}"/>
                  </a:ext>
                </a:extLst>
              </p:cNvPr>
              <p:cNvSpPr txBox="1"/>
              <p:nvPr/>
            </p:nvSpPr>
            <p:spPr>
              <a:xfrm>
                <a:off x="887607" y="4797169"/>
                <a:ext cx="6393303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𝐶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=1−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𝐷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𝐸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=1−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0.3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3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=0.973</m:t>
                      </m:r>
                    </m:oMath>
                  </m:oMathPara>
                </a14:m>
                <a:endPara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B57F21-6DD3-5941-8DF3-94065BCB5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07" y="4797169"/>
                <a:ext cx="6393303" cy="400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1AF3281F-EE45-AD41-B49F-396FE6CF6CF3}"/>
                  </a:ext>
                </a:extLst>
              </p:cNvPr>
              <p:cNvSpPr txBox="1"/>
              <p:nvPr/>
            </p:nvSpPr>
            <p:spPr>
              <a:xfrm>
                <a:off x="887607" y="5307464"/>
                <a:ext cx="5474969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𝐹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=1−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000" i="1">
                                  <a:latin typeface="Cambria Math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𝐺</m:t>
                              </m:r>
                            </m:e>
                          </m:acc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=1−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/>
                              <a:ea typeface="华文新魏" panose="0201080004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0.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25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=0.93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5</m:t>
                      </m:r>
                    </m:oMath>
                  </m:oMathPara>
                </a14:m>
                <a:endParaRPr lang="en-US" altLang="zh-CN" sz="20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F3281F-EE45-AD41-B49F-396FE6CF6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07" y="5307464"/>
                <a:ext cx="5474969" cy="400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2846069" y="4703076"/>
            <a:ext cx="4333029" cy="5640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366010" y="5233186"/>
            <a:ext cx="4047471" cy="578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3">
            <a:extLst>
              <a:ext uri="{FF2B5EF4-FFF2-40B4-BE49-F238E27FC236}">
                <a16:creationId xmlns:a16="http://schemas.microsoft.com/office/drawing/2014/main" xmlns="" id="{22D904C0-5A2F-2A41-B8EC-BD85288A7EAB}"/>
              </a:ext>
            </a:extLst>
          </p:cNvPr>
          <p:cNvSpPr/>
          <p:nvPr/>
        </p:nvSpPr>
        <p:spPr>
          <a:xfrm>
            <a:off x="1938866" y="4376956"/>
            <a:ext cx="3937213" cy="378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22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8" grpId="0"/>
      <p:bldP spid="13" grpId="0"/>
      <p:bldP spid="10" grpId="0" animBg="1"/>
      <p:bldP spid="2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7" name="WordArt 9"/>
          <p:cNvSpPr>
            <a:spLocks noChangeArrowheads="1" noChangeShapeType="1" noTextEdit="1"/>
          </p:cNvSpPr>
          <p:nvPr/>
        </p:nvSpPr>
        <p:spPr bwMode="auto">
          <a:xfrm>
            <a:off x="1727198" y="3516878"/>
            <a:ext cx="2696211" cy="39986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576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P32: 68,71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grpSp>
        <p:nvGrpSpPr>
          <p:cNvPr id="10247" name="Group 11"/>
          <p:cNvGrpSpPr>
            <a:grpSpLocks/>
          </p:cNvGrpSpPr>
          <p:nvPr/>
        </p:nvGrpSpPr>
        <p:grpSpPr bwMode="auto">
          <a:xfrm>
            <a:off x="1727200" y="1806575"/>
            <a:ext cx="774700" cy="900113"/>
            <a:chOff x="1519" y="1253"/>
            <a:chExt cx="488" cy="567"/>
          </a:xfrm>
        </p:grpSpPr>
        <p:sp>
          <p:nvSpPr>
            <p:cNvPr id="10249" name="Rectangle 12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solidFill>
              <a:srgbClr val="080808"/>
            </a:solidFill>
            <a:ln>
              <a:noFill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250" name="Picture 13" descr="0_4"/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9" y="1275"/>
              <a:ext cx="488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1" name="Rectangle 14"/>
            <p:cNvSpPr>
              <a:spLocks noChangeArrowheads="1"/>
            </p:cNvSpPr>
            <p:nvPr/>
          </p:nvSpPr>
          <p:spPr bwMode="auto">
            <a:xfrm>
              <a:off x="1519" y="1253"/>
              <a:ext cx="476" cy="567"/>
            </a:xfrm>
            <a:prstGeom prst="rect">
              <a:avLst/>
            </a:prstGeom>
            <a:noFill/>
            <a:ln w="12700" algn="ctr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0808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002420F2-C600-42C3-9FBD-7B9994245A42}"/>
              </a:ext>
            </a:extLst>
          </p:cNvPr>
          <p:cNvSpPr txBox="1"/>
          <p:nvPr/>
        </p:nvSpPr>
        <p:spPr>
          <a:xfrm>
            <a:off x="2710212" y="1483409"/>
            <a:ext cx="3020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Homework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WordArt 9"/>
          <p:cNvSpPr>
            <a:spLocks noChangeArrowheads="1" noChangeShapeType="1" noTextEdit="1"/>
          </p:cNvSpPr>
          <p:nvPr/>
        </p:nvSpPr>
        <p:spPr bwMode="auto">
          <a:xfrm>
            <a:off x="1727199" y="4316598"/>
            <a:ext cx="2433321" cy="39986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P33: 74,77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sp>
        <p:nvSpPr>
          <p:cNvPr id="9" name="WordArt 9"/>
          <p:cNvSpPr>
            <a:spLocks noChangeArrowheads="1" noChangeShapeType="1" noTextEdit="1"/>
          </p:cNvSpPr>
          <p:nvPr/>
        </p:nvSpPr>
        <p:spPr bwMode="auto">
          <a:xfrm>
            <a:off x="1727198" y="5116318"/>
            <a:ext cx="1678941" cy="39986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>
              <a:defRPr/>
            </a:pPr>
            <a:r>
              <a:rPr lang="en-US" altLang="zh-CN" sz="3600" kern="10" dirty="0">
                <a:ln w="12700">
                  <a:solidFill>
                    <a:srgbClr val="FFFF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/>
                <a:ea typeface="黑体"/>
              </a:rPr>
              <a:t>P34: 79</a:t>
            </a:r>
            <a:endParaRPr lang="zh-CN" altLang="en-US" sz="3600" kern="10" dirty="0">
              <a:ln w="12700">
                <a:solidFill>
                  <a:srgbClr val="FFFF00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/>
              <a:ea typeface="黑体"/>
            </a:endParaRPr>
          </a:p>
        </p:txBody>
      </p:sp>
      <p:pic>
        <p:nvPicPr>
          <p:cNvPr id="1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770759" y="2297632"/>
            <a:ext cx="2249255" cy="19134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F8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28851" y="2623207"/>
            <a:ext cx="24673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prstClr val="whit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Thank</a:t>
            </a:r>
            <a:r>
              <a:rPr lang="zh-CN" altLang="en-US" sz="5400" b="1" dirty="0">
                <a:solidFill>
                  <a:prstClr val="whit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27275" y="2623207"/>
            <a:ext cx="1599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ED6C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You</a:t>
            </a:r>
            <a:endParaRPr lang="zh-CN" altLang="en-US" sz="5400" b="1" dirty="0">
              <a:solidFill>
                <a:srgbClr val="ED6C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BF86-97AE-4B04-9B06-3C0BD16A1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295" y="0"/>
            <a:ext cx="1577187" cy="51550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632023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23628</TotalTime>
  <Words>2939</Words>
  <Application>Microsoft Office PowerPoint</Application>
  <PresentationFormat>On-screen Show (4:3)</PresentationFormat>
  <Paragraphs>266</Paragraphs>
  <Slides>18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Office 主题​​</vt:lpstr>
      <vt:lpstr>1_Office 主题​​</vt:lpstr>
      <vt:lpstr>剪辑</vt:lpstr>
      <vt:lpstr>公式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</vt:lpstr>
      <vt:lpstr>PowerPoint Presentation</vt:lpstr>
      <vt:lpstr>PowerPoint Presentation</vt:lpstr>
    </vt:vector>
  </TitlesOfParts>
  <Company>MathTech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《概率论与数理统计》课件</dc:title>
  <dc:creator>Lili Yang</dc:creator>
  <cp:lastModifiedBy>jing</cp:lastModifiedBy>
  <cp:revision>1501</cp:revision>
  <cp:lastPrinted>2018-03-13T08:06:48Z</cp:lastPrinted>
  <dcterms:created xsi:type="dcterms:W3CDTF">1999-06-22T01:41:39Z</dcterms:created>
  <dcterms:modified xsi:type="dcterms:W3CDTF">2021-11-05T13:32:51Z</dcterms:modified>
</cp:coreProperties>
</file>