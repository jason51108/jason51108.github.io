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22"/>
  </p:notesMasterIdLst>
  <p:handoutMasterIdLst>
    <p:handoutMasterId r:id="rId23"/>
  </p:handoutMasterIdLst>
  <p:sldIdLst>
    <p:sldId id="337" r:id="rId3"/>
    <p:sldId id="368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4" r:id="rId14"/>
    <p:sldId id="362" r:id="rId15"/>
    <p:sldId id="371" r:id="rId16"/>
    <p:sldId id="365" r:id="rId17"/>
    <p:sldId id="366" r:id="rId18"/>
    <p:sldId id="363" r:id="rId19"/>
    <p:sldId id="350" r:id="rId20"/>
    <p:sldId id="369" r:id="rId21"/>
  </p:sldIdLst>
  <p:sldSz cx="9144000" cy="6858000" type="screen4x3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3113" userDrawn="1">
          <p15:clr>
            <a:srgbClr val="A4A3A4"/>
          </p15:clr>
        </p15:guide>
        <p15:guide id="4" orient="horz" pos="3702" userDrawn="1">
          <p15:clr>
            <a:srgbClr val="A4A3A4"/>
          </p15:clr>
        </p15:guide>
        <p15:guide id="5" orient="horz" pos="2727" userDrawn="1">
          <p15:clr>
            <a:srgbClr val="A4A3A4"/>
          </p15:clr>
        </p15:guide>
        <p15:guide id="6" orient="horz" pos="731" userDrawn="1">
          <p15:clr>
            <a:srgbClr val="A4A3A4"/>
          </p15:clr>
        </p15:guide>
        <p15:guide id="7" orient="horz" pos="368" userDrawn="1">
          <p15:clr>
            <a:srgbClr val="A4A3A4"/>
          </p15:clr>
        </p15:guide>
        <p15:guide id="9" pos="295" userDrawn="1">
          <p15:clr>
            <a:srgbClr val="A4A3A4"/>
          </p15:clr>
        </p15:guide>
        <p15:guide id="10" pos="5483" userDrawn="1">
          <p15:clr>
            <a:srgbClr val="A4A3A4"/>
          </p15:clr>
        </p15:guide>
        <p15:guide id="12" orient="horz" pos="1344" userDrawn="1">
          <p15:clr>
            <a:srgbClr val="A4A3A4"/>
          </p15:clr>
        </p15:guide>
        <p15:guide id="13" pos="17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21"/>
    <a:srgbClr val="D3DEEF"/>
    <a:srgbClr val="D2DEEF"/>
    <a:srgbClr val="FFBE00"/>
    <a:srgbClr val="CC99FF"/>
    <a:srgbClr val="FF99FF"/>
    <a:srgbClr val="CC3399"/>
    <a:srgbClr val="0207CA"/>
    <a:srgbClr val="ED6C00"/>
    <a:srgbClr val="0D49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6"/>
    <p:restoredTop sz="95478" autoAdjust="0"/>
  </p:normalViewPr>
  <p:slideViewPr>
    <p:cSldViewPr snapToGrid="0" showGuides="1">
      <p:cViewPr varScale="1">
        <p:scale>
          <a:sx n="102" d="100"/>
          <a:sy n="102" d="100"/>
        </p:scale>
        <p:origin x="874" y="86"/>
      </p:cViewPr>
      <p:guideLst>
        <p:guide orient="horz" pos="2137"/>
        <p:guide pos="2880"/>
        <p:guide orient="horz" pos="3113"/>
        <p:guide orient="horz" pos="3702"/>
        <p:guide orient="horz" pos="2727"/>
        <p:guide orient="horz" pos="731"/>
        <p:guide orient="horz" pos="368"/>
        <p:guide pos="295"/>
        <p:guide pos="5483"/>
        <p:guide orient="horz" pos="1344"/>
        <p:guide pos="17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65" cy="495947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092" y="0"/>
            <a:ext cx="2946065" cy="495947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E1B74F8F-9AA5-47D5-8CA0-1ADB804606FE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151"/>
            <a:ext cx="2946065" cy="495947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092" y="9429151"/>
            <a:ext cx="2946065" cy="495947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6A72E23A-49A7-4778-9913-99F2848029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9216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7DF86B5F-ED0D-437B-9A79-F075D74DEADF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497CA5E9-242A-4AE6-B3B0-7066F408D4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85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CA5E9-242A-4AE6-B3B0-7066F408D43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795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“experiments”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CA5E9-242A-4AE6-B3B0-7066F408D4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949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Non-abstract</a:t>
            </a:r>
            <a:r>
              <a:rPr lang="zh-CN" altLang="en-US" dirty="0"/>
              <a:t> </a:t>
            </a:r>
            <a:r>
              <a:rPr lang="en-US" altLang="zh-CN" dirty="0"/>
              <a:t>point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CA5E9-242A-4AE6-B3B0-7066F408D43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Calligraphic</a:t>
            </a:r>
            <a:r>
              <a:rPr lang="zh-CN" altLang="en-US" dirty="0"/>
              <a:t> </a:t>
            </a:r>
            <a:r>
              <a:rPr lang="en-US" altLang="zh-CN" dirty="0"/>
              <a:t>letter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CA5E9-242A-4AE6-B3B0-7066F408D4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375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CA5E9-242A-4AE6-B3B0-7066F408D43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71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2B9C-9BB3-48CC-A16E-84DF1DFE67CE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42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2FE7-3714-4240-83CC-11D709402084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6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A1D0-855D-4F68-B2A8-836D6AC610BA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66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92C5-5548-4418-86BD-E66B7D4E25E1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14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C1355-9A2C-4091-8405-E04E0E067C7C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31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2A6C-B164-4B70-A474-84FAFDA63CDB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24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B9AAE-CF24-4F0A-90A9-2AC5239B789C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99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21A7-0825-4B9A-ABF0-F2388D8DF24D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87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50A9-5D0B-4F08-A161-25AC64C4B0CE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48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AAD6-FFF6-49BC-8A75-C23C12C1B620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32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FB55-7AE4-4AB9-9F6C-C2454A4133D9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03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2B9C-9BB3-48CC-A16E-84DF1DFE67C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46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2FE7-3714-4240-83CC-11D70940208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96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A1D0-855D-4F68-B2A8-836D6AC610B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2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92C5-5548-4418-86BD-E66B7D4E25E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20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C1355-9A2C-4091-8405-E04E0E067C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30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2A6C-B164-4B70-A474-84FAFDA63CD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06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B9AAE-CF24-4F0A-90A9-2AC5239B789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35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21A7-0825-4B9A-ABF0-F2388D8DF24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91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50A9-5D0B-4F08-A161-25AC64C4B0C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4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AAD6-FFF6-49BC-8A75-C23C12C1B62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86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FB55-7AE4-4AB9-9F6C-C2454A4133D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8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1DB61-CF58-4A45-BEA7-7AD2C1EA0997}" type="datetime1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9BF86-97AE-4B04-9B06-3C0BD16A1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33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1DB61-CF58-4A45-BEA7-7AD2C1EA099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2022/9/5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58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6.emf"/><Relationship Id="rId7" Type="http://schemas.openxmlformats.org/officeDocument/2006/relationships/image" Target="../media/image16.png"/><Relationship Id="rId12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9.emf"/><Relationship Id="rId5" Type="http://schemas.openxmlformats.org/officeDocument/2006/relationships/image" Target="../media/image14.png"/><Relationship Id="rId10" Type="http://schemas.openxmlformats.org/officeDocument/2006/relationships/image" Target="../media/image8.emf"/><Relationship Id="rId4" Type="http://schemas.openxmlformats.org/officeDocument/2006/relationships/image" Target="../media/image7.emf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13.emf"/><Relationship Id="rId18" Type="http://schemas.openxmlformats.org/officeDocument/2006/relationships/oleObject" Target="../embeddings/oleObject6.bin"/><Relationship Id="rId3" Type="http://schemas.openxmlformats.org/officeDocument/2006/relationships/image" Target="../media/image29.png"/><Relationship Id="rId21" Type="http://schemas.openxmlformats.org/officeDocument/2006/relationships/image" Target="../media/image20.png"/><Relationship Id="rId7" Type="http://schemas.openxmlformats.org/officeDocument/2006/relationships/image" Target="../media/image12.png"/><Relationship Id="rId12" Type="http://schemas.openxmlformats.org/officeDocument/2006/relationships/oleObject" Target="../embeddings/oleObject3.bin"/><Relationship Id="rId17" Type="http://schemas.openxmlformats.org/officeDocument/2006/relationships/image" Target="../media/image15.emf"/><Relationship Id="rId25" Type="http://schemas.openxmlformats.org/officeDocument/2006/relationships/image" Target="../media/image9.emf"/><Relationship Id="rId16" Type="http://schemas.openxmlformats.org/officeDocument/2006/relationships/oleObject" Target="../embeddings/oleObject5.bin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12.emf"/><Relationship Id="rId24" Type="http://schemas.openxmlformats.org/officeDocument/2006/relationships/image" Target="../media/image17.emf"/><Relationship Id="rId5" Type="http://schemas.openxmlformats.org/officeDocument/2006/relationships/image" Target="../media/image31.png"/><Relationship Id="rId15" Type="http://schemas.openxmlformats.org/officeDocument/2006/relationships/image" Target="../media/image14.emf"/><Relationship Id="rId23" Type="http://schemas.openxmlformats.org/officeDocument/2006/relationships/image" Target="../media/image10.emf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16.emf"/><Relationship Id="rId4" Type="http://schemas.openxmlformats.org/officeDocument/2006/relationships/image" Target="../media/image30.png"/><Relationship Id="rId9" Type="http://schemas.openxmlformats.org/officeDocument/2006/relationships/image" Target="../media/image11.emf"/><Relationship Id="rId14" Type="http://schemas.openxmlformats.org/officeDocument/2006/relationships/oleObject" Target="../embeddings/oleObject4.bin"/><Relationship Id="rId22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36.png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12" Type="http://schemas.openxmlformats.org/officeDocument/2006/relationships/image" Target="../media/image35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emf"/><Relationship Id="rId11" Type="http://schemas.openxmlformats.org/officeDocument/2006/relationships/image" Target="../media/image34.png"/><Relationship Id="rId5" Type="http://schemas.openxmlformats.org/officeDocument/2006/relationships/image" Target="../media/image21.emf"/><Relationship Id="rId10" Type="http://schemas.openxmlformats.org/officeDocument/2006/relationships/image" Target="../media/image33.png"/><Relationship Id="rId4" Type="http://schemas.openxmlformats.org/officeDocument/2006/relationships/image" Target="../media/image20.emf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Chapter One: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/>
              <a:t>Sample space</a:t>
            </a:r>
            <a:r>
              <a:rPr lang="zh-CN" altLang="en-US" dirty="0"/>
              <a:t>（样本空间）</a:t>
            </a:r>
            <a:endParaRPr lang="en-GB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/>
              <a:t>Probability measure </a:t>
            </a:r>
            <a:r>
              <a:rPr lang="zh-CN" altLang="en-US" dirty="0"/>
              <a:t>（概率测度）</a:t>
            </a:r>
            <a:endParaRPr lang="en-GB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/>
              <a:t>Probability computation </a:t>
            </a:r>
            <a:r>
              <a:rPr lang="zh-CN" altLang="en-US" dirty="0"/>
              <a:t>（概率计算）</a:t>
            </a:r>
            <a:endParaRPr lang="en-GB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/>
              <a:t>Conditional probability </a:t>
            </a:r>
            <a:r>
              <a:rPr lang="zh-CN" altLang="en-US" dirty="0"/>
              <a:t>（条件概率）</a:t>
            </a:r>
            <a:endParaRPr lang="en-GB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/>
              <a:t>Independence </a:t>
            </a:r>
            <a:r>
              <a:rPr lang="zh-CN" altLang="en-US" dirty="0"/>
              <a:t>（独立性）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579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Chapter One: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/>
              <a:t>Sample space</a:t>
            </a:r>
            <a:r>
              <a:rPr lang="zh-CN" altLang="en-US" dirty="0"/>
              <a:t>（样本空间）</a:t>
            </a:r>
            <a:endParaRPr lang="en-GB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Probability measure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（概率测度）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Probability computation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（概率计算）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Conditional probability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（条件概率）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Independence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（独立性）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1569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Text Box 38">
            <a:extLst>
              <a:ext uri="{FF2B5EF4-FFF2-40B4-BE49-F238E27FC236}">
                <a16:creationId xmlns:a16="http://schemas.microsoft.com/office/drawing/2014/main" id="{AF897B9B-2ED0-4413-BCA5-C03E04372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870" y="1837574"/>
            <a:ext cx="70432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flip a coin and count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number of Heads (H) or Tails (T).</a:t>
            </a:r>
          </a:p>
        </p:txBody>
      </p:sp>
      <p:sp>
        <p:nvSpPr>
          <p:cNvPr id="4128" name="Text Box 37">
            <a:extLst>
              <a:ext uri="{FF2B5EF4-FFF2-40B4-BE49-F238E27FC236}">
                <a16:creationId xmlns:a16="http://schemas.microsoft.com/office/drawing/2014/main" id="{5678AD4B-0EAC-4991-973B-CF86E56E7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869" y="2323052"/>
            <a:ext cx="68641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flip a coin three times and observe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number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of Heads(H).</a:t>
            </a:r>
          </a:p>
        </p:txBody>
      </p:sp>
      <p:sp>
        <p:nvSpPr>
          <p:cNvPr id="3" name="Text Box 36">
            <a:extLst>
              <a:ext uri="{FF2B5EF4-FFF2-40B4-BE49-F238E27FC236}">
                <a16:creationId xmlns:a16="http://schemas.microsoft.com/office/drawing/2014/main" id="{77A5FD90-D270-4836-BDB8-F16C2A251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870" y="2771283"/>
            <a:ext cx="55449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roll a dice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骰子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and observe the number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shown.</a:t>
            </a: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5B1BF6DA-0E9A-4634-8468-400257173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870" y="3240088"/>
            <a:ext cx="72156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select n products from a large number of products 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and observe the number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defective products (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次品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).</a:t>
            </a:r>
          </a:p>
        </p:txBody>
      </p:sp>
      <p:sp>
        <p:nvSpPr>
          <p:cNvPr id="4122" name="Text Box 34">
            <a:extLst>
              <a:ext uri="{FF2B5EF4-FFF2-40B4-BE49-F238E27FC236}">
                <a16:creationId xmlns:a16="http://schemas.microsoft.com/office/drawing/2014/main" id="{22EACAC3-F1B1-45D4-82ED-E743D1A88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870" y="3954956"/>
            <a:ext cx="64103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test the lifetime of electronic products from a factory.</a:t>
            </a:r>
          </a:p>
        </p:txBody>
      </p:sp>
      <p:sp>
        <p:nvSpPr>
          <p:cNvPr id="7" name="Text Box 32">
            <a:extLst>
              <a:ext uri="{FF2B5EF4-FFF2-40B4-BE49-F238E27FC236}">
                <a16:creationId xmlns:a16="http://schemas.microsoft.com/office/drawing/2014/main" id="{A0E2BC57-42ED-4DD1-9EA6-5CF7AB41E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871" y="4394074"/>
            <a:ext cx="704326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Observe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average temperature and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precipitation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降雨量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of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specific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area.</a:t>
            </a:r>
          </a:p>
        </p:txBody>
      </p:sp>
      <p:sp>
        <p:nvSpPr>
          <p:cNvPr id="4125" name="Oval 87">
            <a:extLst>
              <a:ext uri="{FF2B5EF4-FFF2-40B4-BE49-F238E27FC236}">
                <a16:creationId xmlns:a16="http://schemas.microsoft.com/office/drawing/2014/main" id="{3AC111C8-3602-493E-9B49-467642026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262" y="5118197"/>
            <a:ext cx="1674220" cy="4953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116" name="AutoShape 84">
            <a:extLst>
              <a:ext uri="{FF2B5EF4-FFF2-40B4-BE49-F238E27FC236}">
                <a16:creationId xmlns:a16="http://schemas.microsoft.com/office/drawing/2014/main" id="{3D9D1DED-59A1-4793-B59E-908C22F40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7285" y="6045364"/>
            <a:ext cx="4375237" cy="531578"/>
          </a:xfrm>
          <a:prstGeom prst="wedgeRectCallout">
            <a:avLst>
              <a:gd name="adj1" fmla="val 2145"/>
              <a:gd name="adj2" fmla="val -125189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Cannot predict the results </a:t>
            </a:r>
            <a:r>
              <a:rPr lang="en-US" altLang="zh-CN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b</a:t>
            </a:r>
            <a:r>
              <a:rPr lang="en-US" altLang="en-US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efore those </a:t>
            </a:r>
            <a:r>
              <a:rPr lang="en-US" altLang="zh-CN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experiments,</a:t>
            </a:r>
            <a:r>
              <a:rPr lang="zh-CN" altLang="en-US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i.e.,</a:t>
            </a:r>
            <a:r>
              <a:rPr lang="zh-CN" altLang="en-US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the</a:t>
            </a:r>
            <a:r>
              <a:rPr lang="zh-CN" altLang="en-US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outcomes</a:t>
            </a:r>
            <a:r>
              <a:rPr lang="zh-CN" altLang="en-US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occur</a:t>
            </a:r>
            <a:r>
              <a:rPr lang="zh-CN" altLang="en-US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4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randomly.</a:t>
            </a:r>
            <a:endParaRPr lang="en-US" altLang="en-US" sz="3200" b="1" dirty="0">
              <a:solidFill>
                <a:srgbClr val="00206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9" name="Line 88">
            <a:extLst>
              <a:ext uri="{FF2B5EF4-FFF2-40B4-BE49-F238E27FC236}">
                <a16:creationId xmlns:a16="http://schemas.microsoft.com/office/drawing/2014/main" id="{3278D229-64E2-4E25-8F21-3475E0680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5756" y="738978"/>
            <a:ext cx="4463415" cy="1"/>
          </a:xfrm>
          <a:prstGeom prst="line">
            <a:avLst/>
          </a:prstGeom>
          <a:noFill/>
          <a:ln w="57150" cmpd="thinThick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6B48B7-BF70-4D3B-964A-786C3E71ECE0}"/>
              </a:ext>
            </a:extLst>
          </p:cNvPr>
          <p:cNvSpPr txBox="1"/>
          <p:nvPr/>
        </p:nvSpPr>
        <p:spPr>
          <a:xfrm>
            <a:off x="2221022" y="356049"/>
            <a:ext cx="4701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Random Experiment and sample space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BDF2A1F-56B8-455F-9BB7-EDA07EB8E5BC}"/>
              </a:ext>
            </a:extLst>
          </p:cNvPr>
          <p:cNvSpPr txBox="1"/>
          <p:nvPr/>
        </p:nvSpPr>
        <p:spPr>
          <a:xfrm>
            <a:off x="197436" y="872715"/>
            <a:ext cx="1512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Experiment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试验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BDA9A5-FCAA-4727-B04C-BDE32676E9D4}"/>
              </a:ext>
            </a:extLst>
          </p:cNvPr>
          <p:cNvSpPr txBox="1"/>
          <p:nvPr/>
        </p:nvSpPr>
        <p:spPr>
          <a:xfrm>
            <a:off x="1655691" y="995681"/>
            <a:ext cx="7352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Scientific experiments or observations about some characteristics of something.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STXinwei" panose="02010800040101010101" pitchFamily="2" charset="-122"/>
              <a:ea typeface="STXinwei" panose="020108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D8845A-3570-4867-B647-3A4B09684E2B}"/>
              </a:ext>
            </a:extLst>
          </p:cNvPr>
          <p:cNvSpPr txBox="1"/>
          <p:nvPr/>
        </p:nvSpPr>
        <p:spPr>
          <a:xfrm>
            <a:off x="307871" y="1799280"/>
            <a:ext cx="1192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Examples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044B92-B439-4CD7-A9AE-AFBA5EE74A25}"/>
              </a:ext>
            </a:extLst>
          </p:cNvPr>
          <p:cNvSpPr txBox="1"/>
          <p:nvPr/>
        </p:nvSpPr>
        <p:spPr>
          <a:xfrm>
            <a:off x="1430001" y="1833148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E</a:t>
            </a:r>
            <a:r>
              <a:rPr lang="en-US" altLang="zh-CN" sz="2000" baseline="-25000" dirty="0">
                <a:solidFill>
                  <a:srgbClr val="002060"/>
                </a:solidFill>
              </a:rPr>
              <a:t>1</a:t>
            </a:r>
            <a:r>
              <a:rPr lang="en-US" altLang="zh-CN" sz="2000" dirty="0"/>
              <a:t>:</a:t>
            </a:r>
            <a:endParaRPr lang="zh-CN" altLang="en-US" sz="2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A3F11B2-8D80-4818-944F-68F5606868B4}"/>
              </a:ext>
            </a:extLst>
          </p:cNvPr>
          <p:cNvSpPr txBox="1"/>
          <p:nvPr/>
        </p:nvSpPr>
        <p:spPr>
          <a:xfrm>
            <a:off x="1430001" y="2270993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E</a:t>
            </a:r>
            <a:r>
              <a:rPr lang="en-US" altLang="zh-CN" sz="2000" baseline="-25000" dirty="0">
                <a:solidFill>
                  <a:srgbClr val="002060"/>
                </a:solidFill>
              </a:rPr>
              <a:t>2</a:t>
            </a:r>
            <a:r>
              <a:rPr lang="en-US" altLang="zh-CN" sz="2000" dirty="0">
                <a:solidFill>
                  <a:srgbClr val="002060"/>
                </a:solidFill>
              </a:rPr>
              <a:t>: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A6CCC22-92D7-4E24-B710-75F4559BA355}"/>
              </a:ext>
            </a:extLst>
          </p:cNvPr>
          <p:cNvSpPr txBox="1"/>
          <p:nvPr/>
        </p:nvSpPr>
        <p:spPr>
          <a:xfrm>
            <a:off x="1430001" y="2775826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E</a:t>
            </a:r>
            <a:r>
              <a:rPr lang="en-US" altLang="zh-CN" sz="2000" baseline="-25000" dirty="0">
                <a:solidFill>
                  <a:srgbClr val="002060"/>
                </a:solidFill>
              </a:rPr>
              <a:t>3</a:t>
            </a:r>
            <a:r>
              <a:rPr lang="en-US" altLang="zh-CN" sz="2000" dirty="0">
                <a:solidFill>
                  <a:srgbClr val="002060"/>
                </a:solidFill>
              </a:rPr>
              <a:t>: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2A93180-470E-48EC-9A45-A8DBB205F6FF}"/>
              </a:ext>
            </a:extLst>
          </p:cNvPr>
          <p:cNvSpPr txBox="1"/>
          <p:nvPr/>
        </p:nvSpPr>
        <p:spPr>
          <a:xfrm>
            <a:off x="1430001" y="3274821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E</a:t>
            </a:r>
            <a:r>
              <a:rPr lang="en-US" altLang="zh-CN" sz="2000" baseline="-25000" dirty="0">
                <a:solidFill>
                  <a:srgbClr val="002060"/>
                </a:solidFill>
              </a:rPr>
              <a:t>4</a:t>
            </a:r>
            <a:r>
              <a:rPr lang="en-US" altLang="zh-CN" sz="2000" dirty="0">
                <a:solidFill>
                  <a:srgbClr val="002060"/>
                </a:solidFill>
              </a:rPr>
              <a:t>: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8C6C9F3-746C-431E-AB02-93E2C16DC8D3}"/>
              </a:ext>
            </a:extLst>
          </p:cNvPr>
          <p:cNvSpPr txBox="1"/>
          <p:nvPr/>
        </p:nvSpPr>
        <p:spPr>
          <a:xfrm>
            <a:off x="1430001" y="3941358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E</a:t>
            </a:r>
            <a:r>
              <a:rPr lang="en-US" altLang="zh-CN" sz="2000" baseline="-25000" dirty="0">
                <a:solidFill>
                  <a:srgbClr val="002060"/>
                </a:solidFill>
              </a:rPr>
              <a:t>5</a:t>
            </a:r>
            <a:r>
              <a:rPr lang="en-US" altLang="zh-CN" sz="2000" dirty="0"/>
              <a:t>:</a:t>
            </a:r>
            <a:endParaRPr lang="zh-CN" altLang="en-US" sz="2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BCBA5B8-073B-41F2-B060-734FDFC9F251}"/>
              </a:ext>
            </a:extLst>
          </p:cNvPr>
          <p:cNvSpPr txBox="1"/>
          <p:nvPr/>
        </p:nvSpPr>
        <p:spPr>
          <a:xfrm>
            <a:off x="1430001" y="4387791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</a:rPr>
              <a:t>E</a:t>
            </a:r>
            <a:r>
              <a:rPr lang="en-US" altLang="zh-CN" sz="2000" baseline="-25000" dirty="0">
                <a:solidFill>
                  <a:srgbClr val="002060"/>
                </a:solidFill>
              </a:rPr>
              <a:t>6</a:t>
            </a:r>
            <a:r>
              <a:rPr lang="en-US" altLang="zh-CN" sz="2000" dirty="0"/>
              <a:t>: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FD27C1-C089-4494-948A-CBF79A78CA85}"/>
              </a:ext>
            </a:extLst>
          </p:cNvPr>
          <p:cNvSpPr txBox="1"/>
          <p:nvPr/>
        </p:nvSpPr>
        <p:spPr>
          <a:xfrm>
            <a:off x="348357" y="5165987"/>
            <a:ext cx="115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Question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773225-8257-4081-8EDD-A0640B21DB3A}"/>
              </a:ext>
            </a:extLst>
          </p:cNvPr>
          <p:cNvSpPr txBox="1"/>
          <p:nvPr/>
        </p:nvSpPr>
        <p:spPr>
          <a:xfrm>
            <a:off x="1586195" y="5181181"/>
            <a:ext cx="520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What are the features of these experiments?</a:t>
            </a:r>
            <a:endParaRPr lang="zh-CN" altLang="en-US" dirty="0">
              <a:solidFill>
                <a:srgbClr val="00206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7856CC80-9E5E-4D45-8955-02F95F09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011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1" grpId="0"/>
      <p:bldP spid="4128" grpId="0"/>
      <p:bldP spid="3" grpId="0"/>
      <p:bldP spid="5" grpId="0"/>
      <p:bldP spid="4122" grpId="0"/>
      <p:bldP spid="7" grpId="0"/>
      <p:bldP spid="4125" grpId="0" animBg="1"/>
      <p:bldP spid="4116" grpId="0" animBg="1"/>
      <p:bldP spid="12" grpId="0"/>
      <p:bldP spid="13" grpId="0"/>
      <p:bldP spid="14" grpId="0"/>
      <p:bldP spid="15" grpId="0"/>
      <p:bldP spid="42" grpId="0"/>
      <p:bldP spid="43" grpId="0"/>
      <p:bldP spid="44" grpId="0"/>
      <p:bldP spid="45" grpId="0"/>
      <p:bldP spid="4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Text Box 98">
            <a:extLst>
              <a:ext uri="{FF2B5EF4-FFF2-40B4-BE49-F238E27FC236}">
                <a16:creationId xmlns:a16="http://schemas.microsoft.com/office/drawing/2014/main" id="{CAF99681-7EE3-4653-9519-76F2188D8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2414310"/>
            <a:ext cx="74580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Experiments can be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repeat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ed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under the same condition.</a:t>
            </a:r>
          </a:p>
        </p:txBody>
      </p:sp>
      <p:sp>
        <p:nvSpPr>
          <p:cNvPr id="5130" name="Text Box 100">
            <a:extLst>
              <a:ext uri="{FF2B5EF4-FFF2-40B4-BE49-F238E27FC236}">
                <a16:creationId xmlns:a16="http://schemas.microsoft.com/office/drawing/2014/main" id="{1C98B12C-E019-49A0-A934-8E718EBF9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24" y="2891388"/>
            <a:ext cx="76245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outcome of an experiment may not be unique, but all the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possible outcomes are known 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before the experiments.</a:t>
            </a:r>
          </a:p>
        </p:txBody>
      </p:sp>
      <p:sp>
        <p:nvSpPr>
          <p:cNvPr id="5131" name="Text Box 101">
            <a:extLst>
              <a:ext uri="{FF2B5EF4-FFF2-40B4-BE49-F238E27FC236}">
                <a16:creationId xmlns:a16="http://schemas.microsoft.com/office/drawing/2014/main" id="{EEB009D1-D234-4740-95BA-D415801FB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724" y="3696837"/>
            <a:ext cx="69157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It is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not sure 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uncertain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which outcome will come up before an experiment.</a:t>
            </a:r>
          </a:p>
        </p:txBody>
      </p:sp>
      <p:pic>
        <p:nvPicPr>
          <p:cNvPr id="5132" name="Picture 102" descr="f125">
            <a:extLst>
              <a:ext uri="{FF2B5EF4-FFF2-40B4-BE49-F238E27FC236}">
                <a16:creationId xmlns:a16="http://schemas.microsoft.com/office/drawing/2014/main" id="{B47F11C9-566A-49E0-968F-E9B53BA83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3" y="2484781"/>
            <a:ext cx="28733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3" name="Picture 103" descr="f126">
            <a:extLst>
              <a:ext uri="{FF2B5EF4-FFF2-40B4-BE49-F238E27FC236}">
                <a16:creationId xmlns:a16="http://schemas.microsoft.com/office/drawing/2014/main" id="{126F7D45-1023-4421-B486-39AECFAFF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2930109"/>
            <a:ext cx="28733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4" name="Picture 104" descr="f127">
            <a:extLst>
              <a:ext uri="{FF2B5EF4-FFF2-40B4-BE49-F238E27FC236}">
                <a16:creationId xmlns:a16="http://schemas.microsoft.com/office/drawing/2014/main" id="{49C70389-F89F-473C-8BF1-2AC01DAA3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3" y="3762719"/>
            <a:ext cx="28733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106">
            <a:extLst>
              <a:ext uri="{FF2B5EF4-FFF2-40B4-BE49-F238E27FC236}">
                <a16:creationId xmlns:a16="http://schemas.microsoft.com/office/drawing/2014/main" id="{5130120E-D865-4060-93BB-82C30C0E7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435" y="4568481"/>
            <a:ext cx="76245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rPr>
              <a:t>Experiments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rPr>
              <a:t>with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rPr>
              <a:t> the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rPr>
              <a:t>above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rPr>
              <a:t>features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rPr>
              <a:t>are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rPr>
              <a:t>termed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161" name="Text Box 107">
            <a:extLst>
              <a:ext uri="{FF2B5EF4-FFF2-40B4-BE49-F238E27FC236}">
                <a16:creationId xmlns:a16="http://schemas.microsoft.com/office/drawing/2014/main" id="{E8383699-49EC-495B-8AF9-96B21433A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016" y="5019825"/>
            <a:ext cx="30593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Random Experiments (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随机试验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5ECB47-F088-49AF-A2E3-39A741A6EE47}"/>
              </a:ext>
            </a:extLst>
          </p:cNvPr>
          <p:cNvSpPr txBox="1"/>
          <p:nvPr/>
        </p:nvSpPr>
        <p:spPr>
          <a:xfrm>
            <a:off x="601260" y="1951856"/>
            <a:ext cx="4076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Features of these Experiments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Line 88">
            <a:extLst>
              <a:ext uri="{FF2B5EF4-FFF2-40B4-BE49-F238E27FC236}">
                <a16:creationId xmlns:a16="http://schemas.microsoft.com/office/drawing/2014/main" id="{0F12E061-DF06-E540-B5DB-4A1A60D11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5756" y="738978"/>
            <a:ext cx="4463415" cy="1"/>
          </a:xfrm>
          <a:prstGeom prst="line">
            <a:avLst/>
          </a:prstGeom>
          <a:noFill/>
          <a:ln w="57150" cmpd="thinThick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8" name="文本框 9">
            <a:extLst>
              <a:ext uri="{FF2B5EF4-FFF2-40B4-BE49-F238E27FC236}">
                <a16:creationId xmlns:a16="http://schemas.microsoft.com/office/drawing/2014/main" id="{F9284928-9971-2E45-9C76-162241FE6C40}"/>
              </a:ext>
            </a:extLst>
          </p:cNvPr>
          <p:cNvSpPr txBox="1"/>
          <p:nvPr/>
        </p:nvSpPr>
        <p:spPr>
          <a:xfrm>
            <a:off x="2156578" y="412886"/>
            <a:ext cx="493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Random Experiments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and sample space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文本框 11">
            <a:extLst>
              <a:ext uri="{FF2B5EF4-FFF2-40B4-BE49-F238E27FC236}">
                <a16:creationId xmlns:a16="http://schemas.microsoft.com/office/drawing/2014/main" id="{7DA3528E-10E3-C04B-89C8-2B4340572B6F}"/>
              </a:ext>
            </a:extLst>
          </p:cNvPr>
          <p:cNvSpPr txBox="1"/>
          <p:nvPr/>
        </p:nvSpPr>
        <p:spPr>
          <a:xfrm>
            <a:off x="197436" y="872715"/>
            <a:ext cx="1512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Experiment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试验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文本框 12">
            <a:extLst>
              <a:ext uri="{FF2B5EF4-FFF2-40B4-BE49-F238E27FC236}">
                <a16:creationId xmlns:a16="http://schemas.microsoft.com/office/drawing/2014/main" id="{0A0FEFBE-3892-344D-9FF5-DBB98412B212}"/>
              </a:ext>
            </a:extLst>
          </p:cNvPr>
          <p:cNvSpPr txBox="1"/>
          <p:nvPr/>
        </p:nvSpPr>
        <p:spPr>
          <a:xfrm>
            <a:off x="1655691" y="995681"/>
            <a:ext cx="7352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Scientific observation about some characteristic of some random test.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STXinwei" panose="02010800040101010101" pitchFamily="2" charset="-122"/>
              <a:ea typeface="STXinwei" panose="02010800040101010101" pitchFamily="2" charset="-122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D37DE1EA-2F2A-D74A-9610-493BE634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669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1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5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2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6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3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7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bldLvl="0" autoUpdateAnimBg="0"/>
      <p:bldP spid="5130" grpId="0" bldLvl="0" autoUpdateAnimBg="0"/>
      <p:bldP spid="5131" grpId="0" bldLvl="0" autoUpdateAnimBg="0"/>
      <p:bldP spid="4" grpId="0"/>
      <p:bldP spid="5161" grpId="0"/>
      <p:bldP spid="13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D133DB40-B70C-42F8-A2B3-897DC5E6F348}"/>
              </a:ext>
            </a:extLst>
          </p:cNvPr>
          <p:cNvSpPr/>
          <p:nvPr/>
        </p:nvSpPr>
        <p:spPr>
          <a:xfrm>
            <a:off x="2836334" y="4289965"/>
            <a:ext cx="5416415" cy="1195244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AutoShape 119">
            <a:extLst>
              <a:ext uri="{FF2B5EF4-FFF2-40B4-BE49-F238E27FC236}">
                <a16:creationId xmlns:a16="http://schemas.microsoft.com/office/drawing/2014/main" id="{947FE456-F172-4BC6-8523-86C7C1A35E49}"/>
              </a:ext>
            </a:extLst>
          </p:cNvPr>
          <p:cNvSpPr>
            <a:spLocks/>
          </p:cNvSpPr>
          <p:nvPr/>
        </p:nvSpPr>
        <p:spPr bwMode="auto">
          <a:xfrm>
            <a:off x="2316162" y="3855797"/>
            <a:ext cx="279400" cy="1411358"/>
          </a:xfrm>
          <a:prstGeom prst="leftBrace">
            <a:avLst>
              <a:gd name="adj1" fmla="val 31422"/>
              <a:gd name="adj2" fmla="val 50000"/>
            </a:avLst>
          </a:prstGeom>
          <a:ln w="28575"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6" name="Text Box 121">
            <a:extLst>
              <a:ext uri="{FF2B5EF4-FFF2-40B4-BE49-F238E27FC236}">
                <a16:creationId xmlns:a16="http://schemas.microsoft.com/office/drawing/2014/main" id="{ED604928-12EC-4BA5-8DF0-0271C67BE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863" y="3574644"/>
            <a:ext cx="4623674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  <a:sym typeface="Times New Roman" panose="02020603050405020304" pitchFamily="18" charset="0"/>
              </a:rPr>
              <a:t>“one 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  <a:sym typeface="Times New Roman" panose="02020603050405020304" pitchFamily="18" charset="0"/>
              </a:rPr>
              <a:t>”、 “two ”、</a:t>
            </a:r>
            <a:r>
              <a:rPr lang="en-US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  <a:sym typeface="Times New Roman" panose="02020603050405020304" pitchFamily="18" charset="0"/>
              </a:rPr>
              <a:t>…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  <a:sym typeface="Times New Roman" panose="02020603050405020304" pitchFamily="18" charset="0"/>
              </a:rPr>
              <a:t> 、“six”；</a:t>
            </a:r>
            <a:endParaRPr lang="en-US" altLang="en-US" sz="2400" b="1" dirty="0">
              <a:solidFill>
                <a:schemeClr val="tx2"/>
              </a:solidFill>
              <a:latin typeface="Calibri" panose="020F0502020204030204" pitchFamily="34" charset="0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8" name="Text Box 123">
            <a:extLst>
              <a:ext uri="{FF2B5EF4-FFF2-40B4-BE49-F238E27FC236}">
                <a16:creationId xmlns:a16="http://schemas.microsoft.com/office/drawing/2014/main" id="{AE13EE66-F76F-4612-ACF6-805AD4E5E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334" y="4331179"/>
            <a:ext cx="567901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the number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shown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is less than three;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the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number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shown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is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greater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than</a:t>
            </a:r>
            <a:r>
              <a:rPr lang="zh-CN" altLang="en-US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400" b="1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four.</a:t>
            </a:r>
          </a:p>
        </p:txBody>
      </p:sp>
      <p:sp>
        <p:nvSpPr>
          <p:cNvPr id="23" name="AutoShape 128">
            <a:extLst>
              <a:ext uri="{FF2B5EF4-FFF2-40B4-BE49-F238E27FC236}">
                <a16:creationId xmlns:a16="http://schemas.microsoft.com/office/drawing/2014/main" id="{455FA4FE-A6C3-4B8F-8A13-8E28705E9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5995" y="2857040"/>
            <a:ext cx="2499486" cy="646331"/>
          </a:xfrm>
          <a:prstGeom prst="wedgeRectCallout">
            <a:avLst>
              <a:gd name="adj1" fmla="val 351"/>
              <a:gd name="adj2" fmla="val 84429"/>
            </a:avLst>
          </a:prstGeom>
          <a:solidFill>
            <a:schemeClr val="bg1"/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Fundamental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outcome</a:t>
            </a:r>
            <a:r>
              <a:rPr lang="en-US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s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基本结果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endParaRPr lang="en-US" altLang="en-US" sz="20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26" name="AutoShape 131">
            <a:extLst>
              <a:ext uri="{FF2B5EF4-FFF2-40B4-BE49-F238E27FC236}">
                <a16:creationId xmlns:a16="http://schemas.microsoft.com/office/drawing/2014/main" id="{2DA1C640-4D13-4E32-9107-1A54DED2D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702" y="6047829"/>
            <a:ext cx="3762630" cy="444381"/>
          </a:xfrm>
          <a:prstGeom prst="wedgeRectCallout">
            <a:avLst>
              <a:gd name="adj1" fmla="val -33970"/>
              <a:gd name="adj2" fmla="val -154399"/>
            </a:avLst>
          </a:prstGeom>
          <a:solidFill>
            <a:schemeClr val="bg1"/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Comp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osite</a:t>
            </a:r>
            <a:r>
              <a:rPr lang="en-US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outcome</a:t>
            </a:r>
            <a:r>
              <a:rPr lang="en-US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s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复合结果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endParaRPr lang="en-US" altLang="en-US" sz="20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31" name="Text Box 113">
            <a:extLst>
              <a:ext uri="{FF2B5EF4-FFF2-40B4-BE49-F238E27FC236}">
                <a16:creationId xmlns:a16="http://schemas.microsoft.com/office/drawing/2014/main" id="{8D8493FD-57DF-42A8-AA13-284150BD2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85" y="1438427"/>
            <a:ext cx="6511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E:</a:t>
            </a:r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roll a dice</a:t>
            </a:r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and</a:t>
            </a:r>
            <a:r>
              <a:rPr lang="zh-CN" altLang="en-US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observe the number shown</a:t>
            </a:r>
          </a:p>
        </p:txBody>
      </p:sp>
      <p:pic>
        <p:nvPicPr>
          <p:cNvPr id="32" name="Picture 136" descr="骰子">
            <a:extLst>
              <a:ext uri="{FF2B5EF4-FFF2-40B4-BE49-F238E27FC236}">
                <a16:creationId xmlns:a16="http://schemas.microsoft.com/office/drawing/2014/main" id="{7C3484B3-C7D6-469E-8F94-CE329729C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094" y="1878011"/>
            <a:ext cx="33258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481146A8-EB03-41C4-BCF2-9F1586C06418}"/>
              </a:ext>
            </a:extLst>
          </p:cNvPr>
          <p:cNvSpPr txBox="1"/>
          <p:nvPr/>
        </p:nvSpPr>
        <p:spPr>
          <a:xfrm>
            <a:off x="625044" y="1062417"/>
            <a:ext cx="1312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Example: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868F8F2-9364-4C57-83E7-5FD60825E38C}"/>
              </a:ext>
            </a:extLst>
          </p:cNvPr>
          <p:cNvSpPr txBox="1"/>
          <p:nvPr/>
        </p:nvSpPr>
        <p:spPr>
          <a:xfrm>
            <a:off x="673779" y="2740433"/>
            <a:ext cx="1264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Analyze: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DFC11BC-8D90-4D63-AE68-5FC53A82232E}"/>
              </a:ext>
            </a:extLst>
          </p:cNvPr>
          <p:cNvSpPr txBox="1"/>
          <p:nvPr/>
        </p:nvSpPr>
        <p:spPr>
          <a:xfrm>
            <a:off x="673779" y="4145977"/>
            <a:ext cx="16203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Possible</a:t>
            </a:r>
            <a:r>
              <a:rPr lang="zh-CN" alt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zh-CN" alt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zh-CN" alt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Line 88">
            <a:extLst>
              <a:ext uri="{FF2B5EF4-FFF2-40B4-BE49-F238E27FC236}">
                <a16:creationId xmlns:a16="http://schemas.microsoft.com/office/drawing/2014/main" id="{2C07D5B2-954A-5947-8FF6-F82675EDC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5756" y="738978"/>
            <a:ext cx="4463415" cy="1"/>
          </a:xfrm>
          <a:prstGeom prst="line">
            <a:avLst/>
          </a:prstGeom>
          <a:noFill/>
          <a:ln w="57150" cmpd="thinThick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2" name="文本框 9">
            <a:extLst>
              <a:ext uri="{FF2B5EF4-FFF2-40B4-BE49-F238E27FC236}">
                <a16:creationId xmlns:a16="http://schemas.microsoft.com/office/drawing/2014/main" id="{4571A5F9-EB01-3E47-992A-1B7205D5C3B2}"/>
              </a:ext>
            </a:extLst>
          </p:cNvPr>
          <p:cNvSpPr txBox="1"/>
          <p:nvPr/>
        </p:nvSpPr>
        <p:spPr>
          <a:xfrm>
            <a:off x="2221022" y="356049"/>
            <a:ext cx="4701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Random Experiment and sample space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0B579563-8E3E-114C-B0B3-B4CFAAFE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32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4" grpId="0" animBg="1"/>
      <p:bldP spid="16" grpId="0"/>
      <p:bldP spid="23" grpId="0" animBg="1"/>
      <p:bldP spid="26" grpId="0" animBg="1"/>
      <p:bldP spid="31" grpId="0"/>
      <p:bldP spid="33" grpId="0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0" name="AutoShape 89">
            <a:extLst>
              <a:ext uri="{FF2B5EF4-FFF2-40B4-BE49-F238E27FC236}">
                <a16:creationId xmlns:a16="http://schemas.microsoft.com/office/drawing/2014/main" id="{D41B1275-6D73-441E-95EC-1EF887D8E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51" y="983938"/>
            <a:ext cx="2799230" cy="307976"/>
          </a:xfrm>
          <a:prstGeom prst="wedgeRectCallout">
            <a:avLst>
              <a:gd name="adj1" fmla="val -54720"/>
              <a:gd name="adj2" fmla="val -5744"/>
            </a:avLst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Called</a:t>
            </a:r>
            <a:r>
              <a:rPr lang="en-US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Sample </a:t>
            </a:r>
            <a:r>
              <a:rPr lang="en-US" altLang="zh-CN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values</a:t>
            </a:r>
            <a:r>
              <a:rPr lang="en-US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样本点</a:t>
            </a:r>
            <a:r>
              <a:rPr lang="en-US" altLang="zh-CN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endParaRPr lang="en-US" altLang="en-US" sz="15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6188" name="Text Box 87">
            <a:extLst>
              <a:ext uri="{FF2B5EF4-FFF2-40B4-BE49-F238E27FC236}">
                <a16:creationId xmlns:a16="http://schemas.microsoft.com/office/drawing/2014/main" id="{4BD9E781-68DD-4000-BA2C-419F942DF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347" y="1880960"/>
            <a:ext cx="7084665" cy="830997"/>
          </a:xfrm>
          <a:prstGeom prst="rect">
            <a:avLst/>
          </a:prstGeom>
          <a:ln w="28575">
            <a:solidFill>
              <a:srgbClr val="FF85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 set including all </a:t>
            </a:r>
            <a:r>
              <a:rPr lang="en-US" altLang="zh-CN" sz="24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sample values </a:t>
            </a:r>
            <a:r>
              <a:rPr lang="en-US" altLang="zh-CN" sz="24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the experiment is called </a:t>
            </a:r>
            <a:r>
              <a:rPr lang="en-US" altLang="zh-CN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Sample Space Ω</a:t>
            </a:r>
            <a:r>
              <a:rPr lang="zh-CN" altLang="en-US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样本空间</a:t>
            </a:r>
            <a:r>
              <a:rPr lang="en-US" altLang="zh-CN" sz="24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4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59" name="Text Box 105">
            <a:extLst>
              <a:ext uri="{FF2B5EF4-FFF2-40B4-BE49-F238E27FC236}">
                <a16:creationId xmlns:a16="http://schemas.microsoft.com/office/drawing/2014/main" id="{746C32A5-2AFC-4E37-8AFB-45D48F82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415" y="2845380"/>
            <a:ext cx="72215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roll a dice and observe the number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shown, the sample space is</a:t>
            </a:r>
          </a:p>
        </p:txBody>
      </p:sp>
      <p:sp>
        <p:nvSpPr>
          <p:cNvPr id="6162" name="Text Box 109">
            <a:extLst>
              <a:ext uri="{FF2B5EF4-FFF2-40B4-BE49-F238E27FC236}">
                <a16:creationId xmlns:a16="http://schemas.microsoft.com/office/drawing/2014/main" id="{2C89E429-23BB-4F9D-8372-7A7DF4CE8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346" y="3496625"/>
            <a:ext cx="69127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flip two coins and observe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occurrence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of Heads and Tails, the sample space is</a:t>
            </a:r>
          </a:p>
        </p:txBody>
      </p:sp>
      <p:sp>
        <p:nvSpPr>
          <p:cNvPr id="6164" name="Text Box 111">
            <a:extLst>
              <a:ext uri="{FF2B5EF4-FFF2-40B4-BE49-F238E27FC236}">
                <a16:creationId xmlns:a16="http://schemas.microsoft.com/office/drawing/2014/main" id="{726DCC2E-63F1-407D-B9FB-9AB7798ED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4135328"/>
            <a:ext cx="51133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Ω={(T,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T),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(T,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H),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(H,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T),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(H,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H)}</a:t>
            </a:r>
          </a:p>
        </p:txBody>
      </p:sp>
      <p:sp>
        <p:nvSpPr>
          <p:cNvPr id="6174" name="Text Box 124">
            <a:extLst>
              <a:ext uri="{FF2B5EF4-FFF2-40B4-BE49-F238E27FC236}">
                <a16:creationId xmlns:a16="http://schemas.microsoft.com/office/drawing/2014/main" id="{C1B7BC52-C9EF-4183-8956-D8EDD90DC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347" y="4664433"/>
            <a:ext cx="7219605" cy="710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record the average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daily temperature of Shenzhen, the sample space is</a:t>
            </a:r>
          </a:p>
        </p:txBody>
      </p:sp>
      <p:sp>
        <p:nvSpPr>
          <p:cNvPr id="6180" name="AutoShape 167">
            <a:extLst>
              <a:ext uri="{FF2B5EF4-FFF2-40B4-BE49-F238E27FC236}">
                <a16:creationId xmlns:a16="http://schemas.microsoft.com/office/drawing/2014/main" id="{C358CD9F-DCAD-47F6-9A1B-E9D95570E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407" y="3941479"/>
            <a:ext cx="2428874" cy="549941"/>
          </a:xfrm>
          <a:prstGeom prst="wedgeRectCallout">
            <a:avLst>
              <a:gd name="adj1" fmla="val -62052"/>
              <a:gd name="adj2" fmla="val 36693"/>
            </a:avLst>
          </a:prstGeom>
          <a:solidFill>
            <a:schemeClr val="bg1"/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Non-abstract point set 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非抽象点集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endParaRPr lang="en-US" altLang="en-US" sz="28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4" name="Line 171">
            <a:extLst>
              <a:ext uri="{FF2B5EF4-FFF2-40B4-BE49-F238E27FC236}">
                <a16:creationId xmlns:a16="http://schemas.microsoft.com/office/drawing/2014/main" id="{47D56D7B-0D9F-4C03-B850-F5A5999FA5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9260" y="5461948"/>
            <a:ext cx="566050" cy="9271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175">
            <a:extLst>
              <a:ext uri="{FF2B5EF4-FFF2-40B4-BE49-F238E27FC236}">
                <a16:creationId xmlns:a16="http://schemas.microsoft.com/office/drawing/2014/main" id="{7CEED615-FC90-4F11-8F33-20506CEEB5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59058" y="5323836"/>
            <a:ext cx="954199" cy="1588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173">
            <a:extLst>
              <a:ext uri="{FF2B5EF4-FFF2-40B4-BE49-F238E27FC236}">
                <a16:creationId xmlns:a16="http://schemas.microsoft.com/office/drawing/2014/main" id="{B947EEE6-AAB0-40B9-8D36-EC6D0F8D5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29" y="5123811"/>
            <a:ext cx="2094386" cy="527292"/>
          </a:xfrm>
          <a:prstGeom prst="wedgeRectCallout">
            <a:avLst>
              <a:gd name="adj1" fmla="val -24560"/>
              <a:gd name="adj2" fmla="val 47394"/>
            </a:avLst>
          </a:prstGeom>
          <a:solidFill>
            <a:schemeClr val="bg1"/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Abstract point set 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抽象点集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endParaRPr lang="en-US" altLang="en-US" sz="18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9" name="Text Box 48">
            <a:extLst>
              <a:ext uri="{FF2B5EF4-FFF2-40B4-BE49-F238E27FC236}">
                <a16:creationId xmlns:a16="http://schemas.microsoft.com/office/drawing/2014/main" id="{645A3B57-EC5C-443F-8D6E-05E8BF90E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136" y="5592123"/>
            <a:ext cx="732864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a military airplane throws a bomb at the location (x</a:t>
            </a:r>
            <a:r>
              <a:rPr lang="en-US" altLang="zh-CN" sz="2000" b="1" baseline="-25000" dirty="0">
                <a:solidFill>
                  <a:schemeClr val="tx2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,y</a:t>
            </a:r>
            <a:r>
              <a:rPr lang="en-US" altLang="zh-CN" sz="2000" b="1" baseline="-25000" dirty="0">
                <a:solidFill>
                  <a:schemeClr val="tx2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), observe the area of impact (x, y), which is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5B41FC3-173D-4112-A1EF-9FED54F12227}"/>
              </a:ext>
            </a:extLst>
          </p:cNvPr>
          <p:cNvGrpSpPr/>
          <p:nvPr/>
        </p:nvGrpSpPr>
        <p:grpSpPr>
          <a:xfrm>
            <a:off x="139010" y="905397"/>
            <a:ext cx="5945346" cy="767141"/>
            <a:chOff x="1094596" y="906781"/>
            <a:chExt cx="5945346" cy="767141"/>
          </a:xfrm>
        </p:grpSpPr>
        <p:sp>
          <p:nvSpPr>
            <p:cNvPr id="6147" name="AutoShape 83">
              <a:extLst>
                <a:ext uri="{FF2B5EF4-FFF2-40B4-BE49-F238E27FC236}">
                  <a16:creationId xmlns:a16="http://schemas.microsoft.com/office/drawing/2014/main" id="{A4027D70-090A-48FE-ABFC-9D63B94C4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348" y="1008063"/>
              <a:ext cx="152400" cy="533400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3BD259E-87ED-4979-9682-ABEBB4BBE082}"/>
                </a:ext>
              </a:extLst>
            </p:cNvPr>
            <p:cNvSpPr txBox="1"/>
            <p:nvPr/>
          </p:nvSpPr>
          <p:spPr>
            <a:xfrm>
              <a:off x="1094596" y="1048570"/>
              <a:ext cx="14117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</a:rPr>
                <a:t>Experiment</a:t>
              </a:r>
              <a:endParaRPr lang="zh-CN" altLang="en-US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972928E-A1E6-434B-AAFE-8615ACD77C68}"/>
                </a:ext>
              </a:extLst>
            </p:cNvPr>
            <p:cNvSpPr txBox="1"/>
            <p:nvPr/>
          </p:nvSpPr>
          <p:spPr>
            <a:xfrm>
              <a:off x="2557689" y="906781"/>
              <a:ext cx="44822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</a:rPr>
                <a:t>Fundamental outcome (indecomposable)</a:t>
              </a:r>
              <a:endParaRPr lang="zh-CN" altLang="en-US" sz="2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87BB61B-6EB0-4F44-9AF9-3714CE0B2D49}"/>
                </a:ext>
              </a:extLst>
            </p:cNvPr>
            <p:cNvSpPr txBox="1"/>
            <p:nvPr/>
          </p:nvSpPr>
          <p:spPr>
            <a:xfrm>
              <a:off x="2557689" y="1273812"/>
              <a:ext cx="40281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</a:rPr>
                <a:t>Composite outcome (decomposable)</a:t>
              </a:r>
              <a:endParaRPr lang="zh-CN" altLang="en-US" sz="2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F5B775A1-D423-4C79-B111-3D8C7EDA6D0D}"/>
              </a:ext>
            </a:extLst>
          </p:cNvPr>
          <p:cNvSpPr txBox="1"/>
          <p:nvPr/>
        </p:nvSpPr>
        <p:spPr>
          <a:xfrm>
            <a:off x="267874" y="1877120"/>
            <a:ext cx="1316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Definition: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FEAE4B3-7E7E-4ADA-9F95-F4329273F677}"/>
              </a:ext>
            </a:extLst>
          </p:cNvPr>
          <p:cNvSpPr txBox="1"/>
          <p:nvPr/>
        </p:nvSpPr>
        <p:spPr>
          <a:xfrm>
            <a:off x="3028950" y="3135639"/>
            <a:ext cx="2472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Ω = {1, 2, 3, 4, 5, 6}</a:t>
            </a:r>
            <a:endParaRPr lang="zh-CN" altLang="en-US" sz="20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A7F183-E6C6-48BE-AD3A-C4E62071FB69}"/>
              </a:ext>
            </a:extLst>
          </p:cNvPr>
          <p:cNvSpPr/>
          <p:nvPr/>
        </p:nvSpPr>
        <p:spPr>
          <a:xfrm>
            <a:off x="486894" y="2826137"/>
            <a:ext cx="1059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464B247-4EDD-466F-90E2-270D1F539EEE}"/>
              </a:ext>
            </a:extLst>
          </p:cNvPr>
          <p:cNvSpPr txBox="1"/>
          <p:nvPr/>
        </p:nvSpPr>
        <p:spPr>
          <a:xfrm>
            <a:off x="3438285" y="513547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Ω = (-10, 50)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4146C35-079B-468B-9461-A4BCABBF9EDC}"/>
              </a:ext>
            </a:extLst>
          </p:cNvPr>
          <p:cNvSpPr txBox="1"/>
          <p:nvPr/>
        </p:nvSpPr>
        <p:spPr>
          <a:xfrm>
            <a:off x="2950756" y="6305435"/>
            <a:ext cx="4890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Ω = {(x, y)|(x – x</a:t>
            </a:r>
            <a:r>
              <a:rPr lang="en-US" altLang="zh-CN" sz="2000" b="1" baseline="-25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2000" b="1" baseline="30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(y – y</a:t>
            </a:r>
            <a:r>
              <a:rPr lang="en-US" altLang="zh-CN" sz="2000" b="1" baseline="-25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2000" b="1" baseline="30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&lt;r</a:t>
            </a:r>
            <a:r>
              <a:rPr lang="en-US" altLang="zh-CN" sz="2000" b="1" baseline="30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sz="2000" dirty="0"/>
          </a:p>
        </p:txBody>
      </p:sp>
      <p:sp>
        <p:nvSpPr>
          <p:cNvPr id="33" name="AutoShape 89">
            <a:extLst>
              <a:ext uri="{FF2B5EF4-FFF2-40B4-BE49-F238E27FC236}">
                <a16:creationId xmlns:a16="http://schemas.microsoft.com/office/drawing/2014/main" id="{D41B1275-6D73-441E-95EC-1EF887D8E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5" y="1396045"/>
            <a:ext cx="3253705" cy="307976"/>
          </a:xfrm>
          <a:prstGeom prst="wedgeRectCallout">
            <a:avLst>
              <a:gd name="adj1" fmla="val -53310"/>
              <a:gd name="adj2" fmla="val -13456"/>
            </a:avLst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15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Called</a:t>
            </a:r>
            <a:r>
              <a:rPr lang="en-US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Random event, </a:t>
            </a:r>
            <a:r>
              <a:rPr lang="en-US" altLang="en-US" sz="15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in short </a:t>
            </a:r>
            <a:r>
              <a:rPr lang="en-US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Event</a:t>
            </a:r>
          </a:p>
        </p:txBody>
      </p:sp>
      <p:sp>
        <p:nvSpPr>
          <p:cNvPr id="32" name="Line 88">
            <a:extLst>
              <a:ext uri="{FF2B5EF4-FFF2-40B4-BE49-F238E27FC236}">
                <a16:creationId xmlns:a16="http://schemas.microsoft.com/office/drawing/2014/main" id="{34AD9ACF-85ED-6D4A-960F-96E0187927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5756" y="738978"/>
            <a:ext cx="4463415" cy="1"/>
          </a:xfrm>
          <a:prstGeom prst="line">
            <a:avLst/>
          </a:prstGeom>
          <a:noFill/>
          <a:ln w="57150" cmpd="thinThick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34" name="文本框 9">
            <a:extLst>
              <a:ext uri="{FF2B5EF4-FFF2-40B4-BE49-F238E27FC236}">
                <a16:creationId xmlns:a16="http://schemas.microsoft.com/office/drawing/2014/main" id="{66607414-F35C-1A4B-9A85-137729FCF103}"/>
              </a:ext>
            </a:extLst>
          </p:cNvPr>
          <p:cNvSpPr txBox="1"/>
          <p:nvPr/>
        </p:nvSpPr>
        <p:spPr>
          <a:xfrm>
            <a:off x="2221022" y="356049"/>
            <a:ext cx="4701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Random Experiment and sample space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5" name="矩形 17">
            <a:extLst>
              <a:ext uri="{FF2B5EF4-FFF2-40B4-BE49-F238E27FC236}">
                <a16:creationId xmlns:a16="http://schemas.microsoft.com/office/drawing/2014/main" id="{9F2909DE-6453-2346-8126-520C90BEE842}"/>
              </a:ext>
            </a:extLst>
          </p:cNvPr>
          <p:cNvSpPr/>
          <p:nvPr/>
        </p:nvSpPr>
        <p:spPr>
          <a:xfrm>
            <a:off x="486893" y="3484988"/>
            <a:ext cx="1059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矩形 17">
            <a:extLst>
              <a:ext uri="{FF2B5EF4-FFF2-40B4-BE49-F238E27FC236}">
                <a16:creationId xmlns:a16="http://schemas.microsoft.com/office/drawing/2014/main" id="{098A2435-CA20-B549-934C-1EC8788500C6}"/>
              </a:ext>
            </a:extLst>
          </p:cNvPr>
          <p:cNvSpPr/>
          <p:nvPr/>
        </p:nvSpPr>
        <p:spPr>
          <a:xfrm>
            <a:off x="486893" y="4664433"/>
            <a:ext cx="1059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矩形 17">
            <a:extLst>
              <a:ext uri="{FF2B5EF4-FFF2-40B4-BE49-F238E27FC236}">
                <a16:creationId xmlns:a16="http://schemas.microsoft.com/office/drawing/2014/main" id="{A66CE0A7-726D-9A45-9EBC-E4B4894252FD}"/>
              </a:ext>
            </a:extLst>
          </p:cNvPr>
          <p:cNvSpPr/>
          <p:nvPr/>
        </p:nvSpPr>
        <p:spPr>
          <a:xfrm>
            <a:off x="486893" y="5580486"/>
            <a:ext cx="1059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Line 175">
            <a:extLst>
              <a:ext uri="{FF2B5EF4-FFF2-40B4-BE49-F238E27FC236}">
                <a16:creationId xmlns:a16="http://schemas.microsoft.com/office/drawing/2014/main" id="{FA362DEF-D24E-EE47-BDBF-D19177673F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59057" y="3324464"/>
            <a:ext cx="1205512" cy="54994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AutoShape 173">
            <a:extLst>
              <a:ext uri="{FF2B5EF4-FFF2-40B4-BE49-F238E27FC236}">
                <a16:creationId xmlns:a16="http://schemas.microsoft.com/office/drawing/2014/main" id="{2858DEF1-EB9F-424D-B49F-1D153E623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19" y="4130150"/>
            <a:ext cx="2112511" cy="527292"/>
          </a:xfrm>
          <a:prstGeom prst="wedgeRectCallout">
            <a:avLst>
              <a:gd name="adj1" fmla="val -24560"/>
              <a:gd name="adj2" fmla="val 47394"/>
            </a:avLst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Discrete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Sample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Space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离散样本空间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endParaRPr lang="en-US" altLang="en-US" sz="16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40" name="AutoShape 173">
            <a:extLst>
              <a:ext uri="{FF2B5EF4-FFF2-40B4-BE49-F238E27FC236}">
                <a16:creationId xmlns:a16="http://schemas.microsoft.com/office/drawing/2014/main" id="{E28B1E83-8ECE-3E45-9F92-37B39CDAD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11" y="6277494"/>
            <a:ext cx="2449494" cy="527292"/>
          </a:xfrm>
          <a:prstGeom prst="wedgeRectCallout">
            <a:avLst>
              <a:gd name="adj1" fmla="val -24560"/>
              <a:gd name="adj2" fmla="val 47394"/>
            </a:avLst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Continuous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Sample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Space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连续样本空间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endParaRPr lang="en-US" altLang="en-US" sz="1600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41" name="Line 175">
            <a:extLst>
              <a:ext uri="{FF2B5EF4-FFF2-40B4-BE49-F238E27FC236}">
                <a16:creationId xmlns:a16="http://schemas.microsoft.com/office/drawing/2014/main" id="{17BE52F6-FA22-0E41-91C0-2F041112DF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0159" y="3324464"/>
            <a:ext cx="2046860" cy="794049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75">
            <a:extLst>
              <a:ext uri="{FF2B5EF4-FFF2-40B4-BE49-F238E27FC236}">
                <a16:creationId xmlns:a16="http://schemas.microsoft.com/office/drawing/2014/main" id="{FE958CAC-164F-9F43-8ECF-ED10AA3D99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1022" y="4346194"/>
            <a:ext cx="336983" cy="92166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175">
            <a:extLst>
              <a:ext uri="{FF2B5EF4-FFF2-40B4-BE49-F238E27FC236}">
                <a16:creationId xmlns:a16="http://schemas.microsoft.com/office/drawing/2014/main" id="{8699DFD9-3D13-F142-9A13-40CB6DED99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8005" y="5362242"/>
            <a:ext cx="1059522" cy="120691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175">
            <a:extLst>
              <a:ext uri="{FF2B5EF4-FFF2-40B4-BE49-F238E27FC236}">
                <a16:creationId xmlns:a16="http://schemas.microsoft.com/office/drawing/2014/main" id="{2A90AACE-F6E2-4C43-BCCD-4EA9114971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8006" y="6511035"/>
            <a:ext cx="469014" cy="58116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Slide Number Placeholder 3">
            <a:extLst>
              <a:ext uri="{FF2B5EF4-FFF2-40B4-BE49-F238E27FC236}">
                <a16:creationId xmlns:a16="http://schemas.microsoft.com/office/drawing/2014/main" id="{C549135C-295D-484A-9154-3C3ED7BF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769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0" grpId="0" animBg="1"/>
      <p:bldP spid="6188" grpId="0" animBg="1"/>
      <p:bldP spid="6159" grpId="0"/>
      <p:bldP spid="6162" grpId="0"/>
      <p:bldP spid="6164" grpId="0"/>
      <p:bldP spid="6174" grpId="0"/>
      <p:bldP spid="6180" grpId="0" animBg="1"/>
      <p:bldP spid="4" grpId="0" animBg="1"/>
      <p:bldP spid="6" grpId="0" animBg="1"/>
      <p:bldP spid="7" grpId="0" animBg="1"/>
      <p:bldP spid="9" grpId="0"/>
      <p:bldP spid="14" grpId="0"/>
      <p:bldP spid="17" grpId="0"/>
      <p:bldP spid="18" grpId="0"/>
      <p:bldP spid="19" grpId="0"/>
      <p:bldP spid="20" grpId="0"/>
      <p:bldP spid="33" grpId="0" animBg="1"/>
      <p:bldP spid="35" grpId="0"/>
      <p:bldP spid="36" grpId="0"/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0" name="AutoShape 56">
            <a:extLst>
              <a:ext uri="{FF2B5EF4-FFF2-40B4-BE49-F238E27FC236}">
                <a16:creationId xmlns:a16="http://schemas.microsoft.com/office/drawing/2014/main" id="{4207E28C-2982-4A57-B04D-11D7A8AB3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480" y="1873815"/>
            <a:ext cx="2924767" cy="939439"/>
          </a:xfrm>
          <a:prstGeom prst="wedgeRectCallout">
            <a:avLst>
              <a:gd name="adj1" fmla="val 58527"/>
              <a:gd name="adj2" fmla="val 4834"/>
            </a:avLst>
          </a:prstGeom>
          <a:solidFill>
            <a:schemeClr val="bg1"/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From</a:t>
            </a:r>
            <a:r>
              <a:rPr lang="zh-CN" altLang="en-US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the</a:t>
            </a:r>
            <a:r>
              <a:rPr lang="en-US" altLang="en-US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Set Theory </a:t>
            </a:r>
            <a:r>
              <a:rPr lang="en-US" altLang="zh-CN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集合论</a:t>
            </a:r>
            <a:r>
              <a:rPr lang="en-US" altLang="zh-CN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r>
              <a:rPr lang="zh-CN" altLang="en-US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en-US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perspective, </a:t>
            </a:r>
            <a:r>
              <a:rPr lang="en-US" altLang="zh-CN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an</a:t>
            </a:r>
            <a:r>
              <a:rPr lang="zh-CN" altLang="en-US" sz="1700" b="1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Event</a:t>
            </a:r>
            <a:r>
              <a:rPr lang="en-US" altLang="en-US" sz="17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is</a:t>
            </a:r>
            <a:r>
              <a:rPr lang="zh-CN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a</a:t>
            </a:r>
            <a:r>
              <a:rPr lang="en-US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en-US" sz="17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subset of </a:t>
            </a:r>
            <a:r>
              <a:rPr lang="en-US" altLang="zh-CN" sz="17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the</a:t>
            </a:r>
            <a:r>
              <a:rPr lang="zh-CN" altLang="en-US" sz="17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en-US" sz="17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Sample Space</a:t>
            </a:r>
          </a:p>
        </p:txBody>
      </p:sp>
      <p:sp>
        <p:nvSpPr>
          <p:cNvPr id="7217" name="AutoShape 75">
            <a:extLst>
              <a:ext uri="{FF2B5EF4-FFF2-40B4-BE49-F238E27FC236}">
                <a16:creationId xmlns:a16="http://schemas.microsoft.com/office/drawing/2014/main" id="{17FF61A1-916B-4307-9D09-491055A5D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062" y="1874183"/>
            <a:ext cx="3365436" cy="963533"/>
          </a:xfrm>
          <a:prstGeom prst="wedgeRectCallout">
            <a:avLst>
              <a:gd name="adj1" fmla="val -61031"/>
              <a:gd name="adj2" fmla="val 5294"/>
            </a:avLst>
          </a:prstGeom>
          <a:solidFill>
            <a:schemeClr val="bg1"/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From </a:t>
            </a:r>
            <a:r>
              <a:rPr lang="en-US" altLang="zh-CN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the</a:t>
            </a:r>
            <a:r>
              <a:rPr lang="zh-CN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experiment</a:t>
            </a:r>
            <a:r>
              <a:rPr lang="zh-CN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perspective,  </a:t>
            </a:r>
            <a:r>
              <a:rPr lang="en-US" altLang="zh-CN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an</a:t>
            </a:r>
            <a:r>
              <a:rPr lang="zh-CN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en-US" sz="17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Event </a:t>
            </a:r>
            <a:r>
              <a:rPr lang="en-US" altLang="en-US" sz="17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is </a:t>
            </a:r>
            <a:r>
              <a:rPr lang="en-US" altLang="zh-CN" sz="17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composed</a:t>
            </a:r>
            <a:r>
              <a:rPr lang="en-US" altLang="en-US" sz="17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of fundamental </a:t>
            </a:r>
            <a:r>
              <a:rPr lang="en-US" altLang="zh-CN" sz="17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outcomes</a:t>
            </a:r>
            <a:endParaRPr lang="en-US" altLang="en-US" sz="17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6F27AD-FD17-4AED-A6D3-00F940B4FA18}"/>
              </a:ext>
            </a:extLst>
          </p:cNvPr>
          <p:cNvSpPr txBox="1"/>
          <p:nvPr/>
        </p:nvSpPr>
        <p:spPr>
          <a:xfrm>
            <a:off x="4040783" y="1821010"/>
            <a:ext cx="10333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Event 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事件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4926989-35B6-4205-A086-F3064F487642}"/>
              </a:ext>
            </a:extLst>
          </p:cNvPr>
          <p:cNvGrpSpPr/>
          <p:nvPr/>
        </p:nvGrpSpPr>
        <p:grpSpPr>
          <a:xfrm>
            <a:off x="273027" y="3148505"/>
            <a:ext cx="8500470" cy="1511808"/>
            <a:chOff x="273027" y="2698242"/>
            <a:chExt cx="8500470" cy="1511808"/>
          </a:xfrm>
        </p:grpSpPr>
        <p:sp>
          <p:nvSpPr>
            <p:cNvPr id="8" name="Line 80">
              <a:extLst>
                <a:ext uri="{FF2B5EF4-FFF2-40B4-BE49-F238E27FC236}">
                  <a16:creationId xmlns:a16="http://schemas.microsoft.com/office/drawing/2014/main" id="{54B797FC-8ECF-434A-8125-8AF2CB645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0170" y="3042328"/>
              <a:ext cx="2924767" cy="8255"/>
            </a:xfrm>
            <a:prstGeom prst="line">
              <a:avLst/>
            </a:prstGeom>
            <a:noFill/>
            <a:ln w="57150" cmpd="thinThick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Text Box 66">
              <a:extLst>
                <a:ext uri="{FF2B5EF4-FFF2-40B4-BE49-F238E27FC236}">
                  <a16:creationId xmlns:a16="http://schemas.microsoft.com/office/drawing/2014/main" id="{A013EEFA-7A7F-4E48-827A-09410642A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1312" y="3203575"/>
              <a:ext cx="7162185" cy="1006475"/>
            </a:xfrm>
            <a:prstGeom prst="rect">
              <a:avLst/>
            </a:prstGeom>
            <a:ln w="19050">
              <a:solidFill>
                <a:srgbClr val="FF85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A set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of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sample points which satisfy some </a:t>
              </a:r>
              <a:r>
                <a:rPr lang="en-US" altLang="zh-CN" sz="20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specific condition</a:t>
              </a:r>
              <a:r>
                <a:rPr lang="zh-CN" altLang="en-US" sz="20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s</a:t>
              </a:r>
              <a:r>
                <a:rPr lang="zh-CN" altLang="en-US" sz="20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）</a:t>
              </a:r>
              <a:r>
                <a:rPr lang="en-US" altLang="zh-CN" sz="20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is called </a:t>
              </a:r>
              <a:r>
                <a:rPr lang="en-US" altLang="zh-CN" sz="20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Random Event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, or short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for </a:t>
              </a:r>
              <a:r>
                <a:rPr lang="en-US" altLang="zh-CN" sz="20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Event</a:t>
              </a:r>
              <a:r>
                <a:rPr lang="zh-CN" altLang="en-US" sz="20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sz="20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事件</a:t>
              </a:r>
              <a:r>
                <a:rPr lang="en-US" altLang="zh-CN" sz="20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)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, and is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typically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denoted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by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capital letters A, B, </a:t>
              </a:r>
              <a:r>
                <a:rPr lang="en-GB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.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.. X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Y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，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E7CDAD07-40AE-4473-980E-CA846FB8FC3F}"/>
                </a:ext>
              </a:extLst>
            </p:cNvPr>
            <p:cNvSpPr txBox="1"/>
            <p:nvPr/>
          </p:nvSpPr>
          <p:spPr>
            <a:xfrm>
              <a:off x="273027" y="3203575"/>
              <a:ext cx="13161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</a:rPr>
                <a:t>Definition:</a:t>
              </a:r>
              <a:endParaRPr lang="zh-CN" altLang="en-US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586C1F1-8F9D-4257-A6B4-E4269CBB093B}"/>
                </a:ext>
              </a:extLst>
            </p:cNvPr>
            <p:cNvSpPr txBox="1"/>
            <p:nvPr/>
          </p:nvSpPr>
          <p:spPr>
            <a:xfrm>
              <a:off x="3155447" y="2698242"/>
              <a:ext cx="29946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Random Event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(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随机事件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)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2D37BD7-2F4A-4202-A475-974C2D3A8049}"/>
              </a:ext>
            </a:extLst>
          </p:cNvPr>
          <p:cNvGrpSpPr/>
          <p:nvPr/>
        </p:nvGrpSpPr>
        <p:grpSpPr>
          <a:xfrm>
            <a:off x="490939" y="4919405"/>
            <a:ext cx="8282559" cy="802703"/>
            <a:chOff x="490939" y="4178903"/>
            <a:chExt cx="8282559" cy="802703"/>
          </a:xfrm>
        </p:grpSpPr>
        <p:sp>
          <p:nvSpPr>
            <p:cNvPr id="7203" name="Text Box 83">
              <a:extLst>
                <a:ext uri="{FF2B5EF4-FFF2-40B4-BE49-F238E27FC236}">
                  <a16:creationId xmlns:a16="http://schemas.microsoft.com/office/drawing/2014/main" id="{5BCEAC9A-51E8-4AE0-B9E5-2699B955C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961" y="4192588"/>
              <a:ext cx="72215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roll a dice and observe the points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shown, the sample space is</a:t>
              </a: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3C8CA6F0-301D-4CC5-8F93-A400FAB31375}"/>
                </a:ext>
              </a:extLst>
            </p:cNvPr>
            <p:cNvSpPr/>
            <p:nvPr/>
          </p:nvSpPr>
          <p:spPr>
            <a:xfrm>
              <a:off x="490939" y="4178903"/>
              <a:ext cx="11600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</a:rPr>
                <a:t>Example:</a:t>
              </a:r>
              <a:endParaRPr lang="zh-CN" altLang="en-US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D8ACB67F-A6F1-4C7A-8B00-09824FBB84C4}"/>
                </a:ext>
              </a:extLst>
            </p:cNvPr>
            <p:cNvSpPr txBox="1"/>
            <p:nvPr/>
          </p:nvSpPr>
          <p:spPr>
            <a:xfrm>
              <a:off x="3203161" y="4581496"/>
              <a:ext cx="24721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Ω = {1, 2, 3, 4, 5, 6}</a:t>
              </a:r>
              <a:endParaRPr lang="zh-CN" altLang="en-US" sz="2000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457ABA3-B207-44D0-8EB6-C6A5B075CDE1}"/>
              </a:ext>
            </a:extLst>
          </p:cNvPr>
          <p:cNvGrpSpPr/>
          <p:nvPr/>
        </p:nvGrpSpPr>
        <p:grpSpPr>
          <a:xfrm>
            <a:off x="968375" y="6109385"/>
            <a:ext cx="7589473" cy="430887"/>
            <a:chOff x="968375" y="5416053"/>
            <a:chExt cx="7589473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55F9C033-F922-4B6A-8EFA-98310BC69AD0}"/>
                    </a:ext>
                  </a:extLst>
                </p:cNvPr>
                <p:cNvSpPr txBox="1"/>
                <p:nvPr/>
              </p:nvSpPr>
              <p:spPr>
                <a:xfrm>
                  <a:off x="7090780" y="5461812"/>
                  <a:ext cx="1467068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B = {1, 6}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⊂</m:t>
                      </m:r>
                      <m:r>
                        <m:rPr>
                          <m:sty m:val="p"/>
                        </m:rPr>
                        <a:rPr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55F9C033-F922-4B6A-8EFA-98310BC69A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780" y="5461812"/>
                  <a:ext cx="1467068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2564" t="-6667" b="-2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08" name="Text Box 96">
              <a:extLst>
                <a:ext uri="{FF2B5EF4-FFF2-40B4-BE49-F238E27FC236}">
                  <a16:creationId xmlns:a16="http://schemas.microsoft.com/office/drawing/2014/main" id="{BD863517-05B7-4C7E-AD6A-F0670C1D3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5" y="5416053"/>
              <a:ext cx="621665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2200" b="1" dirty="0">
                  <a:latin typeface="Calibri" panose="020F0502020204030204" pitchFamily="34" charset="0"/>
                  <a:ea typeface="楷体" panose="02010609060101010101" pitchFamily="49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E</a:t>
              </a:r>
              <a:r>
                <a:rPr lang="zh-CN" altLang="en-US" sz="2200" b="1" dirty="0">
                  <a:latin typeface="Calibri" panose="020F0502020204030204" pitchFamily="34" charset="0"/>
                  <a:ea typeface="楷体" panose="02010609060101010101" pitchFamily="49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vent </a:t>
              </a:r>
              <a:r>
                <a:rPr lang="en-US" altLang="zh-CN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B:  </a:t>
              </a:r>
              <a:r>
                <a:rPr lang="zh-CN" altLang="en-US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“minimum </a:t>
              </a:r>
              <a:r>
                <a:rPr lang="en-US" altLang="zh-CN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or</a:t>
              </a:r>
              <a:r>
                <a:rPr lang="zh-CN" altLang="en-US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 maximum </a:t>
              </a:r>
              <a:r>
                <a:rPr lang="en-US" altLang="zh-CN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point</a:t>
              </a:r>
              <a:r>
                <a:rPr lang="zh-CN" altLang="en-US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occurs</a:t>
              </a:r>
              <a:r>
                <a:rPr lang="zh-CN" altLang="en-US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"</a:t>
              </a:r>
              <a:r>
                <a:rPr lang="en-US" altLang="en-US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, </a:t>
              </a:r>
              <a:r>
                <a:rPr lang="zh-CN" altLang="en-US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then</a:t>
              </a:r>
            </a:p>
          </p:txBody>
        </p:sp>
      </p:grpSp>
      <p:grpSp>
        <p:nvGrpSpPr>
          <p:cNvPr id="7169" name="组合 7168">
            <a:extLst>
              <a:ext uri="{FF2B5EF4-FFF2-40B4-BE49-F238E27FC236}">
                <a16:creationId xmlns:a16="http://schemas.microsoft.com/office/drawing/2014/main" id="{99229A2F-C3C1-4FD7-8673-CD50D0B89B02}"/>
              </a:ext>
            </a:extLst>
          </p:cNvPr>
          <p:cNvGrpSpPr/>
          <p:nvPr/>
        </p:nvGrpSpPr>
        <p:grpSpPr>
          <a:xfrm>
            <a:off x="968374" y="5720545"/>
            <a:ext cx="6259100" cy="430887"/>
            <a:chOff x="968374" y="4957763"/>
            <a:chExt cx="6259100" cy="430887"/>
          </a:xfrm>
        </p:grpSpPr>
        <p:sp>
          <p:nvSpPr>
            <p:cNvPr id="12" name="Text Box 87">
              <a:extLst>
                <a:ext uri="{FF2B5EF4-FFF2-40B4-BE49-F238E27FC236}">
                  <a16:creationId xmlns:a16="http://schemas.microsoft.com/office/drawing/2014/main" id="{0D622139-08D2-43C3-96DE-7D17BCF03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4" y="4957763"/>
              <a:ext cx="5259909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200" b="1" dirty="0">
                  <a:latin typeface="Calibri" panose="020F0502020204030204" pitchFamily="34" charset="0"/>
                  <a:ea typeface="楷体" panose="02010609060101010101" pitchFamily="49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E</a:t>
              </a:r>
              <a:r>
                <a:rPr lang="zh-CN" altLang="en-US" sz="2200" b="1" dirty="0">
                  <a:latin typeface="Calibri" panose="020F0502020204030204" pitchFamily="34" charset="0"/>
                  <a:ea typeface="楷体" panose="02010609060101010101" pitchFamily="49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vent </a:t>
              </a:r>
              <a:r>
                <a:rPr lang="en-US" altLang="zh-CN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A:</a:t>
              </a:r>
              <a:r>
                <a:rPr lang="zh-CN" altLang="en-US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“number is </a:t>
              </a:r>
              <a:r>
                <a:rPr lang="zh-CN" altLang="en-US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at least three</a:t>
              </a:r>
              <a:r>
                <a:rPr lang="en-US" altLang="zh-CN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”</a:t>
              </a:r>
              <a:r>
                <a:rPr lang="en-US" altLang="en-US" sz="2200" dirty="0"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, </a:t>
              </a:r>
              <a:endParaRPr lang="zh-CN" altLang="en-US" sz="2200" dirty="0"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  <a:sym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68" name="文本框 7167">
                  <a:extLst>
                    <a:ext uri="{FF2B5EF4-FFF2-40B4-BE49-F238E27FC236}">
                      <a16:creationId xmlns:a16="http://schemas.microsoft.com/office/drawing/2014/main" id="{A2A161C2-BD5A-4F3F-B6E1-0A53785355B1}"/>
                    </a:ext>
                  </a:extLst>
                </p:cNvPr>
                <p:cNvSpPr txBox="1"/>
                <p:nvPr/>
              </p:nvSpPr>
              <p:spPr>
                <a:xfrm>
                  <a:off x="5304832" y="5034706"/>
                  <a:ext cx="19226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={3, 4, 5, 6}⊂</m:t>
                        </m:r>
                        <m:r>
                          <m:rPr>
                            <m:sty m:val="p"/>
                          </m:rPr>
                          <a:rPr lang="el-GR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168" name="文本框 7167">
                  <a:extLst>
                    <a:ext uri="{FF2B5EF4-FFF2-40B4-BE49-F238E27FC236}">
                      <a16:creationId xmlns:a16="http://schemas.microsoft.com/office/drawing/2014/main" id="{A2A161C2-BD5A-4F3F-B6E1-0A53785355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4832" y="5034706"/>
                  <a:ext cx="192264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974" r="-1974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AutoShape 89">
            <a:extLst>
              <a:ext uri="{FF2B5EF4-FFF2-40B4-BE49-F238E27FC236}">
                <a16:creationId xmlns:a16="http://schemas.microsoft.com/office/drawing/2014/main" id="{4E0AAC04-CED0-0E46-A971-25A54914F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51" y="983938"/>
            <a:ext cx="2799230" cy="307976"/>
          </a:xfrm>
          <a:prstGeom prst="wedgeRectCallout">
            <a:avLst>
              <a:gd name="adj1" fmla="val -54720"/>
              <a:gd name="adj2" fmla="val -5744"/>
            </a:avLst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Called</a:t>
            </a:r>
            <a:r>
              <a:rPr lang="en-US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Sample </a:t>
            </a:r>
            <a:r>
              <a:rPr lang="en-US" altLang="zh-CN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data</a:t>
            </a:r>
            <a:r>
              <a:rPr lang="en-US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</a:t>
            </a:r>
            <a:r>
              <a:rPr lang="en-US" altLang="zh-CN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(</a:t>
            </a:r>
            <a:r>
              <a:rPr lang="zh-CN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样本点</a:t>
            </a:r>
            <a:r>
              <a:rPr lang="en-US" altLang="zh-CN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)</a:t>
            </a:r>
            <a:endParaRPr lang="en-US" altLang="en-US" sz="1500" b="1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华文新魏" panose="02010800040101010101" pitchFamily="2" charset="-122"/>
            </a:endParaRPr>
          </a:p>
        </p:txBody>
      </p:sp>
      <p:grpSp>
        <p:nvGrpSpPr>
          <p:cNvPr id="32" name="组合 14">
            <a:extLst>
              <a:ext uri="{FF2B5EF4-FFF2-40B4-BE49-F238E27FC236}">
                <a16:creationId xmlns:a16="http://schemas.microsoft.com/office/drawing/2014/main" id="{460D338F-D391-6E40-B3AC-960A53CBCCD2}"/>
              </a:ext>
            </a:extLst>
          </p:cNvPr>
          <p:cNvGrpSpPr/>
          <p:nvPr/>
        </p:nvGrpSpPr>
        <p:grpSpPr>
          <a:xfrm>
            <a:off x="139010" y="905397"/>
            <a:ext cx="5945346" cy="767141"/>
            <a:chOff x="1094596" y="906781"/>
            <a:chExt cx="5945346" cy="767141"/>
          </a:xfrm>
        </p:grpSpPr>
        <p:sp>
          <p:nvSpPr>
            <p:cNvPr id="33" name="AutoShape 83">
              <a:extLst>
                <a:ext uri="{FF2B5EF4-FFF2-40B4-BE49-F238E27FC236}">
                  <a16:creationId xmlns:a16="http://schemas.microsoft.com/office/drawing/2014/main" id="{9754A883-CB8E-BD4A-83EF-B29FC716A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348" y="1008063"/>
              <a:ext cx="152400" cy="533400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4" name="文本框 10">
              <a:extLst>
                <a:ext uri="{FF2B5EF4-FFF2-40B4-BE49-F238E27FC236}">
                  <a16:creationId xmlns:a16="http://schemas.microsoft.com/office/drawing/2014/main" id="{3CB125A2-AACC-F545-9F45-D1344E1F6423}"/>
                </a:ext>
              </a:extLst>
            </p:cNvPr>
            <p:cNvSpPr txBox="1"/>
            <p:nvPr/>
          </p:nvSpPr>
          <p:spPr>
            <a:xfrm>
              <a:off x="1094596" y="1048570"/>
              <a:ext cx="14117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</a:rPr>
                <a:t>Experiment</a:t>
              </a:r>
              <a:endParaRPr lang="zh-CN" altLang="en-US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5" name="文本框 11">
              <a:extLst>
                <a:ext uri="{FF2B5EF4-FFF2-40B4-BE49-F238E27FC236}">
                  <a16:creationId xmlns:a16="http://schemas.microsoft.com/office/drawing/2014/main" id="{AE18DF1B-869F-E746-A153-7FE0EE343F4B}"/>
                </a:ext>
              </a:extLst>
            </p:cNvPr>
            <p:cNvSpPr txBox="1"/>
            <p:nvPr/>
          </p:nvSpPr>
          <p:spPr>
            <a:xfrm>
              <a:off x="2557689" y="906781"/>
              <a:ext cx="44822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</a:rPr>
                <a:t>Fundamental outcome (indecomposable)</a:t>
              </a:r>
              <a:endParaRPr lang="zh-CN" altLang="en-US" sz="2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6" name="文本框 12">
              <a:extLst>
                <a:ext uri="{FF2B5EF4-FFF2-40B4-BE49-F238E27FC236}">
                  <a16:creationId xmlns:a16="http://schemas.microsoft.com/office/drawing/2014/main" id="{FC3ACBFB-266A-F44C-80F4-A82D7619AC47}"/>
                </a:ext>
              </a:extLst>
            </p:cNvPr>
            <p:cNvSpPr txBox="1"/>
            <p:nvPr/>
          </p:nvSpPr>
          <p:spPr>
            <a:xfrm>
              <a:off x="2557689" y="1273812"/>
              <a:ext cx="40281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</a:rPr>
                <a:t>Composite outcome (decomposable)</a:t>
              </a:r>
              <a:endParaRPr lang="zh-CN" altLang="en-US" sz="2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37" name="AutoShape 89">
            <a:extLst>
              <a:ext uri="{FF2B5EF4-FFF2-40B4-BE49-F238E27FC236}">
                <a16:creationId xmlns:a16="http://schemas.microsoft.com/office/drawing/2014/main" id="{19A6D9AF-5A79-8148-8848-0A1120D9A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5" y="1396045"/>
            <a:ext cx="3253705" cy="307976"/>
          </a:xfrm>
          <a:prstGeom prst="wedgeRectCallout">
            <a:avLst>
              <a:gd name="adj1" fmla="val -53310"/>
              <a:gd name="adj2" fmla="val -13456"/>
            </a:avLst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None/>
            </a:pPr>
            <a:r>
              <a:rPr lang="en-US" altLang="en-US" sz="15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Called</a:t>
            </a:r>
            <a:r>
              <a:rPr lang="en-US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 Random event, </a:t>
            </a:r>
            <a:r>
              <a:rPr lang="en-US" altLang="en-US" sz="1500" b="1" dirty="0"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in short </a:t>
            </a:r>
            <a:r>
              <a:rPr lang="en-US" altLang="en-US" sz="15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rPr>
              <a:t>Event</a:t>
            </a:r>
          </a:p>
        </p:txBody>
      </p:sp>
      <p:sp>
        <p:nvSpPr>
          <p:cNvPr id="38" name="Line 88">
            <a:extLst>
              <a:ext uri="{FF2B5EF4-FFF2-40B4-BE49-F238E27FC236}">
                <a16:creationId xmlns:a16="http://schemas.microsoft.com/office/drawing/2014/main" id="{E19A08A2-1398-1141-8E40-C38F73FE5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5756" y="738978"/>
            <a:ext cx="4463415" cy="1"/>
          </a:xfrm>
          <a:prstGeom prst="line">
            <a:avLst/>
          </a:prstGeom>
          <a:noFill/>
          <a:ln w="57150" cmpd="thinThick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39" name="文本框 9">
            <a:extLst>
              <a:ext uri="{FF2B5EF4-FFF2-40B4-BE49-F238E27FC236}">
                <a16:creationId xmlns:a16="http://schemas.microsoft.com/office/drawing/2014/main" id="{601C803C-67F4-4346-A437-9A03CA6F40B1}"/>
              </a:ext>
            </a:extLst>
          </p:cNvPr>
          <p:cNvSpPr txBox="1"/>
          <p:nvPr/>
        </p:nvSpPr>
        <p:spPr>
          <a:xfrm>
            <a:off x="2221022" y="356049"/>
            <a:ext cx="4701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Random Experiment and sample space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0" name="Slide Number Placeholder 3">
            <a:extLst>
              <a:ext uri="{FF2B5EF4-FFF2-40B4-BE49-F238E27FC236}">
                <a16:creationId xmlns:a16="http://schemas.microsoft.com/office/drawing/2014/main" id="{0229AA79-EA3C-D742-BFFF-D906889C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774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0" grpId="0" animBg="1"/>
      <p:bldP spid="7217" grpId="0" animBg="1"/>
      <p:bldP spid="20" grpId="0"/>
      <p:bldP spid="31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5" name="Line 128">
            <a:extLst>
              <a:ext uri="{FF2B5EF4-FFF2-40B4-BE49-F238E27FC236}">
                <a16:creationId xmlns:a16="http://schemas.microsoft.com/office/drawing/2014/main" id="{68FF8226-CA59-4CB0-832F-A6C61B388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0778" y="3700541"/>
            <a:ext cx="1587" cy="409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9" name="Text Box 55">
            <a:extLst>
              <a:ext uri="{FF2B5EF4-FFF2-40B4-BE49-F238E27FC236}">
                <a16:creationId xmlns:a16="http://schemas.microsoft.com/office/drawing/2014/main" id="{B5BD90DF-11D9-4634-AC81-F3A989FB9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8338" y="1958426"/>
            <a:ext cx="1668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chemeClr val="tx2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6BB08B-F807-4712-AA71-59ACC11E9AC5}"/>
              </a:ext>
            </a:extLst>
          </p:cNvPr>
          <p:cNvSpPr txBox="1"/>
          <p:nvPr/>
        </p:nvSpPr>
        <p:spPr>
          <a:xfrm>
            <a:off x="2901991" y="300178"/>
            <a:ext cx="3434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Several special events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7A4C4E8-517A-40A3-A577-8866E1DD1D1D}"/>
              </a:ext>
            </a:extLst>
          </p:cNvPr>
          <p:cNvGrpSpPr/>
          <p:nvPr/>
        </p:nvGrpSpPr>
        <p:grpSpPr>
          <a:xfrm>
            <a:off x="305802" y="757293"/>
            <a:ext cx="6746067" cy="646331"/>
            <a:chOff x="305802" y="911669"/>
            <a:chExt cx="6746067" cy="646331"/>
          </a:xfrm>
        </p:grpSpPr>
        <p:sp>
          <p:nvSpPr>
            <p:cNvPr id="8248" name="Rectangle 78">
              <a:extLst>
                <a:ext uri="{FF2B5EF4-FFF2-40B4-BE49-F238E27FC236}">
                  <a16:creationId xmlns:a16="http://schemas.microsoft.com/office/drawing/2014/main" id="{E162B381-CE81-4555-AB55-831F00CF9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9559" y="927624"/>
              <a:ext cx="469231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Event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that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is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consists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of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one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sample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point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7356D49-D465-4338-8304-E60ED84BA6EA}"/>
                </a:ext>
              </a:extLst>
            </p:cNvPr>
            <p:cNvSpPr txBox="1"/>
            <p:nvPr/>
          </p:nvSpPr>
          <p:spPr>
            <a:xfrm>
              <a:off x="305802" y="911669"/>
              <a:ext cx="21017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accent2">
                      <a:lumMod val="75000"/>
                    </a:schemeClr>
                  </a:solidFill>
                </a:rPr>
                <a:t>Fundamental event:</a:t>
              </a:r>
            </a:p>
            <a:p>
              <a:r>
                <a:rPr lang="zh-CN" altLang="en-US" b="1" dirty="0">
                  <a:solidFill>
                    <a:schemeClr val="accent2">
                      <a:lumMod val="75000"/>
                    </a:schemeClr>
                  </a:solidFill>
                </a:rPr>
                <a:t>          </a:t>
              </a:r>
              <a:r>
                <a:rPr lang="zh-CN" alt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（基本事件）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49D4B26-DAFA-435E-9E67-71C7CD9620B3}"/>
              </a:ext>
            </a:extLst>
          </p:cNvPr>
          <p:cNvGrpSpPr/>
          <p:nvPr/>
        </p:nvGrpSpPr>
        <p:grpSpPr>
          <a:xfrm>
            <a:off x="847197" y="1302146"/>
            <a:ext cx="6085403" cy="595649"/>
            <a:chOff x="847197" y="1295123"/>
            <a:chExt cx="6085403" cy="595649"/>
          </a:xfrm>
        </p:grpSpPr>
        <p:sp>
          <p:nvSpPr>
            <p:cNvPr id="8205" name="Rectangle 88">
              <a:extLst>
                <a:ext uri="{FF2B5EF4-FFF2-40B4-BE49-F238E27FC236}">
                  <a16:creationId xmlns:a16="http://schemas.microsoft.com/office/drawing/2014/main" id="{585AF0E4-B400-4CBD-8FE2-B03E8AE90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325" y="1295123"/>
              <a:ext cx="45862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Event that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happens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 every experiment.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D260A6D-E47D-4995-9550-B8A4C9C9A5C1}"/>
                </a:ext>
              </a:extLst>
            </p:cNvPr>
            <p:cNvSpPr txBox="1"/>
            <p:nvPr/>
          </p:nvSpPr>
          <p:spPr>
            <a:xfrm>
              <a:off x="847197" y="1305997"/>
              <a:ext cx="15299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accent2">
                      <a:lumMod val="75000"/>
                    </a:schemeClr>
                  </a:solidFill>
                </a:rPr>
                <a:t>Certain event:</a:t>
              </a:r>
            </a:p>
            <a:p>
              <a:r>
                <a:rPr lang="zh-CN" alt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（必然事件）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CA1F985-B206-4A8A-81B3-178CDB46CD40}"/>
              </a:ext>
            </a:extLst>
          </p:cNvPr>
          <p:cNvGrpSpPr/>
          <p:nvPr/>
        </p:nvGrpSpPr>
        <p:grpSpPr>
          <a:xfrm>
            <a:off x="464080" y="1823066"/>
            <a:ext cx="6627963" cy="649691"/>
            <a:chOff x="464080" y="1677565"/>
            <a:chExt cx="6627963" cy="649691"/>
          </a:xfrm>
        </p:grpSpPr>
        <p:sp>
          <p:nvSpPr>
            <p:cNvPr id="8206" name="Rectangle 89">
              <a:extLst>
                <a:ext uri="{FF2B5EF4-FFF2-40B4-BE49-F238E27FC236}">
                  <a16:creationId xmlns:a16="http://schemas.microsoft.com/office/drawing/2014/main" id="{B9060FA9-D08A-4242-BB5E-35DD3F49B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131" y="1677565"/>
              <a:ext cx="476091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</a:t>
              </a:r>
              <a:r>
                <a:rPr lang="en-US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vent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that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never happens</a:t>
              </a:r>
              <a:r>
                <a: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in </a:t>
              </a:r>
              <a:r>
                <a:rPr lang="en-US" altLang="zh-CN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experiments.</a:t>
              </a:r>
              <a:endParaRPr lang="en-US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FBDF590-86F1-42C3-874A-CB1890D24966}"/>
                </a:ext>
              </a:extLst>
            </p:cNvPr>
            <p:cNvSpPr txBox="1"/>
            <p:nvPr/>
          </p:nvSpPr>
          <p:spPr>
            <a:xfrm>
              <a:off x="464080" y="1680925"/>
              <a:ext cx="18688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accent2">
                      <a:lumMod val="75000"/>
                    </a:schemeClr>
                  </a:solidFill>
                </a:rPr>
                <a:t>Impossible event:</a:t>
              </a:r>
            </a:p>
            <a:p>
              <a:r>
                <a:rPr lang="en-US" altLang="zh-CN" b="1" dirty="0">
                  <a:solidFill>
                    <a:schemeClr val="accent2">
                      <a:lumMod val="75000"/>
                    </a:schemeClr>
                  </a:solidFill>
                </a:rPr>
                <a:t>    </a:t>
              </a:r>
              <a:r>
                <a:rPr lang="zh-CN" alt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（不可能事件）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CF46FF38-CD98-4675-8779-53BD491F3837}"/>
              </a:ext>
            </a:extLst>
          </p:cNvPr>
          <p:cNvSpPr txBox="1"/>
          <p:nvPr/>
        </p:nvSpPr>
        <p:spPr>
          <a:xfrm>
            <a:off x="6958237" y="773248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{</a:t>
            </a:r>
            <a:r>
              <a:rPr lang="el-GR" altLang="zh-CN" b="1" dirty="0">
                <a:solidFill>
                  <a:srgbClr val="C00000"/>
                </a:solidFill>
              </a:rPr>
              <a:t>ω</a:t>
            </a:r>
            <a:r>
              <a:rPr lang="en-US" altLang="zh-CN" b="1" dirty="0">
                <a:solidFill>
                  <a:srgbClr val="C00000"/>
                </a:solidFill>
              </a:rPr>
              <a:t>}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26B7A8E-4114-43C5-A536-61B2F0A9F4AF}"/>
                  </a:ext>
                </a:extLst>
              </p:cNvPr>
              <p:cNvSpPr txBox="1"/>
              <p:nvPr/>
            </p:nvSpPr>
            <p:spPr>
              <a:xfrm>
                <a:off x="6962963" y="1326177"/>
                <a:ext cx="878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𝜴</m:t>
                      </m:r>
                      <m:r>
                        <a:rPr lang="el-GR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</m:t>
                      </m:r>
                      <m:r>
                        <a:rPr lang="el-GR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𝜴</m:t>
                      </m:r>
                    </m:oMath>
                  </m:oMathPara>
                </a14:m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26B7A8E-4114-43C5-A536-61B2F0A9F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963" y="1326177"/>
                <a:ext cx="878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>
            <a:extLst>
              <a:ext uri="{FF2B5EF4-FFF2-40B4-BE49-F238E27FC236}">
                <a16:creationId xmlns:a16="http://schemas.microsoft.com/office/drawing/2014/main" id="{0FA97A6D-3804-474E-876B-6FA201824727}"/>
              </a:ext>
            </a:extLst>
          </p:cNvPr>
          <p:cNvGrpSpPr/>
          <p:nvPr/>
        </p:nvGrpSpPr>
        <p:grpSpPr>
          <a:xfrm>
            <a:off x="291153" y="2532254"/>
            <a:ext cx="8369556" cy="1934810"/>
            <a:chOff x="291153" y="2232377"/>
            <a:chExt cx="8369556" cy="1934810"/>
          </a:xfrm>
        </p:grpSpPr>
        <p:sp>
          <p:nvSpPr>
            <p:cNvPr id="8209" name="AutoShape 117">
              <a:extLst>
                <a:ext uri="{FF2B5EF4-FFF2-40B4-BE49-F238E27FC236}">
                  <a16:creationId xmlns:a16="http://schemas.microsoft.com/office/drawing/2014/main" id="{5132D5F5-F8B6-48DC-988F-F1528E3F1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614" y="3046412"/>
              <a:ext cx="64776" cy="1120775"/>
            </a:xfrm>
            <a:prstGeom prst="leftBrace">
              <a:avLst>
                <a:gd name="adj1" fmla="val 45455"/>
                <a:gd name="adj2" fmla="val 50000"/>
              </a:avLst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 dirty="0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1C35067-C940-46E5-AF93-4F8CDF49744F}"/>
                </a:ext>
              </a:extLst>
            </p:cNvPr>
            <p:cNvSpPr txBox="1"/>
            <p:nvPr/>
          </p:nvSpPr>
          <p:spPr>
            <a:xfrm>
              <a:off x="752197" y="2232377"/>
              <a:ext cx="79085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1">
                      <a:lumMod val="75000"/>
                    </a:schemeClr>
                  </a:solidFill>
                </a:rPr>
                <a:t>Summary:</a:t>
              </a:r>
              <a:r>
                <a:rPr lang="zh-CN" alt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US" altLang="zh-CN" sz="2400" b="1" dirty="0">
                  <a:solidFill>
                    <a:schemeClr val="accent1">
                      <a:lumMod val="75000"/>
                    </a:schemeClr>
                  </a:solidFill>
                </a:rPr>
                <a:t>Mathematical description of random experiments</a:t>
              </a:r>
              <a:endParaRPr lang="zh-CN" altLang="en-US" sz="24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1FEB9045-CF0C-4B24-8251-945D37F096BA}"/>
                </a:ext>
              </a:extLst>
            </p:cNvPr>
            <p:cNvSpPr txBox="1"/>
            <p:nvPr/>
          </p:nvSpPr>
          <p:spPr>
            <a:xfrm>
              <a:off x="291153" y="3392738"/>
              <a:ext cx="13845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Microsoft YaHei UI" panose="020B0503020204020204" pitchFamily="34" charset="-122"/>
                  <a:cs typeface="Calibri" panose="020F0502020204030204" pitchFamily="34" charset="0"/>
                </a:rPr>
                <a:t>Experiment</a:t>
              </a:r>
              <a:endParaRPr lang="zh-CN" alt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B7596B2B-C335-48A3-ADA1-F299A181795A}"/>
              </a:ext>
            </a:extLst>
          </p:cNvPr>
          <p:cNvSpPr txBox="1"/>
          <p:nvPr/>
        </p:nvSpPr>
        <p:spPr>
          <a:xfrm>
            <a:off x="1561306" y="3037541"/>
            <a:ext cx="1552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Fundamental outcomes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1AD878-7A6F-45C8-8E76-3C917D2CEABC}"/>
              </a:ext>
            </a:extLst>
          </p:cNvPr>
          <p:cNvSpPr txBox="1"/>
          <p:nvPr/>
        </p:nvSpPr>
        <p:spPr>
          <a:xfrm>
            <a:off x="1705737" y="4103063"/>
            <a:ext cx="1253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Sample points </a:t>
            </a:r>
            <a:r>
              <a:rPr lang="el-GR" altLang="zh-CN" b="1" dirty="0"/>
              <a:t>ω</a:t>
            </a:r>
            <a:endParaRPr lang="zh-CN" altLang="en-US" b="1" dirty="0"/>
          </a:p>
        </p:txBody>
      </p:sp>
      <p:sp>
        <p:nvSpPr>
          <p:cNvPr id="72" name="Line 128">
            <a:extLst>
              <a:ext uri="{FF2B5EF4-FFF2-40B4-BE49-F238E27FC236}">
                <a16:creationId xmlns:a16="http://schemas.microsoft.com/office/drawing/2014/main" id="{AA8717E0-AFD4-4664-BDB9-0CD3F8CFE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9845" y="3663215"/>
            <a:ext cx="1587" cy="409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3F5E60E-90A1-43F4-9631-F5B5DA64C17E}"/>
              </a:ext>
            </a:extLst>
          </p:cNvPr>
          <p:cNvSpPr txBox="1"/>
          <p:nvPr/>
        </p:nvSpPr>
        <p:spPr>
          <a:xfrm>
            <a:off x="3436284" y="3048415"/>
            <a:ext cx="1552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Fundamental event</a:t>
            </a:r>
            <a:endParaRPr lang="zh-CN" altLang="en-US" b="1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2116EDB-1CE6-4308-8C35-9C4AFA765697}"/>
              </a:ext>
            </a:extLst>
          </p:cNvPr>
          <p:cNvSpPr txBox="1"/>
          <p:nvPr/>
        </p:nvSpPr>
        <p:spPr>
          <a:xfrm>
            <a:off x="3583301" y="4111246"/>
            <a:ext cx="1253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Sample space </a:t>
            </a:r>
            <a:r>
              <a:rPr lang="el-GR" altLang="zh-CN" b="1" dirty="0"/>
              <a:t>Ω</a:t>
            </a:r>
            <a:endParaRPr lang="zh-CN" altLang="en-US" b="1" dirty="0"/>
          </a:p>
        </p:txBody>
      </p:sp>
      <p:sp>
        <p:nvSpPr>
          <p:cNvPr id="75" name="Line 128">
            <a:extLst>
              <a:ext uri="{FF2B5EF4-FFF2-40B4-BE49-F238E27FC236}">
                <a16:creationId xmlns:a16="http://schemas.microsoft.com/office/drawing/2014/main" id="{174F9F0B-A5A6-46C6-AE1A-2C752A0DF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017" y="3657114"/>
            <a:ext cx="1587" cy="409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FDADB21-98E0-4ED5-B986-00A0F7EC00C1}"/>
              </a:ext>
            </a:extLst>
          </p:cNvPr>
          <p:cNvSpPr txBox="1"/>
          <p:nvPr/>
        </p:nvSpPr>
        <p:spPr>
          <a:xfrm>
            <a:off x="5332761" y="3196615"/>
            <a:ext cx="125897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Event A</a:t>
            </a:r>
            <a:endParaRPr lang="zh-CN" altLang="en-US" b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DCFAB2B-08D7-4169-87BE-B2C254D97D31}"/>
              </a:ext>
            </a:extLst>
          </p:cNvPr>
          <p:cNvSpPr txBox="1"/>
          <p:nvPr/>
        </p:nvSpPr>
        <p:spPr>
          <a:xfrm>
            <a:off x="5332761" y="4175298"/>
            <a:ext cx="1253088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Subset A</a:t>
            </a:r>
            <a:endParaRPr lang="zh-CN" altLang="en-US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F8A68E7-BDA5-4948-BAD4-AC61D8EF5D12}"/>
              </a:ext>
            </a:extLst>
          </p:cNvPr>
          <p:cNvGrpSpPr/>
          <p:nvPr/>
        </p:nvGrpSpPr>
        <p:grpSpPr>
          <a:xfrm>
            <a:off x="5460865" y="3124258"/>
            <a:ext cx="3017204" cy="476476"/>
            <a:chOff x="5460865" y="2824381"/>
            <a:chExt cx="3017204" cy="476476"/>
          </a:xfrm>
        </p:grpSpPr>
        <p:grpSp>
          <p:nvGrpSpPr>
            <p:cNvPr id="8227" name="Group 150">
              <a:extLst>
                <a:ext uri="{FF2B5EF4-FFF2-40B4-BE49-F238E27FC236}">
                  <a16:creationId xmlns:a16="http://schemas.microsoft.com/office/drawing/2014/main" id="{B191E9CE-C0E2-46CF-8196-FC1F2C910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48562" y="2824381"/>
              <a:ext cx="1729507" cy="428625"/>
              <a:chOff x="-176" y="60"/>
              <a:chExt cx="974" cy="270"/>
            </a:xfrm>
          </p:grpSpPr>
          <p:sp>
            <p:nvSpPr>
              <p:cNvPr id="8235" name="AutoShape 142">
                <a:extLst>
                  <a:ext uri="{FF2B5EF4-FFF2-40B4-BE49-F238E27FC236}">
                    <a16:creationId xmlns:a16="http://schemas.microsoft.com/office/drawing/2014/main" id="{30960B58-8892-4F79-88C3-2C4E8CF30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76" y="60"/>
                <a:ext cx="974" cy="270"/>
              </a:xfrm>
              <a:prstGeom prst="wedgeRectCallout">
                <a:avLst>
                  <a:gd name="adj1" fmla="val -60222"/>
                  <a:gd name="adj2" fmla="val 18331"/>
                </a:avLst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en-US" sz="16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sym typeface="华文新魏" panose="02010800040101010101" pitchFamily="2" charset="-122"/>
                  </a:rPr>
                  <a:t>Event A happens</a:t>
                </a:r>
                <a:endParaRPr lang="en-US" altLang="en-US" sz="32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endParaRPr>
              </a:p>
            </p:txBody>
          </p:sp>
          <p:sp>
            <p:nvSpPr>
              <p:cNvPr id="8236" name="WordArt 135">
                <a:extLst>
                  <a:ext uri="{FF2B5EF4-FFF2-40B4-BE49-F238E27FC236}">
                    <a16:creationId xmlns:a16="http://schemas.microsoft.com/office/drawing/2014/main" id="{06BD162B-3BB9-4164-AD54-29EC032DCEB9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03" y="67"/>
                <a:ext cx="128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endParaRPr lang="zh-CN" altLang="en-US" sz="3600" i="1" kern="10" dirty="0">
                  <a:ln w="12700">
                    <a:solidFill>
                      <a:srgbClr val="FFFF00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18900000" scaled="1"/>
                  </a:gra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6CB77A7-FC71-45CC-8C10-B2E4F972F8C8}"/>
                </a:ext>
              </a:extLst>
            </p:cNvPr>
            <p:cNvSpPr/>
            <p:nvPr/>
          </p:nvSpPr>
          <p:spPr>
            <a:xfrm>
              <a:off x="5460865" y="2876496"/>
              <a:ext cx="968215" cy="424361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0769F0E1-0E8B-4715-8AFA-6EDB1795D3ED}"/>
              </a:ext>
            </a:extLst>
          </p:cNvPr>
          <p:cNvGrpSpPr/>
          <p:nvPr/>
        </p:nvGrpSpPr>
        <p:grpSpPr>
          <a:xfrm>
            <a:off x="5409890" y="4137941"/>
            <a:ext cx="3045342" cy="1390053"/>
            <a:chOff x="5409890" y="3838064"/>
            <a:chExt cx="3045342" cy="1390053"/>
          </a:xfrm>
        </p:grpSpPr>
        <p:sp>
          <p:nvSpPr>
            <p:cNvPr id="6" name="AutoShape 145">
              <a:extLst>
                <a:ext uri="{FF2B5EF4-FFF2-40B4-BE49-F238E27FC236}">
                  <a16:creationId xmlns:a16="http://schemas.microsoft.com/office/drawing/2014/main" id="{14B47C5B-5979-48EB-AC39-A01B798E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890" y="4652504"/>
              <a:ext cx="3045342" cy="575613"/>
            </a:xfrm>
            <a:prstGeom prst="wedgeRectCallout">
              <a:avLst>
                <a:gd name="adj1" fmla="val -29074"/>
                <a:gd name="adj2" fmla="val -112384"/>
              </a:avLst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None/>
              </a:pPr>
              <a:r>
                <a:rPr lang="en-US" altLang="en-US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In </a:t>
              </a:r>
              <a:r>
                <a:rPr lang="en-US" altLang="zh-CN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an</a:t>
              </a:r>
              <a:r>
                <a:rPr lang="zh-CN" altLang="en-US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experiment</a:t>
              </a:r>
              <a:r>
                <a:rPr lang="en-US" altLang="en-US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, </a:t>
              </a:r>
              <a:r>
                <a:rPr lang="en-US" altLang="zh-CN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sample</a:t>
              </a:r>
              <a:r>
                <a:rPr lang="zh-CN" altLang="en-US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points</a:t>
              </a:r>
              <a:r>
                <a:rPr lang="zh-CN" altLang="en-US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in</a:t>
              </a:r>
              <a:r>
                <a:rPr lang="zh-CN" altLang="en-US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 </a:t>
              </a:r>
              <a:r>
                <a:rPr lang="en-US" altLang="en-US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A</a:t>
              </a:r>
              <a:r>
                <a:rPr lang="en-US" altLang="zh-CN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华文新魏" panose="02010800040101010101" pitchFamily="2" charset="-122"/>
                </a:rPr>
                <a:t>occurs</a:t>
              </a:r>
              <a:endParaRPr lang="en-US" altLang="en-US" sz="16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华文新魏" panose="02010800040101010101" pitchFamily="2" charset="-122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FC48D4E1-D4B2-4C6D-BB81-14467EA1FAAD}"/>
                </a:ext>
              </a:extLst>
            </p:cNvPr>
            <p:cNvSpPr/>
            <p:nvPr/>
          </p:nvSpPr>
          <p:spPr>
            <a:xfrm>
              <a:off x="5487909" y="3838064"/>
              <a:ext cx="968215" cy="424361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4B6C95D-550B-492A-A8D1-DFACE26D0BD7}"/>
                  </a:ext>
                </a:extLst>
              </p:cNvPr>
              <p:cNvSpPr txBox="1"/>
              <p:nvPr/>
            </p:nvSpPr>
            <p:spPr>
              <a:xfrm>
                <a:off x="7018338" y="1891681"/>
                <a:ext cx="19407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l-GR" altLang="zh-CN" b="1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/>
                        <a:ea typeface="Cambria Math" panose="02040503050406030204" pitchFamily="18" charset="0"/>
                      </a:rPr>
                      <m:t>𝑵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𝒖𝒍𝒍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𝒆𝒕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⊂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𝜴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4B6C95D-550B-492A-A8D1-DFACE26D0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338" y="1891681"/>
                <a:ext cx="1940756" cy="276999"/>
              </a:xfrm>
              <a:prstGeom prst="rect">
                <a:avLst/>
              </a:prstGeom>
              <a:blipFill>
                <a:blip r:embed="rId4"/>
                <a:stretch>
                  <a:fillRect l="-7210" t="-28261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组合 68">
            <a:extLst>
              <a:ext uri="{FF2B5EF4-FFF2-40B4-BE49-F238E27FC236}">
                <a16:creationId xmlns:a16="http://schemas.microsoft.com/office/drawing/2014/main" id="{D9E77E11-C5D2-46BE-A697-780CC72B3FBD}"/>
              </a:ext>
            </a:extLst>
          </p:cNvPr>
          <p:cNvGrpSpPr/>
          <p:nvPr/>
        </p:nvGrpSpPr>
        <p:grpSpPr>
          <a:xfrm>
            <a:off x="1031874" y="5459603"/>
            <a:ext cx="7802317" cy="1117110"/>
            <a:chOff x="1031874" y="5159726"/>
            <a:chExt cx="7802317" cy="1117110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6B862A75-5C28-46C0-8C3F-79E2808D39B9}"/>
                </a:ext>
              </a:extLst>
            </p:cNvPr>
            <p:cNvGrpSpPr/>
            <p:nvPr/>
          </p:nvGrpSpPr>
          <p:grpSpPr>
            <a:xfrm>
              <a:off x="1031874" y="5159726"/>
              <a:ext cx="7802317" cy="1117110"/>
              <a:chOff x="1031874" y="5159726"/>
              <a:chExt cx="7802317" cy="1117110"/>
            </a:xfrm>
          </p:grpSpPr>
          <p:sp>
            <p:nvSpPr>
              <p:cNvPr id="8238" name="Rectangle 152">
                <a:extLst>
                  <a:ext uri="{FF2B5EF4-FFF2-40B4-BE49-F238E27FC236}">
                    <a16:creationId xmlns:a16="http://schemas.microsoft.com/office/drawing/2014/main" id="{8ED46476-DD01-41A0-939D-1B3C5C6FA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250" y="5159726"/>
                <a:ext cx="12530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Den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ote</a:t>
                </a:r>
              </a:p>
            </p:txBody>
          </p:sp>
          <p:sp>
            <p:nvSpPr>
              <p:cNvPr id="8240" name="Rectangle 158">
                <a:extLst>
                  <a:ext uri="{FF2B5EF4-FFF2-40B4-BE49-F238E27FC236}">
                    <a16:creationId xmlns:a16="http://schemas.microsoft.com/office/drawing/2014/main" id="{A80B6E85-CB58-4B9A-AB68-099FA5F03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1874" y="5568950"/>
                <a:ext cx="7802317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  </a:t>
                </a:r>
                <a:r>
                  <a:rPr lang="en-US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called</a:t>
                </a:r>
                <a:r>
                  <a:rPr lang="en-US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the </a:t>
                </a:r>
                <a:r>
                  <a:rPr lang="en-US" altLang="en-US" sz="20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Event Region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ja-JP" altLang="en-US" sz="2000" b="1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事件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域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of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an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experiment</a:t>
                </a:r>
                <a:r>
                  <a:rPr lang="en-US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i.e., </a:t>
                </a:r>
                <a:r>
                  <a:rPr lang="en-US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 set </a:t>
                </a:r>
                <a:r>
                  <a:rPr lang="en-US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including all events in the 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experiment</a:t>
                </a:r>
                <a:r>
                  <a:rPr lang="en-US" altLang="en-US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.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1D906786-B6C1-4210-BBBA-EDE0315DF9F0}"/>
                    </a:ext>
                  </a:extLst>
                </p:cNvPr>
                <p:cNvSpPr txBox="1"/>
                <p:nvPr/>
              </p:nvSpPr>
              <p:spPr>
                <a:xfrm>
                  <a:off x="2205672" y="5231776"/>
                  <a:ext cx="332909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⊂</m:t>
                        </m:r>
                        <m:r>
                          <m:rPr>
                            <m:sty m:val="p"/>
                          </m:rPr>
                          <a:rPr lang="el-GR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is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an</m:t>
                        </m:r>
                        <m:r>
                          <a:rPr lang="zh-CN" alt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vent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1D906786-B6C1-4210-BBBA-EDE0315DF9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5672" y="5231776"/>
                  <a:ext cx="3329099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8000" b="-4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/>
          <p:cNvSpPr txBox="1"/>
          <p:nvPr/>
        </p:nvSpPr>
        <p:spPr>
          <a:xfrm>
            <a:off x="2103624" y="5514253"/>
            <a:ext cx="30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Segoe Script" panose="020B0504020000000003" pitchFamily="34" charset="0"/>
              </a:rPr>
              <a:t>A</a:t>
            </a:r>
            <a:endParaRPr lang="zh-CN" altLang="en-US" dirty="0">
              <a:solidFill>
                <a:srgbClr val="C00000"/>
              </a:solidFill>
              <a:latin typeface="Segoe Script" panose="020B0504020000000003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26128" y="5919432"/>
            <a:ext cx="30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Segoe Script" panose="020B0504020000000003" pitchFamily="34" charset="0"/>
              </a:rPr>
              <a:t>A</a:t>
            </a:r>
            <a:endParaRPr lang="zh-CN" altLang="en-US" dirty="0">
              <a:solidFill>
                <a:srgbClr val="C00000"/>
              </a:solidFill>
              <a:latin typeface="Segoe Script" panose="020B0504020000000003" pitchFamily="34" charset="0"/>
            </a:endParaRPr>
          </a:p>
        </p:txBody>
      </p:sp>
      <p:sp>
        <p:nvSpPr>
          <p:cNvPr id="45" name="Slide Number Placeholder 3">
            <a:extLst>
              <a:ext uri="{FF2B5EF4-FFF2-40B4-BE49-F238E27FC236}">
                <a16:creationId xmlns:a16="http://schemas.microsoft.com/office/drawing/2014/main" id="{A933A347-BED9-CF4B-BE90-982CFB36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748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5" grpId="0" animBg="1"/>
      <p:bldP spid="17" grpId="0"/>
      <p:bldP spid="18" grpId="0"/>
      <p:bldP spid="21" grpId="0"/>
      <p:bldP spid="22" grpId="0"/>
      <p:bldP spid="72" grpId="0" animBg="1"/>
      <p:bldP spid="73" grpId="0"/>
      <p:bldP spid="74" grpId="0"/>
      <p:bldP spid="75" grpId="0" animBg="1"/>
      <p:bldP spid="76" grpId="0"/>
      <p:bldP spid="77" grpId="0"/>
      <p:bldP spid="66" grpId="0"/>
      <p:bldP spid="2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0">
            <a:extLst>
              <a:ext uri="{FF2B5EF4-FFF2-40B4-BE49-F238E27FC236}">
                <a16:creationId xmlns:a16="http://schemas.microsoft.com/office/drawing/2014/main" id="{FB30DC41-7953-491A-BEA3-1F752AD4C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646" y="952440"/>
            <a:ext cx="47775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Suppose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 B, 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000" b="1" baseline="-25000" dirty="0" err="1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(k = 1, 2, …)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are events,</a:t>
            </a:r>
          </a:p>
        </p:txBody>
      </p:sp>
      <p:sp>
        <p:nvSpPr>
          <p:cNvPr id="15" name="Text Box 54">
            <a:extLst>
              <a:ext uri="{FF2B5EF4-FFF2-40B4-BE49-F238E27FC236}">
                <a16:creationId xmlns:a16="http://schemas.microsoft.com/office/drawing/2014/main" id="{992038DE-208E-493D-A63D-DD746C581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36" y="3911647"/>
            <a:ext cx="765034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A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t le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a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st one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of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A,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B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楷体" panose="02010609060101010101" pitchFamily="49" charset="-122"/>
              </a:rPr>
              <a:t> happens </a:t>
            </a:r>
            <a:r>
              <a:rPr lang="en-US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is called the </a:t>
            </a:r>
            <a:r>
              <a:rPr lang="en-US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Summation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or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Union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并集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of A and B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2A7398-46C7-47C8-B209-A34436A95629}"/>
              </a:ext>
            </a:extLst>
          </p:cNvPr>
          <p:cNvSpPr txBox="1"/>
          <p:nvPr/>
        </p:nvSpPr>
        <p:spPr>
          <a:xfrm>
            <a:off x="1977454" y="282509"/>
            <a:ext cx="5637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Relationship and Arithmetic Among Events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96D3E0-F366-458C-B85E-79E0F3B80FE0}"/>
              </a:ext>
            </a:extLst>
          </p:cNvPr>
          <p:cNvGrpSpPr/>
          <p:nvPr/>
        </p:nvGrpSpPr>
        <p:grpSpPr>
          <a:xfrm>
            <a:off x="4944436" y="4766795"/>
            <a:ext cx="2655893" cy="1862742"/>
            <a:chOff x="5802312" y="3244246"/>
            <a:chExt cx="2655893" cy="1862742"/>
          </a:xfrm>
        </p:grpSpPr>
        <p:grpSp>
          <p:nvGrpSpPr>
            <p:cNvPr id="9226" name="Group 10">
              <a:extLst>
                <a:ext uri="{FF2B5EF4-FFF2-40B4-BE49-F238E27FC236}">
                  <a16:creationId xmlns:a16="http://schemas.microsoft.com/office/drawing/2014/main" id="{540548EC-56BA-4D2C-8645-0AE74A59DD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02312" y="3667125"/>
              <a:ext cx="2655893" cy="1439863"/>
              <a:chOff x="649" y="0"/>
              <a:chExt cx="1673" cy="907"/>
            </a:xfrm>
          </p:grpSpPr>
          <p:sp>
            <p:nvSpPr>
              <p:cNvPr id="9257" name="Rectangle 11">
                <a:extLst>
                  <a:ext uri="{FF2B5EF4-FFF2-40B4-BE49-F238E27FC236}">
                    <a16:creationId xmlns:a16="http://schemas.microsoft.com/office/drawing/2014/main" id="{A66D1A13-EBCA-461F-B258-33F6488EB9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0"/>
                <a:ext cx="1673" cy="907"/>
              </a:xfrm>
              <a:prstGeom prst="rect">
                <a:avLst/>
              </a:prstGeom>
              <a:gradFill rotWithShape="1">
                <a:gsLst>
                  <a:gs pos="0">
                    <a:srgbClr val="6699FF"/>
                  </a:gs>
                  <a:gs pos="50000">
                    <a:srgbClr val="2F4774"/>
                  </a:gs>
                  <a:gs pos="100000">
                    <a:srgbClr val="6699FF"/>
                  </a:gs>
                </a:gsLst>
                <a:lin ang="18900000" scaled="1"/>
              </a:gradFill>
              <a:ln w="127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800" b="1">
                  <a:solidFill>
                    <a:srgbClr val="FFFF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Times New Roman" panose="02020603050405020304" pitchFamily="18" charset="0"/>
                </a:endParaRPr>
              </a:p>
            </p:txBody>
          </p:sp>
          <p:pic>
            <p:nvPicPr>
              <p:cNvPr id="9258" name="Object 12">
                <a:extLst>
                  <a:ext uri="{FF2B5EF4-FFF2-40B4-BE49-F238E27FC236}">
                    <a16:creationId xmlns:a16="http://schemas.microsoft.com/office/drawing/2014/main" id="{C52EC620-191C-42E5-9FB1-5E53C993E1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2" y="669"/>
                <a:ext cx="268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59" name="Oval 13">
                <a:extLst>
                  <a:ext uri="{FF2B5EF4-FFF2-40B4-BE49-F238E27FC236}">
                    <a16:creationId xmlns:a16="http://schemas.microsoft.com/office/drawing/2014/main" id="{8D7603D9-A304-4C19-BC0F-5DBDE3D57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136"/>
                <a:ext cx="847" cy="635"/>
              </a:xfrm>
              <a:prstGeom prst="ellipse">
                <a:avLst/>
              </a:prstGeom>
              <a:gradFill rotWithShape="1">
                <a:gsLst>
                  <a:gs pos="0">
                    <a:srgbClr val="3366FF"/>
                  </a:gs>
                  <a:gs pos="50000">
                    <a:srgbClr val="182F76"/>
                  </a:gs>
                  <a:gs pos="100000">
                    <a:srgbClr val="3366FF"/>
                  </a:gs>
                </a:gsLst>
                <a:lin ang="18900000" scaled="1"/>
              </a:gra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800" b="1">
                  <a:latin typeface="楷体_GB2312" pitchFamily="1" charset="-122"/>
                  <a:ea typeface="楷体_GB2312" pitchFamily="1" charset="-122"/>
                </a:endParaRPr>
              </a:p>
            </p:txBody>
          </p:sp>
          <p:pic>
            <p:nvPicPr>
              <p:cNvPr id="4" name="Object 14">
                <a:extLst>
                  <a:ext uri="{FF2B5EF4-FFF2-40B4-BE49-F238E27FC236}">
                    <a16:creationId xmlns:a16="http://schemas.microsoft.com/office/drawing/2014/main" id="{B20F8AC2-EE2B-41E5-AB15-0D9D0B80E4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7" y="317"/>
                <a:ext cx="26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61" name="Oval 15">
                <a:extLst>
                  <a:ext uri="{FF2B5EF4-FFF2-40B4-BE49-F238E27FC236}">
                    <a16:creationId xmlns:a16="http://schemas.microsoft.com/office/drawing/2014/main" id="{90C54C2C-4DC3-4EA0-8874-017CB629E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136"/>
                <a:ext cx="725" cy="635"/>
              </a:xfrm>
              <a:prstGeom prst="ellipse">
                <a:avLst/>
              </a:prstGeom>
              <a:gradFill rotWithShape="1">
                <a:gsLst>
                  <a:gs pos="0">
                    <a:srgbClr val="5D4774"/>
                  </a:gs>
                  <a:gs pos="50000">
                    <a:srgbClr val="CC99FF"/>
                  </a:gs>
                  <a:gs pos="100000">
                    <a:srgbClr val="5D4774"/>
                  </a:gs>
                </a:gsLst>
                <a:lin ang="18900000" scaled="1"/>
              </a:gradFill>
              <a:ln w="1270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800" b="1">
                  <a:solidFill>
                    <a:srgbClr val="FFFF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Times New Roman" panose="02020603050405020304" pitchFamily="18" charset="0"/>
                </a:endParaRPr>
              </a:p>
            </p:txBody>
          </p:sp>
          <p:pic>
            <p:nvPicPr>
              <p:cNvPr id="9262" name="Object 16">
                <a:extLst>
                  <a:ext uri="{FF2B5EF4-FFF2-40B4-BE49-F238E27FC236}">
                    <a16:creationId xmlns:a16="http://schemas.microsoft.com/office/drawing/2014/main" id="{E56EF0C3-3B7A-4857-82E1-405450E492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1" y="317"/>
                <a:ext cx="26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45206D4-29E7-4668-98B0-5DDF8FF1AD35}"/>
                    </a:ext>
                  </a:extLst>
                </p:cNvPr>
                <p:cNvSpPr txBox="1"/>
                <p:nvPr/>
              </p:nvSpPr>
              <p:spPr>
                <a:xfrm>
                  <a:off x="6741752" y="3244246"/>
                  <a:ext cx="940770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45206D4-29E7-4668-98B0-5DDF8FF1AD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1752" y="3244246"/>
                  <a:ext cx="94077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538F3C9-DB52-410C-80D8-A916A87635BF}"/>
              </a:ext>
            </a:extLst>
          </p:cNvPr>
          <p:cNvGrpSpPr/>
          <p:nvPr/>
        </p:nvGrpSpPr>
        <p:grpSpPr>
          <a:xfrm>
            <a:off x="1440462" y="2796755"/>
            <a:ext cx="5686940" cy="899425"/>
            <a:chOff x="2341502" y="1880358"/>
            <a:chExt cx="5169868" cy="899425"/>
          </a:xfrm>
        </p:grpSpPr>
        <p:sp>
          <p:nvSpPr>
            <p:cNvPr id="9248" name="AutoShape 33">
              <a:extLst>
                <a:ext uri="{FF2B5EF4-FFF2-40B4-BE49-F238E27FC236}">
                  <a16:creationId xmlns:a16="http://schemas.microsoft.com/office/drawing/2014/main" id="{FA612227-6591-4E14-985E-A0D47E726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547" y="2509392"/>
              <a:ext cx="490538" cy="171450"/>
            </a:xfrm>
            <a:prstGeom prst="leftRightArrow">
              <a:avLst>
                <a:gd name="adj1" fmla="val 50000"/>
                <a:gd name="adj2" fmla="val 57183"/>
              </a:avLst>
            </a:prstGeom>
            <a:solidFill>
              <a:schemeClr val="tx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7" name="Text Box 35">
              <a:extLst>
                <a:ext uri="{FF2B5EF4-FFF2-40B4-BE49-F238E27FC236}">
                  <a16:creationId xmlns:a16="http://schemas.microsoft.com/office/drawing/2014/main" id="{DA0479EB-12C9-4613-89B4-1B3260B31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528" y="2379673"/>
              <a:ext cx="292384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  <a:sym typeface="楷体" panose="02010609060101010101" pitchFamily="49" charset="-122"/>
                </a:rPr>
                <a:t>A 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  <a:sym typeface="楷体" panose="02010609060101010101" pitchFamily="49" charset="-122"/>
                </a:rPr>
                <a:t>happens or 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  <a:sym typeface="楷体" panose="02010609060101010101" pitchFamily="49" charset="-122"/>
                </a:rPr>
                <a:t>B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  <a:sym typeface="楷体" panose="02010609060101010101" pitchFamily="49" charset="-122"/>
                </a:rPr>
                <a:t> happens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5FD1BE4-DA57-46DE-A375-1B6D0120BDBD}"/>
                    </a:ext>
                  </a:extLst>
                </p:cNvPr>
                <p:cNvSpPr txBox="1"/>
                <p:nvPr/>
              </p:nvSpPr>
              <p:spPr>
                <a:xfrm>
                  <a:off x="2939261" y="1886815"/>
                  <a:ext cx="336788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={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or</m:t>
                        </m:r>
                        <m:r>
                          <a:rPr lang="zh-CN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sz="2200" b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5FD1BE4-DA57-46DE-A375-1B6D0120BD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261" y="1886815"/>
                  <a:ext cx="3367887" cy="430887"/>
                </a:xfrm>
                <a:prstGeom prst="rect">
                  <a:avLst/>
                </a:prstGeom>
                <a:blipFill>
                  <a:blip r:embed="rId6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E7C498AC-78B4-49A0-8BB5-6785C819F1A8}"/>
                </a:ext>
              </a:extLst>
            </p:cNvPr>
            <p:cNvSpPr txBox="1"/>
            <p:nvPr/>
          </p:nvSpPr>
          <p:spPr>
            <a:xfrm>
              <a:off x="2341502" y="1880358"/>
              <a:ext cx="3442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2.</a:t>
              </a:r>
              <a:endParaRPr lang="zh-CN" altLang="en-US" sz="2000" dirty="0"/>
            </a:p>
          </p:txBody>
        </p:sp>
      </p:grpSp>
      <p:grpSp>
        <p:nvGrpSpPr>
          <p:cNvPr id="9219" name="组合 9218">
            <a:extLst>
              <a:ext uri="{FF2B5EF4-FFF2-40B4-BE49-F238E27FC236}">
                <a16:creationId xmlns:a16="http://schemas.microsoft.com/office/drawing/2014/main" id="{1CBAE98E-CB2E-4F04-95B1-CDDA965EB66F}"/>
              </a:ext>
            </a:extLst>
          </p:cNvPr>
          <p:cNvGrpSpPr/>
          <p:nvPr/>
        </p:nvGrpSpPr>
        <p:grpSpPr>
          <a:xfrm>
            <a:off x="757646" y="1492053"/>
            <a:ext cx="7215530" cy="947683"/>
            <a:chOff x="1170606" y="1344623"/>
            <a:chExt cx="7215530" cy="94768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91FB216C-3513-4EF7-A170-AB1E77132985}"/>
                </a:ext>
              </a:extLst>
            </p:cNvPr>
            <p:cNvGrpSpPr/>
            <p:nvPr/>
          </p:nvGrpSpPr>
          <p:grpSpPr>
            <a:xfrm>
              <a:off x="1170606" y="1344623"/>
              <a:ext cx="7215530" cy="947683"/>
              <a:chOff x="1170606" y="1344623"/>
              <a:chExt cx="7215530" cy="947683"/>
            </a:xfrm>
          </p:grpSpPr>
          <p:sp>
            <p:nvSpPr>
              <p:cNvPr id="9252" name="Text Box 28">
                <a:extLst>
                  <a:ext uri="{FF2B5EF4-FFF2-40B4-BE49-F238E27FC236}">
                    <a16:creationId xmlns:a16="http://schemas.microsoft.com/office/drawing/2014/main" id="{E4B1F6B7-16B2-457A-9732-A494DB558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0606" y="1873294"/>
                <a:ext cx="14986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Specifically</a:t>
                </a:r>
              </a:p>
            </p:txBody>
          </p:sp>
          <p:sp>
            <p:nvSpPr>
              <p:cNvPr id="9237" name="AutoShape 21">
                <a:extLst>
                  <a:ext uri="{FF2B5EF4-FFF2-40B4-BE49-F238E27FC236}">
                    <a16:creationId xmlns:a16="http://schemas.microsoft.com/office/drawing/2014/main" id="{2A77AE65-2945-4205-A6CA-FD11530D1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7137" y="1533451"/>
                <a:ext cx="490538" cy="171450"/>
              </a:xfrm>
              <a:prstGeom prst="leftRightArrow">
                <a:avLst>
                  <a:gd name="adj1" fmla="val 50000"/>
                  <a:gd name="adj2" fmla="val 57183"/>
                </a:avLst>
              </a:prstGeom>
              <a:solidFill>
                <a:schemeClr val="tx1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800" b="1">
                  <a:latin typeface="楷体_GB2312" pitchFamily="1" charset="-122"/>
                  <a:ea typeface="楷体_GB2312" pitchFamily="1" charset="-122"/>
                </a:endParaRPr>
              </a:p>
            </p:txBody>
          </p:sp>
          <p:sp>
            <p:nvSpPr>
              <p:cNvPr id="9254" name="Text Box 23">
                <a:extLst>
                  <a:ext uri="{FF2B5EF4-FFF2-40B4-BE49-F238E27FC236}">
                    <a16:creationId xmlns:a16="http://schemas.microsoft.com/office/drawing/2014/main" id="{D40EC1FE-4EB3-4241-9C87-440E700AA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926" y="1389904"/>
                <a:ext cx="40532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If</a:t>
                </a:r>
                <a:r>
                  <a:rPr lang="zh-CN" altLang="en-US" sz="20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 happens,</a:t>
                </a:r>
                <a:r>
                  <a:rPr lang="zh-CN" altLang="en-US" sz="20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</a:t>
                </a:r>
                <a:r>
                  <a:rPr lang="zh-CN" altLang="en-US" sz="20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must</a:t>
                </a:r>
                <a:r>
                  <a:rPr lang="zh-CN" altLang="en-US" sz="20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happen</a:t>
                </a:r>
                <a:endParaRPr lang="en-US" altLang="en-US" sz="20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0118DBAC-37E7-45DA-8DE6-171DB366A139}"/>
                      </a:ext>
                    </a:extLst>
                  </p:cNvPr>
                  <p:cNvSpPr txBox="1"/>
                  <p:nvPr/>
                </p:nvSpPr>
                <p:spPr>
                  <a:xfrm>
                    <a:off x="2548732" y="1344623"/>
                    <a:ext cx="988091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⊂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zh-CN" altLang="en-US" sz="2200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0118DBAC-37E7-45DA-8DE6-171DB366A1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8732" y="1344623"/>
                    <a:ext cx="988091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8CAF922F-A382-43EA-B3F4-B9B1F6A94644}"/>
                  </a:ext>
                </a:extLst>
              </p:cNvPr>
              <p:cNvGrpSpPr/>
              <p:nvPr/>
            </p:nvGrpSpPr>
            <p:grpSpPr>
              <a:xfrm>
                <a:off x="2526904" y="1861419"/>
                <a:ext cx="1715040" cy="430887"/>
                <a:chOff x="2526904" y="1861419"/>
                <a:chExt cx="1715040" cy="430887"/>
              </a:xfrm>
            </p:grpSpPr>
            <p:sp>
              <p:nvSpPr>
                <p:cNvPr id="9246" name="AutoShape 30">
                  <a:extLst>
                    <a:ext uri="{FF2B5EF4-FFF2-40B4-BE49-F238E27FC236}">
                      <a16:creationId xmlns:a16="http://schemas.microsoft.com/office/drawing/2014/main" id="{F0DABA9D-0D2C-4750-8F4E-3A1C79DF08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1407" y="2041793"/>
                  <a:ext cx="490537" cy="171450"/>
                </a:xfrm>
                <a:prstGeom prst="leftRightArrow">
                  <a:avLst>
                    <a:gd name="adj1" fmla="val 50000"/>
                    <a:gd name="adj2" fmla="val 57249"/>
                  </a:avLst>
                </a:prstGeom>
                <a:solidFill>
                  <a:schemeClr val="tx1"/>
                </a:solidFill>
                <a:ln w="9525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fontAlgn="base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fontAlgn="base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fontAlgn="base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fontAlgn="base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endParaRPr lang="en-US" altLang="en-US" sz="2800" b="1">
                    <a:latin typeface="楷体_GB2312" pitchFamily="1" charset="-122"/>
                    <a:ea typeface="楷体_GB2312" pitchFamily="1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文本框 19">
                      <a:extLst>
                        <a:ext uri="{FF2B5EF4-FFF2-40B4-BE49-F238E27FC236}">
                          <a16:creationId xmlns:a16="http://schemas.microsoft.com/office/drawing/2014/main" id="{06884D6F-8DC1-4C52-BEF0-CCB7CCA878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26904" y="1861419"/>
                      <a:ext cx="1118393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20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zh-CN" altLang="en-US" sz="2200" dirty="0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文本框 19">
                      <a:extLst>
                        <a:ext uri="{FF2B5EF4-FFF2-40B4-BE49-F238E27FC236}">
                          <a16:creationId xmlns:a16="http://schemas.microsoft.com/office/drawing/2014/main" id="{06884D6F-8DC1-4C52-BEF0-CCB7CCA878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26904" y="1861419"/>
                      <a:ext cx="1118393" cy="43088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C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968038-45EB-43DA-9483-96278DB4F8FB}"/>
                  </a:ext>
                </a:extLst>
              </p:cNvPr>
              <p:cNvSpPr txBox="1"/>
              <p:nvPr/>
            </p:nvSpPr>
            <p:spPr>
              <a:xfrm>
                <a:off x="1831881" y="1360763"/>
                <a:ext cx="378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1.</a:t>
                </a:r>
                <a:endParaRPr lang="zh-CN" altLang="en-US" sz="20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6D246F9-31DC-4383-9EDC-F5581BCBC119}"/>
                    </a:ext>
                  </a:extLst>
                </p:cNvPr>
                <p:cNvSpPr txBox="1"/>
                <p:nvPr/>
              </p:nvSpPr>
              <p:spPr>
                <a:xfrm>
                  <a:off x="4421590" y="1938948"/>
                  <a:ext cx="2123017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⊂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zh-CN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and</m:t>
                        </m:r>
                        <m:r>
                          <a:rPr lang="zh-CN" altLang="en-US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⊂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6D246F9-31DC-4383-9EDC-F5581BCBC1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590" y="1938948"/>
                  <a:ext cx="2123017" cy="338554"/>
                </a:xfrm>
                <a:prstGeom prst="rect">
                  <a:avLst/>
                </a:prstGeom>
                <a:blipFill>
                  <a:blip r:embed="rId9"/>
                  <a:stretch>
                    <a:fillRect l="-2381" t="-7143" r="-2976" b="-3571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17" name="组合 9216">
            <a:extLst>
              <a:ext uri="{FF2B5EF4-FFF2-40B4-BE49-F238E27FC236}">
                <a16:creationId xmlns:a16="http://schemas.microsoft.com/office/drawing/2014/main" id="{4934DA16-0A26-423E-9299-1BF396B5B405}"/>
              </a:ext>
            </a:extLst>
          </p:cNvPr>
          <p:cNvGrpSpPr/>
          <p:nvPr/>
        </p:nvGrpSpPr>
        <p:grpSpPr>
          <a:xfrm>
            <a:off x="1198731" y="4811333"/>
            <a:ext cx="2673350" cy="1825951"/>
            <a:chOff x="1585913" y="3281037"/>
            <a:chExt cx="2673350" cy="1825951"/>
          </a:xfrm>
        </p:grpSpPr>
        <p:grpSp>
          <p:nvGrpSpPr>
            <p:cNvPr id="9218" name="Group 2">
              <a:extLst>
                <a:ext uri="{FF2B5EF4-FFF2-40B4-BE49-F238E27FC236}">
                  <a16:creationId xmlns:a16="http://schemas.microsoft.com/office/drawing/2014/main" id="{74A73473-3BC2-4A6B-A2AE-3E34C0CB22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5913" y="3667125"/>
              <a:ext cx="2673350" cy="1439863"/>
              <a:chOff x="664" y="0"/>
              <a:chExt cx="1684" cy="907"/>
            </a:xfrm>
          </p:grpSpPr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4B935B5A-CCD8-4548-A742-2A281D693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" y="0"/>
                <a:ext cx="1673" cy="907"/>
              </a:xfrm>
              <a:prstGeom prst="rect">
                <a:avLst/>
              </a:prstGeom>
              <a:gradFill rotWithShape="1">
                <a:gsLst>
                  <a:gs pos="0">
                    <a:srgbClr val="6699FF"/>
                  </a:gs>
                  <a:gs pos="50000">
                    <a:srgbClr val="2F4774"/>
                  </a:gs>
                  <a:gs pos="100000">
                    <a:srgbClr val="6699FF"/>
                  </a:gs>
                </a:gsLst>
                <a:lin ang="18900000" scaled="1"/>
              </a:gradFill>
              <a:ln w="12700">
                <a:solidFill>
                  <a:srgbClr val="3366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800" b="1">
                  <a:solidFill>
                    <a:srgbClr val="FFFF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Times New Roman" panose="02020603050405020304" pitchFamily="18" charset="0"/>
                </a:endParaRPr>
              </a:p>
            </p:txBody>
          </p:sp>
          <p:pic>
            <p:nvPicPr>
              <p:cNvPr id="9265" name="Object 4">
                <a:extLst>
                  <a:ext uri="{FF2B5EF4-FFF2-40B4-BE49-F238E27FC236}">
                    <a16:creationId xmlns:a16="http://schemas.microsoft.com/office/drawing/2014/main" id="{FA9F9F81-3DFA-4E09-BC6E-AB68999200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4" y="664"/>
                <a:ext cx="267" cy="2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66" name="Oval 5">
                <a:extLst>
                  <a:ext uri="{FF2B5EF4-FFF2-40B4-BE49-F238E27FC236}">
                    <a16:creationId xmlns:a16="http://schemas.microsoft.com/office/drawing/2014/main" id="{3BA628CC-E236-4546-AE31-75F9A4F8E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45"/>
                <a:ext cx="1029" cy="771"/>
              </a:xfrm>
              <a:prstGeom prst="ellipse">
                <a:avLst/>
              </a:prstGeom>
              <a:solidFill>
                <a:srgbClr val="3366FF">
                  <a:alpha val="58038"/>
                </a:srgb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800" b="1">
                  <a:latin typeface="楷体_GB2312" pitchFamily="1" charset="-122"/>
                  <a:ea typeface="楷体_GB2312" pitchFamily="1" charset="-122"/>
                </a:endParaRPr>
              </a:p>
            </p:txBody>
          </p:sp>
          <p:pic>
            <p:nvPicPr>
              <p:cNvPr id="9267" name="Object 6">
                <a:extLst>
                  <a:ext uri="{FF2B5EF4-FFF2-40B4-BE49-F238E27FC236}">
                    <a16:creationId xmlns:a16="http://schemas.microsoft.com/office/drawing/2014/main" id="{BF0989C6-87D6-4E7D-AEE8-DF2BCFA6A5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7" y="272"/>
                <a:ext cx="26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68" name="Oval 7">
                <a:extLst>
                  <a:ext uri="{FF2B5EF4-FFF2-40B4-BE49-F238E27FC236}">
                    <a16:creationId xmlns:a16="http://schemas.microsoft.com/office/drawing/2014/main" id="{BB63E9A1-2E51-4713-8A9E-280D4136A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4" y="181"/>
                <a:ext cx="644" cy="499"/>
              </a:xfrm>
              <a:prstGeom prst="ellipse">
                <a:avLst/>
              </a:prstGeom>
              <a:gradFill rotWithShape="1">
                <a:gsLst>
                  <a:gs pos="0">
                    <a:srgbClr val="FF9900"/>
                  </a:gs>
                  <a:gs pos="50000">
                    <a:srgbClr val="744700"/>
                  </a:gs>
                  <a:gs pos="100000">
                    <a:srgbClr val="FF9900"/>
                  </a:gs>
                </a:gsLst>
                <a:lin ang="18900000" scaled="1"/>
              </a:gradFill>
              <a:ln w="1270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en-US" altLang="en-US" sz="2800" b="1">
                  <a:solidFill>
                    <a:srgbClr val="FFFF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Times New Roman" panose="02020603050405020304" pitchFamily="18" charset="0"/>
                </a:endParaRPr>
              </a:p>
            </p:txBody>
          </p:sp>
          <p:pic>
            <p:nvPicPr>
              <p:cNvPr id="3" name="Object 8">
                <a:extLst>
                  <a:ext uri="{FF2B5EF4-FFF2-40B4-BE49-F238E27FC236}">
                    <a16:creationId xmlns:a16="http://schemas.microsoft.com/office/drawing/2014/main" id="{BD55332F-E389-436C-BC68-3DD972EBD7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9" y="272"/>
                <a:ext cx="26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16" name="文本框 9215">
                  <a:extLst>
                    <a:ext uri="{FF2B5EF4-FFF2-40B4-BE49-F238E27FC236}">
                      <a16:creationId xmlns:a16="http://schemas.microsoft.com/office/drawing/2014/main" id="{86AFA989-7DEE-4FB2-817C-EBA713B0B4CB}"/>
                    </a:ext>
                  </a:extLst>
                </p:cNvPr>
                <p:cNvSpPr txBox="1"/>
                <p:nvPr/>
              </p:nvSpPr>
              <p:spPr>
                <a:xfrm>
                  <a:off x="2458577" y="3281037"/>
                  <a:ext cx="1124737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⊂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9216" name="文本框 9215">
                  <a:extLst>
                    <a:ext uri="{FF2B5EF4-FFF2-40B4-BE49-F238E27FC236}">
                      <a16:creationId xmlns:a16="http://schemas.microsoft.com/office/drawing/2014/main" id="{86AFA989-7DEE-4FB2-817C-EBA713B0B4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8577" y="3281037"/>
                  <a:ext cx="1124737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Slide Number Placeholder 3">
            <a:extLst>
              <a:ext uri="{FF2B5EF4-FFF2-40B4-BE49-F238E27FC236}">
                <a16:creationId xmlns:a16="http://schemas.microsoft.com/office/drawing/2014/main" id="{040E3CC4-252C-574D-873C-79A4746B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622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9" name="Text Box 7">
            <a:extLst>
              <a:ext uri="{FF2B5EF4-FFF2-40B4-BE49-F238E27FC236}">
                <a16:creationId xmlns:a16="http://schemas.microsoft.com/office/drawing/2014/main" id="{BDFDA035-DF06-4F64-8939-4B7548B36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66" y="987621"/>
            <a:ext cx="560597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 B 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happen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simultaneously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同时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宋体" panose="02010600030101010101" pitchFamily="2" charset="-122"/>
              </a:rPr>
              <a:t>is called the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Production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积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or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Intersection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交集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of A and B.</a:t>
            </a:r>
            <a:endParaRPr lang="zh-CN" altLang="en-US" sz="20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51" name="Text Box 14">
            <a:extLst>
              <a:ext uri="{FF2B5EF4-FFF2-40B4-BE49-F238E27FC236}">
                <a16:creationId xmlns:a16="http://schemas.microsoft.com/office/drawing/2014/main" id="{5BB853FB-FFBE-42ED-A6DC-68EABE2A4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728" y="1776737"/>
            <a:ext cx="80629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Similarly, we can define the </a:t>
            </a:r>
            <a:r>
              <a:rPr lang="en-US" altLang="zh-CN" sz="1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production of n finite events </a:t>
            </a:r>
            <a:r>
              <a:rPr lang="en-US" altLang="zh-CN" sz="18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or </a:t>
            </a:r>
            <a:r>
              <a:rPr lang="en-US" altLang="zh-CN" sz="1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countable events</a:t>
            </a:r>
          </a:p>
        </p:txBody>
      </p:sp>
      <p:sp>
        <p:nvSpPr>
          <p:cNvPr id="10261" name="AutoShape 44">
            <a:extLst>
              <a:ext uri="{FF2B5EF4-FFF2-40B4-BE49-F238E27FC236}">
                <a16:creationId xmlns:a16="http://schemas.microsoft.com/office/drawing/2014/main" id="{C03F538E-0EFD-45F9-B7F4-E4819EA2C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787" y="1214042"/>
            <a:ext cx="581681" cy="171450"/>
          </a:xfrm>
          <a:prstGeom prst="leftRightArrow">
            <a:avLst>
              <a:gd name="adj1" fmla="val 50000"/>
              <a:gd name="adj2" fmla="val 57249"/>
            </a:avLst>
          </a:prstGeom>
          <a:solidFill>
            <a:schemeClr val="tx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702DD80-3D42-4668-A429-0800F62E7F44}"/>
                  </a:ext>
                </a:extLst>
              </p:cNvPr>
              <p:cNvSpPr txBox="1"/>
              <p:nvPr/>
            </p:nvSpPr>
            <p:spPr>
              <a:xfrm>
                <a:off x="1312234" y="2159513"/>
                <a:ext cx="3370538" cy="760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={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l-GR" altLang="zh-C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=1, 2, …,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702DD80-3D42-4668-A429-0800F62E7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234" y="2159513"/>
                <a:ext cx="3370538" cy="760657"/>
              </a:xfrm>
              <a:prstGeom prst="rect">
                <a:avLst/>
              </a:prstGeom>
              <a:blipFill>
                <a:blip r:embed="rId3"/>
                <a:stretch>
                  <a:fillRect l="-25188" t="-119672" r="-1880" b="-18360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E44603C-AEA6-49DF-9DC9-3307C1F2DBA2}"/>
                  </a:ext>
                </a:extLst>
              </p:cNvPr>
              <p:cNvSpPr txBox="1"/>
              <p:nvPr/>
            </p:nvSpPr>
            <p:spPr>
              <a:xfrm>
                <a:off x="2097906" y="494829"/>
                <a:ext cx="390100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zh-CN" alt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zh-CN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E44603C-AEA6-49DF-9DC9-3307C1F2D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906" y="494829"/>
                <a:ext cx="3901004" cy="430887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EA18C5B-A03E-4CD7-94B9-519364701464}"/>
                  </a:ext>
                </a:extLst>
              </p:cNvPr>
              <p:cNvSpPr txBox="1"/>
              <p:nvPr/>
            </p:nvSpPr>
            <p:spPr>
              <a:xfrm>
                <a:off x="5011352" y="2173274"/>
                <a:ext cx="3233514" cy="759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={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l-GR" altLang="zh-C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=1, 2, …}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EA18C5B-A03E-4CD7-94B9-519364701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352" y="2173274"/>
                <a:ext cx="3233514" cy="759760"/>
              </a:xfrm>
              <a:prstGeom prst="rect">
                <a:avLst/>
              </a:prstGeom>
              <a:blipFill>
                <a:blip r:embed="rId5"/>
                <a:stretch>
                  <a:fillRect l="-24609" t="-125000" r="-391" b="-18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F509E91E-5723-45FB-98BB-93E338B33E5F}"/>
                  </a:ext>
                </a:extLst>
              </p:cNvPr>
              <p:cNvSpPr txBox="1"/>
              <p:nvPr/>
            </p:nvSpPr>
            <p:spPr>
              <a:xfrm>
                <a:off x="2107170" y="3222142"/>
                <a:ext cx="39287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2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sz="22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2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zh-CN" altLang="en-US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200" b="0" i="1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F509E91E-5723-45FB-98BB-93E338B33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170" y="3222142"/>
                <a:ext cx="3928703" cy="430887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7">
                <a:extLst>
                  <a:ext uri="{FF2B5EF4-FFF2-40B4-BE49-F238E27FC236}">
                    <a16:creationId xmlns:a16="http://schemas.microsoft.com/office/drawing/2014/main" id="{D9059BF0-3E3D-4412-AC66-BE3F3D0A1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5780" y="3614075"/>
                <a:ext cx="5900697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When A 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happen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 while B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does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not, </a:t>
                </a: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it is called</a:t>
                </a: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Difference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差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of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and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B.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endParaRPr lang="en-US" altLang="zh-CN" sz="20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zh-CN" sz="2000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then call (A - B) as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Real Difference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真差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endParaRPr lang="zh-CN" altLang="en-US" sz="2000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57" name="Text Box 7">
                <a:extLst>
                  <a:ext uri="{FF2B5EF4-FFF2-40B4-BE49-F238E27FC236}">
                    <a16:creationId xmlns:a16="http://schemas.microsoft.com/office/drawing/2014/main" id="{D9059BF0-3E3D-4412-AC66-BE3F3D0A1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5780" y="3614075"/>
                <a:ext cx="5900697" cy="1015663"/>
              </a:xfrm>
              <a:prstGeom prst="rect">
                <a:avLst/>
              </a:prstGeom>
              <a:blipFill>
                <a:blip r:embed="rId7"/>
                <a:stretch>
                  <a:fillRect l="-1136" t="-3614" b="-108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3">
            <a:extLst>
              <a:ext uri="{FF2B5EF4-FFF2-40B4-BE49-F238E27FC236}">
                <a16:creationId xmlns:a16="http://schemas.microsoft.com/office/drawing/2014/main" id="{2EA05BCC-FCB5-5D4C-B3E3-D6B0377ACCD1}"/>
              </a:ext>
            </a:extLst>
          </p:cNvPr>
          <p:cNvSpPr txBox="1"/>
          <p:nvPr/>
        </p:nvSpPr>
        <p:spPr>
          <a:xfrm>
            <a:off x="1302245" y="510217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3.</a:t>
            </a:r>
            <a:endParaRPr lang="zh-CN" altLang="en-US" sz="2000" dirty="0"/>
          </a:p>
        </p:txBody>
      </p:sp>
      <p:sp>
        <p:nvSpPr>
          <p:cNvPr id="28" name="文本框 23">
            <a:extLst>
              <a:ext uri="{FF2B5EF4-FFF2-40B4-BE49-F238E27FC236}">
                <a16:creationId xmlns:a16="http://schemas.microsoft.com/office/drawing/2014/main" id="{DB5E0E54-EF9C-3545-9DF7-7C17562FEECE}"/>
              </a:ext>
            </a:extLst>
          </p:cNvPr>
          <p:cNvSpPr txBox="1"/>
          <p:nvPr/>
        </p:nvSpPr>
        <p:spPr>
          <a:xfrm>
            <a:off x="1317926" y="3236667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4.</a:t>
            </a:r>
            <a:endParaRPr lang="zh-CN" altLang="en-US" sz="2000" dirty="0"/>
          </a:p>
        </p:txBody>
      </p:sp>
      <p:grpSp>
        <p:nvGrpSpPr>
          <p:cNvPr id="36" name="Group 49">
            <a:extLst>
              <a:ext uri="{FF2B5EF4-FFF2-40B4-BE49-F238E27FC236}">
                <a16:creationId xmlns:a16="http://schemas.microsoft.com/office/drawing/2014/main" id="{B70401BA-3F93-BB4F-9F57-ECC95E0B4AF7}"/>
              </a:ext>
            </a:extLst>
          </p:cNvPr>
          <p:cNvGrpSpPr>
            <a:grpSpLocks/>
          </p:cNvGrpSpPr>
          <p:nvPr/>
        </p:nvGrpSpPr>
        <p:grpSpPr bwMode="auto">
          <a:xfrm>
            <a:off x="214700" y="4915295"/>
            <a:ext cx="2655887" cy="1457325"/>
            <a:chOff x="2183" y="974"/>
            <a:chExt cx="1673" cy="91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FD29F86-6505-864A-8544-FA8724C52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3" y="974"/>
              <a:ext cx="1673" cy="907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3366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latin typeface="华文新魏" pitchFamily="2" charset="-122"/>
                <a:ea typeface="华文新魏" pitchFamily="2" charset="-122"/>
                <a:cs typeface="+mn-cs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F4AF217-EFC9-9243-884D-B2B490C99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1019"/>
              <a:ext cx="1089" cy="771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>
                    <a:alpha val="70000"/>
                  </a:schemeClr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latin typeface="华文新魏" pitchFamily="2" charset="-122"/>
                <a:ea typeface="华文新魏" pitchFamily="2" charset="-122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B1DC36E-0608-4246-88A4-A46B0B59F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2" y="1065"/>
              <a:ext cx="1089" cy="680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50000">
                  <a:schemeClr val="tx2">
                    <a:alpha val="14000"/>
                  </a:schemeClr>
                </a:gs>
                <a:gs pos="100000">
                  <a:schemeClr val="tx2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latin typeface="华文新魏" pitchFamily="2" charset="-122"/>
                <a:ea typeface="华文新魏" pitchFamily="2" charset="-122"/>
                <a:cs typeface="+mn-cs"/>
              </a:endParaRPr>
            </a:p>
          </p:txBody>
        </p:sp>
        <p:graphicFrame>
          <p:nvGraphicFramePr>
            <p:cNvPr id="42" name="Object 290">
              <a:extLst>
                <a:ext uri="{FF2B5EF4-FFF2-40B4-BE49-F238E27FC236}">
                  <a16:creationId xmlns:a16="http://schemas.microsoft.com/office/drawing/2014/main" id="{E24042F6-8065-194F-868A-47D3EF5740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95" y="1287"/>
            <a:ext cx="23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160" imgH="38160" progId="">
                    <p:embed/>
                  </p:oleObj>
                </mc:Choice>
                <mc:Fallback>
                  <p:oleObj name="Equation" r:id="rId8" imgW="38160" imgH="38160" progId="">
                    <p:embed/>
                    <p:pic>
                      <p:nvPicPr>
                        <p:cNvPr id="28962" name="Object 2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5" y="1287"/>
                          <a:ext cx="23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291">
              <a:extLst>
                <a:ext uri="{FF2B5EF4-FFF2-40B4-BE49-F238E27FC236}">
                  <a16:creationId xmlns:a16="http://schemas.microsoft.com/office/drawing/2014/main" id="{066361CD-349B-1347-8788-EF2FE2E5FB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4" y="1302"/>
            <a:ext cx="23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8160" imgH="38160" progId="">
                    <p:embed/>
                  </p:oleObj>
                </mc:Choice>
                <mc:Fallback>
                  <p:oleObj name="Equation" r:id="rId10" imgW="38160" imgH="38160" progId="">
                    <p:embed/>
                    <p:pic>
                      <p:nvPicPr>
                        <p:cNvPr id="28963" name="Object 2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4" y="1302"/>
                          <a:ext cx="23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293">
              <a:extLst>
                <a:ext uri="{FF2B5EF4-FFF2-40B4-BE49-F238E27FC236}">
                  <a16:creationId xmlns:a16="http://schemas.microsoft.com/office/drawing/2014/main" id="{A8BF5E43-1D24-054B-B3DD-A803B1ACEC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85" y="1666"/>
            <a:ext cx="26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50760" imgH="38160" progId="Equation.3">
                    <p:embed/>
                  </p:oleObj>
                </mc:Choice>
                <mc:Fallback>
                  <p:oleObj name="公式" r:id="rId12" imgW="50760" imgH="38160" progId="Equation.3">
                    <p:embed/>
                    <p:pic>
                      <p:nvPicPr>
                        <p:cNvPr id="28965" name="Object 2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5" y="1666"/>
                          <a:ext cx="26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AutoShape 44">
            <a:extLst>
              <a:ext uri="{FF2B5EF4-FFF2-40B4-BE49-F238E27FC236}">
                <a16:creationId xmlns:a16="http://schemas.microsoft.com/office/drawing/2014/main" id="{3EE0D216-6DA0-824A-85F2-76CE16EA1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328" y="3797492"/>
            <a:ext cx="581681" cy="171450"/>
          </a:xfrm>
          <a:prstGeom prst="leftRightArrow">
            <a:avLst>
              <a:gd name="adj1" fmla="val 50000"/>
              <a:gd name="adj2" fmla="val 57249"/>
            </a:avLst>
          </a:prstGeom>
          <a:solidFill>
            <a:schemeClr val="tx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47" name="Group 50">
            <a:extLst>
              <a:ext uri="{FF2B5EF4-FFF2-40B4-BE49-F238E27FC236}">
                <a16:creationId xmlns:a16="http://schemas.microsoft.com/office/drawing/2014/main" id="{3E6647CE-2730-C54D-A40B-71F48F15082E}"/>
              </a:ext>
            </a:extLst>
          </p:cNvPr>
          <p:cNvGrpSpPr>
            <a:grpSpLocks/>
          </p:cNvGrpSpPr>
          <p:nvPr/>
        </p:nvGrpSpPr>
        <p:grpSpPr bwMode="auto">
          <a:xfrm>
            <a:off x="3244056" y="4934984"/>
            <a:ext cx="2655887" cy="1455738"/>
            <a:chOff x="2187" y="3230"/>
            <a:chExt cx="1673" cy="917"/>
          </a:xfrm>
        </p:grpSpPr>
        <p:sp>
          <p:nvSpPr>
            <p:cNvPr id="48" name="Rectangle 28">
              <a:extLst>
                <a:ext uri="{FF2B5EF4-FFF2-40B4-BE49-F238E27FC236}">
                  <a16:creationId xmlns:a16="http://schemas.microsoft.com/office/drawing/2014/main" id="{4484DB8A-A882-AD43-934D-03341504C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3230"/>
              <a:ext cx="1673" cy="907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3366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latin typeface="华文新魏" pitchFamily="2" charset="-122"/>
                <a:ea typeface="华文新魏" pitchFamily="2" charset="-122"/>
                <a:cs typeface="+mn-cs"/>
              </a:endParaRPr>
            </a:p>
          </p:txBody>
        </p:sp>
        <p:sp>
          <p:nvSpPr>
            <p:cNvPr id="51" name="Oval 29">
              <a:extLst>
                <a:ext uri="{FF2B5EF4-FFF2-40B4-BE49-F238E27FC236}">
                  <a16:creationId xmlns:a16="http://schemas.microsoft.com/office/drawing/2014/main" id="{EA263FE7-E7AC-084B-9570-94BE67FCB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8" y="3275"/>
              <a:ext cx="1089" cy="771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>
                    <a:alpha val="61000"/>
                  </a:schemeClr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latin typeface="华文新魏" pitchFamily="2" charset="-122"/>
                <a:ea typeface="华文新魏" pitchFamily="2" charset="-122"/>
                <a:cs typeface="+mn-cs"/>
              </a:endParaRPr>
            </a:p>
          </p:txBody>
        </p:sp>
        <p:sp>
          <p:nvSpPr>
            <p:cNvPr id="52" name="Oval 30">
              <a:extLst>
                <a:ext uri="{FF2B5EF4-FFF2-40B4-BE49-F238E27FC236}">
                  <a16:creationId xmlns:a16="http://schemas.microsoft.com/office/drawing/2014/main" id="{C1542DD2-15CE-634F-BF57-2C3287BD3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8" y="3321"/>
              <a:ext cx="777" cy="680"/>
            </a:xfrm>
            <a:prstGeom prst="ellipse">
              <a:avLst/>
            </a:prstGeom>
            <a:gradFill rotWithShape="1">
              <a:gsLst>
                <a:gs pos="0">
                  <a:srgbClr val="0000FF">
                    <a:gamma/>
                    <a:shade val="46275"/>
                    <a:invGamma/>
                  </a:srgbClr>
                </a:gs>
                <a:gs pos="50000">
                  <a:srgbClr val="0000FF">
                    <a:alpha val="23000"/>
                  </a:srgbClr>
                </a:gs>
                <a:gs pos="100000">
                  <a:srgbClr val="0000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latin typeface="华文新魏" pitchFamily="2" charset="-122"/>
                <a:ea typeface="华文新魏" pitchFamily="2" charset="-122"/>
                <a:cs typeface="+mn-cs"/>
              </a:endParaRPr>
            </a:p>
          </p:txBody>
        </p:sp>
        <p:graphicFrame>
          <p:nvGraphicFramePr>
            <p:cNvPr id="56" name="Object 283">
              <a:extLst>
                <a:ext uri="{FF2B5EF4-FFF2-40B4-BE49-F238E27FC236}">
                  <a16:creationId xmlns:a16="http://schemas.microsoft.com/office/drawing/2014/main" id="{7B6C2968-3FF8-014A-940A-D55FF2CADA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3" y="3693"/>
            <a:ext cx="23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8160" imgH="38160" progId="">
                    <p:embed/>
                  </p:oleObj>
                </mc:Choice>
                <mc:Fallback>
                  <p:oleObj name="Equation" r:id="rId14" imgW="38160" imgH="38160" progId="">
                    <p:embed/>
                    <p:pic>
                      <p:nvPicPr>
                        <p:cNvPr id="28955" name="Object 2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3" y="3693"/>
                          <a:ext cx="23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284">
              <a:extLst>
                <a:ext uri="{FF2B5EF4-FFF2-40B4-BE49-F238E27FC236}">
                  <a16:creationId xmlns:a16="http://schemas.microsoft.com/office/drawing/2014/main" id="{49ECB7D3-E2F7-7C4D-AA74-ED26499EF0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6" y="3534"/>
            <a:ext cx="23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8160" imgH="38160" progId="">
                    <p:embed/>
                  </p:oleObj>
                </mc:Choice>
                <mc:Fallback>
                  <p:oleObj name="Equation" r:id="rId16" imgW="38160" imgH="38160" progId="">
                    <p:embed/>
                    <p:pic>
                      <p:nvPicPr>
                        <p:cNvPr id="28956" name="Object 2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6" y="3534"/>
                          <a:ext cx="23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285">
              <a:extLst>
                <a:ext uri="{FF2B5EF4-FFF2-40B4-BE49-F238E27FC236}">
                  <a16:creationId xmlns:a16="http://schemas.microsoft.com/office/drawing/2014/main" id="{E50CEAB3-C8F5-EF46-BD54-E73A0204AA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92" y="3921"/>
            <a:ext cx="26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0760" imgH="38160" progId="Equation.3">
                    <p:embed/>
                  </p:oleObj>
                </mc:Choice>
                <mc:Fallback>
                  <p:oleObj name="公式" r:id="rId18" imgW="50760" imgH="38160" progId="Equation.3">
                    <p:embed/>
                    <p:pic>
                      <p:nvPicPr>
                        <p:cNvPr id="28957" name="Object 2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2" y="3921"/>
                          <a:ext cx="26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292A589-C2AB-F24B-A54B-0EA1CB6C07E0}"/>
                  </a:ext>
                </a:extLst>
              </p:cNvPr>
              <p:cNvSpPr/>
              <p:nvPr/>
            </p:nvSpPr>
            <p:spPr>
              <a:xfrm>
                <a:off x="4242312" y="5287272"/>
                <a:ext cx="8199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x-none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292A589-C2AB-F24B-A54B-0EA1CB6C07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312" y="5287272"/>
                <a:ext cx="81990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7511C49-3860-C74E-9FE0-0C9245BCB00C}"/>
                  </a:ext>
                </a:extLst>
              </p:cNvPr>
              <p:cNvSpPr/>
              <p:nvPr/>
            </p:nvSpPr>
            <p:spPr>
              <a:xfrm>
                <a:off x="1189082" y="5403759"/>
                <a:ext cx="8038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x-none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7511C49-3860-C74E-9FE0-0C9245BCB0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082" y="5403759"/>
                <a:ext cx="803874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Slide Number Placeholder 3">
            <a:extLst>
              <a:ext uri="{FF2B5EF4-FFF2-40B4-BE49-F238E27FC236}">
                <a16:creationId xmlns:a16="http://schemas.microsoft.com/office/drawing/2014/main" id="{0C20B263-C743-6C4D-BF09-C6306E04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7E4D58A-9850-4C7E-B438-8F7B90A96D75}"/>
              </a:ext>
            </a:extLst>
          </p:cNvPr>
          <p:cNvGrpSpPr/>
          <p:nvPr/>
        </p:nvGrpSpPr>
        <p:grpSpPr>
          <a:xfrm>
            <a:off x="6273413" y="4916397"/>
            <a:ext cx="2671028" cy="1481351"/>
            <a:chOff x="6241437" y="4580594"/>
            <a:chExt cx="2619696" cy="1593428"/>
          </a:xfrm>
        </p:grpSpPr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7A6A914F-4BB3-42B3-8F5E-CA587C6C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8146" y="4580594"/>
              <a:ext cx="2562987" cy="1557598"/>
            </a:xfrm>
            <a:prstGeom prst="rect">
              <a:avLst/>
            </a:prstGeom>
            <a:gradFill rotWithShape="1">
              <a:gsLst>
                <a:gs pos="0">
                  <a:srgbClr val="6699FF"/>
                </a:gs>
                <a:gs pos="50000">
                  <a:srgbClr val="2F4774"/>
                </a:gs>
                <a:gs pos="100000">
                  <a:srgbClr val="6699FF"/>
                </a:gs>
              </a:gsLst>
              <a:lin ang="18900000" scaled="1"/>
            </a:gradFill>
            <a:ln w="12700">
              <a:solidFill>
                <a:srgbClr val="33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 dirty="0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32" name="Object 4">
              <a:extLst>
                <a:ext uri="{FF2B5EF4-FFF2-40B4-BE49-F238E27FC236}">
                  <a16:creationId xmlns:a16="http://schemas.microsoft.com/office/drawing/2014/main" id="{D8CCD343-129F-49A2-AC6C-2B5BCD2E62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1437" y="5826359"/>
              <a:ext cx="423863" cy="347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Oval 5">
              <a:extLst>
                <a:ext uri="{FF2B5EF4-FFF2-40B4-BE49-F238E27FC236}">
                  <a16:creationId xmlns:a16="http://schemas.microsoft.com/office/drawing/2014/main" id="{A2376137-E8BC-4955-91C7-927F7388A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37" y="4741319"/>
              <a:ext cx="1633538" cy="1223963"/>
            </a:xfrm>
            <a:prstGeom prst="ellipse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4" name="Oval 7">
              <a:extLst>
                <a:ext uri="{FF2B5EF4-FFF2-40B4-BE49-F238E27FC236}">
                  <a16:creationId xmlns:a16="http://schemas.microsoft.com/office/drawing/2014/main" id="{9159BE5C-1753-4E3A-BBB0-430CE3D8B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2177" y="5101932"/>
              <a:ext cx="1022350" cy="792163"/>
            </a:xfrm>
            <a:prstGeom prst="ellipse">
              <a:avLst/>
            </a:prstGeom>
            <a:gradFill>
              <a:gsLst>
                <a:gs pos="0">
                  <a:srgbClr val="3399FF"/>
                </a:gs>
                <a:gs pos="16000">
                  <a:srgbClr val="00CCCC"/>
                </a:gs>
                <a:gs pos="47000">
                  <a:srgbClr val="9999FF"/>
                </a:gs>
                <a:gs pos="60001">
                  <a:srgbClr val="2E6792"/>
                </a:gs>
                <a:gs pos="71001">
                  <a:srgbClr val="3333CC"/>
                </a:gs>
                <a:gs pos="81000">
                  <a:srgbClr val="1170FF"/>
                </a:gs>
                <a:gs pos="100000">
                  <a:srgbClr val="006699"/>
                </a:gs>
              </a:gsLst>
              <a:lin ang="18900000" scaled="0"/>
            </a:gradFill>
            <a:ln w="12700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35" name="Object 8">
              <a:extLst>
                <a:ext uri="{FF2B5EF4-FFF2-40B4-BE49-F238E27FC236}">
                  <a16:creationId xmlns:a16="http://schemas.microsoft.com/office/drawing/2014/main" id="{5EEB3877-BDF2-4035-A10D-B9FC43F99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0425" y="5292431"/>
              <a:ext cx="423863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Object 31">
              <a:extLst>
                <a:ext uri="{FF2B5EF4-FFF2-40B4-BE49-F238E27FC236}">
                  <a16:creationId xmlns:a16="http://schemas.microsoft.com/office/drawing/2014/main" id="{BEAB24F8-290E-4026-BA44-0CE1CD2FA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2313" y="4736871"/>
              <a:ext cx="839787" cy="344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Object 6">
              <a:extLst>
                <a:ext uri="{FF2B5EF4-FFF2-40B4-BE49-F238E27FC236}">
                  <a16:creationId xmlns:a16="http://schemas.microsoft.com/office/drawing/2014/main" id="{3BC9ADF7-AAC1-4729-B44F-1067781C3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5501" y="5292431"/>
              <a:ext cx="423863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2163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9" grpId="0"/>
      <p:bldP spid="10251" grpId="0"/>
      <p:bldP spid="10261" grpId="0" animBg="1"/>
      <p:bldP spid="12" grpId="0"/>
      <p:bldP spid="13" grpId="0"/>
      <p:bldP spid="54" grpId="0"/>
      <p:bldP spid="55" grpId="0"/>
      <p:bldP spid="57" grpId="0"/>
      <p:bldP spid="27" grpId="0"/>
      <p:bldP spid="28" grpId="0"/>
      <p:bldP spid="46" grpId="0" animBg="1"/>
      <p:bldP spid="2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4">
            <a:extLst>
              <a:ext uri="{FF2B5EF4-FFF2-40B4-BE49-F238E27FC236}">
                <a16:creationId xmlns:a16="http://schemas.microsoft.com/office/drawing/2014/main" id="{6C198781-F55B-4D21-A4C1-C36699D88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5100" y="2479675"/>
            <a:ext cx="15367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1272" name="Group 32">
            <a:extLst>
              <a:ext uri="{FF2B5EF4-FFF2-40B4-BE49-F238E27FC236}">
                <a16:creationId xmlns:a16="http://schemas.microsoft.com/office/drawing/2014/main" id="{1675959E-54F0-44DE-8D5C-D4B7C39038F1}"/>
              </a:ext>
            </a:extLst>
          </p:cNvPr>
          <p:cNvGrpSpPr>
            <a:grpSpLocks/>
          </p:cNvGrpSpPr>
          <p:nvPr/>
        </p:nvGrpSpPr>
        <p:grpSpPr bwMode="auto">
          <a:xfrm>
            <a:off x="5117446" y="4789868"/>
            <a:ext cx="2480507" cy="1439863"/>
            <a:chOff x="0" y="0"/>
            <a:chExt cx="1690" cy="907"/>
          </a:xfrm>
        </p:grpSpPr>
        <p:sp>
          <p:nvSpPr>
            <p:cNvPr id="11301" name="Rectangle 33">
              <a:extLst>
                <a:ext uri="{FF2B5EF4-FFF2-40B4-BE49-F238E27FC236}">
                  <a16:creationId xmlns:a16="http://schemas.microsoft.com/office/drawing/2014/main" id="{1C5D9B40-8AB3-49F6-9275-3C24C7744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" y="0"/>
              <a:ext cx="1673" cy="907"/>
            </a:xfrm>
            <a:prstGeom prst="rect">
              <a:avLst/>
            </a:prstGeom>
            <a:gradFill rotWithShape="1">
              <a:gsLst>
                <a:gs pos="0">
                  <a:srgbClr val="005D5D"/>
                </a:gs>
                <a:gs pos="50000">
                  <a:srgbClr val="00CCCC"/>
                </a:gs>
                <a:gs pos="100000">
                  <a:srgbClr val="005D5D"/>
                </a:gs>
              </a:gsLst>
              <a:lin ang="18900000" scaled="1"/>
            </a:gra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1302" name="Object 34">
              <a:extLst>
                <a:ext uri="{FF2B5EF4-FFF2-40B4-BE49-F238E27FC236}">
                  <a16:creationId xmlns:a16="http://schemas.microsoft.com/office/drawing/2014/main" id="{4D498A04-FF1B-46BE-9ADC-CFEFD62F6B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64"/>
              <a:ext cx="268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Object 35">
              <a:extLst>
                <a:ext uri="{FF2B5EF4-FFF2-40B4-BE49-F238E27FC236}">
                  <a16:creationId xmlns:a16="http://schemas.microsoft.com/office/drawing/2014/main" id="{B5176E04-375A-45EE-B59C-7F344DF56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7" y="318"/>
              <a:ext cx="26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Object 36">
              <a:extLst>
                <a:ext uri="{FF2B5EF4-FFF2-40B4-BE49-F238E27FC236}">
                  <a16:creationId xmlns:a16="http://schemas.microsoft.com/office/drawing/2014/main" id="{32EA46BB-41C8-4F8F-97B9-F3B9F585C0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" y="318"/>
              <a:ext cx="267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Freeform 37">
              <a:extLst>
                <a:ext uri="{FF2B5EF4-FFF2-40B4-BE49-F238E27FC236}">
                  <a16:creationId xmlns:a16="http://schemas.microsoft.com/office/drawing/2014/main" id="{03DD95A0-DAF8-4FC3-9A92-12803EAA6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" y="0"/>
              <a:ext cx="317" cy="907"/>
            </a:xfrm>
            <a:custGeom>
              <a:avLst/>
              <a:gdLst>
                <a:gd name="T0" fmla="*/ 0 w 317"/>
                <a:gd name="T1" fmla="*/ 0 h 907"/>
                <a:gd name="T2" fmla="*/ 136 w 317"/>
                <a:gd name="T3" fmla="*/ 227 h 907"/>
                <a:gd name="T4" fmla="*/ 45 w 317"/>
                <a:gd name="T5" fmla="*/ 590 h 907"/>
                <a:gd name="T6" fmla="*/ 181 w 317"/>
                <a:gd name="T7" fmla="*/ 771 h 907"/>
                <a:gd name="T8" fmla="*/ 317 w 317"/>
                <a:gd name="T9" fmla="*/ 907 h 9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7"/>
                <a:gd name="T16" fmla="*/ 0 h 907"/>
                <a:gd name="T17" fmla="*/ 317 w 317"/>
                <a:gd name="T18" fmla="*/ 907 h 9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7" h="907">
                  <a:moveTo>
                    <a:pt x="0" y="0"/>
                  </a:moveTo>
                  <a:cubicBezTo>
                    <a:pt x="64" y="64"/>
                    <a:pt x="129" y="129"/>
                    <a:pt x="136" y="227"/>
                  </a:cubicBezTo>
                  <a:cubicBezTo>
                    <a:pt x="143" y="325"/>
                    <a:pt x="37" y="499"/>
                    <a:pt x="45" y="590"/>
                  </a:cubicBezTo>
                  <a:cubicBezTo>
                    <a:pt x="53" y="681"/>
                    <a:pt x="136" y="718"/>
                    <a:pt x="181" y="771"/>
                  </a:cubicBezTo>
                  <a:cubicBezTo>
                    <a:pt x="226" y="824"/>
                    <a:pt x="271" y="865"/>
                    <a:pt x="317" y="907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96" name="Group 56">
            <a:extLst>
              <a:ext uri="{FF2B5EF4-FFF2-40B4-BE49-F238E27FC236}">
                <a16:creationId xmlns:a16="http://schemas.microsoft.com/office/drawing/2014/main" id="{7E70B597-426A-4364-877F-32E5D9EBAB8C}"/>
              </a:ext>
            </a:extLst>
          </p:cNvPr>
          <p:cNvGrpSpPr>
            <a:grpSpLocks/>
          </p:cNvGrpSpPr>
          <p:nvPr/>
        </p:nvGrpSpPr>
        <p:grpSpPr bwMode="auto">
          <a:xfrm>
            <a:off x="1659723" y="4773994"/>
            <a:ext cx="2442572" cy="1455737"/>
            <a:chOff x="0" y="0"/>
            <a:chExt cx="1673" cy="917"/>
          </a:xfrm>
        </p:grpSpPr>
        <p:sp>
          <p:nvSpPr>
            <p:cNvPr id="11280" name="Rectangle 7">
              <a:extLst>
                <a:ext uri="{FF2B5EF4-FFF2-40B4-BE49-F238E27FC236}">
                  <a16:creationId xmlns:a16="http://schemas.microsoft.com/office/drawing/2014/main" id="{6F350C60-635F-4375-B3FB-1D04087DF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673" cy="907"/>
            </a:xfrm>
            <a:prstGeom prst="rect">
              <a:avLst/>
            </a:prstGeom>
            <a:gradFill rotWithShape="1">
              <a:gsLst>
                <a:gs pos="0">
                  <a:srgbClr val="005D5D"/>
                </a:gs>
                <a:gs pos="50000">
                  <a:srgbClr val="00CCCC"/>
                </a:gs>
                <a:gs pos="100000">
                  <a:srgbClr val="005D5D"/>
                </a:gs>
              </a:gsLst>
              <a:lin ang="18900000" scaled="1"/>
            </a:gra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11281" name="Oval 8">
              <a:extLst>
                <a:ext uri="{FF2B5EF4-FFF2-40B4-BE49-F238E27FC236}">
                  <a16:creationId xmlns:a16="http://schemas.microsoft.com/office/drawing/2014/main" id="{99EF25A5-39F1-462C-9892-ABC8FE7E2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136"/>
              <a:ext cx="726" cy="589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50000">
                  <a:srgbClr val="5D4774"/>
                </a:gs>
                <a:gs pos="100000">
                  <a:srgbClr val="CC99FF"/>
                </a:gs>
              </a:gsLst>
              <a:lin ang="18900000" scaled="1"/>
            </a:gradFill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11282" name="Oval 9">
              <a:extLst>
                <a:ext uri="{FF2B5EF4-FFF2-40B4-BE49-F238E27FC236}">
                  <a16:creationId xmlns:a16="http://schemas.microsoft.com/office/drawing/2014/main" id="{1D874C6B-F3F2-42BD-ACE6-455931658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157"/>
              <a:ext cx="635" cy="544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50000">
                  <a:srgbClr val="767600"/>
                </a:gs>
                <a:gs pos="100000">
                  <a:srgbClr val="FFFF00"/>
                </a:gs>
              </a:gsLst>
              <a:lin ang="18900000" scaled="1"/>
            </a:gradFill>
            <a:ln w="12700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latin typeface="楷体_GB2312" pitchFamily="1" charset="-122"/>
                <a:ea typeface="楷体_GB2312" pitchFamily="1" charset="-122"/>
              </a:endParaRPr>
            </a:p>
          </p:txBody>
        </p:sp>
        <p:pic>
          <p:nvPicPr>
            <p:cNvPr id="11283" name="Object 10">
              <a:extLst>
                <a:ext uri="{FF2B5EF4-FFF2-40B4-BE49-F238E27FC236}">
                  <a16:creationId xmlns:a16="http://schemas.microsoft.com/office/drawing/2014/main" id="{76107AD8-AA58-4265-9188-5910467DD9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" y="319"/>
              <a:ext cx="23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Object 11">
              <a:extLst>
                <a:ext uri="{FF2B5EF4-FFF2-40B4-BE49-F238E27FC236}">
                  <a16:creationId xmlns:a16="http://schemas.microsoft.com/office/drawing/2014/main" id="{172490A6-64AA-4746-B714-BF4A742ED3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0" y="328"/>
              <a:ext cx="23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85" name="Object 55">
              <a:extLst>
                <a:ext uri="{FF2B5EF4-FFF2-40B4-BE49-F238E27FC236}">
                  <a16:creationId xmlns:a16="http://schemas.microsoft.com/office/drawing/2014/main" id="{1BD68756-C721-4558-9F9F-0D4C48FA2C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" y="691"/>
              <a:ext cx="265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E2B2E92-6496-40BA-98C8-0243544E66D8}"/>
                  </a:ext>
                </a:extLst>
              </p:cNvPr>
              <p:cNvSpPr txBox="1"/>
              <p:nvPr/>
            </p:nvSpPr>
            <p:spPr>
              <a:xfrm>
                <a:off x="3122892" y="3212851"/>
                <a:ext cx="2599045" cy="3397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E2B2E92-6496-40BA-98C8-0243544E6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892" y="3212851"/>
                <a:ext cx="2599045" cy="339708"/>
              </a:xfrm>
              <a:prstGeom prst="rect">
                <a:avLst/>
              </a:prstGeom>
              <a:blipFill>
                <a:blip r:embed="rId8"/>
                <a:stretch>
                  <a:fillRect l="-1942" b="-7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F0F98B4-99B1-485E-9A15-8754B0CC57DE}"/>
                  </a:ext>
                </a:extLst>
              </p:cNvPr>
              <p:cNvSpPr txBox="1"/>
              <p:nvPr/>
            </p:nvSpPr>
            <p:spPr>
              <a:xfrm>
                <a:off x="3122892" y="3717676"/>
                <a:ext cx="2567882" cy="3397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F0F98B4-99B1-485E-9A15-8754B0CC5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892" y="3717676"/>
                <a:ext cx="2567882" cy="339708"/>
              </a:xfrm>
              <a:prstGeom prst="rect">
                <a:avLst/>
              </a:prstGeom>
              <a:blipFill>
                <a:blip r:embed="rId9"/>
                <a:stretch>
                  <a:fillRect l="-1961" b="-7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7">
            <a:extLst>
              <a:ext uri="{FF2B5EF4-FFF2-40B4-BE49-F238E27FC236}">
                <a16:creationId xmlns:a16="http://schemas.microsoft.com/office/drawing/2014/main" id="{CAB9CAE6-70B4-C149-B8E3-3E2F55E05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65" y="987621"/>
            <a:ext cx="600974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 B cannot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happen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simultaneously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同时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i.e.,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and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are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contradictory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互斥的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or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disjoint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不相交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).</a:t>
            </a:r>
            <a:endParaRPr lang="zh-CN" altLang="en-US" sz="20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" name="AutoShape 44">
            <a:extLst>
              <a:ext uri="{FF2B5EF4-FFF2-40B4-BE49-F238E27FC236}">
                <a16:creationId xmlns:a16="http://schemas.microsoft.com/office/drawing/2014/main" id="{8C4D6A6C-3B64-AB40-9A01-48D8D1F21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787" y="1214042"/>
            <a:ext cx="581681" cy="171450"/>
          </a:xfrm>
          <a:prstGeom prst="leftRightArrow">
            <a:avLst>
              <a:gd name="adj1" fmla="val 50000"/>
              <a:gd name="adj2" fmla="val 57249"/>
            </a:avLst>
          </a:prstGeom>
          <a:solidFill>
            <a:schemeClr val="tx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12">
                <a:extLst>
                  <a:ext uri="{FF2B5EF4-FFF2-40B4-BE49-F238E27FC236}">
                    <a16:creationId xmlns:a16="http://schemas.microsoft.com/office/drawing/2014/main" id="{0093BE3A-C0C1-F24A-813D-D77E2BF7E35C}"/>
                  </a:ext>
                </a:extLst>
              </p:cNvPr>
              <p:cNvSpPr txBox="1"/>
              <p:nvPr/>
            </p:nvSpPr>
            <p:spPr>
              <a:xfrm>
                <a:off x="2097906" y="494829"/>
                <a:ext cx="334809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If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  <m:r>
                      <a:rPr lang="zh-CN" alt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zh-CN" alt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null</m:t>
                    </m:r>
                    <m:r>
                      <a:rPr lang="zh-CN" alt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set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文本框 12">
                <a:extLst>
                  <a:ext uri="{FF2B5EF4-FFF2-40B4-BE49-F238E27FC236}">
                    <a16:creationId xmlns:a16="http://schemas.microsoft.com/office/drawing/2014/main" id="{0093BE3A-C0C1-F24A-813D-D77E2BF7E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906" y="494829"/>
                <a:ext cx="3348096" cy="430887"/>
              </a:xfrm>
              <a:prstGeom prst="rect">
                <a:avLst/>
              </a:prstGeom>
              <a:blipFill>
                <a:blip r:embed="rId10"/>
                <a:stretch>
                  <a:fillRect l="-182" t="-1408" r="-364" b="-22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7EB5ED64-C615-1744-A240-2CF87938D164}"/>
              </a:ext>
            </a:extLst>
          </p:cNvPr>
          <p:cNvSpPr txBox="1"/>
          <p:nvPr/>
        </p:nvSpPr>
        <p:spPr>
          <a:xfrm>
            <a:off x="1302245" y="510217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5.</a:t>
            </a:r>
            <a:endParaRPr lang="zh-CN" altLang="en-US" sz="2000" dirty="0"/>
          </a:p>
        </p:txBody>
      </p:sp>
      <p:sp>
        <p:nvSpPr>
          <p:cNvPr id="25" name="Text Box 7">
            <a:extLst>
              <a:ext uri="{FF2B5EF4-FFF2-40B4-BE49-F238E27FC236}">
                <a16:creationId xmlns:a16="http://schemas.microsoft.com/office/drawing/2014/main" id="{997BDFBB-31D8-CB46-A53D-BDE36A2A4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1638" y="2434432"/>
            <a:ext cx="600974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and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only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one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of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must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happen.</a:t>
            </a:r>
            <a:r>
              <a:rPr lang="zh-CN" altLang="en-US" sz="20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and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are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complementary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events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互补事件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对立事件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en-US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逆事件</a:t>
            </a:r>
            <a:r>
              <a:rPr lang="en-US" altLang="zh-CN" sz="20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).</a:t>
            </a:r>
            <a:endParaRPr lang="zh-CN" altLang="en-US" sz="2000" b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" name="AutoShape 44">
            <a:extLst>
              <a:ext uri="{FF2B5EF4-FFF2-40B4-BE49-F238E27FC236}">
                <a16:creationId xmlns:a16="http://schemas.microsoft.com/office/drawing/2014/main" id="{56180ED7-E940-864A-A30D-1368A7F09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560" y="2660853"/>
            <a:ext cx="581681" cy="171450"/>
          </a:xfrm>
          <a:prstGeom prst="leftRightArrow">
            <a:avLst>
              <a:gd name="adj1" fmla="val 50000"/>
              <a:gd name="adj2" fmla="val 57249"/>
            </a:avLst>
          </a:prstGeom>
          <a:solidFill>
            <a:schemeClr val="tx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12">
                <a:extLst>
                  <a:ext uri="{FF2B5EF4-FFF2-40B4-BE49-F238E27FC236}">
                    <a16:creationId xmlns:a16="http://schemas.microsoft.com/office/drawing/2014/main" id="{3D0E415C-FB7A-374B-AD5F-7BBD5EBF55B8}"/>
                  </a:ext>
                </a:extLst>
              </p:cNvPr>
              <p:cNvSpPr txBox="1"/>
              <p:nvPr/>
            </p:nvSpPr>
            <p:spPr>
              <a:xfrm>
                <a:off x="2119679" y="1941640"/>
                <a:ext cx="589917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If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zh-CN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zh-CN" alt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sample</m:t>
                    </m:r>
                    <m:r>
                      <a:rPr lang="zh-CN" alt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space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zh-CN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zh-CN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</m:oMath>
                </a14:m>
                <a:endParaRPr lang="zh-CN" altLang="en-US" sz="2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文本框 12">
                <a:extLst>
                  <a:ext uri="{FF2B5EF4-FFF2-40B4-BE49-F238E27FC236}">
                    <a16:creationId xmlns:a16="http://schemas.microsoft.com/office/drawing/2014/main" id="{3D0E415C-FB7A-374B-AD5F-7BBD5EBF5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679" y="1941640"/>
                <a:ext cx="5899179" cy="430887"/>
              </a:xfrm>
              <a:prstGeom prst="rect">
                <a:avLst/>
              </a:prstGeom>
              <a:blipFill>
                <a:blip r:embed="rId11"/>
                <a:stretch>
                  <a:fillRect l="-207" t="-2857" b="-2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3">
            <a:extLst>
              <a:ext uri="{FF2B5EF4-FFF2-40B4-BE49-F238E27FC236}">
                <a16:creationId xmlns:a16="http://schemas.microsoft.com/office/drawing/2014/main" id="{7D4D233D-E61D-AB4D-B49E-C230E477C03E}"/>
              </a:ext>
            </a:extLst>
          </p:cNvPr>
          <p:cNvSpPr txBox="1"/>
          <p:nvPr/>
        </p:nvSpPr>
        <p:spPr>
          <a:xfrm>
            <a:off x="1324018" y="1957028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6.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9215">
                <a:extLst>
                  <a:ext uri="{FF2B5EF4-FFF2-40B4-BE49-F238E27FC236}">
                    <a16:creationId xmlns:a16="http://schemas.microsoft.com/office/drawing/2014/main" id="{B84FFCE9-31BB-9C4E-A7EC-713CC3A7FAE0}"/>
                  </a:ext>
                </a:extLst>
              </p:cNvPr>
              <p:cNvSpPr txBox="1"/>
              <p:nvPr/>
            </p:nvSpPr>
            <p:spPr>
              <a:xfrm>
                <a:off x="2192621" y="4390282"/>
                <a:ext cx="129866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" name="文本框 9215">
                <a:extLst>
                  <a:ext uri="{FF2B5EF4-FFF2-40B4-BE49-F238E27FC236}">
                    <a16:creationId xmlns:a16="http://schemas.microsoft.com/office/drawing/2014/main" id="{B84FFCE9-31BB-9C4E-A7EC-713CC3A7F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621" y="4390282"/>
                <a:ext cx="1298666" cy="338554"/>
              </a:xfrm>
              <a:prstGeom prst="rect">
                <a:avLst/>
              </a:prstGeom>
              <a:blipFill>
                <a:blip r:embed="rId12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E15C8F2-25CF-E140-B78A-5C932143AE87}"/>
                  </a:ext>
                </a:extLst>
              </p:cNvPr>
              <p:cNvSpPr/>
              <p:nvPr/>
            </p:nvSpPr>
            <p:spPr>
              <a:xfrm>
                <a:off x="4702186" y="4390282"/>
                <a:ext cx="3313536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 </a:t>
                </a:r>
                <a:r>
                  <a:rPr lang="en-US" altLang="zh-CN" sz="2200" dirty="0"/>
                  <a:t>and</a:t>
                </a:r>
                <a:r>
                  <a:rPr lang="zh-CN" altLang="en-US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</m:oMath>
                </a14:m>
                <a:endParaRPr lang="zh-CN" altLang="en-US" sz="2200" dirty="0"/>
              </a:p>
              <a:p>
                <a:endParaRPr lang="x-none" sz="22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E15C8F2-25CF-E140-B78A-5C932143AE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186" y="4390282"/>
                <a:ext cx="3313536" cy="769441"/>
              </a:xfrm>
              <a:prstGeom prst="rect">
                <a:avLst/>
              </a:prstGeom>
              <a:blipFill>
                <a:blip r:embed="rId13"/>
                <a:stretch>
                  <a:fillRect l="-184" t="-5556" r="-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39D0165A-71DE-ED47-A122-1C174FDC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90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7" grpId="0"/>
      <p:bldP spid="21" grpId="0"/>
      <p:bldP spid="22" grpId="0" animBg="1"/>
      <p:bldP spid="23" grpId="0"/>
      <p:bldP spid="24" grpId="0"/>
      <p:bldP spid="25" grpId="0"/>
      <p:bldP spid="26" grpId="0" animBg="1"/>
      <p:bldP spid="27" grpId="0"/>
      <p:bldP spid="28" grpId="0"/>
      <p:bldP spid="29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71D29BD-4893-4FC8-A069-6E2C518C3CC3}"/>
              </a:ext>
            </a:extLst>
          </p:cNvPr>
          <p:cNvSpPr txBox="1"/>
          <p:nvPr/>
        </p:nvSpPr>
        <p:spPr>
          <a:xfrm>
            <a:off x="2584965" y="333083"/>
            <a:ext cx="3961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Summary of Important Points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B1928D4-26E2-4D37-9932-E49B21C96E65}"/>
                  </a:ext>
                </a:extLst>
              </p:cNvPr>
              <p:cNvSpPr txBox="1"/>
              <p:nvPr/>
            </p:nvSpPr>
            <p:spPr>
              <a:xfrm>
                <a:off x="687968" y="824900"/>
                <a:ext cx="775527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800"/>
                  </a:spcAft>
                  <a:buFont typeface="Wingdings" pitchFamily="2" charset="2"/>
                  <a:buChar char="Ø"/>
                </a:pP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Sample Points:     </a:t>
                </a:r>
                <a:r>
                  <a:rPr lang="el-GR" altLang="zh-CN" b="1" dirty="0">
                    <a:solidFill>
                      <a:srgbClr val="C00000"/>
                    </a:solidFill>
                  </a:rPr>
                  <a:t>ω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pPr marL="285750" indent="-285750">
                  <a:spcAft>
                    <a:spcPts val="1800"/>
                  </a:spcAft>
                  <a:buFont typeface="Wingdings" pitchFamily="2" charset="2"/>
                  <a:buChar char="Ø"/>
                </a:pP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Sample Space: a set including all sample points     </a:t>
                </a:r>
                <a14:m>
                  <m:oMath xmlns:m="http://schemas.openxmlformats.org/officeDocument/2006/math">
                    <m:r>
                      <a:rPr lang="el-GR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𝛀</m:t>
                    </m:r>
                  </m:oMath>
                </a14:m>
                <a:endParaRPr lang="zh-CN" altLang="en-US" dirty="0"/>
              </a:p>
              <a:p>
                <a:pPr marL="285750" indent="-285750">
                  <a:spcAft>
                    <a:spcPts val="1800"/>
                  </a:spcAft>
                  <a:buFont typeface="Wingdings" pitchFamily="2" charset="2"/>
                  <a:buChar char="Ø"/>
                </a:pP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Fundamental Event: a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set with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only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one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sample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point</a:t>
                </a:r>
              </a:p>
              <a:p>
                <a:pPr marL="285750" indent="-285750">
                  <a:spcAft>
                    <a:spcPts val="1800"/>
                  </a:spcAft>
                  <a:buFont typeface="Wingdings" pitchFamily="2" charset="2"/>
                  <a:buChar char="Ø"/>
                </a:pP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Random Event: a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set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of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sample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points</a:t>
                </a:r>
                <a:r>
                  <a:rPr lang="zh-CN" altLang="en-US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A</a:t>
                </a:r>
                <a:endParaRPr lang="en-US" altLang="zh-CN" b="1" dirty="0">
                  <a:solidFill>
                    <a:schemeClr val="tx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marL="285750" indent="-285750">
                  <a:spcAft>
                    <a:spcPts val="1800"/>
                  </a:spcAft>
                  <a:buFont typeface="Wingdings" pitchFamily="2" charset="2"/>
                  <a:buChar char="Ø"/>
                </a:pPr>
                <a:r>
                  <a:rPr lang="en-US" altLang="zh-CN" b="1" dirty="0">
                    <a:solidFill>
                      <a:schemeClr val="tx2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Event Region: a set including all events in the experiment  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B1928D4-26E2-4D37-9932-E49B21C96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68" y="824900"/>
                <a:ext cx="7755277" cy="2400657"/>
              </a:xfrm>
              <a:prstGeom prst="rect">
                <a:avLst/>
              </a:prstGeom>
              <a:blipFill>
                <a:blip r:embed="rId2"/>
                <a:stretch>
                  <a:fillRect l="-491" t="-1053" b="-31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17">
                <a:extLst>
                  <a:ext uri="{FF2B5EF4-FFF2-40B4-BE49-F238E27FC236}">
                    <a16:creationId xmlns:a16="http://schemas.microsoft.com/office/drawing/2014/main" id="{0118DBAC-37E7-45DA-8DE6-171DB366A139}"/>
                  </a:ext>
                </a:extLst>
              </p:cNvPr>
              <p:cNvSpPr txBox="1"/>
              <p:nvPr/>
            </p:nvSpPr>
            <p:spPr>
              <a:xfrm>
                <a:off x="1019595" y="4110369"/>
                <a:ext cx="100412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</m:t>
                      </m:r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200" i="1" dirty="0">
                  <a:solidFill>
                    <a:srgbClr val="C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22" name="文本框 17">
                <a:extLst>
                  <a:ext uri="{FF2B5EF4-FFF2-40B4-BE49-F238E27FC236}">
                    <a16:creationId xmlns:a16="http://schemas.microsoft.com/office/drawing/2014/main" id="{0118DBAC-37E7-45DA-8DE6-171DB366A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95" y="4110369"/>
                <a:ext cx="100412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979821" y="5736394"/>
                <a:ext cx="158319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𝐴</m:t>
                      </m:r>
                      <m:r>
                        <a:rPr lang="en-US" altLang="zh-CN" sz="22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22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200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ϕ</m:t>
                      </m:r>
                      <m:r>
                        <a:rPr lang="en-US" altLang="zh-CN" sz="2200" b="0" i="1">
                          <a:solidFill>
                            <a:srgbClr val="C00000"/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200" dirty="0">
                  <a:solidFill>
                    <a:srgbClr val="C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21" y="5736394"/>
                <a:ext cx="1583190" cy="430887"/>
              </a:xfrm>
              <a:prstGeom prst="rect">
                <a:avLst/>
              </a:prstGeom>
              <a:blipFill>
                <a:blip r:embed="rId4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994184" y="6103346"/>
                <a:ext cx="334675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𝐴</m:t>
                    </m:r>
                    <m:r>
                      <a:rPr lang="en-US" altLang="zh-CN" sz="22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22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2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US" sz="22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en-US" sz="2200" dirty="0">
                    <a:solidFill>
                      <a:srgbClr val="C00000"/>
                    </a:solidFill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and</a:t>
                </a:r>
                <a:r>
                  <a:rPr lang="en-US" altLang="zh-CN" sz="2200" dirty="0">
                    <a:solidFill>
                      <a:srgbClr val="C00000"/>
                    </a:solidFill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𝐴</m:t>
                    </m:r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sz="2200" dirty="0">
                  <a:solidFill>
                    <a:srgbClr val="C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84" y="6103346"/>
                <a:ext cx="3346750" cy="430887"/>
              </a:xfrm>
              <a:prstGeom prst="rect">
                <a:avLst/>
              </a:prstGeom>
              <a:blipFill>
                <a:blip r:embed="rId5"/>
                <a:stretch>
                  <a:fillRect l="-182" b="-23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730165" y="2862903"/>
            <a:ext cx="32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Segoe Script" panose="020B0504020000000003" pitchFamily="34" charset="0"/>
              </a:rPr>
              <a:t>A</a:t>
            </a:r>
            <a:endParaRPr lang="zh-CN" altLang="en-US" b="1" dirty="0">
              <a:solidFill>
                <a:srgbClr val="C00000"/>
              </a:solidFill>
              <a:latin typeface="Segoe Script" panose="020B05040200000000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48566" y="4151817"/>
            <a:ext cx="336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Which event has bigger area?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173762" y="5797949"/>
            <a:ext cx="426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cases</a:t>
            </a:r>
            <a:r>
              <a:rPr lang="zh-CN" altLang="en-US" dirty="0"/>
              <a:t> </a:t>
            </a:r>
            <a:r>
              <a:rPr lang="en-US" altLang="zh-CN" dirty="0"/>
              <a:t>mean?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169444" y="4936197"/>
            <a:ext cx="5179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Which one has the summation of the two events? And which one has the product?</a:t>
            </a:r>
            <a:endParaRPr lang="zh-CN" altLang="en-US" dirty="0"/>
          </a:p>
        </p:txBody>
      </p:sp>
      <p:sp>
        <p:nvSpPr>
          <p:cNvPr id="20" name="文本框 2">
            <a:extLst>
              <a:ext uri="{FF2B5EF4-FFF2-40B4-BE49-F238E27FC236}">
                <a16:creationId xmlns:a16="http://schemas.microsoft.com/office/drawing/2014/main" id="{352D929F-9093-4A85-A396-2A2BA2D7272E}"/>
              </a:ext>
            </a:extLst>
          </p:cNvPr>
          <p:cNvSpPr txBox="1"/>
          <p:nvPr/>
        </p:nvSpPr>
        <p:spPr>
          <a:xfrm>
            <a:off x="2013718" y="3567689"/>
            <a:ext cx="5826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Microsoft YaHei UI" panose="020B0503020204020204" pitchFamily="34" charset="-122"/>
                <a:cs typeface="Calibri" panose="020F0502020204030204" pitchFamily="34" charset="0"/>
              </a:rPr>
              <a:t>Questions to check your understanding: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7F693B-C458-9D49-8458-3F1ABCB4F1A1}"/>
              </a:ext>
            </a:extLst>
          </p:cNvPr>
          <p:cNvSpPr/>
          <p:nvPr/>
        </p:nvSpPr>
        <p:spPr>
          <a:xfrm>
            <a:off x="6546247" y="1836462"/>
            <a:ext cx="5100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{</a:t>
            </a:r>
            <a:r>
              <a:rPr lang="el-GR" altLang="zh-CN" b="1" dirty="0">
                <a:solidFill>
                  <a:srgbClr val="C00000"/>
                </a:solidFill>
              </a:rPr>
              <a:t>ω</a:t>
            </a:r>
            <a:r>
              <a:rPr lang="en-US" altLang="zh-CN" b="1" dirty="0">
                <a:solidFill>
                  <a:srgbClr val="C00000"/>
                </a:solidFill>
              </a:rPr>
              <a:t>}</a:t>
            </a: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17">
                <a:extLst>
                  <a:ext uri="{FF2B5EF4-FFF2-40B4-BE49-F238E27FC236}">
                    <a16:creationId xmlns:a16="http://schemas.microsoft.com/office/drawing/2014/main" id="{4EC35438-064C-E841-8F73-BFAD1B38E0AF}"/>
                  </a:ext>
                </a:extLst>
              </p:cNvPr>
              <p:cNvSpPr txBox="1"/>
              <p:nvPr/>
            </p:nvSpPr>
            <p:spPr>
              <a:xfrm>
                <a:off x="1019595" y="4405525"/>
                <a:ext cx="100412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200" i="1" dirty="0">
                  <a:solidFill>
                    <a:srgbClr val="C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21" name="文本框 17">
                <a:extLst>
                  <a:ext uri="{FF2B5EF4-FFF2-40B4-BE49-F238E27FC236}">
                    <a16:creationId xmlns:a16="http://schemas.microsoft.com/office/drawing/2014/main" id="{4EC35438-064C-E841-8F73-BFAD1B38E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95" y="4405525"/>
                <a:ext cx="100412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17">
                <a:extLst>
                  <a:ext uri="{FF2B5EF4-FFF2-40B4-BE49-F238E27FC236}">
                    <a16:creationId xmlns:a16="http://schemas.microsoft.com/office/drawing/2014/main" id="{C4038687-11A5-AE4B-9CA0-EF064CBF4216}"/>
                  </a:ext>
                </a:extLst>
              </p:cNvPr>
              <p:cNvSpPr txBox="1"/>
              <p:nvPr/>
            </p:nvSpPr>
            <p:spPr>
              <a:xfrm>
                <a:off x="994184" y="4870569"/>
                <a:ext cx="9551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200" i="1" dirty="0">
                  <a:solidFill>
                    <a:srgbClr val="C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23" name="文本框 17">
                <a:extLst>
                  <a:ext uri="{FF2B5EF4-FFF2-40B4-BE49-F238E27FC236}">
                    <a16:creationId xmlns:a16="http://schemas.microsoft.com/office/drawing/2014/main" id="{C4038687-11A5-AE4B-9CA0-EF064CBF4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84" y="4870569"/>
                <a:ext cx="95519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17">
                <a:extLst>
                  <a:ext uri="{FF2B5EF4-FFF2-40B4-BE49-F238E27FC236}">
                    <a16:creationId xmlns:a16="http://schemas.microsoft.com/office/drawing/2014/main" id="{21441F20-BD05-3142-94E1-6E2D98F1FEA0}"/>
                  </a:ext>
                </a:extLst>
              </p:cNvPr>
              <p:cNvSpPr txBox="1"/>
              <p:nvPr/>
            </p:nvSpPr>
            <p:spPr>
              <a:xfrm>
                <a:off x="988437" y="5188509"/>
                <a:ext cx="9551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200" i="1" dirty="0">
                  <a:solidFill>
                    <a:srgbClr val="C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24" name="文本框 17">
                <a:extLst>
                  <a:ext uri="{FF2B5EF4-FFF2-40B4-BE49-F238E27FC236}">
                    <a16:creationId xmlns:a16="http://schemas.microsoft.com/office/drawing/2014/main" id="{21441F20-BD05-3142-94E1-6E2D98F1F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437" y="5188509"/>
                <a:ext cx="95519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12EFC04E-3841-8A45-96E7-BDFA6CEA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019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8" grpId="0"/>
      <p:bldP spid="19" grpId="0"/>
      <p:bldP spid="11" grpId="0"/>
      <p:bldP spid="5" grpId="0"/>
      <p:bldP spid="15" grpId="0"/>
      <p:bldP spid="16" grpId="0"/>
      <p:bldP spid="20" grpId="0"/>
      <p:bldP spid="8" grpId="0"/>
      <p:bldP spid="21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AD7F4405-4478-407C-B60E-D2B2D06095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999244"/>
                  </p:ext>
                </p:extLst>
              </p:nvPr>
            </p:nvGraphicFramePr>
            <p:xfrm>
              <a:off x="352925" y="467488"/>
              <a:ext cx="8438150" cy="58888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9376">
                      <a:extLst>
                        <a:ext uri="{9D8B030D-6E8A-4147-A177-3AD203B41FA5}">
                          <a16:colId xmlns:a16="http://schemas.microsoft.com/office/drawing/2014/main" val="1594167094"/>
                        </a:ext>
                      </a:extLst>
                    </a:gridCol>
                    <a:gridCol w="3234197">
                      <a:extLst>
                        <a:ext uri="{9D8B030D-6E8A-4147-A177-3AD203B41FA5}">
                          <a16:colId xmlns:a16="http://schemas.microsoft.com/office/drawing/2014/main" val="2033604721"/>
                        </a:ext>
                      </a:extLst>
                    </a:gridCol>
                    <a:gridCol w="3454577">
                      <a:extLst>
                        <a:ext uri="{9D8B030D-6E8A-4147-A177-3AD203B41FA5}">
                          <a16:colId xmlns:a16="http://schemas.microsoft.com/office/drawing/2014/main" val="1983290689"/>
                        </a:ext>
                      </a:extLst>
                    </a:gridCol>
                  </a:tblGrid>
                  <a:tr h="4097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Symbol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</a:rPr>
                            <a:t>Set</a:t>
                          </a:r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</a:rPr>
                            <a:t> </a:t>
                          </a:r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</a:rPr>
                            <a:t>(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集合论</a:t>
                          </a:r>
                          <a:r>
                            <a:rPr lang="en-US" altLang="zh-CN" dirty="0">
                              <a:solidFill>
                                <a:srgbClr val="FFFF00"/>
                              </a:solidFill>
                            </a:rPr>
                            <a:t>)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 </a:t>
                          </a:r>
                          <a:r>
                            <a:rPr lang="en-US" altLang="zh-CN" dirty="0"/>
                            <a:t>meaning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rgbClr val="FFFF00"/>
                              </a:solidFill>
                            </a:rPr>
                            <a:t>Event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 </a:t>
                          </a:r>
                          <a:r>
                            <a:rPr lang="en-US" altLang="zh-CN" dirty="0">
                              <a:solidFill>
                                <a:srgbClr val="FFFF00"/>
                              </a:solidFill>
                            </a:rPr>
                            <a:t>(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事件</a:t>
                          </a:r>
                          <a:r>
                            <a:rPr lang="en-US" altLang="zh-CN" dirty="0">
                              <a:solidFill>
                                <a:srgbClr val="FFFF00"/>
                              </a:solidFill>
                            </a:rPr>
                            <a:t>)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 </a:t>
                          </a:r>
                          <a:r>
                            <a:rPr lang="en-US" altLang="zh-CN" dirty="0"/>
                            <a:t>meaning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611748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Universal set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Sample space, certain event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52875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ϕ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Null set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Impossible event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2710265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80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zh-CN" altLang="en-US" sz="180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800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Element in set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Sample point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2884741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Set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with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only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one element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Fundamental event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429748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⊂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800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set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An event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1543724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⊂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is a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subset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of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leads to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7071017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is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equal to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Event A is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equivalent with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334535"/>
                      </a:ext>
                    </a:extLst>
                  </a:tr>
                  <a:tr h="45971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⋃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All elements in A or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least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one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of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A and B happens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9254496"/>
                      </a:ext>
                    </a:extLst>
                  </a:tr>
                  <a:tr h="51334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⋂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Common element in A and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and B happen simultaneously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6272034"/>
                      </a:ext>
                    </a:extLst>
                  </a:tr>
                  <a:tr h="4652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zh-CN" altLang="en-US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𝑜𝑟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p>
                                </m:sSup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𝑜𝑟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′)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Complementary set of A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Complementary event of A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125873"/>
                      </a:ext>
                    </a:extLst>
                  </a:tr>
                  <a:tr h="4652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Elements in A but not in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happens but B does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not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4146897"/>
                      </a:ext>
                    </a:extLst>
                  </a:tr>
                  <a:tr h="7072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⋂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m:rPr>
                                    <m:sty m:val="p"/>
                                  </m:rPr>
                                  <a:rPr lang="el-GR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ϕ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  <a:p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No common element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in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A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and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and B are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contradictory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68705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AD7F4405-4478-407C-B60E-D2B2D06095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999244"/>
                  </p:ext>
                </p:extLst>
              </p:nvPr>
            </p:nvGraphicFramePr>
            <p:xfrm>
              <a:off x="352925" y="467488"/>
              <a:ext cx="8438150" cy="58888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9376">
                      <a:extLst>
                        <a:ext uri="{9D8B030D-6E8A-4147-A177-3AD203B41FA5}">
                          <a16:colId xmlns:a16="http://schemas.microsoft.com/office/drawing/2014/main" val="1594167094"/>
                        </a:ext>
                      </a:extLst>
                    </a:gridCol>
                    <a:gridCol w="3234197">
                      <a:extLst>
                        <a:ext uri="{9D8B030D-6E8A-4147-A177-3AD203B41FA5}">
                          <a16:colId xmlns:a16="http://schemas.microsoft.com/office/drawing/2014/main" val="2033604721"/>
                        </a:ext>
                      </a:extLst>
                    </a:gridCol>
                    <a:gridCol w="3454577">
                      <a:extLst>
                        <a:ext uri="{9D8B030D-6E8A-4147-A177-3AD203B41FA5}">
                          <a16:colId xmlns:a16="http://schemas.microsoft.com/office/drawing/2014/main" val="1983290689"/>
                        </a:ext>
                      </a:extLst>
                    </a:gridCol>
                  </a:tblGrid>
                  <a:tr h="4097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Symbol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</a:rPr>
                            <a:t>Set</a:t>
                          </a:r>
                          <a:r>
                            <a:rPr lang="zh-CN" altLang="en-US" b="1" dirty="0">
                              <a:solidFill>
                                <a:srgbClr val="FFFF00"/>
                              </a:solidFill>
                            </a:rPr>
                            <a:t> </a:t>
                          </a:r>
                          <a:r>
                            <a:rPr lang="en-US" altLang="zh-CN" b="1" dirty="0">
                              <a:solidFill>
                                <a:srgbClr val="FFFF00"/>
                              </a:solidFill>
                            </a:rPr>
                            <a:t>(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集合论</a:t>
                          </a:r>
                          <a:r>
                            <a:rPr lang="en-US" altLang="zh-CN" dirty="0">
                              <a:solidFill>
                                <a:srgbClr val="FFFF00"/>
                              </a:solidFill>
                            </a:rPr>
                            <a:t>)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 </a:t>
                          </a:r>
                          <a:r>
                            <a:rPr lang="en-US" altLang="zh-CN" dirty="0"/>
                            <a:t>meaning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rgbClr val="FFFF00"/>
                              </a:solidFill>
                            </a:rPr>
                            <a:t>Event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 </a:t>
                          </a:r>
                          <a:r>
                            <a:rPr lang="en-US" altLang="zh-CN" dirty="0">
                              <a:solidFill>
                                <a:srgbClr val="FFFF00"/>
                              </a:solidFill>
                            </a:rPr>
                            <a:t>(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事件</a:t>
                          </a:r>
                          <a:r>
                            <a:rPr lang="en-US" altLang="zh-CN" dirty="0">
                              <a:solidFill>
                                <a:srgbClr val="FFFF00"/>
                              </a:solidFill>
                            </a:rPr>
                            <a:t>)</a:t>
                          </a:r>
                          <a:r>
                            <a:rPr lang="zh-CN" altLang="en-US" dirty="0">
                              <a:solidFill>
                                <a:srgbClr val="FFFF00"/>
                              </a:solidFill>
                            </a:rPr>
                            <a:t> </a:t>
                          </a:r>
                          <a:r>
                            <a:rPr lang="en-US" altLang="zh-CN" dirty="0"/>
                            <a:t>meaning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611748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110294" r="-384321" b="-12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Universal set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Sample space, certain event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52875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213433" r="-384321" b="-1144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Null set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Impossible event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2710265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313433" r="-384321" b="-1044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Element in set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Sample point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2884741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413433" r="-384321" b="-944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Set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with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only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one element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Fundamental event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429748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505882" r="-384321" b="-83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set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An event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1543724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614925" r="-384321" b="-7432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is a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subset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of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leads to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7071017"/>
                      </a:ext>
                    </a:extLst>
                  </a:tr>
                  <a:tr h="40976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714925" r="-384321" b="-6432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is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equal to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Event A is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equivalent with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334535"/>
                      </a:ext>
                    </a:extLst>
                  </a:tr>
                  <a:tr h="45971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718421" r="-384321" b="-467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All elements in A or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least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one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of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A and B happens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9254496"/>
                      </a:ext>
                    </a:extLst>
                  </a:tr>
                  <a:tr h="51334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740476" r="-384321" b="-322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Common element in A and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and B happen simultaneously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6272034"/>
                      </a:ext>
                    </a:extLst>
                  </a:tr>
                  <a:tr h="46522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928947" r="-384321" b="-25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Complementary set of A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Complementary event of A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125873"/>
                      </a:ext>
                    </a:extLst>
                  </a:tr>
                  <a:tr h="46522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1015584" r="-384321" b="-1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Elements in A but not in 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happens but B does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not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4146897"/>
                      </a:ext>
                    </a:extLst>
                  </a:tr>
                  <a:tr h="70726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48" t="-740517" r="-384321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No common element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in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A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and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B</a:t>
                          </a:r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dirty="0"/>
                            <a:t>A and B are</a:t>
                          </a:r>
                          <a:r>
                            <a:rPr lang="zh-CN" altLang="en-US" sz="1800" dirty="0"/>
                            <a:t> </a:t>
                          </a:r>
                          <a:r>
                            <a:rPr lang="en-US" altLang="zh-CN" sz="1800" dirty="0"/>
                            <a:t>contradictory</a:t>
                          </a:r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68705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1D2D3-6131-B542-A39C-4099A2BA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891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71D29BD-4893-4FC8-A069-6E2C518C3CC3}"/>
              </a:ext>
            </a:extLst>
          </p:cNvPr>
          <p:cNvSpPr txBox="1"/>
          <p:nvPr/>
        </p:nvSpPr>
        <p:spPr>
          <a:xfrm>
            <a:off x="2311844" y="438815"/>
            <a:ext cx="378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ea typeface="Microsoft YaHei UI" panose="020B0503020204020204" pitchFamily="34" charset="-122"/>
              </a:rPr>
              <a:t>Operation Law in Events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ea typeface="Microsoft YaHei U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1928D4-26E2-4D37-9932-E49B21C96E65}"/>
              </a:ext>
            </a:extLst>
          </p:cNvPr>
          <p:cNvSpPr txBox="1"/>
          <p:nvPr/>
        </p:nvSpPr>
        <p:spPr>
          <a:xfrm>
            <a:off x="1088498" y="1259580"/>
            <a:ext cx="20135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Commutative law</a:t>
            </a:r>
          </a:p>
          <a:p>
            <a:pPr algn="ctr"/>
            <a:r>
              <a:rPr lang="en-US" altLang="zh-CN" sz="2000" dirty="0"/>
              <a:t>(</a:t>
            </a:r>
            <a:r>
              <a:rPr lang="zh-CN" altLang="en-US" sz="2000" dirty="0"/>
              <a:t>交换律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38C30D0-A528-4FA2-98C5-C77D0DE1F2CE}"/>
                  </a:ext>
                </a:extLst>
              </p:cNvPr>
              <p:cNvSpPr txBox="1"/>
              <p:nvPr/>
            </p:nvSpPr>
            <p:spPr>
              <a:xfrm>
                <a:off x="3331657" y="1475902"/>
                <a:ext cx="38859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38C30D0-A528-4FA2-98C5-C77D0DE1F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657" y="1475902"/>
                <a:ext cx="3885936" cy="307777"/>
              </a:xfrm>
              <a:prstGeom prst="rect">
                <a:avLst/>
              </a:prstGeom>
              <a:blipFill>
                <a:blip r:embed="rId3"/>
                <a:stretch>
                  <a:fillRect l="-651" t="-8000" r="-651" b="-36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84ACF29A-6B29-4155-BBE8-365256DFD119}"/>
              </a:ext>
            </a:extLst>
          </p:cNvPr>
          <p:cNvSpPr txBox="1"/>
          <p:nvPr/>
        </p:nvSpPr>
        <p:spPr>
          <a:xfrm>
            <a:off x="1088497" y="2149631"/>
            <a:ext cx="1830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Associative law</a:t>
            </a:r>
          </a:p>
          <a:p>
            <a:pPr algn="ctr"/>
            <a:r>
              <a:rPr lang="en-US" altLang="zh-CN" sz="2000" dirty="0"/>
              <a:t>(</a:t>
            </a:r>
            <a:r>
              <a:rPr lang="zh-CN" altLang="en-US" sz="2000" dirty="0"/>
              <a:t>结合律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52F0ECA-F007-45EB-A15F-0AD216DF1B42}"/>
              </a:ext>
            </a:extLst>
          </p:cNvPr>
          <p:cNvGrpSpPr/>
          <p:nvPr/>
        </p:nvGrpSpPr>
        <p:grpSpPr>
          <a:xfrm>
            <a:off x="3331657" y="2226465"/>
            <a:ext cx="3001591" cy="706299"/>
            <a:chOff x="2726029" y="1916132"/>
            <a:chExt cx="3001591" cy="7062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FAAA3C1-D7F4-478A-A411-81200E1CCE2F}"/>
                    </a:ext>
                  </a:extLst>
                </p:cNvPr>
                <p:cNvSpPr txBox="1"/>
                <p:nvPr/>
              </p:nvSpPr>
              <p:spPr>
                <a:xfrm>
                  <a:off x="2726029" y="1916132"/>
                  <a:ext cx="300159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)∪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FAAA3C1-D7F4-478A-A411-81200E1CCE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029" y="1916132"/>
                  <a:ext cx="3001591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266" r="-844" b="-32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D8D3339-276F-40F7-B69D-B7906AB98859}"/>
                    </a:ext>
                  </a:extLst>
                </p:cNvPr>
                <p:cNvSpPr txBox="1"/>
                <p:nvPr/>
              </p:nvSpPr>
              <p:spPr>
                <a:xfrm>
                  <a:off x="2726029" y="2314654"/>
                  <a:ext cx="300159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)∩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D8D3339-276F-40F7-B69D-B7906AB988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029" y="2314654"/>
                  <a:ext cx="3001591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266" r="-844" b="-36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4A40ECF2-E81B-4B19-A431-57B1692F976E}"/>
              </a:ext>
            </a:extLst>
          </p:cNvPr>
          <p:cNvSpPr txBox="1"/>
          <p:nvPr/>
        </p:nvSpPr>
        <p:spPr>
          <a:xfrm>
            <a:off x="1088498" y="3325491"/>
            <a:ext cx="1812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Distributive law</a:t>
            </a:r>
          </a:p>
          <a:p>
            <a:pPr algn="ctr"/>
            <a:r>
              <a:rPr lang="en-US" altLang="zh-CN" sz="2000" dirty="0"/>
              <a:t>(</a:t>
            </a:r>
            <a:r>
              <a:rPr lang="zh-CN" altLang="en-US" sz="2000" dirty="0"/>
              <a:t>分配律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3C16DC-0A7E-4075-B1BE-8308EB769432}"/>
              </a:ext>
            </a:extLst>
          </p:cNvPr>
          <p:cNvSpPr txBox="1"/>
          <p:nvPr/>
        </p:nvSpPr>
        <p:spPr>
          <a:xfrm>
            <a:off x="1139588" y="4694108"/>
            <a:ext cx="17632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/>
              <a:t>De Morgan law</a:t>
            </a:r>
          </a:p>
          <a:p>
            <a:pPr algn="ctr"/>
            <a:r>
              <a:rPr lang="zh-CN" altLang="en-US" sz="2000" dirty="0"/>
              <a:t>  </a:t>
            </a:r>
            <a:r>
              <a:rPr lang="en-US" altLang="zh-CN" sz="2000" dirty="0"/>
              <a:t>(</a:t>
            </a:r>
            <a:r>
              <a:rPr lang="zh-CN" altLang="en-US" sz="2000" dirty="0"/>
              <a:t>摩根律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B501485-DEF4-49A8-8A2F-E007355A2736}"/>
              </a:ext>
            </a:extLst>
          </p:cNvPr>
          <p:cNvGrpSpPr/>
          <p:nvPr/>
        </p:nvGrpSpPr>
        <p:grpSpPr>
          <a:xfrm>
            <a:off x="3331657" y="3424857"/>
            <a:ext cx="3642985" cy="737405"/>
            <a:chOff x="2726029" y="3138158"/>
            <a:chExt cx="3642985" cy="7374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F5CA463-599B-4BA6-A9D5-45B801458E16}"/>
                    </a:ext>
                  </a:extLst>
                </p:cNvPr>
                <p:cNvSpPr txBox="1"/>
                <p:nvPr/>
              </p:nvSpPr>
              <p:spPr>
                <a:xfrm>
                  <a:off x="2726029" y="3138158"/>
                  <a:ext cx="364298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)∩(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F5CA463-599B-4BA6-A9D5-45B801458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029" y="3138158"/>
                  <a:ext cx="3642985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042" r="-1736" b="-32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F3B722A-547D-4261-A7F3-358984C59543}"/>
                    </a:ext>
                  </a:extLst>
                </p:cNvPr>
                <p:cNvSpPr txBox="1"/>
                <p:nvPr/>
              </p:nvSpPr>
              <p:spPr>
                <a:xfrm>
                  <a:off x="2726029" y="3567786"/>
                  <a:ext cx="364298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)∪(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F3B722A-547D-4261-A7F3-358984C59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029" y="3567786"/>
                  <a:ext cx="3642985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042" r="-1736" b="-32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673CE62-2650-4518-9545-43D691773F7F}"/>
                  </a:ext>
                </a:extLst>
              </p:cNvPr>
              <p:cNvSpPr txBox="1"/>
              <p:nvPr/>
            </p:nvSpPr>
            <p:spPr>
              <a:xfrm>
                <a:off x="3331657" y="4740479"/>
                <a:ext cx="3336298" cy="3440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bar>
                        <m:barPr>
                          <m:pos m:val="top"/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673CE62-2650-4518-9545-43D691773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657" y="4740479"/>
                <a:ext cx="3336298" cy="344069"/>
              </a:xfrm>
              <a:prstGeom prst="rect">
                <a:avLst/>
              </a:prstGeom>
              <a:blipFill>
                <a:blip r:embed="rId8"/>
                <a:stretch>
                  <a:fillRect l="-1136" r="-758" b="-7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1E5E81D9-24DD-42E9-B934-4E610324D898}"/>
              </a:ext>
            </a:extLst>
          </p:cNvPr>
          <p:cNvGrpSpPr/>
          <p:nvPr/>
        </p:nvGrpSpPr>
        <p:grpSpPr>
          <a:xfrm>
            <a:off x="3331657" y="5387571"/>
            <a:ext cx="3730780" cy="829458"/>
            <a:chOff x="2824612" y="5431906"/>
            <a:chExt cx="3730780" cy="829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386F88B-2472-488C-936E-5349134272F2}"/>
                    </a:ext>
                  </a:extLst>
                </p:cNvPr>
                <p:cNvSpPr txBox="1"/>
                <p:nvPr/>
              </p:nvSpPr>
              <p:spPr>
                <a:xfrm>
                  <a:off x="2824612" y="5431906"/>
                  <a:ext cx="1611402" cy="82945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altLang="zh-C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nary>
                              <m:naryPr>
                                <m:chr m:val="⋃"/>
                                <m:ctrlPr>
                                  <a:rPr lang="en-US" altLang="zh-CN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ba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⋂"/>
                            <m:ctrlP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386F88B-2472-488C-936E-534913427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4612" y="5431906"/>
                  <a:ext cx="1611402" cy="829458"/>
                </a:xfrm>
                <a:prstGeom prst="rect">
                  <a:avLst/>
                </a:prstGeom>
                <a:blipFill>
                  <a:blip r:embed="rId9"/>
                  <a:stretch>
                    <a:fillRect l="-53125" t="-104545" r="-14844" b="-16818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EEBFC89-A1C4-48B4-9952-86737C43238F}"/>
                    </a:ext>
                  </a:extLst>
                </p:cNvPr>
                <p:cNvSpPr txBox="1"/>
                <p:nvPr/>
              </p:nvSpPr>
              <p:spPr>
                <a:xfrm>
                  <a:off x="4943990" y="5431906"/>
                  <a:ext cx="1611402" cy="82945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altLang="zh-C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nary>
                              <m:naryPr>
                                <m:chr m:val="⋂"/>
                                <m:ctrlPr>
                                  <a:rPr lang="en-US" altLang="zh-CN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ba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⋃"/>
                            <m:ctrlPr>
                              <a:rPr lang="en-US" altLang="zh-C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EEBFC89-A1C4-48B4-9952-86737C432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3990" y="5431906"/>
                  <a:ext cx="1611402" cy="829458"/>
                </a:xfrm>
                <a:prstGeom prst="rect">
                  <a:avLst/>
                </a:prstGeom>
                <a:blipFill>
                  <a:blip r:embed="rId10"/>
                  <a:stretch>
                    <a:fillRect l="-53125" t="-104545" r="-14844" b="-168182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1E390E5-B0E5-4A62-8788-70AE13B1EF64}"/>
                </a:ext>
              </a:extLst>
            </p:cNvPr>
            <p:cNvSpPr txBox="1"/>
            <p:nvPr/>
          </p:nvSpPr>
          <p:spPr>
            <a:xfrm>
              <a:off x="4572000" y="5778631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,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F99B09A8-03CF-5340-B1FC-21622F21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207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23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5">
            <a:extLst>
              <a:ext uri="{FF2B5EF4-FFF2-40B4-BE49-F238E27FC236}">
                <a16:creationId xmlns:a16="http://schemas.microsoft.com/office/drawing/2014/main" id="{DC3C05B9-91E7-4D19-96CA-B2A3D659B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5019" y="4748060"/>
            <a:ext cx="2228850" cy="1265237"/>
          </a:xfrm>
          <a:prstGeom prst="ellipse">
            <a:avLst/>
          </a:prstGeom>
          <a:solidFill>
            <a:srgbClr val="53D3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200" i="1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38" name="Oval 2">
            <a:extLst>
              <a:ext uri="{FF2B5EF4-FFF2-40B4-BE49-F238E27FC236}">
                <a16:creationId xmlns:a16="http://schemas.microsoft.com/office/drawing/2014/main" id="{553C35B3-2AB1-43F6-ADB4-0DA8A049B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225" y="1219200"/>
            <a:ext cx="1543050" cy="1155700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200" i="1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857D327-786A-4B01-85AB-1E0698EC5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838200"/>
            <a:ext cx="4800600" cy="2586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40" name="Oval 4">
            <a:extLst>
              <a:ext uri="{FF2B5EF4-FFF2-40B4-BE49-F238E27FC236}">
                <a16:creationId xmlns:a16="http://schemas.microsoft.com/office/drawing/2014/main" id="{7229D79D-6076-456F-9049-7F6797AC2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376" y="1968780"/>
            <a:ext cx="2286000" cy="9906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</a:t>
            </a:r>
            <a:r>
              <a:rPr lang="en-US" altLang="en-US" sz="3200" i="1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41" name="Oval 5">
            <a:extLst>
              <a:ext uri="{FF2B5EF4-FFF2-40B4-BE49-F238E27FC236}">
                <a16:creationId xmlns:a16="http://schemas.microsoft.com/office/drawing/2014/main" id="{DC3C05B9-91E7-4D19-96CA-B2A3D659B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2690" y="1742281"/>
            <a:ext cx="2228850" cy="1265237"/>
          </a:xfrm>
          <a:prstGeom prst="ellipse">
            <a:avLst/>
          </a:prstGeom>
          <a:solidFill>
            <a:srgbClr val="53D3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200" i="1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BC8EA42E-9E17-4395-803D-0E643090A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886200"/>
            <a:ext cx="4724400" cy="2586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51" name="Rectangle 15">
                <a:extLst>
                  <a:ext uri="{FF2B5EF4-FFF2-40B4-BE49-F238E27FC236}">
                    <a16:creationId xmlns:a16="http://schemas.microsoft.com/office/drawing/2014/main" id="{781F08B2-3097-4A16-A4DA-2C349C3BD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22" y="125232"/>
                <a:ext cx="882899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⋂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⋂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⋂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⋂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— Associative L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aw（</a:t>
                </a:r>
                <a:r>
                  <a:rPr lang="zh-CN" altLang="en-US" sz="2400" dirty="0"/>
                  <a:t>结合律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）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diagram</a:t>
                </a: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4351" name="Rectangle 15">
                <a:extLst>
                  <a:ext uri="{FF2B5EF4-FFF2-40B4-BE49-F238E27FC236}">
                    <a16:creationId xmlns:a16="http://schemas.microsoft.com/office/drawing/2014/main" id="{781F08B2-3097-4A16-A4DA-2C349C3BD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22" y="125232"/>
                <a:ext cx="8828996" cy="461665"/>
              </a:xfrm>
              <a:prstGeom prst="rect">
                <a:avLst/>
              </a:prstGeom>
              <a:blipFill>
                <a:blip r:embed="rId2"/>
                <a:stretch>
                  <a:fillRect l="-207" t="-10667" b="-30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7">
                <a:extLst>
                  <a:ext uri="{FF2B5EF4-FFF2-40B4-BE49-F238E27FC236}">
                    <a16:creationId xmlns:a16="http://schemas.microsoft.com/office/drawing/2014/main" id="{5FAAA3C1-D7F4-478A-A411-81200E1CCE2F}"/>
                  </a:ext>
                </a:extLst>
              </p:cNvPr>
              <p:cNvSpPr txBox="1"/>
              <p:nvPr/>
            </p:nvSpPr>
            <p:spPr>
              <a:xfrm>
                <a:off x="6422730" y="1724947"/>
                <a:ext cx="187249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⋂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⋂</m:t>
                          </m:r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zh-CN" alt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文本框 7">
                <a:extLst>
                  <a:ext uri="{FF2B5EF4-FFF2-40B4-BE49-F238E27FC236}">
                    <a16:creationId xmlns:a16="http://schemas.microsoft.com/office/drawing/2014/main" id="{5FAAA3C1-D7F4-478A-A411-81200E1CC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730" y="1724947"/>
                <a:ext cx="187249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82723" y="4640610"/>
                <a:ext cx="308508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⋂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)⋂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3200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zh-CN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723" y="4640610"/>
                <a:ext cx="3085086" cy="107721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010399" y="3007518"/>
            <a:ext cx="829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CN" altLang="en-US" sz="6000" dirty="0">
              <a:solidFill>
                <a:srgbClr val="C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27" name="Oval 13">
            <a:extLst>
              <a:ext uri="{FF2B5EF4-FFF2-40B4-BE49-F238E27FC236}">
                <a16:creationId xmlns:a16="http://schemas.microsoft.com/office/drawing/2014/main" id="{21BB633A-789E-4E65-80C5-E69D077ADC85}"/>
              </a:ext>
            </a:extLst>
          </p:cNvPr>
          <p:cNvSpPr>
            <a:spLocks noChangeArrowheads="1"/>
          </p:cNvSpPr>
          <p:nvPr/>
        </p:nvSpPr>
        <p:spPr bwMode="auto">
          <a:xfrm rot="21219849">
            <a:off x="3252558" y="1964191"/>
            <a:ext cx="1290868" cy="235271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39" name="Oval 2">
            <a:extLst>
              <a:ext uri="{FF2B5EF4-FFF2-40B4-BE49-F238E27FC236}">
                <a16:creationId xmlns:a16="http://schemas.microsoft.com/office/drawing/2014/main" id="{553C35B3-2AB1-43F6-ADB4-0DA8A049B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2554" y="4224979"/>
            <a:ext cx="1543050" cy="1155700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200" i="1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0" name="Oval 4">
            <a:extLst>
              <a:ext uri="{FF2B5EF4-FFF2-40B4-BE49-F238E27FC236}">
                <a16:creationId xmlns:a16="http://schemas.microsoft.com/office/drawing/2014/main" id="{7229D79D-6076-456F-9049-7F6797AC2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705" y="4974559"/>
            <a:ext cx="2286000" cy="9906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</a:t>
            </a:r>
            <a:r>
              <a:rPr lang="en-US" altLang="en-US" sz="3200" i="1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2" name="Oval 13">
            <a:extLst>
              <a:ext uri="{FF2B5EF4-FFF2-40B4-BE49-F238E27FC236}">
                <a16:creationId xmlns:a16="http://schemas.microsoft.com/office/drawing/2014/main" id="{21BB633A-789E-4E65-80C5-E69D077ADC85}"/>
              </a:ext>
            </a:extLst>
          </p:cNvPr>
          <p:cNvSpPr>
            <a:spLocks noChangeArrowheads="1"/>
          </p:cNvSpPr>
          <p:nvPr/>
        </p:nvSpPr>
        <p:spPr bwMode="auto">
          <a:xfrm rot="2056903">
            <a:off x="3020550" y="4907310"/>
            <a:ext cx="811936" cy="321735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3281274" y="1987207"/>
            <a:ext cx="492435" cy="231506"/>
          </a:xfrm>
          <a:custGeom>
            <a:avLst/>
            <a:gdLst>
              <a:gd name="connsiteX0" fmla="*/ 338667 w 516467"/>
              <a:gd name="connsiteY0" fmla="*/ 0 h 203200"/>
              <a:gd name="connsiteX1" fmla="*/ 414867 w 516467"/>
              <a:gd name="connsiteY1" fmla="*/ 59266 h 203200"/>
              <a:gd name="connsiteX2" fmla="*/ 457200 w 516467"/>
              <a:gd name="connsiteY2" fmla="*/ 110066 h 203200"/>
              <a:gd name="connsiteX3" fmla="*/ 491067 w 516467"/>
              <a:gd name="connsiteY3" fmla="*/ 160866 h 203200"/>
              <a:gd name="connsiteX4" fmla="*/ 516467 w 516467"/>
              <a:gd name="connsiteY4" fmla="*/ 203200 h 203200"/>
              <a:gd name="connsiteX5" fmla="*/ 406400 w 516467"/>
              <a:gd name="connsiteY5" fmla="*/ 203200 h 203200"/>
              <a:gd name="connsiteX6" fmla="*/ 321734 w 516467"/>
              <a:gd name="connsiteY6" fmla="*/ 194733 h 203200"/>
              <a:gd name="connsiteX7" fmla="*/ 186267 w 516467"/>
              <a:gd name="connsiteY7" fmla="*/ 194733 h 203200"/>
              <a:gd name="connsiteX8" fmla="*/ 135467 w 516467"/>
              <a:gd name="connsiteY8" fmla="*/ 186266 h 203200"/>
              <a:gd name="connsiteX9" fmla="*/ 59267 w 516467"/>
              <a:gd name="connsiteY9" fmla="*/ 169333 h 203200"/>
              <a:gd name="connsiteX10" fmla="*/ 42334 w 516467"/>
              <a:gd name="connsiteY10" fmla="*/ 160866 h 203200"/>
              <a:gd name="connsiteX11" fmla="*/ 0 w 516467"/>
              <a:gd name="connsiteY11" fmla="*/ 135466 h 203200"/>
              <a:gd name="connsiteX12" fmla="*/ 25400 w 516467"/>
              <a:gd name="connsiteY12" fmla="*/ 110066 h 203200"/>
              <a:gd name="connsiteX13" fmla="*/ 110067 w 516467"/>
              <a:gd name="connsiteY13" fmla="*/ 59266 h 203200"/>
              <a:gd name="connsiteX14" fmla="*/ 194734 w 516467"/>
              <a:gd name="connsiteY14" fmla="*/ 33866 h 203200"/>
              <a:gd name="connsiteX15" fmla="*/ 245534 w 516467"/>
              <a:gd name="connsiteY15" fmla="*/ 8466 h 203200"/>
              <a:gd name="connsiteX16" fmla="*/ 338667 w 516467"/>
              <a:gd name="connsiteY16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6467" h="203200">
                <a:moveTo>
                  <a:pt x="338667" y="0"/>
                </a:moveTo>
                <a:lnTo>
                  <a:pt x="414867" y="59266"/>
                </a:lnTo>
                <a:lnTo>
                  <a:pt x="457200" y="110066"/>
                </a:lnTo>
                <a:lnTo>
                  <a:pt x="491067" y="160866"/>
                </a:lnTo>
                <a:lnTo>
                  <a:pt x="516467" y="203200"/>
                </a:lnTo>
                <a:lnTo>
                  <a:pt x="406400" y="203200"/>
                </a:lnTo>
                <a:lnTo>
                  <a:pt x="321734" y="194733"/>
                </a:lnTo>
                <a:lnTo>
                  <a:pt x="186267" y="194733"/>
                </a:lnTo>
                <a:lnTo>
                  <a:pt x="135467" y="186266"/>
                </a:lnTo>
                <a:lnTo>
                  <a:pt x="59267" y="169333"/>
                </a:lnTo>
                <a:lnTo>
                  <a:pt x="42334" y="160866"/>
                </a:lnTo>
                <a:lnTo>
                  <a:pt x="0" y="135466"/>
                </a:lnTo>
                <a:lnTo>
                  <a:pt x="25400" y="110066"/>
                </a:lnTo>
                <a:lnTo>
                  <a:pt x="110067" y="59266"/>
                </a:lnTo>
                <a:lnTo>
                  <a:pt x="194734" y="33866"/>
                </a:lnTo>
                <a:lnTo>
                  <a:pt x="245534" y="8466"/>
                </a:lnTo>
                <a:lnTo>
                  <a:pt x="338667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 rot="532737">
            <a:off x="3281273" y="5048105"/>
            <a:ext cx="492435" cy="231506"/>
          </a:xfrm>
          <a:custGeom>
            <a:avLst/>
            <a:gdLst>
              <a:gd name="connsiteX0" fmla="*/ 338667 w 516467"/>
              <a:gd name="connsiteY0" fmla="*/ 0 h 203200"/>
              <a:gd name="connsiteX1" fmla="*/ 414867 w 516467"/>
              <a:gd name="connsiteY1" fmla="*/ 59266 h 203200"/>
              <a:gd name="connsiteX2" fmla="*/ 457200 w 516467"/>
              <a:gd name="connsiteY2" fmla="*/ 110066 h 203200"/>
              <a:gd name="connsiteX3" fmla="*/ 491067 w 516467"/>
              <a:gd name="connsiteY3" fmla="*/ 160866 h 203200"/>
              <a:gd name="connsiteX4" fmla="*/ 516467 w 516467"/>
              <a:gd name="connsiteY4" fmla="*/ 203200 h 203200"/>
              <a:gd name="connsiteX5" fmla="*/ 406400 w 516467"/>
              <a:gd name="connsiteY5" fmla="*/ 203200 h 203200"/>
              <a:gd name="connsiteX6" fmla="*/ 321734 w 516467"/>
              <a:gd name="connsiteY6" fmla="*/ 194733 h 203200"/>
              <a:gd name="connsiteX7" fmla="*/ 186267 w 516467"/>
              <a:gd name="connsiteY7" fmla="*/ 194733 h 203200"/>
              <a:gd name="connsiteX8" fmla="*/ 135467 w 516467"/>
              <a:gd name="connsiteY8" fmla="*/ 186266 h 203200"/>
              <a:gd name="connsiteX9" fmla="*/ 59267 w 516467"/>
              <a:gd name="connsiteY9" fmla="*/ 169333 h 203200"/>
              <a:gd name="connsiteX10" fmla="*/ 42334 w 516467"/>
              <a:gd name="connsiteY10" fmla="*/ 160866 h 203200"/>
              <a:gd name="connsiteX11" fmla="*/ 0 w 516467"/>
              <a:gd name="connsiteY11" fmla="*/ 135466 h 203200"/>
              <a:gd name="connsiteX12" fmla="*/ 25400 w 516467"/>
              <a:gd name="connsiteY12" fmla="*/ 110066 h 203200"/>
              <a:gd name="connsiteX13" fmla="*/ 110067 w 516467"/>
              <a:gd name="connsiteY13" fmla="*/ 59266 h 203200"/>
              <a:gd name="connsiteX14" fmla="*/ 194734 w 516467"/>
              <a:gd name="connsiteY14" fmla="*/ 33866 h 203200"/>
              <a:gd name="connsiteX15" fmla="*/ 245534 w 516467"/>
              <a:gd name="connsiteY15" fmla="*/ 8466 h 203200"/>
              <a:gd name="connsiteX16" fmla="*/ 338667 w 516467"/>
              <a:gd name="connsiteY16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6467" h="203200">
                <a:moveTo>
                  <a:pt x="338667" y="0"/>
                </a:moveTo>
                <a:lnTo>
                  <a:pt x="414867" y="59266"/>
                </a:lnTo>
                <a:lnTo>
                  <a:pt x="457200" y="110066"/>
                </a:lnTo>
                <a:lnTo>
                  <a:pt x="491067" y="160866"/>
                </a:lnTo>
                <a:lnTo>
                  <a:pt x="516467" y="203200"/>
                </a:lnTo>
                <a:lnTo>
                  <a:pt x="406400" y="203200"/>
                </a:lnTo>
                <a:lnTo>
                  <a:pt x="321734" y="194733"/>
                </a:lnTo>
                <a:lnTo>
                  <a:pt x="186267" y="194733"/>
                </a:lnTo>
                <a:lnTo>
                  <a:pt x="135467" y="186266"/>
                </a:lnTo>
                <a:lnTo>
                  <a:pt x="59267" y="169333"/>
                </a:lnTo>
                <a:lnTo>
                  <a:pt x="42334" y="160866"/>
                </a:lnTo>
                <a:lnTo>
                  <a:pt x="0" y="135466"/>
                </a:lnTo>
                <a:lnTo>
                  <a:pt x="25400" y="110066"/>
                </a:lnTo>
                <a:lnTo>
                  <a:pt x="110067" y="59266"/>
                </a:lnTo>
                <a:lnTo>
                  <a:pt x="194734" y="33866"/>
                </a:lnTo>
                <a:lnTo>
                  <a:pt x="245534" y="8466"/>
                </a:lnTo>
                <a:lnTo>
                  <a:pt x="338667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716CB267-768A-1044-A65D-8A2F0E9C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318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14338" grpId="0" animBg="1"/>
      <p:bldP spid="14339" grpId="0" animBg="1"/>
      <p:bldP spid="14340" grpId="0" animBg="1"/>
      <p:bldP spid="14341" grpId="0" animBg="1"/>
      <p:bldP spid="14342" grpId="0" animBg="1"/>
      <p:bldP spid="14351" grpId="0"/>
      <p:bldP spid="23" grpId="0"/>
      <p:bldP spid="7" grpId="0"/>
      <p:bldP spid="8" grpId="0"/>
      <p:bldP spid="27" grpId="0" animBg="1"/>
      <p:bldP spid="39" grpId="0" animBg="1"/>
      <p:bldP spid="40" grpId="0" animBg="1"/>
      <p:bldP spid="42" grpId="0" animBg="1"/>
      <p:bldP spid="45" grpId="0" animBg="1"/>
      <p:bldP spid="4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val 2">
            <a:extLst>
              <a:ext uri="{FF2B5EF4-FFF2-40B4-BE49-F238E27FC236}">
                <a16:creationId xmlns:a16="http://schemas.microsoft.com/office/drawing/2014/main" id="{553C35B3-2AB1-43F6-ADB4-0DA8A049B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225" y="1219200"/>
            <a:ext cx="1543050" cy="1155700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200" i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</a:t>
            </a:r>
            <a:endParaRPr lang="zh-CN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857D327-786A-4B01-85AB-1E0698EC5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838200"/>
            <a:ext cx="4800600" cy="2586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40" name="Oval 4">
            <a:extLst>
              <a:ext uri="{FF2B5EF4-FFF2-40B4-BE49-F238E27FC236}">
                <a16:creationId xmlns:a16="http://schemas.microsoft.com/office/drawing/2014/main" id="{7229D79D-6076-456F-9049-7F6797AC2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133600"/>
            <a:ext cx="2286000" cy="9906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</a:t>
            </a:r>
            <a:r>
              <a:rPr lang="en-US" altLang="en-US" sz="3200" i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</a:t>
            </a:r>
            <a:endParaRPr lang="zh-CN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41" name="Oval 5">
            <a:extLst>
              <a:ext uri="{FF2B5EF4-FFF2-40B4-BE49-F238E27FC236}">
                <a16:creationId xmlns:a16="http://schemas.microsoft.com/office/drawing/2014/main" id="{DC3C05B9-91E7-4D19-96CA-B2A3D659B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782763"/>
            <a:ext cx="2228850" cy="1265237"/>
          </a:xfrm>
          <a:prstGeom prst="ellipse">
            <a:avLst/>
          </a:prstGeom>
          <a:solidFill>
            <a:srgbClr val="53D3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200" i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</a:t>
            </a:r>
            <a:endParaRPr lang="zh-CN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BC8EA42E-9E17-4395-803D-0E643090A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886200"/>
            <a:ext cx="4724400" cy="2586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14344" name="Group 8">
            <a:extLst>
              <a:ext uri="{FF2B5EF4-FFF2-40B4-BE49-F238E27FC236}">
                <a16:creationId xmlns:a16="http://schemas.microsoft.com/office/drawing/2014/main" id="{525E77BF-217C-4EB2-98C9-2F71811DF152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267200"/>
            <a:ext cx="3317875" cy="1798638"/>
            <a:chOff x="0" y="0"/>
            <a:chExt cx="2090" cy="1133"/>
          </a:xfrm>
        </p:grpSpPr>
        <p:sp>
          <p:nvSpPr>
            <p:cNvPr id="2" name="Oval 9" descr="浅色横线">
              <a:extLst>
                <a:ext uri="{FF2B5EF4-FFF2-40B4-BE49-F238E27FC236}">
                  <a16:creationId xmlns:a16="http://schemas.microsoft.com/office/drawing/2014/main" id="{72225888-E8E3-4EF2-868C-9CD455654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" y="0"/>
              <a:ext cx="972" cy="728"/>
            </a:xfrm>
            <a:prstGeom prst="ellipse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3200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1" charset="-122"/>
                  <a:sym typeface="Times New Roman" panose="02020603050405020304" pitchFamily="18" charset="0"/>
                </a:rPr>
                <a:t>B</a:t>
              </a:r>
              <a:endParaRPr lang="zh-CN" altLang="en-US" sz="2800" b="1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3" name="Oval 10" descr="浅色横线">
              <a:extLst>
                <a:ext uri="{FF2B5EF4-FFF2-40B4-BE49-F238E27FC236}">
                  <a16:creationId xmlns:a16="http://schemas.microsoft.com/office/drawing/2014/main" id="{803473A8-FD81-4875-BDDB-12769490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6"/>
              <a:ext cx="1404" cy="797"/>
            </a:xfrm>
            <a:prstGeom prst="ellipse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3200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1" charset="-122"/>
                  <a:sym typeface="Times New Roman" panose="02020603050405020304" pitchFamily="18" charset="0"/>
                </a:rPr>
                <a:t>A</a:t>
              </a:r>
              <a:endParaRPr lang="zh-CN" altLang="en-US" sz="2800" b="1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endParaRPr>
            </a:p>
          </p:txBody>
        </p:sp>
      </p:grpSp>
      <p:sp>
        <p:nvSpPr>
          <p:cNvPr id="14347" name="Oval 11" descr="浅色竖线">
            <a:extLst>
              <a:ext uri="{FF2B5EF4-FFF2-40B4-BE49-F238E27FC236}">
                <a16:creationId xmlns:a16="http://schemas.microsoft.com/office/drawing/2014/main" id="{873A1866-8220-4193-BBAC-D46B97F39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105400"/>
            <a:ext cx="2286000" cy="990600"/>
          </a:xfrm>
          <a:prstGeom prst="ellipse">
            <a:avLst/>
          </a:prstGeom>
          <a:blipFill dpi="0" rotWithShape="1">
            <a:blip r:embed="rId3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</a:t>
            </a:r>
            <a:r>
              <a:rPr lang="en-US" altLang="en-US" sz="32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</a:t>
            </a:r>
            <a:endParaRPr lang="zh-CN" altLang="en-US" sz="2800" b="1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51" name="Rectangle 15">
                <a:extLst>
                  <a:ext uri="{FF2B5EF4-FFF2-40B4-BE49-F238E27FC236}">
                    <a16:creationId xmlns:a16="http://schemas.microsoft.com/office/drawing/2014/main" id="{781F08B2-3097-4A16-A4DA-2C349C3BD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15" y="164388"/>
                <a:ext cx="902877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⋃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⋂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⋃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)⋂(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⋃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—D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istributive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L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aw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</a:t>
                </a:r>
                <a:r>
                  <a:rPr lang="zh-CN" altLang="en-US" sz="2400" dirty="0"/>
                  <a:t>分配律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diagram</a:t>
                </a:r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4351" name="Rectangle 15">
                <a:extLst>
                  <a:ext uri="{FF2B5EF4-FFF2-40B4-BE49-F238E27FC236}">
                    <a16:creationId xmlns:a16="http://schemas.microsoft.com/office/drawing/2014/main" id="{781F08B2-3097-4A16-A4DA-2C349C3BD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15" y="164388"/>
                <a:ext cx="9028772" cy="461665"/>
              </a:xfrm>
              <a:prstGeom prst="rect">
                <a:avLst/>
              </a:prstGeom>
              <a:blipFill>
                <a:blip r:embed="rId4"/>
                <a:stretch>
                  <a:fillRect l="-140" t="-7895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56" name="Oval 20">
            <a:extLst>
              <a:ext uri="{FF2B5EF4-FFF2-40B4-BE49-F238E27FC236}">
                <a16:creationId xmlns:a16="http://schemas.microsoft.com/office/drawing/2014/main" id="{9333649A-6CCA-4730-B050-940AD9FCF208}"/>
              </a:ext>
            </a:extLst>
          </p:cNvPr>
          <p:cNvSpPr>
            <a:spLocks noChangeArrowheads="1"/>
          </p:cNvSpPr>
          <p:nvPr/>
        </p:nvSpPr>
        <p:spPr bwMode="auto">
          <a:xfrm rot="-574135">
            <a:off x="3352800" y="2146300"/>
            <a:ext cx="1131888" cy="2159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4357" name="Oval 21">
            <a:extLst>
              <a:ext uri="{FF2B5EF4-FFF2-40B4-BE49-F238E27FC236}">
                <a16:creationId xmlns:a16="http://schemas.microsoft.com/office/drawing/2014/main" id="{3D8497E9-2369-4831-9B27-5485D3352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782763"/>
            <a:ext cx="2228850" cy="1265237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200" i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</a:t>
            </a:r>
            <a:endParaRPr lang="zh-CN" altLang="en-US" sz="2800" b="1">
              <a:latin typeface="楷体_GB2312" pitchFamily="1" charset="-122"/>
              <a:ea typeface="楷体_GB2312" pitchFamily="1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7">
                <a:extLst>
                  <a:ext uri="{FF2B5EF4-FFF2-40B4-BE49-F238E27FC236}">
                    <a16:creationId xmlns:a16="http://schemas.microsoft.com/office/drawing/2014/main" id="{5FAAA3C1-D7F4-478A-A411-81200E1CCE2F}"/>
                  </a:ext>
                </a:extLst>
              </p:cNvPr>
              <p:cNvSpPr txBox="1"/>
              <p:nvPr/>
            </p:nvSpPr>
            <p:spPr>
              <a:xfrm>
                <a:off x="6400562" y="2273596"/>
                <a:ext cx="187250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/>
                        </a:rPr>
                        <m:t>⋃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𝐵</m:t>
                          </m:r>
                          <m:r>
                            <a:rPr lang="en-US" altLang="zh-CN" sz="32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⋂</m:t>
                          </m:r>
                          <m:r>
                            <a:rPr lang="en-US" altLang="zh-CN" sz="32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zh-CN" alt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文本框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FAAA3C1-D7F4-478A-A411-81200E1CC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62" y="2273596"/>
                <a:ext cx="1872500" cy="49244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882723" y="4640610"/>
                <a:ext cx="308508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C00000"/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/>
                        </a:rPr>
                        <m:t>⋃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)⋂(</m:t>
                      </m:r>
                      <m:r>
                        <a:rPr lang="en-US" altLang="zh-CN" sz="3200" b="0" i="1" smtClean="0">
                          <a:solidFill>
                            <a:srgbClr val="C00000"/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/>
                        </a:rPr>
                        <m:t>⋃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3200" b="0" i="1" smtClean="0">
                          <a:solidFill>
                            <a:srgbClr val="C00000"/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>
                  <a:solidFill>
                    <a:srgbClr val="C00000"/>
                  </a:solidFill>
                </a:endParaRPr>
              </a:p>
              <a:p>
                <a:endParaRPr lang="zh-CN" altLang="en-US" sz="3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723" y="4640610"/>
                <a:ext cx="3085086" cy="107721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7010399" y="3007518"/>
            <a:ext cx="829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zh-CN" altLang="en-US" sz="6000" dirty="0">
              <a:solidFill>
                <a:srgbClr val="C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21" name="Oval 10" descr="浅色横线">
            <a:extLst>
              <a:ext uri="{FF2B5EF4-FFF2-40B4-BE49-F238E27FC236}">
                <a16:creationId xmlns:a16="http://schemas.microsoft.com/office/drawing/2014/main" id="{803473A8-FD81-4875-BDDB-127694901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456" y="4799804"/>
            <a:ext cx="2228850" cy="1265238"/>
          </a:xfrm>
          <a:prstGeom prst="ellipse">
            <a:avLst/>
          </a:prstGeom>
          <a:blipFill dpi="0" rotWithShape="1"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200" i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</a:t>
            </a:r>
            <a:endParaRPr lang="zh-CN" altLang="en-US" sz="2800" b="1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14348" name="Group 12">
            <a:extLst>
              <a:ext uri="{FF2B5EF4-FFF2-40B4-BE49-F238E27FC236}">
                <a16:creationId xmlns:a16="http://schemas.microsoft.com/office/drawing/2014/main" id="{802F6983-5366-4CF0-A3B4-8E78F563A1B3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794817"/>
            <a:ext cx="3155950" cy="1265238"/>
            <a:chOff x="0" y="0"/>
            <a:chExt cx="1988" cy="797"/>
          </a:xfrm>
        </p:grpSpPr>
        <p:sp>
          <p:nvSpPr>
            <p:cNvPr id="14354" name="Oval 13">
              <a:extLst>
                <a:ext uri="{FF2B5EF4-FFF2-40B4-BE49-F238E27FC236}">
                  <a16:creationId xmlns:a16="http://schemas.microsoft.com/office/drawing/2014/main" id="{21BB633A-789E-4E65-80C5-E69D077ADC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36348">
              <a:off x="1275" y="186"/>
              <a:ext cx="713" cy="1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endParaRPr>
            </a:p>
          </p:txBody>
        </p:sp>
        <p:sp>
          <p:nvSpPr>
            <p:cNvPr id="14355" name="Oval 14">
              <a:extLst>
                <a:ext uri="{FF2B5EF4-FFF2-40B4-BE49-F238E27FC236}">
                  <a16:creationId xmlns:a16="http://schemas.microsoft.com/office/drawing/2014/main" id="{7877866F-B2DB-47E9-B9C9-D2A699075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404" cy="79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en-US" sz="3200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1" charset="-122"/>
                  <a:sym typeface="Times New Roman" panose="02020603050405020304" pitchFamily="18" charset="0"/>
                </a:rPr>
                <a:t>A</a:t>
              </a:r>
              <a:endParaRPr lang="zh-CN" altLang="en-US" sz="2800" b="1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endParaRPr>
            </a:p>
          </p:txBody>
        </p:sp>
      </p:grp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50EBE7AB-AFAE-AA4F-A056-9B59A450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840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2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2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2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6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1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8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ldLvl="0" animBg="1" autoUpdateAnimBg="0"/>
      <p:bldP spid="14339" grpId="0" bldLvl="0" animBg="1" autoUpdateAnimBg="0"/>
      <p:bldP spid="14340" grpId="0" bldLvl="0" animBg="1" autoUpdateAnimBg="0"/>
      <p:bldP spid="14341" grpId="0" bldLvl="0" animBg="1" autoUpdateAnimBg="0"/>
      <p:bldP spid="14342" grpId="0" bldLvl="0" animBg="1" autoUpdateAnimBg="0"/>
      <p:bldP spid="14347" grpId="0" bldLvl="0" animBg="1" autoUpdateAnimBg="0"/>
      <p:bldP spid="14351" grpId="0" bldLvl="0" autoUpdateAnimBg="0"/>
      <p:bldP spid="14356" grpId="0" bldLvl="0" animBg="1" autoUpdateAnimBg="0"/>
      <p:bldP spid="14357" grpId="0" bldLvl="0" animBg="1" autoUpdateAnimBg="0"/>
      <p:bldP spid="23" grpId="0"/>
      <p:bldP spid="24" grpId="0"/>
      <p:bldP spid="25" grpId="0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956762"/>
              </p:ext>
            </p:extLst>
          </p:nvPr>
        </p:nvGraphicFramePr>
        <p:xfrm>
          <a:off x="2390726" y="259729"/>
          <a:ext cx="4067224" cy="63385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7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rgbClr val="FFFF00"/>
                          </a:solidFill>
                          <a:effectLst/>
                        </a:rPr>
                        <a:t>Letter</a:t>
                      </a:r>
                      <a:endParaRPr lang="zh-CN" sz="1600" b="1" dirty="0">
                        <a:solidFill>
                          <a:srgbClr val="FFFF00"/>
                        </a:solidFill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rgbClr val="FFFF00"/>
                          </a:solidFill>
                          <a:effectLst/>
                        </a:rPr>
                        <a:t>Name</a:t>
                      </a:r>
                      <a:endParaRPr lang="zh-CN" sz="1600" b="1" dirty="0">
                        <a:solidFill>
                          <a:srgbClr val="FFFF00"/>
                        </a:solidFill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rgbClr val="FFFF00"/>
                          </a:solidFill>
                          <a:effectLst/>
                        </a:rPr>
                        <a:t>Pronounced</a:t>
                      </a:r>
                      <a:endParaRPr lang="zh-CN" sz="1600" b="1" dirty="0">
                        <a:solidFill>
                          <a:srgbClr val="FFFF00"/>
                        </a:solidFill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A, α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alpha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AHL-fah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Β</a:t>
                      </a:r>
                      <a:r>
                        <a:rPr lang="en-GB" sz="1800" dirty="0">
                          <a:effectLst/>
                        </a:rPr>
                        <a:t>, β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dirty="0">
                          <a:effectLst/>
                        </a:rPr>
                        <a:t>be</a:t>
                      </a:r>
                      <a:r>
                        <a:rPr lang="en-GB" sz="1800" dirty="0">
                          <a:effectLst/>
                        </a:rPr>
                        <a:t>ta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dirty="0">
                          <a:effectLst/>
                        </a:rPr>
                        <a:t>B</a:t>
                      </a:r>
                      <a:r>
                        <a:rPr lang="en-GB" sz="1800" dirty="0">
                          <a:effectLst/>
                        </a:rPr>
                        <a:t>E-</a:t>
                      </a:r>
                      <a:r>
                        <a:rPr lang="en-GB" sz="1800" dirty="0" err="1">
                          <a:effectLst/>
                        </a:rPr>
                        <a:t>tah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Γ</a:t>
                      </a:r>
                      <a:r>
                        <a:rPr lang="en-GB" sz="1800" dirty="0">
                          <a:effectLst/>
                        </a:rPr>
                        <a:t>, </a:t>
                      </a:r>
                      <a:r>
                        <a:rPr lang="en-GB" sz="1800" dirty="0" err="1">
                          <a:effectLst/>
                        </a:rPr>
                        <a:t>γ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gamma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GHAH-mah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Δ, δ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dirty="0">
                          <a:effectLst/>
                          <a:latin typeface="Calibri"/>
                          <a:ea typeface="等线"/>
                          <a:cs typeface="Times New Roman"/>
                        </a:rPr>
                        <a:t>delta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dirty="0">
                          <a:effectLst/>
                        </a:rPr>
                        <a:t>D</a:t>
                      </a:r>
                      <a:r>
                        <a:rPr lang="en-GB" sz="1800" dirty="0">
                          <a:effectLst/>
                        </a:rPr>
                        <a:t>EL-</a:t>
                      </a:r>
                      <a:r>
                        <a:rPr lang="en-GB" sz="1800" dirty="0" err="1">
                          <a:effectLst/>
                        </a:rPr>
                        <a:t>tah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Ε</a:t>
                      </a:r>
                      <a:r>
                        <a:rPr lang="en-GB" sz="1800" dirty="0">
                          <a:effectLst/>
                        </a:rPr>
                        <a:t>, </a:t>
                      </a:r>
                      <a:r>
                        <a:rPr lang="en-GB" sz="1800" dirty="0" err="1">
                          <a:effectLst/>
                        </a:rPr>
                        <a:t>ε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epsilon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EHP-see-lon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Ζ, ζ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zita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ZEE-tah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Η, η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ita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EE-tah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Θ, θ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th</a:t>
                      </a:r>
                      <a:r>
                        <a:rPr lang="en-US" altLang="zh-CN" sz="1800" dirty="0">
                          <a:effectLst/>
                        </a:rPr>
                        <a:t>e</a:t>
                      </a:r>
                      <a:r>
                        <a:rPr lang="en-GB" sz="1800" dirty="0">
                          <a:effectLst/>
                        </a:rPr>
                        <a:t>ta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THEE-tah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Κ, κ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kappa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KA-</a:t>
                      </a:r>
                      <a:r>
                        <a:rPr lang="en-GB" sz="1800" dirty="0" err="1">
                          <a:effectLst/>
                        </a:rPr>
                        <a:t>pah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Λ, λ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lam</a:t>
                      </a:r>
                      <a:r>
                        <a:rPr lang="en-US" altLang="zh-CN" sz="1800" dirty="0">
                          <a:effectLst/>
                        </a:rPr>
                        <a:t>da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LAM</a:t>
                      </a:r>
                      <a:r>
                        <a:rPr lang="en-US" altLang="zh-CN" sz="1800" dirty="0">
                          <a:effectLst/>
                        </a:rPr>
                        <a:t>b</a:t>
                      </a:r>
                      <a:r>
                        <a:rPr lang="en-GB" sz="1800" dirty="0">
                          <a:effectLst/>
                        </a:rPr>
                        <a:t>-</a:t>
                      </a:r>
                      <a:r>
                        <a:rPr lang="en-US" altLang="zh-CN" sz="1800" dirty="0">
                          <a:effectLst/>
                        </a:rPr>
                        <a:t>d</a:t>
                      </a:r>
                      <a:r>
                        <a:rPr lang="en-GB" sz="1800" dirty="0">
                          <a:effectLst/>
                        </a:rPr>
                        <a:t>ah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Μ</a:t>
                      </a:r>
                      <a:r>
                        <a:rPr lang="en-GB" sz="1800" dirty="0">
                          <a:effectLst/>
                        </a:rPr>
                        <a:t>, </a:t>
                      </a:r>
                      <a:r>
                        <a:rPr lang="en-GB" sz="1800" dirty="0" err="1">
                          <a:effectLst/>
                        </a:rPr>
                        <a:t>μ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mu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m</a:t>
                      </a:r>
                      <a:r>
                        <a:rPr lang="en-US" altLang="zh-CN" sz="1800" dirty="0" err="1">
                          <a:effectLst/>
                        </a:rPr>
                        <a:t>i</a:t>
                      </a:r>
                      <a:r>
                        <a:rPr lang="en-GB" sz="1800" dirty="0">
                          <a:effectLst/>
                        </a:rPr>
                        <a:t>u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Ν, ν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nu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n</a:t>
                      </a:r>
                      <a:r>
                        <a:rPr lang="en-US" altLang="zh-CN" sz="1800" dirty="0" err="1">
                          <a:effectLst/>
                        </a:rPr>
                        <a:t>iu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Ξ</a:t>
                      </a:r>
                      <a:r>
                        <a:rPr lang="en-GB" sz="1800" dirty="0">
                          <a:effectLst/>
                        </a:rPr>
                        <a:t>, </a:t>
                      </a:r>
                      <a:r>
                        <a:rPr lang="en-GB" sz="1800" dirty="0" err="1">
                          <a:effectLst/>
                        </a:rPr>
                        <a:t>ξ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x</a:t>
                      </a:r>
                      <a:r>
                        <a:rPr lang="en-US" altLang="zh-CN" sz="1800" dirty="0" err="1">
                          <a:effectLst/>
                        </a:rPr>
                        <a:t>i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see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Π, π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pi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pee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Ρ, ρ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r</a:t>
                      </a:r>
                      <a:r>
                        <a:rPr lang="en-US" altLang="zh-CN" sz="1800" dirty="0">
                          <a:effectLst/>
                        </a:rPr>
                        <a:t>h</a:t>
                      </a:r>
                      <a:r>
                        <a:rPr lang="en-GB" sz="1800" dirty="0">
                          <a:effectLst/>
                        </a:rPr>
                        <a:t>o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roh</a:t>
                      </a:r>
                      <a:r>
                        <a:rPr lang="en-GB" sz="1800" dirty="0">
                          <a:effectLst/>
                        </a:rPr>
                        <a:t>, roe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Σ</a:t>
                      </a:r>
                      <a:r>
                        <a:rPr lang="en-GB" sz="1800" dirty="0">
                          <a:effectLst/>
                        </a:rPr>
                        <a:t>, </a:t>
                      </a:r>
                      <a:r>
                        <a:rPr lang="en-GB" sz="1800" dirty="0" err="1">
                          <a:effectLst/>
                        </a:rPr>
                        <a:t>σ</a:t>
                      </a:r>
                      <a:r>
                        <a:rPr lang="en-GB" sz="1800" dirty="0">
                          <a:effectLst/>
                        </a:rPr>
                        <a:t>, </a:t>
                      </a:r>
                      <a:r>
                        <a:rPr lang="en-GB" sz="1800" dirty="0" err="1">
                          <a:effectLst/>
                        </a:rPr>
                        <a:t>ς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sigma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</a:t>
                      </a:r>
                      <a:r>
                        <a:rPr lang="en-US" altLang="zh-CN" sz="1800" dirty="0" err="1">
                          <a:effectLst/>
                        </a:rPr>
                        <a:t>i</a:t>
                      </a:r>
                      <a:r>
                        <a:rPr lang="en-GB" sz="1800" dirty="0">
                          <a:effectLst/>
                        </a:rPr>
                        <a:t>G-</a:t>
                      </a:r>
                      <a:r>
                        <a:rPr lang="en-GB" sz="1800" dirty="0" err="1">
                          <a:effectLst/>
                        </a:rPr>
                        <a:t>mah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Τ, τ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tau</a:t>
                      </a:r>
                      <a:endParaRPr lang="zh-CN" sz="180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ta</a:t>
                      </a:r>
                      <a:r>
                        <a:rPr lang="en-US" altLang="zh-CN" sz="1800" dirty="0">
                          <a:effectLst/>
                        </a:rPr>
                        <a:t>o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Φ, φ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phi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dirty="0">
                          <a:effectLst/>
                          <a:latin typeface="Calibri"/>
                          <a:ea typeface="等线"/>
                          <a:cs typeface="Times New Roman"/>
                        </a:rPr>
                        <a:t>fi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Ψ</a:t>
                      </a:r>
                      <a:r>
                        <a:rPr lang="en-GB" sz="1800" dirty="0">
                          <a:effectLst/>
                        </a:rPr>
                        <a:t>, </a:t>
                      </a:r>
                      <a:r>
                        <a:rPr lang="en-GB" sz="1800" dirty="0" err="1">
                          <a:effectLst/>
                        </a:rPr>
                        <a:t>ψ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psi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dirty="0">
                          <a:effectLst/>
                          <a:latin typeface="Calibri"/>
                          <a:ea typeface="等线"/>
                          <a:cs typeface="Times New Roman"/>
                        </a:rPr>
                        <a:t>sigh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660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Ω, ω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omega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oh-MEH-</a:t>
                      </a:r>
                      <a:r>
                        <a:rPr lang="en-GB" sz="1800" dirty="0" err="1">
                          <a:effectLst/>
                        </a:rPr>
                        <a:t>ghah</a:t>
                      </a:r>
                      <a:endParaRPr lang="zh-CN" sz="1800" dirty="0">
                        <a:effectLst/>
                        <a:latin typeface="Calibri"/>
                        <a:ea typeface="等线"/>
                        <a:cs typeface="Times New Roman"/>
                      </a:endParaRPr>
                    </a:p>
                  </a:txBody>
                  <a:tcPr marL="11420" marR="11420" marT="11420" marB="1142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00B004F-7FCC-2046-9284-43C57FDD9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684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3">
            <a:extLst>
              <a:ext uri="{FF2B5EF4-FFF2-40B4-BE49-F238E27FC236}">
                <a16:creationId xmlns:a16="http://schemas.microsoft.com/office/drawing/2014/main" id="{CB595207-60A6-42FE-B5D9-E3154F222A17}"/>
              </a:ext>
            </a:extLst>
          </p:cNvPr>
          <p:cNvGrpSpPr>
            <a:grpSpLocks/>
          </p:cNvGrpSpPr>
          <p:nvPr/>
        </p:nvGrpSpPr>
        <p:grpSpPr bwMode="auto">
          <a:xfrm>
            <a:off x="2407468" y="2205700"/>
            <a:ext cx="774700" cy="900112"/>
            <a:chOff x="0" y="0"/>
            <a:chExt cx="488" cy="567"/>
          </a:xfrm>
        </p:grpSpPr>
        <p:sp>
          <p:nvSpPr>
            <p:cNvPr id="2" name="Rectangle 4">
              <a:extLst>
                <a:ext uri="{FF2B5EF4-FFF2-40B4-BE49-F238E27FC236}">
                  <a16:creationId xmlns:a16="http://schemas.microsoft.com/office/drawing/2014/main" id="{549F76B8-1170-40E5-AA38-7DF889613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76" cy="567"/>
            </a:xfrm>
            <a:prstGeom prst="rect">
              <a:avLst/>
            </a:prstGeom>
            <a:solidFill>
              <a:srgbClr val="080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latin typeface="楷体_GB2312" pitchFamily="1" charset="-122"/>
                <a:ea typeface="楷体_GB2312" pitchFamily="1" charset="-122"/>
              </a:endParaRPr>
            </a:p>
          </p:txBody>
        </p:sp>
        <p:pic>
          <p:nvPicPr>
            <p:cNvPr id="3" name="Picture 5" descr="0_4">
              <a:extLst>
                <a:ext uri="{FF2B5EF4-FFF2-40B4-BE49-F238E27FC236}">
                  <a16:creationId xmlns:a16="http://schemas.microsoft.com/office/drawing/2014/main" id="{C0ACA80D-9A25-4B9C-8134-D848FA41E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2"/>
              <a:ext cx="488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37CE817D-0ACF-46B0-A944-6338C970C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76" cy="567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en-US" sz="2800" b="1">
                <a:latin typeface="楷体_GB2312" pitchFamily="1" charset="-122"/>
                <a:ea typeface="楷体_GB2312" pitchFamily="1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CE53308B-CE41-432F-B3E7-CBF9B661C9F4}"/>
              </a:ext>
            </a:extLst>
          </p:cNvPr>
          <p:cNvSpPr txBox="1"/>
          <p:nvPr/>
        </p:nvSpPr>
        <p:spPr>
          <a:xfrm>
            <a:off x="3325337" y="2410815"/>
            <a:ext cx="2034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Homework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WordArt 9"/>
          <p:cNvSpPr>
            <a:spLocks noChangeArrowheads="1" noChangeShapeType="1" noTextEdit="1"/>
          </p:cNvSpPr>
          <p:nvPr/>
        </p:nvSpPr>
        <p:spPr bwMode="auto">
          <a:xfrm>
            <a:off x="3163118" y="4508904"/>
            <a:ext cx="2951932" cy="43926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P27: 2 and 5</a:t>
            </a:r>
            <a:endParaRPr lang="zh-CN" altLang="en-US" sz="3600" kern="10" dirty="0">
              <a:ln w="12700">
                <a:solidFill>
                  <a:srgbClr val="FFFF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B2FE2A2C-4051-8044-9547-F0C386429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569" y="1478926"/>
            <a:ext cx="1837989" cy="2386998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0D234B6-CB1B-924E-ACDC-26ECCB82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15300" y="6356351"/>
            <a:ext cx="400050" cy="365125"/>
          </a:xfrm>
        </p:spPr>
        <p:txBody>
          <a:bodyPr/>
          <a:lstStyle/>
          <a:p>
            <a:r>
              <a:rPr lang="en-US" altLang="zh-CN" dirty="0"/>
              <a:t>16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8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35876" y="2875637"/>
            <a:ext cx="206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>
                <a:solidFill>
                  <a:prstClr val="whit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Thank</a:t>
            </a:r>
            <a:endParaRPr lang="zh-CN" altLang="en-US" sz="5400" b="1" dirty="0">
              <a:solidFill>
                <a:prstClr val="white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72000" y="2875637"/>
            <a:ext cx="1599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ED6C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You</a:t>
            </a:r>
            <a:endParaRPr lang="zh-CN" altLang="en-US" sz="5400" b="1" dirty="0">
              <a:solidFill>
                <a:srgbClr val="ED6C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795" y="0"/>
            <a:ext cx="2570205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4949</TotalTime>
  <Words>1862</Words>
  <Application>Microsoft Office PowerPoint</Application>
  <PresentationFormat>On-screen Show (4:3)</PresentationFormat>
  <Paragraphs>350</Paragraphs>
  <Slides>19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8" baseType="lpstr">
      <vt:lpstr>Arial Unicode MS</vt:lpstr>
      <vt:lpstr>Microsoft YaHei UI</vt:lpstr>
      <vt:lpstr>STXinwei</vt:lpstr>
      <vt:lpstr>STXinwei</vt:lpstr>
      <vt:lpstr>幼圆</vt:lpstr>
      <vt:lpstr>楷体_GB2312</vt:lpstr>
      <vt:lpstr>等线</vt:lpstr>
      <vt:lpstr>黑体</vt:lpstr>
      <vt:lpstr>Arial</vt:lpstr>
      <vt:lpstr>Calibri</vt:lpstr>
      <vt:lpstr>Calibri Light</vt:lpstr>
      <vt:lpstr>Cambria Math</vt:lpstr>
      <vt:lpstr>Segoe Script</vt:lpstr>
      <vt:lpstr>Times New Roman</vt:lpstr>
      <vt:lpstr>Wingdings</vt:lpstr>
      <vt:lpstr>Office 主题</vt:lpstr>
      <vt:lpstr>1_Office 主题</vt:lpstr>
      <vt:lpstr>Equation</vt:lpstr>
      <vt:lpstr>公式</vt:lpstr>
      <vt:lpstr>Chapter One: Probability</vt:lpstr>
      <vt:lpstr>Chapter One: 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Lili Yang</dc:creator>
  <cp:lastModifiedBy>荆 炳义</cp:lastModifiedBy>
  <cp:revision>503</cp:revision>
  <cp:lastPrinted>2018-03-01T07:12:48Z</cp:lastPrinted>
  <dcterms:created xsi:type="dcterms:W3CDTF">2015-08-26T08:47:57Z</dcterms:created>
  <dcterms:modified xsi:type="dcterms:W3CDTF">2022-09-05T11:49:16Z</dcterms:modified>
</cp:coreProperties>
</file>